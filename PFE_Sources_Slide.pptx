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relies on eight sources, and I have grouped them by the kind of data they bring, which is how a BI model would classify them. First, company data: the CMF, the financial market council, publishes the annual financial statements of the insurers; this is the backbone of the platform, 131 documents from 2020 to 2025. Second, sector and market data: the insurers' federation, the insurance regulator, the national statistics institute and the Tunis stock exchange bring sector reports, macro statistics, market data and ESG reports. Third, news and watch: two press sources feed the news and regulatory watch. And fourth, one customer survey, imported from an Excel file. All of them converge in the collect stage: 212 documents are stored in MySQL from the five report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Sources, One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34290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03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of the insurers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MARKET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2037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statistics, market and ESG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WATCH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3524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22037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regulatory watch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149840" y="1600200"/>
            <a:ext cx="146304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3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378440" y="2075688"/>
            <a:ext cx="4114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22037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study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29260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pic>
        <p:nvPicPr>
          <p:cNvPr id="22" name="Image 0" descr="C:/Users/HP/Desktop/SCRAPING/docs/scratch/source_logos/LogoC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414" y="3017520"/>
            <a:ext cx="1621331" cy="914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documents · 2020–2025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83280" y="2788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pic>
        <p:nvPicPr>
          <p:cNvPr id="25" name="Image 1" descr="C:/Users/HP/Desktop/SCRAPING/docs/scratch/source_logos/LogoFTU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686" y="2880360"/>
            <a:ext cx="617989" cy="5943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83280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documents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486400" y="27889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pic>
        <p:nvPicPr>
          <p:cNvPr id="28" name="Image 2" descr="C:/Users/HP/Desktop/SCRAPING/docs/scratch/source_logos/LogoCG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910235"/>
            <a:ext cx="1554480" cy="53461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486400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383280" y="39776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383280" y="3977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3383280" y="4791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documents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486400" y="397764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486400" y="3977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BVMT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5486400" y="4791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documents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726680" y="278892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72668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Magazine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7726680" y="3602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726680" y="39776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72668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ilBoursa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7726680" y="4791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10287000" y="292608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0287000" y="29260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8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survey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10287000" y="40965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178308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6" name="Shape 41"/>
          <p:cNvSpPr/>
          <p:nvPr/>
        </p:nvSpPr>
        <p:spPr>
          <a:xfrm>
            <a:off x="521208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873252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10881360" y="5056632"/>
            <a:ext cx="9144" cy="292608"/>
          </a:xfrm>
          <a:prstGeom prst="line">
            <a:avLst/>
          </a:prstGeom>
          <a:noFill/>
          <a:ln w="22225">
            <a:solidFill>
              <a:srgbClr val="484B54"/>
            </a:solidFill>
            <a:prstDash val="solid"/>
            <a:tailEnd type="triangle"/>
          </a:ln>
        </p:spPr>
      </p:sp>
      <p:sp>
        <p:nvSpPr>
          <p:cNvPr id="49" name="Shape 4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484B54"/>
          </a:solidFill>
          <a:ln/>
        </p:spPr>
      </p:sp>
      <p:sp>
        <p:nvSpPr>
          <p:cNvPr id="50" name="Text 45"/>
          <p:cNvSpPr/>
          <p:nvPr/>
        </p:nvSpPr>
        <p:spPr>
          <a:xfrm>
            <a:off x="868680" y="5394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2000" dirty="0"/>
          </a:p>
        </p:txBody>
      </p:sp>
      <p:sp>
        <p:nvSpPr>
          <p:cNvPr id="51" name="Text 46"/>
          <p:cNvSpPr/>
          <p:nvPr/>
        </p:nvSpPr>
        <p:spPr>
          <a:xfrm>
            <a:off x="4572000" y="5394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pPr algn="r" indent="0" marL="0">
              <a:buNone/>
            </a:pPr>
            <a:r>
              <a:rPr lang="en-US" sz="14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documents in MySQL, from the 5 report sources</a:t>
            </a:r>
            <a:endParaRPr lang="en-US" sz="3000" dirty="0"/>
          </a:p>
        </p:txBody>
      </p:sp>
      <p:sp>
        <p:nvSpPr>
          <p:cNvPr id="52" name="Text 47"/>
          <p:cNvSpPr/>
          <p:nvPr/>
        </p:nvSpPr>
        <p:spPr>
          <a:xfrm>
            <a:off x="548640" y="6263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database, September 2026.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2026-09-21T14:34:30Z</dcterms:created>
  <dcterms:modified xsi:type="dcterms:W3CDTF">2026-09-21T14:34:30Z</dcterms:modified>
</cp:coreProperties>
</file>