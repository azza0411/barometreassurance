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pipeline has five steps, and each one is mapped to a phase of the CRISP-DM methodology. Collect: we get the reports from eight public sources, 212 documents so far. Extract: we read the tables in the PDF pages and store 49,849 cells, each identified by its table, row and column. Model: we compute the KPIs from the stored cells, 10,057 values, with one single definition per KPI. Verify: we check the numbers with 7,674 accounting checks, and anomalies are flagged. Deliver: we give access through dashboards, an Excel export and a chatbot. To make it concrete, the line at the bottom follows one real figure, the total assets of ASTREE for 2025. It starts on page 2 of a PDF, becomes the cell 881,075,424, then the KPI total assets, is checked, and is finally shown as 881.1 million dinars on the dashboard. The next slides detail each step with real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indent="0" marL="0">
              <a:buNone/>
            </a:pPr>
            <a:r>
              <a:rPr lang="en-US" sz="1200" b="1" spc="200" kern="0" dirty="0">
                <a:solidFill>
                  <a:srgbClr val="8B8B90"/>
                </a:solidFill>
                <a:latin typeface="Calibri" pitchFamily="34" charset="0"/>
                <a:ea typeface="Calibri" pitchFamily="34" charset="-122"/>
                <a:cs typeface="Calibri" pitchFamily="34" charset="-120"/>
              </a:rPr>
              <a:t>DATA PIPELINE &amp; AI</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3000" b="1" dirty="0">
                <a:solidFill>
                  <a:srgbClr val="484B54"/>
                </a:solidFill>
                <a:latin typeface="Cambria" pitchFamily="34" charset="0"/>
                <a:ea typeface="Cambria" pitchFamily="34" charset="-122"/>
                <a:cs typeface="Cambria" pitchFamily="34" charset="-120"/>
              </a:rPr>
              <a:t>The Data Pipeline in Five Steps</a:t>
            </a:r>
            <a:endParaRPr lang="en-US" sz="3000" dirty="0"/>
          </a:p>
        </p:txBody>
      </p:sp>
      <p:sp>
        <p:nvSpPr>
          <p:cNvPr id="4" name="Text 2"/>
          <p:cNvSpPr/>
          <p:nvPr/>
        </p:nvSpPr>
        <p:spPr>
          <a:xfrm>
            <a:off x="11612880" y="6510528"/>
            <a:ext cx="457200" cy="274320"/>
          </a:xfrm>
          <a:prstGeom prst="rect">
            <a:avLst/>
          </a:prstGeom>
          <a:noFill/>
          <a:ln/>
        </p:spPr>
        <p:txBody>
          <a:bodyPr wrap="square" rtlCol="0" anchor="ctr"/>
          <a:lstStyle/>
          <a:p>
            <a:pPr algn="r" indent="0" marL="0">
              <a:buNone/>
            </a:pPr>
            <a:r>
              <a:rPr lang="en-US" sz="1000" dirty="0">
                <a:solidFill>
                  <a:srgbClr val="8B8B90"/>
                </a:solidFill>
                <a:latin typeface="Calibri" pitchFamily="34" charset="0"/>
                <a:ea typeface="Calibri" pitchFamily="34" charset="-122"/>
                <a:cs typeface="Calibri" pitchFamily="34" charset="-120"/>
              </a:rPr>
              <a:t>2</a:t>
            </a:r>
            <a:endParaRPr lang="en-US" sz="1000" dirty="0"/>
          </a:p>
        </p:txBody>
      </p:sp>
      <p:sp>
        <p:nvSpPr>
          <p:cNvPr id="5" name="Shape 3"/>
          <p:cNvSpPr/>
          <p:nvPr/>
        </p:nvSpPr>
        <p:spPr>
          <a:xfrm>
            <a:off x="548640" y="1600200"/>
            <a:ext cx="2148840" cy="731520"/>
          </a:xfrm>
          <a:prstGeom prst="homePlate">
            <a:avLst/>
          </a:prstGeom>
          <a:solidFill>
            <a:srgbClr val="484B54"/>
          </a:solidFill>
          <a:ln/>
        </p:spPr>
      </p:sp>
      <p:sp>
        <p:nvSpPr>
          <p:cNvPr id="6" name="Text 4"/>
          <p:cNvSpPr/>
          <p:nvPr/>
        </p:nvSpPr>
        <p:spPr>
          <a:xfrm>
            <a:off x="749808" y="1600200"/>
            <a:ext cx="1645920" cy="73152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Collect</a:t>
            </a:r>
            <a:endParaRPr lang="en-US" sz="1800" dirty="0"/>
          </a:p>
        </p:txBody>
      </p:sp>
      <p:sp>
        <p:nvSpPr>
          <p:cNvPr id="7" name="Text 5"/>
          <p:cNvSpPr/>
          <p:nvPr/>
        </p:nvSpPr>
        <p:spPr>
          <a:xfrm>
            <a:off x="548640" y="2395728"/>
            <a:ext cx="2148840" cy="237744"/>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Data Understanding</a:t>
            </a:r>
            <a:endParaRPr lang="en-US" sz="1100" dirty="0"/>
          </a:p>
        </p:txBody>
      </p:sp>
      <p:sp>
        <p:nvSpPr>
          <p:cNvPr id="8" name="Shape 6"/>
          <p:cNvSpPr/>
          <p:nvPr/>
        </p:nvSpPr>
        <p:spPr>
          <a:xfrm>
            <a:off x="548640" y="2788920"/>
            <a:ext cx="2148840" cy="2286000"/>
          </a:xfrm>
          <a:prstGeom prst="roundRect">
            <a:avLst>
              <a:gd name="adj" fmla="val 3404"/>
            </a:avLst>
          </a:prstGeom>
          <a:solidFill>
            <a:srgbClr val="FFFFFF"/>
          </a:solidFill>
          <a:ln w="15875">
            <a:solidFill>
              <a:srgbClr val="D3D5DB"/>
            </a:solidFill>
            <a:prstDash val="solid"/>
          </a:ln>
        </p:spPr>
      </p:sp>
      <p:sp>
        <p:nvSpPr>
          <p:cNvPr id="9" name="Text 7"/>
          <p:cNvSpPr/>
          <p:nvPr/>
        </p:nvSpPr>
        <p:spPr>
          <a:xfrm>
            <a:off x="749808" y="2926080"/>
            <a:ext cx="1874520" cy="365760"/>
          </a:xfrm>
          <a:prstGeom prst="rect">
            <a:avLst/>
          </a:prstGeom>
          <a:noFill/>
          <a:ln/>
        </p:spPr>
        <p:txBody>
          <a:bodyPr wrap="square" lIns="0" tIns="0" rIns="0" bIns="0" rtlCol="0" anchor="ctr"/>
          <a:lstStyle/>
          <a:p>
            <a:pPr indent="0" marL="0">
              <a:buNone/>
            </a:pPr>
            <a:r>
              <a:rPr lang="en-US" sz="1600" b="1" dirty="0">
                <a:solidFill>
                  <a:srgbClr val="484B54"/>
                </a:solidFill>
                <a:latin typeface="Cambria" pitchFamily="34" charset="0"/>
                <a:ea typeface="Cambria" pitchFamily="34" charset="-122"/>
                <a:cs typeface="Cambria" pitchFamily="34" charset="-120"/>
              </a:rPr>
              <a:t>Get the reports</a:t>
            </a:r>
            <a:endParaRPr lang="en-US" sz="1600" dirty="0"/>
          </a:p>
        </p:txBody>
      </p:sp>
      <p:sp>
        <p:nvSpPr>
          <p:cNvPr id="10" name="Shape 8"/>
          <p:cNvSpPr/>
          <p:nvPr/>
        </p:nvSpPr>
        <p:spPr>
          <a:xfrm>
            <a:off x="749808" y="3364992"/>
            <a:ext cx="411480" cy="45720"/>
          </a:xfrm>
          <a:prstGeom prst="rect">
            <a:avLst/>
          </a:prstGeom>
          <a:solidFill>
            <a:srgbClr val="FFE600"/>
          </a:solidFill>
          <a:ln/>
        </p:spPr>
      </p:sp>
      <p:sp>
        <p:nvSpPr>
          <p:cNvPr id="11" name="Text 9"/>
          <p:cNvSpPr/>
          <p:nvPr/>
        </p:nvSpPr>
        <p:spPr>
          <a:xfrm>
            <a:off x="749808" y="3547872"/>
            <a:ext cx="914400" cy="201168"/>
          </a:xfrm>
          <a:prstGeom prst="rect">
            <a:avLst/>
          </a:prstGeom>
          <a:noFill/>
          <a:ln/>
        </p:spPr>
        <p:txBody>
          <a:bodyPr wrap="square" lIns="0" tIns="0" rIns="0" bIns="0" rtlCol="0" anchor="ctr"/>
          <a:lstStyle/>
          <a:p>
            <a:pPr indent="0" marL="0">
              <a:buNone/>
            </a:pPr>
            <a:r>
              <a:rPr lang="en-US" sz="1000" b="1" spc="150" kern="0" dirty="0">
                <a:solidFill>
                  <a:srgbClr val="8B8B90"/>
                </a:solidFill>
                <a:latin typeface="Calibri" pitchFamily="34" charset="0"/>
                <a:ea typeface="Calibri" pitchFamily="34" charset="-122"/>
                <a:cs typeface="Calibri" pitchFamily="34" charset="-120"/>
              </a:rPr>
              <a:t>IN</a:t>
            </a:r>
            <a:endParaRPr lang="en-US" sz="1000" dirty="0"/>
          </a:p>
        </p:txBody>
      </p:sp>
      <p:sp>
        <p:nvSpPr>
          <p:cNvPr id="12" name="Text 10"/>
          <p:cNvSpPr/>
          <p:nvPr/>
        </p:nvSpPr>
        <p:spPr>
          <a:xfrm>
            <a:off x="749808" y="3749040"/>
            <a:ext cx="1874520" cy="274320"/>
          </a:xfrm>
          <a:prstGeom prst="rect">
            <a:avLst/>
          </a:prstGeom>
          <a:noFill/>
          <a:ln/>
        </p:spPr>
        <p:txBody>
          <a:bodyPr wrap="square" lIns="0" tIns="0" rIns="0" bIns="0" rtlCol="0" anchor="ctr"/>
          <a:lstStyle/>
          <a:p>
            <a:pPr indent="0" marL="0">
              <a:buNone/>
            </a:pPr>
            <a:r>
              <a:rPr lang="en-US" sz="1300" dirty="0">
                <a:solidFill>
                  <a:srgbClr val="5A5D66"/>
                </a:solidFill>
                <a:latin typeface="Calibri" pitchFamily="34" charset="0"/>
                <a:ea typeface="Calibri" pitchFamily="34" charset="-122"/>
                <a:cs typeface="Calibri" pitchFamily="34" charset="-120"/>
              </a:rPr>
              <a:t>8 public sources</a:t>
            </a:r>
            <a:endParaRPr lang="en-US" sz="1300" dirty="0"/>
          </a:p>
        </p:txBody>
      </p:sp>
      <p:sp>
        <p:nvSpPr>
          <p:cNvPr id="13" name="Text 11"/>
          <p:cNvSpPr/>
          <p:nvPr/>
        </p:nvSpPr>
        <p:spPr>
          <a:xfrm>
            <a:off x="749808" y="4114800"/>
            <a:ext cx="914400" cy="201168"/>
          </a:xfrm>
          <a:prstGeom prst="rect">
            <a:avLst/>
          </a:prstGeom>
          <a:noFill/>
          <a:ln/>
        </p:spPr>
        <p:txBody>
          <a:bodyPr wrap="square" lIns="0" tIns="0" rIns="0" bIns="0" rtlCol="0" anchor="ctr"/>
          <a:lstStyle/>
          <a:p>
            <a:pPr indent="0" marL="0">
              <a:buNone/>
            </a:pPr>
            <a:r>
              <a:rPr lang="en-US" sz="1000" b="1" spc="150" kern="0" dirty="0">
                <a:solidFill>
                  <a:srgbClr val="8B8B90"/>
                </a:solidFill>
                <a:latin typeface="Calibri" pitchFamily="34" charset="0"/>
                <a:ea typeface="Calibri" pitchFamily="34" charset="-122"/>
                <a:cs typeface="Calibri" pitchFamily="34" charset="-120"/>
              </a:rPr>
              <a:t>OUT</a:t>
            </a:r>
            <a:endParaRPr lang="en-US" sz="1000" dirty="0"/>
          </a:p>
        </p:txBody>
      </p:sp>
      <p:sp>
        <p:nvSpPr>
          <p:cNvPr id="14" name="Text 12"/>
          <p:cNvSpPr/>
          <p:nvPr/>
        </p:nvSpPr>
        <p:spPr>
          <a:xfrm>
            <a:off x="749808" y="4315968"/>
            <a:ext cx="1874520" cy="292608"/>
          </a:xfrm>
          <a:prstGeom prst="rect">
            <a:avLst/>
          </a:prstGeom>
          <a:noFill/>
          <a:ln/>
        </p:spPr>
        <p:txBody>
          <a:bodyPr wrap="square" lIns="0" tIns="0" rIns="0" bIns="0" rtlCol="0" anchor="ctr"/>
          <a:lstStyle/>
          <a:p>
            <a:pPr indent="0" marL="0">
              <a:buNone/>
            </a:pPr>
            <a:r>
              <a:rPr lang="en-US" sz="1450" b="1" dirty="0">
                <a:solidFill>
                  <a:srgbClr val="26282F"/>
                </a:solidFill>
                <a:latin typeface="Calibri" pitchFamily="34" charset="0"/>
                <a:ea typeface="Calibri" pitchFamily="34" charset="-122"/>
                <a:cs typeface="Calibri" pitchFamily="34" charset="-120"/>
              </a:rPr>
              <a:t>212 documents</a:t>
            </a:r>
            <a:endParaRPr lang="en-US" sz="1450" dirty="0"/>
          </a:p>
        </p:txBody>
      </p:sp>
      <p:sp>
        <p:nvSpPr>
          <p:cNvPr id="15" name="Text 13"/>
          <p:cNvSpPr/>
          <p:nvPr/>
        </p:nvSpPr>
        <p:spPr>
          <a:xfrm>
            <a:off x="749808" y="4608576"/>
            <a:ext cx="1874520" cy="256032"/>
          </a:xfrm>
          <a:prstGeom prst="rect">
            <a:avLst/>
          </a:prstGeom>
          <a:noFill/>
          <a:ln/>
        </p:spPr>
        <p:txBody>
          <a:bodyPr wrap="square" lIns="0" tIns="0" rIns="0" bIns="0" rtlCol="0" anchor="ctr"/>
          <a:lstStyle/>
          <a:p>
            <a:pPr indent="0" marL="0">
              <a:buNone/>
            </a:pPr>
            <a:r>
              <a:rPr lang="en-US" sz="1150" dirty="0">
                <a:solidFill>
                  <a:srgbClr val="8B8B90"/>
                </a:solidFill>
                <a:latin typeface="Calibri" pitchFamily="34" charset="0"/>
                <a:ea typeface="Calibri" pitchFamily="34" charset="-122"/>
                <a:cs typeface="Calibri" pitchFamily="34" charset="-120"/>
              </a:rPr>
              <a:t>PDF files and metadata</a:t>
            </a:r>
            <a:endParaRPr lang="en-US" sz="1150" dirty="0"/>
          </a:p>
        </p:txBody>
      </p:sp>
      <p:sp>
        <p:nvSpPr>
          <p:cNvPr id="16" name="Shape 14"/>
          <p:cNvSpPr/>
          <p:nvPr/>
        </p:nvSpPr>
        <p:spPr>
          <a:xfrm>
            <a:off x="2788920" y="1600200"/>
            <a:ext cx="2148840" cy="731520"/>
          </a:xfrm>
          <a:prstGeom prst="homePlate">
            <a:avLst/>
          </a:prstGeom>
          <a:solidFill>
            <a:srgbClr val="484B54"/>
          </a:solidFill>
          <a:ln/>
        </p:spPr>
      </p:sp>
      <p:sp>
        <p:nvSpPr>
          <p:cNvPr id="17" name="Text 15"/>
          <p:cNvSpPr/>
          <p:nvPr/>
        </p:nvSpPr>
        <p:spPr>
          <a:xfrm>
            <a:off x="2990088" y="1600200"/>
            <a:ext cx="1645920" cy="73152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Extract</a:t>
            </a:r>
            <a:endParaRPr lang="en-US" sz="1800" dirty="0"/>
          </a:p>
        </p:txBody>
      </p:sp>
      <p:sp>
        <p:nvSpPr>
          <p:cNvPr id="18" name="Text 16"/>
          <p:cNvSpPr/>
          <p:nvPr/>
        </p:nvSpPr>
        <p:spPr>
          <a:xfrm>
            <a:off x="2788920" y="2395728"/>
            <a:ext cx="2148840" cy="237744"/>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Data Preparation</a:t>
            </a:r>
            <a:endParaRPr lang="en-US" sz="1100" dirty="0"/>
          </a:p>
        </p:txBody>
      </p:sp>
      <p:sp>
        <p:nvSpPr>
          <p:cNvPr id="19" name="Shape 17"/>
          <p:cNvSpPr/>
          <p:nvPr/>
        </p:nvSpPr>
        <p:spPr>
          <a:xfrm>
            <a:off x="2788920" y="2788920"/>
            <a:ext cx="2148840" cy="2286000"/>
          </a:xfrm>
          <a:prstGeom prst="roundRect">
            <a:avLst>
              <a:gd name="adj" fmla="val 3404"/>
            </a:avLst>
          </a:prstGeom>
          <a:solidFill>
            <a:srgbClr val="FFFFFF"/>
          </a:solidFill>
          <a:ln w="15875">
            <a:solidFill>
              <a:srgbClr val="D3D5DB"/>
            </a:solidFill>
            <a:prstDash val="solid"/>
          </a:ln>
        </p:spPr>
      </p:sp>
      <p:sp>
        <p:nvSpPr>
          <p:cNvPr id="20" name="Text 18"/>
          <p:cNvSpPr/>
          <p:nvPr/>
        </p:nvSpPr>
        <p:spPr>
          <a:xfrm>
            <a:off x="2990088" y="2926080"/>
            <a:ext cx="1874520" cy="365760"/>
          </a:xfrm>
          <a:prstGeom prst="rect">
            <a:avLst/>
          </a:prstGeom>
          <a:noFill/>
          <a:ln/>
        </p:spPr>
        <p:txBody>
          <a:bodyPr wrap="square" lIns="0" tIns="0" rIns="0" bIns="0" rtlCol="0" anchor="ctr"/>
          <a:lstStyle/>
          <a:p>
            <a:pPr indent="0" marL="0">
              <a:buNone/>
            </a:pPr>
            <a:r>
              <a:rPr lang="en-US" sz="1600" b="1" dirty="0">
                <a:solidFill>
                  <a:srgbClr val="484B54"/>
                </a:solidFill>
                <a:latin typeface="Cambria" pitchFamily="34" charset="0"/>
                <a:ea typeface="Cambria" pitchFamily="34" charset="-122"/>
                <a:cs typeface="Cambria" pitchFamily="34" charset="-120"/>
              </a:rPr>
              <a:t>Read the tables</a:t>
            </a:r>
            <a:endParaRPr lang="en-US" sz="1600" dirty="0"/>
          </a:p>
        </p:txBody>
      </p:sp>
      <p:sp>
        <p:nvSpPr>
          <p:cNvPr id="21" name="Shape 19"/>
          <p:cNvSpPr/>
          <p:nvPr/>
        </p:nvSpPr>
        <p:spPr>
          <a:xfrm>
            <a:off x="2990088" y="3364992"/>
            <a:ext cx="411480" cy="45720"/>
          </a:xfrm>
          <a:prstGeom prst="rect">
            <a:avLst/>
          </a:prstGeom>
          <a:solidFill>
            <a:srgbClr val="FFE600"/>
          </a:solidFill>
          <a:ln/>
        </p:spPr>
      </p:sp>
      <p:sp>
        <p:nvSpPr>
          <p:cNvPr id="22" name="Text 20"/>
          <p:cNvSpPr/>
          <p:nvPr/>
        </p:nvSpPr>
        <p:spPr>
          <a:xfrm>
            <a:off x="2990088" y="3547872"/>
            <a:ext cx="914400" cy="201168"/>
          </a:xfrm>
          <a:prstGeom prst="rect">
            <a:avLst/>
          </a:prstGeom>
          <a:noFill/>
          <a:ln/>
        </p:spPr>
        <p:txBody>
          <a:bodyPr wrap="square" lIns="0" tIns="0" rIns="0" bIns="0" rtlCol="0" anchor="ctr"/>
          <a:lstStyle/>
          <a:p>
            <a:pPr indent="0" marL="0">
              <a:buNone/>
            </a:pPr>
            <a:r>
              <a:rPr lang="en-US" sz="1000" b="1" spc="150" kern="0" dirty="0">
                <a:solidFill>
                  <a:srgbClr val="8B8B90"/>
                </a:solidFill>
                <a:latin typeface="Calibri" pitchFamily="34" charset="0"/>
                <a:ea typeface="Calibri" pitchFamily="34" charset="-122"/>
                <a:cs typeface="Calibri" pitchFamily="34" charset="-120"/>
              </a:rPr>
              <a:t>IN</a:t>
            </a:r>
            <a:endParaRPr lang="en-US" sz="1000" dirty="0"/>
          </a:p>
        </p:txBody>
      </p:sp>
      <p:sp>
        <p:nvSpPr>
          <p:cNvPr id="23" name="Text 21"/>
          <p:cNvSpPr/>
          <p:nvPr/>
        </p:nvSpPr>
        <p:spPr>
          <a:xfrm>
            <a:off x="2990088" y="3749040"/>
            <a:ext cx="1874520" cy="274320"/>
          </a:xfrm>
          <a:prstGeom prst="rect">
            <a:avLst/>
          </a:prstGeom>
          <a:noFill/>
          <a:ln/>
        </p:spPr>
        <p:txBody>
          <a:bodyPr wrap="square" lIns="0" tIns="0" rIns="0" bIns="0" rtlCol="0" anchor="ctr"/>
          <a:lstStyle/>
          <a:p>
            <a:pPr indent="0" marL="0">
              <a:buNone/>
            </a:pPr>
            <a:r>
              <a:rPr lang="en-US" sz="1300" dirty="0">
                <a:solidFill>
                  <a:srgbClr val="5A5D66"/>
                </a:solidFill>
                <a:latin typeface="Calibri" pitchFamily="34" charset="0"/>
                <a:ea typeface="Calibri" pitchFamily="34" charset="-122"/>
                <a:cs typeface="Calibri" pitchFamily="34" charset="-120"/>
              </a:rPr>
              <a:t>the PDF pages</a:t>
            </a:r>
            <a:endParaRPr lang="en-US" sz="1300" dirty="0"/>
          </a:p>
        </p:txBody>
      </p:sp>
      <p:sp>
        <p:nvSpPr>
          <p:cNvPr id="24" name="Text 22"/>
          <p:cNvSpPr/>
          <p:nvPr/>
        </p:nvSpPr>
        <p:spPr>
          <a:xfrm>
            <a:off x="2990088" y="4114800"/>
            <a:ext cx="914400" cy="201168"/>
          </a:xfrm>
          <a:prstGeom prst="rect">
            <a:avLst/>
          </a:prstGeom>
          <a:noFill/>
          <a:ln/>
        </p:spPr>
        <p:txBody>
          <a:bodyPr wrap="square" lIns="0" tIns="0" rIns="0" bIns="0" rtlCol="0" anchor="ctr"/>
          <a:lstStyle/>
          <a:p>
            <a:pPr indent="0" marL="0">
              <a:buNone/>
            </a:pPr>
            <a:r>
              <a:rPr lang="en-US" sz="1000" b="1" spc="150" kern="0" dirty="0">
                <a:solidFill>
                  <a:srgbClr val="8B8B90"/>
                </a:solidFill>
                <a:latin typeface="Calibri" pitchFamily="34" charset="0"/>
                <a:ea typeface="Calibri" pitchFamily="34" charset="-122"/>
                <a:cs typeface="Calibri" pitchFamily="34" charset="-120"/>
              </a:rPr>
              <a:t>OUT</a:t>
            </a:r>
            <a:endParaRPr lang="en-US" sz="1000" dirty="0"/>
          </a:p>
        </p:txBody>
      </p:sp>
      <p:sp>
        <p:nvSpPr>
          <p:cNvPr id="25" name="Text 23"/>
          <p:cNvSpPr/>
          <p:nvPr/>
        </p:nvSpPr>
        <p:spPr>
          <a:xfrm>
            <a:off x="2990088" y="4315968"/>
            <a:ext cx="1874520" cy="292608"/>
          </a:xfrm>
          <a:prstGeom prst="rect">
            <a:avLst/>
          </a:prstGeom>
          <a:noFill/>
          <a:ln/>
        </p:spPr>
        <p:txBody>
          <a:bodyPr wrap="square" lIns="0" tIns="0" rIns="0" bIns="0" rtlCol="0" anchor="ctr"/>
          <a:lstStyle/>
          <a:p>
            <a:pPr indent="0" marL="0">
              <a:buNone/>
            </a:pPr>
            <a:r>
              <a:rPr lang="en-US" sz="1450" b="1" dirty="0">
                <a:solidFill>
                  <a:srgbClr val="26282F"/>
                </a:solidFill>
                <a:latin typeface="Calibri" pitchFamily="34" charset="0"/>
                <a:ea typeface="Calibri" pitchFamily="34" charset="-122"/>
                <a:cs typeface="Calibri" pitchFamily="34" charset="-120"/>
              </a:rPr>
              <a:t>49,849 cells</a:t>
            </a:r>
            <a:endParaRPr lang="en-US" sz="1450" dirty="0"/>
          </a:p>
        </p:txBody>
      </p:sp>
      <p:sp>
        <p:nvSpPr>
          <p:cNvPr id="26" name="Text 24"/>
          <p:cNvSpPr/>
          <p:nvPr/>
        </p:nvSpPr>
        <p:spPr>
          <a:xfrm>
            <a:off x="2990088" y="4608576"/>
            <a:ext cx="1874520" cy="256032"/>
          </a:xfrm>
          <a:prstGeom prst="rect">
            <a:avLst/>
          </a:prstGeom>
          <a:noFill/>
          <a:ln/>
        </p:spPr>
        <p:txBody>
          <a:bodyPr wrap="square" lIns="0" tIns="0" rIns="0" bIns="0" rtlCol="0" anchor="ctr"/>
          <a:lstStyle/>
          <a:p>
            <a:pPr indent="0" marL="0">
              <a:buNone/>
            </a:pPr>
            <a:r>
              <a:rPr lang="en-US" sz="1150" dirty="0">
                <a:solidFill>
                  <a:srgbClr val="8B8B90"/>
                </a:solidFill>
                <a:latin typeface="Calibri" pitchFamily="34" charset="0"/>
                <a:ea typeface="Calibri" pitchFamily="34" charset="-122"/>
                <a:cs typeface="Calibri" pitchFamily="34" charset="-120"/>
              </a:rPr>
              <a:t>table · row · column</a:t>
            </a:r>
            <a:endParaRPr lang="en-US" sz="1150" dirty="0"/>
          </a:p>
        </p:txBody>
      </p:sp>
      <p:sp>
        <p:nvSpPr>
          <p:cNvPr id="27" name="Shape 25"/>
          <p:cNvSpPr/>
          <p:nvPr/>
        </p:nvSpPr>
        <p:spPr>
          <a:xfrm>
            <a:off x="5029200" y="1600200"/>
            <a:ext cx="2148840" cy="731520"/>
          </a:xfrm>
          <a:prstGeom prst="homePlate">
            <a:avLst/>
          </a:prstGeom>
          <a:solidFill>
            <a:srgbClr val="484B54"/>
          </a:solidFill>
          <a:ln/>
        </p:spPr>
      </p:sp>
      <p:sp>
        <p:nvSpPr>
          <p:cNvPr id="28" name="Text 26"/>
          <p:cNvSpPr/>
          <p:nvPr/>
        </p:nvSpPr>
        <p:spPr>
          <a:xfrm>
            <a:off x="5230368" y="1600200"/>
            <a:ext cx="1645920" cy="73152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Model</a:t>
            </a:r>
            <a:endParaRPr lang="en-US" sz="1800" dirty="0"/>
          </a:p>
        </p:txBody>
      </p:sp>
      <p:sp>
        <p:nvSpPr>
          <p:cNvPr id="29" name="Text 27"/>
          <p:cNvSpPr/>
          <p:nvPr/>
        </p:nvSpPr>
        <p:spPr>
          <a:xfrm>
            <a:off x="5029200" y="2395728"/>
            <a:ext cx="2148840" cy="237744"/>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Modeling</a:t>
            </a:r>
            <a:endParaRPr lang="en-US" sz="1100" dirty="0"/>
          </a:p>
        </p:txBody>
      </p:sp>
      <p:sp>
        <p:nvSpPr>
          <p:cNvPr id="30" name="Shape 28"/>
          <p:cNvSpPr/>
          <p:nvPr/>
        </p:nvSpPr>
        <p:spPr>
          <a:xfrm>
            <a:off x="5029200" y="2788920"/>
            <a:ext cx="2148840" cy="2286000"/>
          </a:xfrm>
          <a:prstGeom prst="roundRect">
            <a:avLst>
              <a:gd name="adj" fmla="val 3404"/>
            </a:avLst>
          </a:prstGeom>
          <a:solidFill>
            <a:srgbClr val="FFFFFF"/>
          </a:solidFill>
          <a:ln w="15875">
            <a:solidFill>
              <a:srgbClr val="D3D5DB"/>
            </a:solidFill>
            <a:prstDash val="solid"/>
          </a:ln>
        </p:spPr>
      </p:sp>
      <p:sp>
        <p:nvSpPr>
          <p:cNvPr id="31" name="Text 29"/>
          <p:cNvSpPr/>
          <p:nvPr/>
        </p:nvSpPr>
        <p:spPr>
          <a:xfrm>
            <a:off x="5230368" y="2926080"/>
            <a:ext cx="1874520" cy="365760"/>
          </a:xfrm>
          <a:prstGeom prst="rect">
            <a:avLst/>
          </a:prstGeom>
          <a:noFill/>
          <a:ln/>
        </p:spPr>
        <p:txBody>
          <a:bodyPr wrap="square" lIns="0" tIns="0" rIns="0" bIns="0" rtlCol="0" anchor="ctr"/>
          <a:lstStyle/>
          <a:p>
            <a:pPr indent="0" marL="0">
              <a:buNone/>
            </a:pPr>
            <a:r>
              <a:rPr lang="en-US" sz="1600" b="1" dirty="0">
                <a:solidFill>
                  <a:srgbClr val="484B54"/>
                </a:solidFill>
                <a:latin typeface="Cambria" pitchFamily="34" charset="0"/>
                <a:ea typeface="Cambria" pitchFamily="34" charset="-122"/>
                <a:cs typeface="Cambria" pitchFamily="34" charset="-120"/>
              </a:rPr>
              <a:t>Compute the KPIs</a:t>
            </a:r>
            <a:endParaRPr lang="en-US" sz="1600" dirty="0"/>
          </a:p>
        </p:txBody>
      </p:sp>
      <p:sp>
        <p:nvSpPr>
          <p:cNvPr id="32" name="Shape 30"/>
          <p:cNvSpPr/>
          <p:nvPr/>
        </p:nvSpPr>
        <p:spPr>
          <a:xfrm>
            <a:off x="5230368" y="3364992"/>
            <a:ext cx="411480" cy="45720"/>
          </a:xfrm>
          <a:prstGeom prst="rect">
            <a:avLst/>
          </a:prstGeom>
          <a:solidFill>
            <a:srgbClr val="FFE600"/>
          </a:solidFill>
          <a:ln/>
        </p:spPr>
      </p:sp>
      <p:sp>
        <p:nvSpPr>
          <p:cNvPr id="33" name="Text 31"/>
          <p:cNvSpPr/>
          <p:nvPr/>
        </p:nvSpPr>
        <p:spPr>
          <a:xfrm>
            <a:off x="5230368" y="3547872"/>
            <a:ext cx="914400" cy="201168"/>
          </a:xfrm>
          <a:prstGeom prst="rect">
            <a:avLst/>
          </a:prstGeom>
          <a:noFill/>
          <a:ln/>
        </p:spPr>
        <p:txBody>
          <a:bodyPr wrap="square" lIns="0" tIns="0" rIns="0" bIns="0" rtlCol="0" anchor="ctr"/>
          <a:lstStyle/>
          <a:p>
            <a:pPr indent="0" marL="0">
              <a:buNone/>
            </a:pPr>
            <a:r>
              <a:rPr lang="en-US" sz="1000" b="1" spc="150" kern="0" dirty="0">
                <a:solidFill>
                  <a:srgbClr val="8B8B90"/>
                </a:solidFill>
                <a:latin typeface="Calibri" pitchFamily="34" charset="0"/>
                <a:ea typeface="Calibri" pitchFamily="34" charset="-122"/>
                <a:cs typeface="Calibri" pitchFamily="34" charset="-120"/>
              </a:rPr>
              <a:t>IN</a:t>
            </a:r>
            <a:endParaRPr lang="en-US" sz="1000" dirty="0"/>
          </a:p>
        </p:txBody>
      </p:sp>
      <p:sp>
        <p:nvSpPr>
          <p:cNvPr id="34" name="Text 32"/>
          <p:cNvSpPr/>
          <p:nvPr/>
        </p:nvSpPr>
        <p:spPr>
          <a:xfrm>
            <a:off x="5230368" y="3749040"/>
            <a:ext cx="1874520" cy="274320"/>
          </a:xfrm>
          <a:prstGeom prst="rect">
            <a:avLst/>
          </a:prstGeom>
          <a:noFill/>
          <a:ln/>
        </p:spPr>
        <p:txBody>
          <a:bodyPr wrap="square" lIns="0" tIns="0" rIns="0" bIns="0" rtlCol="0" anchor="ctr"/>
          <a:lstStyle/>
          <a:p>
            <a:pPr indent="0" marL="0">
              <a:buNone/>
            </a:pPr>
            <a:r>
              <a:rPr lang="en-US" sz="1300" dirty="0">
                <a:solidFill>
                  <a:srgbClr val="5A5D66"/>
                </a:solidFill>
                <a:latin typeface="Calibri" pitchFamily="34" charset="0"/>
                <a:ea typeface="Calibri" pitchFamily="34" charset="-122"/>
                <a:cs typeface="Calibri" pitchFamily="34" charset="-120"/>
              </a:rPr>
              <a:t>the stored cells</a:t>
            </a:r>
            <a:endParaRPr lang="en-US" sz="1300" dirty="0"/>
          </a:p>
        </p:txBody>
      </p:sp>
      <p:sp>
        <p:nvSpPr>
          <p:cNvPr id="35" name="Text 33"/>
          <p:cNvSpPr/>
          <p:nvPr/>
        </p:nvSpPr>
        <p:spPr>
          <a:xfrm>
            <a:off x="5230368" y="4114800"/>
            <a:ext cx="914400" cy="201168"/>
          </a:xfrm>
          <a:prstGeom prst="rect">
            <a:avLst/>
          </a:prstGeom>
          <a:noFill/>
          <a:ln/>
        </p:spPr>
        <p:txBody>
          <a:bodyPr wrap="square" lIns="0" tIns="0" rIns="0" bIns="0" rtlCol="0" anchor="ctr"/>
          <a:lstStyle/>
          <a:p>
            <a:pPr indent="0" marL="0">
              <a:buNone/>
            </a:pPr>
            <a:r>
              <a:rPr lang="en-US" sz="1000" b="1" spc="150" kern="0" dirty="0">
                <a:solidFill>
                  <a:srgbClr val="8B8B90"/>
                </a:solidFill>
                <a:latin typeface="Calibri" pitchFamily="34" charset="0"/>
                <a:ea typeface="Calibri" pitchFamily="34" charset="-122"/>
                <a:cs typeface="Calibri" pitchFamily="34" charset="-120"/>
              </a:rPr>
              <a:t>OUT</a:t>
            </a:r>
            <a:endParaRPr lang="en-US" sz="1000" dirty="0"/>
          </a:p>
        </p:txBody>
      </p:sp>
      <p:sp>
        <p:nvSpPr>
          <p:cNvPr id="36" name="Text 34"/>
          <p:cNvSpPr/>
          <p:nvPr/>
        </p:nvSpPr>
        <p:spPr>
          <a:xfrm>
            <a:off x="5230368" y="4315968"/>
            <a:ext cx="1874520" cy="292608"/>
          </a:xfrm>
          <a:prstGeom prst="rect">
            <a:avLst/>
          </a:prstGeom>
          <a:noFill/>
          <a:ln/>
        </p:spPr>
        <p:txBody>
          <a:bodyPr wrap="square" lIns="0" tIns="0" rIns="0" bIns="0" rtlCol="0" anchor="ctr"/>
          <a:lstStyle/>
          <a:p>
            <a:pPr indent="0" marL="0">
              <a:buNone/>
            </a:pPr>
            <a:r>
              <a:rPr lang="en-US" sz="1450" b="1" dirty="0">
                <a:solidFill>
                  <a:srgbClr val="26282F"/>
                </a:solidFill>
                <a:latin typeface="Calibri" pitchFamily="34" charset="0"/>
                <a:ea typeface="Calibri" pitchFamily="34" charset="-122"/>
                <a:cs typeface="Calibri" pitchFamily="34" charset="-120"/>
              </a:rPr>
              <a:t>10,057 KPI values</a:t>
            </a:r>
            <a:endParaRPr lang="en-US" sz="1450" dirty="0"/>
          </a:p>
        </p:txBody>
      </p:sp>
      <p:sp>
        <p:nvSpPr>
          <p:cNvPr id="37" name="Text 35"/>
          <p:cNvSpPr/>
          <p:nvPr/>
        </p:nvSpPr>
        <p:spPr>
          <a:xfrm>
            <a:off x="5230368" y="4608576"/>
            <a:ext cx="1874520" cy="256032"/>
          </a:xfrm>
          <a:prstGeom prst="rect">
            <a:avLst/>
          </a:prstGeom>
          <a:noFill/>
          <a:ln/>
        </p:spPr>
        <p:txBody>
          <a:bodyPr wrap="square" lIns="0" tIns="0" rIns="0" bIns="0" rtlCol="0" anchor="ctr"/>
          <a:lstStyle/>
          <a:p>
            <a:pPr indent="0" marL="0">
              <a:buNone/>
            </a:pPr>
            <a:r>
              <a:rPr lang="en-US" sz="1150" dirty="0">
                <a:solidFill>
                  <a:srgbClr val="8B8B90"/>
                </a:solidFill>
                <a:latin typeface="Calibri" pitchFamily="34" charset="0"/>
                <a:ea typeface="Calibri" pitchFamily="34" charset="-122"/>
                <a:cs typeface="Calibri" pitchFamily="34" charset="-120"/>
              </a:rPr>
              <a:t>one definition per KPI</a:t>
            </a:r>
            <a:endParaRPr lang="en-US" sz="1150" dirty="0"/>
          </a:p>
        </p:txBody>
      </p:sp>
      <p:sp>
        <p:nvSpPr>
          <p:cNvPr id="38" name="Shape 36"/>
          <p:cNvSpPr/>
          <p:nvPr/>
        </p:nvSpPr>
        <p:spPr>
          <a:xfrm>
            <a:off x="7269480" y="1600200"/>
            <a:ext cx="2148840" cy="731520"/>
          </a:xfrm>
          <a:prstGeom prst="homePlate">
            <a:avLst/>
          </a:prstGeom>
          <a:solidFill>
            <a:srgbClr val="484B54"/>
          </a:solidFill>
          <a:ln/>
        </p:spPr>
      </p:sp>
      <p:sp>
        <p:nvSpPr>
          <p:cNvPr id="39" name="Text 37"/>
          <p:cNvSpPr/>
          <p:nvPr/>
        </p:nvSpPr>
        <p:spPr>
          <a:xfrm>
            <a:off x="7470648" y="1600200"/>
            <a:ext cx="1645920" cy="73152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Verify</a:t>
            </a:r>
            <a:endParaRPr lang="en-US" sz="1800" dirty="0"/>
          </a:p>
        </p:txBody>
      </p:sp>
      <p:sp>
        <p:nvSpPr>
          <p:cNvPr id="40" name="Text 38"/>
          <p:cNvSpPr/>
          <p:nvPr/>
        </p:nvSpPr>
        <p:spPr>
          <a:xfrm>
            <a:off x="7269480" y="2395728"/>
            <a:ext cx="2148840" cy="237744"/>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Evaluation</a:t>
            </a:r>
            <a:endParaRPr lang="en-US" sz="1100" dirty="0"/>
          </a:p>
        </p:txBody>
      </p:sp>
      <p:sp>
        <p:nvSpPr>
          <p:cNvPr id="41" name="Shape 39"/>
          <p:cNvSpPr/>
          <p:nvPr/>
        </p:nvSpPr>
        <p:spPr>
          <a:xfrm>
            <a:off x="7269480" y="2788920"/>
            <a:ext cx="2148840" cy="2286000"/>
          </a:xfrm>
          <a:prstGeom prst="roundRect">
            <a:avLst>
              <a:gd name="adj" fmla="val 3404"/>
            </a:avLst>
          </a:prstGeom>
          <a:solidFill>
            <a:srgbClr val="FFFFFF"/>
          </a:solidFill>
          <a:ln w="15875">
            <a:solidFill>
              <a:srgbClr val="D3D5DB"/>
            </a:solidFill>
            <a:prstDash val="solid"/>
          </a:ln>
        </p:spPr>
      </p:sp>
      <p:sp>
        <p:nvSpPr>
          <p:cNvPr id="42" name="Text 40"/>
          <p:cNvSpPr/>
          <p:nvPr/>
        </p:nvSpPr>
        <p:spPr>
          <a:xfrm>
            <a:off x="7470648" y="2926080"/>
            <a:ext cx="1874520" cy="365760"/>
          </a:xfrm>
          <a:prstGeom prst="rect">
            <a:avLst/>
          </a:prstGeom>
          <a:noFill/>
          <a:ln/>
        </p:spPr>
        <p:txBody>
          <a:bodyPr wrap="square" lIns="0" tIns="0" rIns="0" bIns="0" rtlCol="0" anchor="ctr"/>
          <a:lstStyle/>
          <a:p>
            <a:pPr indent="0" marL="0">
              <a:buNone/>
            </a:pPr>
            <a:r>
              <a:rPr lang="en-US" sz="1600" b="1" dirty="0">
                <a:solidFill>
                  <a:srgbClr val="484B54"/>
                </a:solidFill>
                <a:latin typeface="Cambria" pitchFamily="34" charset="0"/>
                <a:ea typeface="Cambria" pitchFamily="34" charset="-122"/>
                <a:cs typeface="Cambria" pitchFamily="34" charset="-120"/>
              </a:rPr>
              <a:t>Check the numbers</a:t>
            </a:r>
            <a:endParaRPr lang="en-US" sz="1600" dirty="0"/>
          </a:p>
        </p:txBody>
      </p:sp>
      <p:sp>
        <p:nvSpPr>
          <p:cNvPr id="43" name="Shape 41"/>
          <p:cNvSpPr/>
          <p:nvPr/>
        </p:nvSpPr>
        <p:spPr>
          <a:xfrm>
            <a:off x="7470648" y="3364992"/>
            <a:ext cx="411480" cy="45720"/>
          </a:xfrm>
          <a:prstGeom prst="rect">
            <a:avLst/>
          </a:prstGeom>
          <a:solidFill>
            <a:srgbClr val="FFE600"/>
          </a:solidFill>
          <a:ln/>
        </p:spPr>
      </p:sp>
      <p:sp>
        <p:nvSpPr>
          <p:cNvPr id="44" name="Text 42"/>
          <p:cNvSpPr/>
          <p:nvPr/>
        </p:nvSpPr>
        <p:spPr>
          <a:xfrm>
            <a:off x="7470648" y="3547872"/>
            <a:ext cx="914400" cy="201168"/>
          </a:xfrm>
          <a:prstGeom prst="rect">
            <a:avLst/>
          </a:prstGeom>
          <a:noFill/>
          <a:ln/>
        </p:spPr>
        <p:txBody>
          <a:bodyPr wrap="square" lIns="0" tIns="0" rIns="0" bIns="0" rtlCol="0" anchor="ctr"/>
          <a:lstStyle/>
          <a:p>
            <a:pPr indent="0" marL="0">
              <a:buNone/>
            </a:pPr>
            <a:r>
              <a:rPr lang="en-US" sz="1000" b="1" spc="150" kern="0" dirty="0">
                <a:solidFill>
                  <a:srgbClr val="8B8B90"/>
                </a:solidFill>
                <a:latin typeface="Calibri" pitchFamily="34" charset="0"/>
                <a:ea typeface="Calibri" pitchFamily="34" charset="-122"/>
                <a:cs typeface="Calibri" pitchFamily="34" charset="-120"/>
              </a:rPr>
              <a:t>IN</a:t>
            </a:r>
            <a:endParaRPr lang="en-US" sz="1000" dirty="0"/>
          </a:p>
        </p:txBody>
      </p:sp>
      <p:sp>
        <p:nvSpPr>
          <p:cNvPr id="45" name="Text 43"/>
          <p:cNvSpPr/>
          <p:nvPr/>
        </p:nvSpPr>
        <p:spPr>
          <a:xfrm>
            <a:off x="7470648" y="3749040"/>
            <a:ext cx="1874520" cy="274320"/>
          </a:xfrm>
          <a:prstGeom prst="rect">
            <a:avLst/>
          </a:prstGeom>
          <a:noFill/>
          <a:ln/>
        </p:spPr>
        <p:txBody>
          <a:bodyPr wrap="square" lIns="0" tIns="0" rIns="0" bIns="0" rtlCol="0" anchor="ctr"/>
          <a:lstStyle/>
          <a:p>
            <a:pPr indent="0" marL="0">
              <a:buNone/>
            </a:pPr>
            <a:r>
              <a:rPr lang="en-US" sz="1300" dirty="0">
                <a:solidFill>
                  <a:srgbClr val="5A5D66"/>
                </a:solidFill>
                <a:latin typeface="Calibri" pitchFamily="34" charset="0"/>
                <a:ea typeface="Calibri" pitchFamily="34" charset="-122"/>
                <a:cs typeface="Calibri" pitchFamily="34" charset="-120"/>
              </a:rPr>
              <a:t>cells and KPIs</a:t>
            </a:r>
            <a:endParaRPr lang="en-US" sz="1300" dirty="0"/>
          </a:p>
        </p:txBody>
      </p:sp>
      <p:sp>
        <p:nvSpPr>
          <p:cNvPr id="46" name="Text 44"/>
          <p:cNvSpPr/>
          <p:nvPr/>
        </p:nvSpPr>
        <p:spPr>
          <a:xfrm>
            <a:off x="7470648" y="4114800"/>
            <a:ext cx="914400" cy="201168"/>
          </a:xfrm>
          <a:prstGeom prst="rect">
            <a:avLst/>
          </a:prstGeom>
          <a:noFill/>
          <a:ln/>
        </p:spPr>
        <p:txBody>
          <a:bodyPr wrap="square" lIns="0" tIns="0" rIns="0" bIns="0" rtlCol="0" anchor="ctr"/>
          <a:lstStyle/>
          <a:p>
            <a:pPr indent="0" marL="0">
              <a:buNone/>
            </a:pPr>
            <a:r>
              <a:rPr lang="en-US" sz="1000" b="1" spc="150" kern="0" dirty="0">
                <a:solidFill>
                  <a:srgbClr val="8B8B90"/>
                </a:solidFill>
                <a:latin typeface="Calibri" pitchFamily="34" charset="0"/>
                <a:ea typeface="Calibri" pitchFamily="34" charset="-122"/>
                <a:cs typeface="Calibri" pitchFamily="34" charset="-120"/>
              </a:rPr>
              <a:t>OUT</a:t>
            </a:r>
            <a:endParaRPr lang="en-US" sz="1000" dirty="0"/>
          </a:p>
        </p:txBody>
      </p:sp>
      <p:sp>
        <p:nvSpPr>
          <p:cNvPr id="47" name="Text 45"/>
          <p:cNvSpPr/>
          <p:nvPr/>
        </p:nvSpPr>
        <p:spPr>
          <a:xfrm>
            <a:off x="7470648" y="4315968"/>
            <a:ext cx="1874520" cy="292608"/>
          </a:xfrm>
          <a:prstGeom prst="rect">
            <a:avLst/>
          </a:prstGeom>
          <a:noFill/>
          <a:ln/>
        </p:spPr>
        <p:txBody>
          <a:bodyPr wrap="square" lIns="0" tIns="0" rIns="0" bIns="0" rtlCol="0" anchor="ctr"/>
          <a:lstStyle/>
          <a:p>
            <a:pPr indent="0" marL="0">
              <a:buNone/>
            </a:pPr>
            <a:r>
              <a:rPr lang="en-US" sz="1450" b="1" dirty="0">
                <a:solidFill>
                  <a:srgbClr val="26282F"/>
                </a:solidFill>
                <a:latin typeface="Calibri" pitchFamily="34" charset="0"/>
                <a:ea typeface="Calibri" pitchFamily="34" charset="-122"/>
                <a:cs typeface="Calibri" pitchFamily="34" charset="-120"/>
              </a:rPr>
              <a:t>7,674 checks</a:t>
            </a:r>
            <a:endParaRPr lang="en-US" sz="1450" dirty="0"/>
          </a:p>
        </p:txBody>
      </p:sp>
      <p:sp>
        <p:nvSpPr>
          <p:cNvPr id="48" name="Text 46"/>
          <p:cNvSpPr/>
          <p:nvPr/>
        </p:nvSpPr>
        <p:spPr>
          <a:xfrm>
            <a:off x="7470648" y="4608576"/>
            <a:ext cx="1874520" cy="256032"/>
          </a:xfrm>
          <a:prstGeom prst="rect">
            <a:avLst/>
          </a:prstGeom>
          <a:noFill/>
          <a:ln/>
        </p:spPr>
        <p:txBody>
          <a:bodyPr wrap="square" lIns="0" tIns="0" rIns="0" bIns="0" rtlCol="0" anchor="ctr"/>
          <a:lstStyle/>
          <a:p>
            <a:pPr indent="0" marL="0">
              <a:buNone/>
            </a:pPr>
            <a:r>
              <a:rPr lang="en-US" sz="1150" dirty="0">
                <a:solidFill>
                  <a:srgbClr val="8B8B90"/>
                </a:solidFill>
                <a:latin typeface="Calibri" pitchFamily="34" charset="0"/>
                <a:ea typeface="Calibri" pitchFamily="34" charset="-122"/>
                <a:cs typeface="Calibri" pitchFamily="34" charset="-120"/>
              </a:rPr>
              <a:t>anomalies are flagged</a:t>
            </a:r>
            <a:endParaRPr lang="en-US" sz="1150" dirty="0"/>
          </a:p>
        </p:txBody>
      </p:sp>
      <p:sp>
        <p:nvSpPr>
          <p:cNvPr id="49" name="Shape 47"/>
          <p:cNvSpPr/>
          <p:nvPr/>
        </p:nvSpPr>
        <p:spPr>
          <a:xfrm>
            <a:off x="9509760" y="1600200"/>
            <a:ext cx="2148840" cy="731520"/>
          </a:xfrm>
          <a:prstGeom prst="homePlate">
            <a:avLst/>
          </a:prstGeom>
          <a:solidFill>
            <a:srgbClr val="FFE600"/>
          </a:solidFill>
          <a:ln/>
        </p:spPr>
      </p:sp>
      <p:sp>
        <p:nvSpPr>
          <p:cNvPr id="50" name="Text 48"/>
          <p:cNvSpPr/>
          <p:nvPr/>
        </p:nvSpPr>
        <p:spPr>
          <a:xfrm>
            <a:off x="9710928" y="1600200"/>
            <a:ext cx="1645920" cy="731520"/>
          </a:xfrm>
          <a:prstGeom prst="rect">
            <a:avLst/>
          </a:prstGeom>
          <a:noFill/>
          <a:ln/>
        </p:spPr>
        <p:txBody>
          <a:bodyPr wrap="square" lIns="0" tIns="0" rIns="0" bIns="0" rtlCol="0" anchor="ctr"/>
          <a:lstStyle/>
          <a:p>
            <a:pPr indent="0" marL="0">
              <a:buNone/>
            </a:pPr>
            <a:r>
              <a:rPr lang="en-US" sz="1800" b="1" dirty="0">
                <a:solidFill>
                  <a:srgbClr val="484B54"/>
                </a:solidFill>
                <a:latin typeface="Cambria" pitchFamily="34" charset="0"/>
                <a:ea typeface="Cambria" pitchFamily="34" charset="-122"/>
                <a:cs typeface="Cambria" pitchFamily="34" charset="-120"/>
              </a:rPr>
              <a:t>Deliver</a:t>
            </a:r>
            <a:endParaRPr lang="en-US" sz="1800" dirty="0"/>
          </a:p>
        </p:txBody>
      </p:sp>
      <p:sp>
        <p:nvSpPr>
          <p:cNvPr id="51" name="Text 49"/>
          <p:cNvSpPr/>
          <p:nvPr/>
        </p:nvSpPr>
        <p:spPr>
          <a:xfrm>
            <a:off x="9509760" y="2395728"/>
            <a:ext cx="2148840" cy="237744"/>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Deployment</a:t>
            </a:r>
            <a:endParaRPr lang="en-US" sz="1100" dirty="0"/>
          </a:p>
        </p:txBody>
      </p:sp>
      <p:sp>
        <p:nvSpPr>
          <p:cNvPr id="52" name="Shape 50"/>
          <p:cNvSpPr/>
          <p:nvPr/>
        </p:nvSpPr>
        <p:spPr>
          <a:xfrm>
            <a:off x="9509760" y="2788920"/>
            <a:ext cx="2148840" cy="2286000"/>
          </a:xfrm>
          <a:prstGeom prst="roundRect">
            <a:avLst>
              <a:gd name="adj" fmla="val 3404"/>
            </a:avLst>
          </a:prstGeom>
          <a:solidFill>
            <a:srgbClr val="FFFFFF"/>
          </a:solidFill>
          <a:ln w="15875">
            <a:solidFill>
              <a:srgbClr val="D3D5DB"/>
            </a:solidFill>
            <a:prstDash val="solid"/>
          </a:ln>
        </p:spPr>
      </p:sp>
      <p:sp>
        <p:nvSpPr>
          <p:cNvPr id="53" name="Text 51"/>
          <p:cNvSpPr/>
          <p:nvPr/>
        </p:nvSpPr>
        <p:spPr>
          <a:xfrm>
            <a:off x="9710928" y="2926080"/>
            <a:ext cx="1874520" cy="365760"/>
          </a:xfrm>
          <a:prstGeom prst="rect">
            <a:avLst/>
          </a:prstGeom>
          <a:noFill/>
          <a:ln/>
        </p:spPr>
        <p:txBody>
          <a:bodyPr wrap="square" lIns="0" tIns="0" rIns="0" bIns="0" rtlCol="0" anchor="ctr"/>
          <a:lstStyle/>
          <a:p>
            <a:pPr indent="0" marL="0">
              <a:buNone/>
            </a:pPr>
            <a:r>
              <a:rPr lang="en-US" sz="1600" b="1" dirty="0">
                <a:solidFill>
                  <a:srgbClr val="484B54"/>
                </a:solidFill>
                <a:latin typeface="Cambria" pitchFamily="34" charset="0"/>
                <a:ea typeface="Cambria" pitchFamily="34" charset="-122"/>
                <a:cs typeface="Cambria" pitchFamily="34" charset="-120"/>
              </a:rPr>
              <a:t>Give access</a:t>
            </a:r>
            <a:endParaRPr lang="en-US" sz="1600" dirty="0"/>
          </a:p>
        </p:txBody>
      </p:sp>
      <p:sp>
        <p:nvSpPr>
          <p:cNvPr id="54" name="Shape 52"/>
          <p:cNvSpPr/>
          <p:nvPr/>
        </p:nvSpPr>
        <p:spPr>
          <a:xfrm>
            <a:off x="9710928" y="3364992"/>
            <a:ext cx="411480" cy="45720"/>
          </a:xfrm>
          <a:prstGeom prst="rect">
            <a:avLst/>
          </a:prstGeom>
          <a:solidFill>
            <a:srgbClr val="FFE600"/>
          </a:solidFill>
          <a:ln/>
        </p:spPr>
      </p:sp>
      <p:sp>
        <p:nvSpPr>
          <p:cNvPr id="55" name="Text 53"/>
          <p:cNvSpPr/>
          <p:nvPr/>
        </p:nvSpPr>
        <p:spPr>
          <a:xfrm>
            <a:off x="9710928" y="3547872"/>
            <a:ext cx="914400" cy="201168"/>
          </a:xfrm>
          <a:prstGeom prst="rect">
            <a:avLst/>
          </a:prstGeom>
          <a:noFill/>
          <a:ln/>
        </p:spPr>
        <p:txBody>
          <a:bodyPr wrap="square" lIns="0" tIns="0" rIns="0" bIns="0" rtlCol="0" anchor="ctr"/>
          <a:lstStyle/>
          <a:p>
            <a:pPr indent="0" marL="0">
              <a:buNone/>
            </a:pPr>
            <a:r>
              <a:rPr lang="en-US" sz="1000" b="1" spc="150" kern="0" dirty="0">
                <a:solidFill>
                  <a:srgbClr val="8B8B90"/>
                </a:solidFill>
                <a:latin typeface="Calibri" pitchFamily="34" charset="0"/>
                <a:ea typeface="Calibri" pitchFamily="34" charset="-122"/>
                <a:cs typeface="Calibri" pitchFamily="34" charset="-120"/>
              </a:rPr>
              <a:t>IN</a:t>
            </a:r>
            <a:endParaRPr lang="en-US" sz="1000" dirty="0"/>
          </a:p>
        </p:txBody>
      </p:sp>
      <p:sp>
        <p:nvSpPr>
          <p:cNvPr id="56" name="Text 54"/>
          <p:cNvSpPr/>
          <p:nvPr/>
        </p:nvSpPr>
        <p:spPr>
          <a:xfrm>
            <a:off x="9710928" y="3749040"/>
            <a:ext cx="1874520" cy="274320"/>
          </a:xfrm>
          <a:prstGeom prst="rect">
            <a:avLst/>
          </a:prstGeom>
          <a:noFill/>
          <a:ln/>
        </p:spPr>
        <p:txBody>
          <a:bodyPr wrap="square" lIns="0" tIns="0" rIns="0" bIns="0" rtlCol="0" anchor="ctr"/>
          <a:lstStyle/>
          <a:p>
            <a:pPr indent="0" marL="0">
              <a:buNone/>
            </a:pPr>
            <a:r>
              <a:rPr lang="en-US" sz="1300" dirty="0">
                <a:solidFill>
                  <a:srgbClr val="5A5D66"/>
                </a:solidFill>
                <a:latin typeface="Calibri" pitchFamily="34" charset="0"/>
                <a:ea typeface="Calibri" pitchFamily="34" charset="-122"/>
                <a:cs typeface="Calibri" pitchFamily="34" charset="-120"/>
              </a:rPr>
              <a:t>the verified KPIs</a:t>
            </a:r>
            <a:endParaRPr lang="en-US" sz="1300" dirty="0"/>
          </a:p>
        </p:txBody>
      </p:sp>
      <p:sp>
        <p:nvSpPr>
          <p:cNvPr id="57" name="Text 55"/>
          <p:cNvSpPr/>
          <p:nvPr/>
        </p:nvSpPr>
        <p:spPr>
          <a:xfrm>
            <a:off x="9710928" y="4114800"/>
            <a:ext cx="914400" cy="201168"/>
          </a:xfrm>
          <a:prstGeom prst="rect">
            <a:avLst/>
          </a:prstGeom>
          <a:noFill/>
          <a:ln/>
        </p:spPr>
        <p:txBody>
          <a:bodyPr wrap="square" lIns="0" tIns="0" rIns="0" bIns="0" rtlCol="0" anchor="ctr"/>
          <a:lstStyle/>
          <a:p>
            <a:pPr indent="0" marL="0">
              <a:buNone/>
            </a:pPr>
            <a:r>
              <a:rPr lang="en-US" sz="1000" b="1" spc="150" kern="0" dirty="0">
                <a:solidFill>
                  <a:srgbClr val="8B8B90"/>
                </a:solidFill>
                <a:latin typeface="Calibri" pitchFamily="34" charset="0"/>
                <a:ea typeface="Calibri" pitchFamily="34" charset="-122"/>
                <a:cs typeface="Calibri" pitchFamily="34" charset="-120"/>
              </a:rPr>
              <a:t>OUT</a:t>
            </a:r>
            <a:endParaRPr lang="en-US" sz="1000" dirty="0"/>
          </a:p>
        </p:txBody>
      </p:sp>
      <p:sp>
        <p:nvSpPr>
          <p:cNvPr id="58" name="Text 56"/>
          <p:cNvSpPr/>
          <p:nvPr/>
        </p:nvSpPr>
        <p:spPr>
          <a:xfrm>
            <a:off x="9710928" y="4315968"/>
            <a:ext cx="1874520" cy="292608"/>
          </a:xfrm>
          <a:prstGeom prst="rect">
            <a:avLst/>
          </a:prstGeom>
          <a:noFill/>
          <a:ln/>
        </p:spPr>
        <p:txBody>
          <a:bodyPr wrap="square" lIns="0" tIns="0" rIns="0" bIns="0" rtlCol="0" anchor="ctr"/>
          <a:lstStyle/>
          <a:p>
            <a:pPr indent="0" marL="0">
              <a:buNone/>
            </a:pPr>
            <a:r>
              <a:rPr lang="en-US" sz="1450" b="1" dirty="0">
                <a:solidFill>
                  <a:srgbClr val="26282F"/>
                </a:solidFill>
                <a:latin typeface="Calibri" pitchFamily="34" charset="0"/>
                <a:ea typeface="Calibri" pitchFamily="34" charset="-122"/>
                <a:cs typeface="Calibri" pitchFamily="34" charset="-120"/>
              </a:rPr>
              <a:t>3 channels</a:t>
            </a:r>
            <a:endParaRPr lang="en-US" sz="1450" dirty="0"/>
          </a:p>
        </p:txBody>
      </p:sp>
      <p:sp>
        <p:nvSpPr>
          <p:cNvPr id="59" name="Text 57"/>
          <p:cNvSpPr/>
          <p:nvPr/>
        </p:nvSpPr>
        <p:spPr>
          <a:xfrm>
            <a:off x="9710928" y="4608576"/>
            <a:ext cx="1874520" cy="256032"/>
          </a:xfrm>
          <a:prstGeom prst="rect">
            <a:avLst/>
          </a:prstGeom>
          <a:noFill/>
          <a:ln/>
        </p:spPr>
        <p:txBody>
          <a:bodyPr wrap="square" lIns="0" tIns="0" rIns="0" bIns="0" rtlCol="0" anchor="ctr"/>
          <a:lstStyle/>
          <a:p>
            <a:pPr indent="0" marL="0">
              <a:buNone/>
            </a:pPr>
            <a:r>
              <a:rPr lang="en-US" sz="1150" dirty="0">
                <a:solidFill>
                  <a:srgbClr val="8B8B90"/>
                </a:solidFill>
                <a:latin typeface="Calibri" pitchFamily="34" charset="0"/>
                <a:ea typeface="Calibri" pitchFamily="34" charset="-122"/>
                <a:cs typeface="Calibri" pitchFamily="34" charset="-120"/>
              </a:rPr>
              <a:t>dashboards · Excel · chatbot</a:t>
            </a:r>
            <a:endParaRPr lang="en-US" sz="1150" dirty="0"/>
          </a:p>
        </p:txBody>
      </p:sp>
      <p:sp>
        <p:nvSpPr>
          <p:cNvPr id="60" name="Shape 58"/>
          <p:cNvSpPr/>
          <p:nvPr/>
        </p:nvSpPr>
        <p:spPr>
          <a:xfrm>
            <a:off x="548640" y="5349240"/>
            <a:ext cx="11064240" cy="777240"/>
          </a:xfrm>
          <a:prstGeom prst="roundRect">
            <a:avLst>
              <a:gd name="adj" fmla="val 9412"/>
            </a:avLst>
          </a:prstGeom>
          <a:solidFill>
            <a:srgbClr val="484B54"/>
          </a:solidFill>
          <a:ln/>
        </p:spPr>
      </p:sp>
      <p:sp>
        <p:nvSpPr>
          <p:cNvPr id="61" name="Shape 59"/>
          <p:cNvSpPr/>
          <p:nvPr/>
        </p:nvSpPr>
        <p:spPr>
          <a:xfrm>
            <a:off x="822960" y="5650992"/>
            <a:ext cx="182880" cy="182880"/>
          </a:xfrm>
          <a:prstGeom prst="ellipse">
            <a:avLst/>
          </a:prstGeom>
          <a:solidFill>
            <a:srgbClr val="FFE600"/>
          </a:solidFill>
          <a:ln/>
        </p:spPr>
      </p:sp>
      <p:sp>
        <p:nvSpPr>
          <p:cNvPr id="62" name="Text 60"/>
          <p:cNvSpPr/>
          <p:nvPr/>
        </p:nvSpPr>
        <p:spPr>
          <a:xfrm>
            <a:off x="1234440" y="5349240"/>
            <a:ext cx="10241280" cy="777240"/>
          </a:xfrm>
          <a:prstGeom prst="rect">
            <a:avLst/>
          </a:prstGeom>
          <a:noFill/>
          <a:ln/>
        </p:spPr>
        <p:txBody>
          <a:bodyPr wrap="square" lIns="0" tIns="0" rIns="0" bIns="0" rtlCol="0" anchor="ctr"/>
          <a:lstStyle/>
          <a:p>
            <a:pPr indent="0" marL="0">
              <a:buNone/>
            </a:pPr>
            <a:r>
              <a:rPr lang="en-US" sz="1400" b="1" dirty="0">
                <a:solidFill>
                  <a:srgbClr val="FFE600"/>
                </a:solidFill>
                <a:latin typeface="Calibri" pitchFamily="34" charset="0"/>
                <a:ea typeface="Calibri" pitchFamily="34" charset="-122"/>
                <a:cs typeface="Calibri" pitchFamily="34" charset="-120"/>
              </a:rPr>
              <a:t>Example — ASTREE total assets 2025:   </a:t>
            </a:r>
            <a:pPr indent="0" marL="0">
              <a:buNone/>
            </a:pPr>
            <a:r>
              <a:rPr lang="en-US" sz="1400" dirty="0">
                <a:solidFill>
                  <a:srgbClr val="FFFFFF"/>
                </a:solidFill>
                <a:latin typeface="Calibri" pitchFamily="34" charset="0"/>
                <a:ea typeface="Calibri" pitchFamily="34" charset="-122"/>
                <a:cs typeface="Calibri" pitchFamily="34" charset="-120"/>
              </a:rPr>
              <a:t>PDF page 2</a:t>
            </a:r>
            <a:pPr indent="0" marL="0">
              <a:buNone/>
            </a:pPr>
            <a:r>
              <a:rPr lang="en-US" sz="1400" b="1" dirty="0">
                <a:solidFill>
                  <a:srgbClr val="FFE600"/>
                </a:solidFill>
                <a:latin typeface="Calibri" pitchFamily="34" charset="0"/>
                <a:ea typeface="Calibri" pitchFamily="34" charset="-122"/>
                <a:cs typeface="Calibri" pitchFamily="34" charset="-120"/>
              </a:rPr>
              <a:t>  →  </a:t>
            </a:r>
            <a:pPr indent="0" marL="0">
              <a:buNone/>
            </a:pPr>
            <a:r>
              <a:rPr lang="en-US" sz="1400" dirty="0">
                <a:solidFill>
                  <a:srgbClr val="FFFFFF"/>
                </a:solidFill>
                <a:latin typeface="Calibri" pitchFamily="34" charset="0"/>
                <a:ea typeface="Calibri" pitchFamily="34" charset="-122"/>
                <a:cs typeface="Calibri" pitchFamily="34" charset="-120"/>
              </a:rPr>
              <a:t>cell 881,075,424</a:t>
            </a:r>
            <a:pPr indent="0" marL="0">
              <a:buNone/>
            </a:pPr>
            <a:r>
              <a:rPr lang="en-US" sz="1400" b="1" dirty="0">
                <a:solidFill>
                  <a:srgbClr val="FFE600"/>
                </a:solidFill>
                <a:latin typeface="Calibri" pitchFamily="34" charset="0"/>
                <a:ea typeface="Calibri" pitchFamily="34" charset="-122"/>
                <a:cs typeface="Calibri" pitchFamily="34" charset="-120"/>
              </a:rPr>
              <a:t>  →  </a:t>
            </a:r>
            <a:pPr indent="0" marL="0">
              <a:buNone/>
            </a:pPr>
            <a:r>
              <a:rPr lang="en-US" sz="1400" dirty="0">
                <a:solidFill>
                  <a:srgbClr val="FFFFFF"/>
                </a:solidFill>
                <a:latin typeface="Calibri" pitchFamily="34" charset="0"/>
                <a:ea typeface="Calibri" pitchFamily="34" charset="-122"/>
                <a:cs typeface="Calibri" pitchFamily="34" charset="-120"/>
              </a:rPr>
              <a:t>KPI “Total assets”</a:t>
            </a:r>
            <a:pPr indent="0" marL="0">
              <a:buNone/>
            </a:pPr>
            <a:r>
              <a:rPr lang="en-US" sz="1400" b="1" dirty="0">
                <a:solidFill>
                  <a:srgbClr val="FFE600"/>
                </a:solidFill>
                <a:latin typeface="Calibri" pitchFamily="34" charset="0"/>
                <a:ea typeface="Calibri" pitchFamily="34" charset="-122"/>
                <a:cs typeface="Calibri" pitchFamily="34" charset="-120"/>
              </a:rPr>
              <a:t>  →  </a:t>
            </a:r>
            <a:pPr indent="0" marL="0">
              <a:buNone/>
            </a:pPr>
            <a:r>
              <a:rPr lang="en-US" sz="1400" dirty="0">
                <a:solidFill>
                  <a:srgbClr val="FFFFFF"/>
                </a:solidFill>
                <a:latin typeface="Calibri" pitchFamily="34" charset="0"/>
                <a:ea typeface="Calibri" pitchFamily="34" charset="-122"/>
                <a:cs typeface="Calibri" pitchFamily="34" charset="-120"/>
              </a:rPr>
              <a:t>checked</a:t>
            </a:r>
            <a:pPr indent="0" marL="0">
              <a:buNone/>
            </a:pPr>
            <a:r>
              <a:rPr lang="en-US" sz="1400" b="1" dirty="0">
                <a:solidFill>
                  <a:srgbClr val="FFE600"/>
                </a:solidFill>
                <a:latin typeface="Calibri" pitchFamily="34" charset="0"/>
                <a:ea typeface="Calibri" pitchFamily="34" charset="-122"/>
                <a:cs typeface="Calibri" pitchFamily="34" charset="-120"/>
              </a:rPr>
              <a:t>  →  </a:t>
            </a:r>
            <a:pPr indent="0" marL="0">
              <a:buNone/>
            </a:pPr>
            <a:r>
              <a:rPr lang="en-US" sz="1400" b="1" dirty="0">
                <a:solidFill>
                  <a:srgbClr val="FFFFFF"/>
                </a:solidFill>
                <a:latin typeface="Calibri" pitchFamily="34" charset="0"/>
                <a:ea typeface="Calibri" pitchFamily="34" charset="-122"/>
                <a:cs typeface="Calibri" pitchFamily="34" charset="-120"/>
              </a:rPr>
              <a:t>881.1 M TND on the dashboard</a:t>
            </a:r>
            <a:endParaRPr lang="en-US" sz="1400" dirty="0"/>
          </a:p>
        </p:txBody>
      </p:sp>
      <p:sp>
        <p:nvSpPr>
          <p:cNvPr id="63" name="Text 61"/>
          <p:cNvSpPr/>
          <p:nvPr/>
        </p:nvSpPr>
        <p:spPr>
          <a:xfrm>
            <a:off x="548640" y="6263640"/>
            <a:ext cx="7315200" cy="237744"/>
          </a:xfrm>
          <a:prstGeom prst="rect">
            <a:avLst/>
          </a:prstGeom>
          <a:noFill/>
          <a:ln/>
        </p:spPr>
        <p:txBody>
          <a:bodyPr wrap="square" lIns="0" tIns="0" rIns="0" bIns="0" rtlCol="0" anchor="ctr"/>
          <a:lstStyle/>
          <a:p>
            <a:pPr indent="0" marL="0">
              <a:buNone/>
            </a:pPr>
            <a:r>
              <a:rPr lang="en-US" sz="1050" i="1" dirty="0">
                <a:solidFill>
                  <a:srgbClr val="8B8B90"/>
                </a:solidFill>
                <a:latin typeface="Calibri" pitchFamily="34" charset="0"/>
                <a:ea typeface="Calibri" pitchFamily="34" charset="-122"/>
                <a:cs typeface="Calibri" pitchFamily="34" charset="-120"/>
              </a:rPr>
              <a:t>Volumes from the live database, September 2026.</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2026-09-21T14:54:32Z</dcterms:created>
  <dcterms:modified xsi:type="dcterms:W3CDTF">2026-09-21T14:54:32Z</dcterms:modified>
</cp:coreProperties>
</file>