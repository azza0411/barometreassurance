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the consultant's own Windows PC. The browser is the only client: it calls a Flask backend over REST. That backend lives inside one executable, in yellow, together with the scheduler threads, the scrapers and extractors, and the AI services. The backend reads and writes MySQL, installed through XAMPP and started by the user; that is the only prerequisite. Solid arrows are synchronous calls, dotted arrows are background work: every 30 minutes the scheduler wakes the scrapers, which fetch the seven public sources and write the results asynchronously to the database. The chatbot calls the Groq API and reads a read-only SQLite copy, so AI queries never slow down the dashboards. Only two things leave the machine: the scraping and the Groq calls. That is why one double-click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5486400" cy="274320"/>
          </a:xfrm>
          <a:prstGeom prst="rect">
            <a:avLst/>
          </a:prstGeom>
          <a:noFill/>
          <a:ln/>
        </p:spPr>
        <p:txBody>
          <a:bodyPr wrap="square" lIns="0" tIns="0" rIns="0" bIns="0" rtlCol="0" anchor="ctr"/>
          <a:lstStyle/>
          <a:p>
            <a:pPr indent="0" marL="0">
              <a:buNone/>
            </a:pPr>
            <a:r>
              <a:rPr lang="en-US" sz="1200" b="1" spc="200" kern="0" dirty="0">
                <a:solidFill>
                  <a:srgbClr val="8B8B90"/>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indent="0" marL="0">
              <a:buNone/>
            </a:pPr>
            <a:r>
              <a:rPr lang="en-US" sz="3000" b="1" dirty="0">
                <a:solidFill>
                  <a:srgbClr val="33363F"/>
                </a:solidFill>
                <a:latin typeface="Cambria" pitchFamily="34" charset="0"/>
                <a:ea typeface="Cambria" pitchFamily="34" charset="-122"/>
                <a:cs typeface="Cambria" pitchFamily="34" charset="-120"/>
              </a:rPr>
              <a:t>Global Architecture</a:t>
            </a:r>
            <a:endParaRPr lang="en-US" sz="3000" dirty="0"/>
          </a:p>
        </p:txBody>
      </p:sp>
      <p:sp>
        <p:nvSpPr>
          <p:cNvPr id="4" name="Text 2"/>
          <p:cNvSpPr/>
          <p:nvPr/>
        </p:nvSpPr>
        <p:spPr>
          <a:xfrm>
            <a:off x="11612880" y="6510528"/>
            <a:ext cx="457200" cy="274320"/>
          </a:xfrm>
          <a:prstGeom prst="rect">
            <a:avLst/>
          </a:prstGeom>
          <a:noFill/>
          <a:ln/>
        </p:spPr>
        <p:txBody>
          <a:bodyPr wrap="square" rtlCol="0" anchor="ctr"/>
          <a:lstStyle/>
          <a:p>
            <a:pPr algn="r" indent="0" marL="0">
              <a:buNone/>
            </a:pPr>
            <a:r>
              <a:rPr lang="en-US" sz="1000" dirty="0">
                <a:solidFill>
                  <a:srgbClr val="8B8B90"/>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48640" y="2148840"/>
            <a:ext cx="1920240" cy="2514600"/>
          </a:xfrm>
          <a:prstGeom prst="roundRect">
            <a:avLst>
              <a:gd name="adj" fmla="val 3810"/>
            </a:avLst>
          </a:prstGeom>
          <a:solidFill>
            <a:srgbClr val="FFFFFF"/>
          </a:solidFill>
          <a:ln w="15875">
            <a:solidFill>
              <a:srgbClr val="B9BCC5"/>
            </a:solidFill>
            <a:prstDash val="solid"/>
          </a:ln>
        </p:spPr>
      </p:sp>
      <p:sp>
        <p:nvSpPr>
          <p:cNvPr id="6" name="Text 4"/>
          <p:cNvSpPr/>
          <p:nvPr/>
        </p:nvSpPr>
        <p:spPr>
          <a:xfrm>
            <a:off x="548640" y="2212848"/>
            <a:ext cx="19202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Clients</a:t>
            </a:r>
            <a:endParaRPr lang="en-US" sz="1250" dirty="0"/>
          </a:p>
        </p:txBody>
      </p:sp>
      <p:sp>
        <p:nvSpPr>
          <p:cNvPr id="7" name="Shape 5"/>
          <p:cNvSpPr/>
          <p:nvPr/>
        </p:nvSpPr>
        <p:spPr>
          <a:xfrm>
            <a:off x="685800" y="2606040"/>
            <a:ext cx="1645920" cy="1920240"/>
          </a:xfrm>
          <a:prstGeom prst="roundRect">
            <a:avLst>
              <a:gd name="adj" fmla="val 4444"/>
            </a:avLst>
          </a:prstGeom>
          <a:solidFill>
            <a:srgbClr val="FFFFFF"/>
          </a:solidFill>
          <a:ln w="15875">
            <a:solidFill>
              <a:srgbClr val="33363F"/>
            </a:solidFill>
            <a:prstDash val="solid"/>
          </a:ln>
        </p:spPr>
      </p:sp>
      <p:sp>
        <p:nvSpPr>
          <p:cNvPr id="8" name="Shape 6"/>
          <p:cNvSpPr/>
          <p:nvPr/>
        </p:nvSpPr>
        <p:spPr>
          <a:xfrm>
            <a:off x="1234440" y="2788920"/>
            <a:ext cx="548640" cy="384048"/>
          </a:xfrm>
          <a:prstGeom prst="roundRect">
            <a:avLst>
              <a:gd name="adj" fmla="val 9524"/>
            </a:avLst>
          </a:prstGeom>
          <a:solidFill>
            <a:srgbClr val="FFFFFF"/>
          </a:solidFill>
          <a:ln w="25400">
            <a:solidFill>
              <a:srgbClr val="33363F"/>
            </a:solidFill>
            <a:prstDash val="solid"/>
          </a:ln>
        </p:spPr>
      </p:sp>
      <p:sp>
        <p:nvSpPr>
          <p:cNvPr id="9" name="Shape 7"/>
          <p:cNvSpPr/>
          <p:nvPr/>
        </p:nvSpPr>
        <p:spPr>
          <a:xfrm>
            <a:off x="1472184" y="3172968"/>
            <a:ext cx="73152" cy="91440"/>
          </a:xfrm>
          <a:prstGeom prst="rect">
            <a:avLst/>
          </a:prstGeom>
          <a:solidFill>
            <a:srgbClr val="33363F"/>
          </a:solidFill>
          <a:ln/>
        </p:spPr>
      </p:sp>
      <p:sp>
        <p:nvSpPr>
          <p:cNvPr id="10" name="Shape 8"/>
          <p:cNvSpPr/>
          <p:nvPr/>
        </p:nvSpPr>
        <p:spPr>
          <a:xfrm>
            <a:off x="1353312" y="3264408"/>
            <a:ext cx="310896" cy="45720"/>
          </a:xfrm>
          <a:prstGeom prst="rect">
            <a:avLst/>
          </a:prstGeom>
          <a:solidFill>
            <a:srgbClr val="33363F"/>
          </a:solidFill>
          <a:ln/>
        </p:spPr>
      </p:sp>
      <p:sp>
        <p:nvSpPr>
          <p:cNvPr id="11" name="Shape 9"/>
          <p:cNvSpPr/>
          <p:nvPr/>
        </p:nvSpPr>
        <p:spPr>
          <a:xfrm>
            <a:off x="1325880" y="2898648"/>
            <a:ext cx="365760" cy="54864"/>
          </a:xfrm>
          <a:prstGeom prst="rect">
            <a:avLst/>
          </a:prstGeom>
          <a:solidFill>
            <a:srgbClr val="FFE600"/>
          </a:solidFill>
          <a:ln/>
        </p:spPr>
      </p:sp>
      <p:sp>
        <p:nvSpPr>
          <p:cNvPr id="12" name="Text 10"/>
          <p:cNvSpPr/>
          <p:nvPr/>
        </p:nvSpPr>
        <p:spPr>
          <a:xfrm>
            <a:off x="685800" y="3456432"/>
            <a:ext cx="1645920" cy="274320"/>
          </a:xfrm>
          <a:prstGeom prst="rect">
            <a:avLst/>
          </a:prstGeom>
          <a:noFill/>
          <a:ln/>
        </p:spPr>
        <p:txBody>
          <a:bodyPr wrap="square" lIns="0" tIns="0" rIns="0" bIns="0" rtlCol="0" anchor="ctr"/>
          <a:lstStyle/>
          <a:p>
            <a:pPr algn="ctr" indent="0" marL="0">
              <a:buNone/>
            </a:pPr>
            <a:r>
              <a:rPr lang="en-US" sz="1300" b="1" dirty="0">
                <a:solidFill>
                  <a:srgbClr val="33363F"/>
                </a:solidFill>
                <a:latin typeface="Calibri" pitchFamily="34" charset="0"/>
                <a:ea typeface="Calibri" pitchFamily="34" charset="-122"/>
                <a:cs typeface="Calibri" pitchFamily="34" charset="-120"/>
              </a:rPr>
              <a:t>Web browser</a:t>
            </a:r>
            <a:endParaRPr lang="en-US" sz="1300" dirty="0"/>
          </a:p>
        </p:txBody>
      </p:sp>
      <p:sp>
        <p:nvSpPr>
          <p:cNvPr id="13" name="Text 11"/>
          <p:cNvSpPr/>
          <p:nvPr/>
        </p:nvSpPr>
        <p:spPr>
          <a:xfrm>
            <a:off x="731520" y="3767328"/>
            <a:ext cx="1554480" cy="731520"/>
          </a:xfrm>
          <a:prstGeom prst="rect">
            <a:avLst/>
          </a:prstGeom>
          <a:noFill/>
          <a:ln/>
        </p:spPr>
        <p:txBody>
          <a:bodyPr wrap="square" lIns="0" tIns="0" rIns="0" bIns="0" rtlCol="0" anchor="t"/>
          <a:lstStyle/>
          <a:p>
            <a:pPr algn="ctr" indent="0" marL="0">
              <a:buNone/>
            </a:pPr>
            <a:r>
              <a:rPr lang="en-US" sz="1050" dirty="0">
                <a:solidFill>
                  <a:srgbClr val="8B8B90"/>
                </a:solidFill>
                <a:latin typeface="Calibri" pitchFamily="34" charset="0"/>
                <a:ea typeface="Calibri" pitchFamily="34" charset="-122"/>
                <a:cs typeface="Calibri" pitchFamily="34" charset="-120"/>
              </a:rPr>
              <a:t>React 18 · ApexCharts</a:t>
            </a:r>
            <a:endParaRPr lang="en-US" sz="1050" dirty="0"/>
          </a:p>
          <a:p>
            <a:pPr algn="ctr" indent="0" marL="0">
              <a:buNone/>
            </a:pPr>
            <a:r>
              <a:rPr lang="en-US" sz="1050" dirty="0">
                <a:solidFill>
                  <a:srgbClr val="8B8B90"/>
                </a:solidFill>
                <a:latin typeface="Calibri" pitchFamily="34" charset="0"/>
                <a:ea typeface="Calibri" pitchFamily="34" charset="-122"/>
                <a:cs typeface="Calibri" pitchFamily="34" charset="-120"/>
              </a:rPr>
              <a:t>http://localhost:8002</a:t>
            </a:r>
            <a:endParaRPr lang="en-US" sz="1050" dirty="0"/>
          </a:p>
        </p:txBody>
      </p:sp>
      <p:sp>
        <p:nvSpPr>
          <p:cNvPr id="14" name="Shape 12"/>
          <p:cNvSpPr/>
          <p:nvPr/>
        </p:nvSpPr>
        <p:spPr>
          <a:xfrm>
            <a:off x="2743200" y="2240280"/>
            <a:ext cx="8897112" cy="4023360"/>
          </a:xfrm>
          <a:prstGeom prst="roundRect">
            <a:avLst>
              <a:gd name="adj" fmla="val 1818"/>
            </a:avLst>
          </a:prstGeom>
          <a:solidFill>
            <a:srgbClr val="FFFFFF">
              <a:alpha val="0"/>
            </a:srgbClr>
          </a:solidFill>
          <a:ln w="19050">
            <a:solidFill>
              <a:srgbClr val="B9BCC5"/>
            </a:solidFill>
            <a:prstDash val="dash"/>
          </a:ln>
        </p:spPr>
      </p:sp>
      <p:sp>
        <p:nvSpPr>
          <p:cNvPr id="15" name="Text 13"/>
          <p:cNvSpPr/>
          <p:nvPr/>
        </p:nvSpPr>
        <p:spPr>
          <a:xfrm>
            <a:off x="2926080" y="2304288"/>
            <a:ext cx="3657600" cy="237744"/>
          </a:xfrm>
          <a:prstGeom prst="rect">
            <a:avLst/>
          </a:prstGeom>
          <a:noFill/>
          <a:ln/>
        </p:spPr>
        <p:txBody>
          <a:bodyPr wrap="square" lIns="0" tIns="0" rIns="0" bIns="0" rtlCol="0" anchor="ctr"/>
          <a:lstStyle/>
          <a:p>
            <a:pPr indent="0" marL="0">
              <a:buNone/>
            </a:pPr>
            <a:r>
              <a:rPr lang="en-US" sz="1150" b="1" dirty="0">
                <a:solidFill>
                  <a:srgbClr val="5A5D66"/>
                </a:solidFill>
                <a:latin typeface="Calibri" pitchFamily="34" charset="0"/>
                <a:ea typeface="Calibri" pitchFamily="34" charset="-122"/>
                <a:cs typeface="Calibri" pitchFamily="34" charset="-120"/>
              </a:rPr>
              <a:t>Consultant's Windows PC</a:t>
            </a:r>
            <a:endParaRPr lang="en-US" sz="1150" dirty="0"/>
          </a:p>
        </p:txBody>
      </p:sp>
      <p:sp>
        <p:nvSpPr>
          <p:cNvPr id="16" name="Shape 14"/>
          <p:cNvSpPr/>
          <p:nvPr/>
        </p:nvSpPr>
        <p:spPr>
          <a:xfrm>
            <a:off x="2880360" y="2670048"/>
            <a:ext cx="8622792" cy="2176272"/>
          </a:xfrm>
          <a:prstGeom prst="roundRect">
            <a:avLst>
              <a:gd name="adj" fmla="val 3361"/>
            </a:avLst>
          </a:prstGeom>
          <a:solidFill>
            <a:srgbClr val="FFFFFF">
              <a:alpha val="0"/>
            </a:srgbClr>
          </a:solidFill>
          <a:ln w="31750">
            <a:solidFill>
              <a:srgbClr val="FFE600"/>
            </a:solidFill>
            <a:prstDash val="solid"/>
          </a:ln>
        </p:spPr>
      </p:sp>
      <p:sp>
        <p:nvSpPr>
          <p:cNvPr id="17" name="Shape 15"/>
          <p:cNvSpPr/>
          <p:nvPr/>
        </p:nvSpPr>
        <p:spPr>
          <a:xfrm>
            <a:off x="3063240" y="2560320"/>
            <a:ext cx="3749040" cy="237744"/>
          </a:xfrm>
          <a:prstGeom prst="roundRect">
            <a:avLst>
              <a:gd name="adj" fmla="val 50000"/>
            </a:avLst>
          </a:prstGeom>
          <a:solidFill>
            <a:srgbClr val="FFE600"/>
          </a:solidFill>
          <a:ln/>
        </p:spPr>
      </p:sp>
      <p:sp>
        <p:nvSpPr>
          <p:cNvPr id="18" name="Text 16"/>
          <p:cNvSpPr/>
          <p:nvPr/>
        </p:nvSpPr>
        <p:spPr>
          <a:xfrm>
            <a:off x="3063240" y="2560320"/>
            <a:ext cx="3749040" cy="237744"/>
          </a:xfrm>
          <a:prstGeom prst="rect">
            <a:avLst/>
          </a:prstGeom>
          <a:noFill/>
          <a:ln/>
        </p:spPr>
        <p:txBody>
          <a:bodyPr wrap="square" lIns="0" tIns="0" rIns="0" bIns="0" rtlCol="0" anchor="ctr"/>
          <a:lstStyle/>
          <a:p>
            <a:pPr algn="ctr" indent="0" marL="0">
              <a:buNone/>
            </a:pPr>
            <a:r>
              <a:rPr lang="en-US" sz="1050" b="1" dirty="0">
                <a:solidFill>
                  <a:srgbClr val="33363F"/>
                </a:solidFill>
                <a:latin typeface="Calibri" pitchFamily="34" charset="0"/>
                <a:ea typeface="Calibri" pitchFamily="34" charset="-122"/>
                <a:cs typeface="Calibri" pitchFamily="34" charset="-120"/>
              </a:rPr>
              <a:t>FSMarketIntelligence.exe · one process, threads</a:t>
            </a:r>
            <a:endParaRPr lang="en-US" sz="1050" dirty="0"/>
          </a:p>
        </p:txBody>
      </p:sp>
      <p:sp>
        <p:nvSpPr>
          <p:cNvPr id="19" name="Shape 17"/>
          <p:cNvSpPr/>
          <p:nvPr/>
        </p:nvSpPr>
        <p:spPr>
          <a:xfrm>
            <a:off x="3063240" y="2880360"/>
            <a:ext cx="1783080" cy="1828800"/>
          </a:xfrm>
          <a:prstGeom prst="roundRect">
            <a:avLst>
              <a:gd name="adj" fmla="val 4103"/>
            </a:avLst>
          </a:prstGeom>
          <a:solidFill>
            <a:srgbClr val="33363F"/>
          </a:solidFill>
          <a:ln/>
        </p:spPr>
      </p:sp>
      <p:sp>
        <p:nvSpPr>
          <p:cNvPr id="20" name="Shape 18"/>
          <p:cNvSpPr/>
          <p:nvPr/>
        </p:nvSpPr>
        <p:spPr>
          <a:xfrm>
            <a:off x="3680460" y="3063240"/>
            <a:ext cx="548640" cy="146304"/>
          </a:xfrm>
          <a:prstGeom prst="roundRect">
            <a:avLst>
              <a:gd name="adj" fmla="val 18750"/>
            </a:avLst>
          </a:prstGeom>
          <a:solidFill>
            <a:srgbClr val="FFE600"/>
          </a:solidFill>
          <a:ln/>
        </p:spPr>
      </p:sp>
      <p:sp>
        <p:nvSpPr>
          <p:cNvPr id="21" name="Shape 19"/>
          <p:cNvSpPr/>
          <p:nvPr/>
        </p:nvSpPr>
        <p:spPr>
          <a:xfrm>
            <a:off x="4119372" y="3108960"/>
            <a:ext cx="54864" cy="54864"/>
          </a:xfrm>
          <a:prstGeom prst="ellipse">
            <a:avLst/>
          </a:prstGeom>
          <a:solidFill>
            <a:srgbClr val="33363F"/>
          </a:solidFill>
          <a:ln/>
        </p:spPr>
      </p:sp>
      <p:sp>
        <p:nvSpPr>
          <p:cNvPr id="22" name="Shape 20"/>
          <p:cNvSpPr/>
          <p:nvPr/>
        </p:nvSpPr>
        <p:spPr>
          <a:xfrm>
            <a:off x="3680460" y="3246120"/>
            <a:ext cx="548640" cy="146304"/>
          </a:xfrm>
          <a:prstGeom prst="roundRect">
            <a:avLst>
              <a:gd name="adj" fmla="val 18750"/>
            </a:avLst>
          </a:prstGeom>
          <a:solidFill>
            <a:srgbClr val="FFE600"/>
          </a:solidFill>
          <a:ln/>
        </p:spPr>
      </p:sp>
      <p:sp>
        <p:nvSpPr>
          <p:cNvPr id="23" name="Shape 21"/>
          <p:cNvSpPr/>
          <p:nvPr/>
        </p:nvSpPr>
        <p:spPr>
          <a:xfrm>
            <a:off x="4119372" y="3291840"/>
            <a:ext cx="54864" cy="54864"/>
          </a:xfrm>
          <a:prstGeom prst="ellipse">
            <a:avLst/>
          </a:prstGeom>
          <a:solidFill>
            <a:srgbClr val="33363F"/>
          </a:solidFill>
          <a:ln/>
        </p:spPr>
      </p:sp>
      <p:sp>
        <p:nvSpPr>
          <p:cNvPr id="24" name="Shape 22"/>
          <p:cNvSpPr/>
          <p:nvPr/>
        </p:nvSpPr>
        <p:spPr>
          <a:xfrm>
            <a:off x="3680460" y="3429000"/>
            <a:ext cx="548640" cy="146304"/>
          </a:xfrm>
          <a:prstGeom prst="roundRect">
            <a:avLst>
              <a:gd name="adj" fmla="val 18750"/>
            </a:avLst>
          </a:prstGeom>
          <a:solidFill>
            <a:srgbClr val="FFE600"/>
          </a:solidFill>
          <a:ln/>
        </p:spPr>
      </p:sp>
      <p:sp>
        <p:nvSpPr>
          <p:cNvPr id="25" name="Shape 23"/>
          <p:cNvSpPr/>
          <p:nvPr/>
        </p:nvSpPr>
        <p:spPr>
          <a:xfrm>
            <a:off x="4119372" y="3474720"/>
            <a:ext cx="54864" cy="54864"/>
          </a:xfrm>
          <a:prstGeom prst="ellipse">
            <a:avLst/>
          </a:prstGeom>
          <a:solidFill>
            <a:srgbClr val="33363F"/>
          </a:solidFill>
          <a:ln/>
        </p:spPr>
      </p:sp>
      <p:sp>
        <p:nvSpPr>
          <p:cNvPr id="26" name="Text 24"/>
          <p:cNvSpPr/>
          <p:nvPr/>
        </p:nvSpPr>
        <p:spPr>
          <a:xfrm>
            <a:off x="3108960" y="3666744"/>
            <a:ext cx="169164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Backend · :8002</a:t>
            </a:r>
            <a:endParaRPr lang="en-US" sz="1250" dirty="0"/>
          </a:p>
        </p:txBody>
      </p:sp>
      <p:sp>
        <p:nvSpPr>
          <p:cNvPr id="27" name="Text 25"/>
          <p:cNvSpPr/>
          <p:nvPr/>
        </p:nvSpPr>
        <p:spPr>
          <a:xfrm>
            <a:off x="3172968" y="3959352"/>
            <a:ext cx="1563624" cy="713232"/>
          </a:xfrm>
          <a:prstGeom prst="rect">
            <a:avLst/>
          </a:prstGeom>
          <a:noFill/>
          <a:ln/>
        </p:spPr>
        <p:txBody>
          <a:bodyPr wrap="square" lIns="0" tIns="0" rIns="0" bIns="0" rtlCol="0" anchor="t"/>
          <a:lstStyle/>
          <a:p>
            <a:pPr algn="ctr" indent="0" marL="0">
              <a:buNone/>
            </a:pPr>
            <a:r>
              <a:rPr lang="en-US" sz="1000" dirty="0">
                <a:solidFill>
                  <a:srgbClr val="C7CBD0"/>
                </a:solidFill>
                <a:latin typeface="Calibri" pitchFamily="34" charset="0"/>
                <a:ea typeface="Calibri" pitchFamily="34" charset="-122"/>
                <a:cs typeface="Calibri" pitchFamily="34" charset="-120"/>
              </a:rPr>
              <a:t>Flask API · KPI layer · exports · serves the React UI</a:t>
            </a:r>
            <a:endParaRPr lang="en-US" sz="1000" dirty="0"/>
          </a:p>
        </p:txBody>
      </p:sp>
      <p:sp>
        <p:nvSpPr>
          <p:cNvPr id="28" name="Shape 26"/>
          <p:cNvSpPr/>
          <p:nvPr/>
        </p:nvSpPr>
        <p:spPr>
          <a:xfrm>
            <a:off x="5257800" y="2880360"/>
            <a:ext cx="1783080" cy="1828800"/>
          </a:xfrm>
          <a:prstGeom prst="roundRect">
            <a:avLst>
              <a:gd name="adj" fmla="val 4103"/>
            </a:avLst>
          </a:prstGeom>
          <a:solidFill>
            <a:srgbClr val="FFFFFF"/>
          </a:solidFill>
          <a:ln w="15875">
            <a:solidFill>
              <a:srgbClr val="33363F"/>
            </a:solidFill>
            <a:prstDash val="solid"/>
          </a:ln>
        </p:spPr>
      </p:sp>
      <p:sp>
        <p:nvSpPr>
          <p:cNvPr id="29" name="Shape 27"/>
          <p:cNvSpPr/>
          <p:nvPr/>
        </p:nvSpPr>
        <p:spPr>
          <a:xfrm>
            <a:off x="5884164" y="3063240"/>
            <a:ext cx="530352" cy="530352"/>
          </a:xfrm>
          <a:prstGeom prst="ellipse">
            <a:avLst/>
          </a:prstGeom>
          <a:solidFill>
            <a:srgbClr val="FFFFFF"/>
          </a:solidFill>
          <a:ln w="28575">
            <a:solidFill>
              <a:srgbClr val="33363F"/>
            </a:solidFill>
            <a:prstDash val="solid"/>
          </a:ln>
        </p:spPr>
      </p:sp>
      <p:sp>
        <p:nvSpPr>
          <p:cNvPr id="30" name="Shape 28"/>
          <p:cNvSpPr/>
          <p:nvPr/>
        </p:nvSpPr>
        <p:spPr>
          <a:xfrm>
            <a:off x="6149340" y="3182112"/>
            <a:ext cx="9144" cy="146304"/>
          </a:xfrm>
          <a:prstGeom prst="line">
            <a:avLst/>
          </a:prstGeom>
          <a:noFill/>
          <a:ln w="25400">
            <a:solidFill>
              <a:srgbClr val="33363F"/>
            </a:solidFill>
            <a:prstDash val="solid"/>
          </a:ln>
        </p:spPr>
      </p:sp>
      <p:sp>
        <p:nvSpPr>
          <p:cNvPr id="31" name="Shape 29"/>
          <p:cNvSpPr/>
          <p:nvPr/>
        </p:nvSpPr>
        <p:spPr>
          <a:xfrm>
            <a:off x="6149340" y="3328416"/>
            <a:ext cx="118872" cy="9144"/>
          </a:xfrm>
          <a:prstGeom prst="line">
            <a:avLst/>
          </a:prstGeom>
          <a:noFill/>
          <a:ln w="25400">
            <a:solidFill>
              <a:srgbClr val="33363F"/>
            </a:solidFill>
            <a:prstDash val="solid"/>
          </a:ln>
        </p:spPr>
      </p:sp>
      <p:sp>
        <p:nvSpPr>
          <p:cNvPr id="32" name="Text 30"/>
          <p:cNvSpPr/>
          <p:nvPr/>
        </p:nvSpPr>
        <p:spPr>
          <a:xfrm>
            <a:off x="5303520" y="3666744"/>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Scheduler threads</a:t>
            </a:r>
            <a:endParaRPr lang="en-US" sz="1250" dirty="0"/>
          </a:p>
        </p:txBody>
      </p:sp>
      <p:sp>
        <p:nvSpPr>
          <p:cNvPr id="33" name="Text 31"/>
          <p:cNvSpPr/>
          <p:nvPr/>
        </p:nvSpPr>
        <p:spPr>
          <a:xfrm>
            <a:off x="5367528" y="3959352"/>
            <a:ext cx="1563624" cy="713232"/>
          </a:xfrm>
          <a:prstGeom prst="rect">
            <a:avLst/>
          </a:prstGeom>
          <a:noFill/>
          <a:ln/>
        </p:spPr>
        <p:txBody>
          <a:bodyPr wrap="square" lIns="0" tIns="0" rIns="0" bIns="0" rtlCol="0" anchor="t"/>
          <a:lstStyle/>
          <a:p>
            <a:pPr algn="ctr" indent="0" marL="0">
              <a:buNone/>
            </a:pPr>
            <a:r>
              <a:rPr lang="en-US" sz="1000" dirty="0">
                <a:solidFill>
                  <a:srgbClr val="8B8B90"/>
                </a:solidFill>
                <a:latin typeface="Calibri" pitchFamily="34" charset="0"/>
                <a:ea typeface="Calibri" pitchFamily="34" charset="-122"/>
                <a:cs typeface="Calibri" pitchFamily="34" charset="-120"/>
              </a:rPr>
              <a:t>watcher every 30 min · first‑run scrape · backfill</a:t>
            </a:r>
            <a:endParaRPr lang="en-US" sz="1000" dirty="0"/>
          </a:p>
        </p:txBody>
      </p:sp>
      <p:sp>
        <p:nvSpPr>
          <p:cNvPr id="34" name="Shape 32"/>
          <p:cNvSpPr/>
          <p:nvPr/>
        </p:nvSpPr>
        <p:spPr>
          <a:xfrm>
            <a:off x="7452360" y="2880360"/>
            <a:ext cx="1783080" cy="1828800"/>
          </a:xfrm>
          <a:prstGeom prst="roundRect">
            <a:avLst>
              <a:gd name="adj" fmla="val 4103"/>
            </a:avLst>
          </a:prstGeom>
          <a:solidFill>
            <a:srgbClr val="FFFFFF"/>
          </a:solidFill>
          <a:ln w="15875">
            <a:solidFill>
              <a:srgbClr val="33363F"/>
            </a:solidFill>
            <a:prstDash val="solid"/>
          </a:ln>
        </p:spPr>
      </p:sp>
      <p:sp>
        <p:nvSpPr>
          <p:cNvPr id="35" name="Shape 33"/>
          <p:cNvSpPr/>
          <p:nvPr/>
        </p:nvSpPr>
        <p:spPr>
          <a:xfrm>
            <a:off x="8124444" y="3063240"/>
            <a:ext cx="438912" cy="530352"/>
          </a:xfrm>
          <a:prstGeom prst="flowChartDocument">
            <a:avLst/>
          </a:prstGeom>
          <a:solidFill>
            <a:srgbClr val="FFFFFF"/>
          </a:solidFill>
          <a:ln w="25400">
            <a:solidFill>
              <a:srgbClr val="33363F"/>
            </a:solidFill>
            <a:prstDash val="solid"/>
          </a:ln>
        </p:spPr>
      </p:sp>
      <p:sp>
        <p:nvSpPr>
          <p:cNvPr id="36" name="Shape 34"/>
          <p:cNvSpPr/>
          <p:nvPr/>
        </p:nvSpPr>
        <p:spPr>
          <a:xfrm>
            <a:off x="8225028" y="3191256"/>
            <a:ext cx="237744" cy="27432"/>
          </a:xfrm>
          <a:prstGeom prst="rect">
            <a:avLst/>
          </a:prstGeom>
          <a:solidFill>
            <a:srgbClr val="33363F"/>
          </a:solidFill>
          <a:ln/>
        </p:spPr>
      </p:sp>
      <p:sp>
        <p:nvSpPr>
          <p:cNvPr id="37" name="Shape 35"/>
          <p:cNvSpPr/>
          <p:nvPr/>
        </p:nvSpPr>
        <p:spPr>
          <a:xfrm>
            <a:off x="8225028" y="3282696"/>
            <a:ext cx="237744" cy="27432"/>
          </a:xfrm>
          <a:prstGeom prst="rect">
            <a:avLst/>
          </a:prstGeom>
          <a:solidFill>
            <a:srgbClr val="33363F"/>
          </a:solidFill>
          <a:ln/>
        </p:spPr>
      </p:sp>
      <p:sp>
        <p:nvSpPr>
          <p:cNvPr id="38" name="Shape 36"/>
          <p:cNvSpPr/>
          <p:nvPr/>
        </p:nvSpPr>
        <p:spPr>
          <a:xfrm>
            <a:off x="8225028" y="3374136"/>
            <a:ext cx="237744" cy="27432"/>
          </a:xfrm>
          <a:prstGeom prst="rect">
            <a:avLst/>
          </a:prstGeom>
          <a:solidFill>
            <a:srgbClr val="33363F"/>
          </a:solidFill>
          <a:ln/>
        </p:spPr>
      </p:sp>
      <p:sp>
        <p:nvSpPr>
          <p:cNvPr id="39" name="Text 37"/>
          <p:cNvSpPr/>
          <p:nvPr/>
        </p:nvSpPr>
        <p:spPr>
          <a:xfrm>
            <a:off x="7498080" y="3666744"/>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Scrapers &amp; extractors</a:t>
            </a:r>
            <a:endParaRPr lang="en-US" sz="1250" dirty="0"/>
          </a:p>
        </p:txBody>
      </p:sp>
      <p:sp>
        <p:nvSpPr>
          <p:cNvPr id="40" name="Text 38"/>
          <p:cNvSpPr/>
          <p:nvPr/>
        </p:nvSpPr>
        <p:spPr>
          <a:xfrm>
            <a:off x="7562088" y="3959352"/>
            <a:ext cx="1563624" cy="713232"/>
          </a:xfrm>
          <a:prstGeom prst="rect">
            <a:avLst/>
          </a:prstGeom>
          <a:noFill/>
          <a:ln/>
        </p:spPr>
        <p:txBody>
          <a:bodyPr wrap="square" lIns="0" tIns="0" rIns="0" bIns="0" rtlCol="0" anchor="t"/>
          <a:lstStyle/>
          <a:p>
            <a:pPr algn="ctr" indent="0" marL="0">
              <a:buNone/>
            </a:pPr>
            <a:r>
              <a:rPr lang="en-US" sz="1000" dirty="0">
                <a:solidFill>
                  <a:srgbClr val="8B8B90"/>
                </a:solidFill>
                <a:latin typeface="Calibri" pitchFamily="34" charset="0"/>
                <a:ea typeface="Calibri" pitchFamily="34" charset="-122"/>
                <a:cs typeface="Calibri" pitchFamily="34" charset="-120"/>
              </a:rPr>
              <a:t>Selenium · pdfplumber · Tesseract OCR · pandas</a:t>
            </a:r>
            <a:endParaRPr lang="en-US" sz="1000" dirty="0"/>
          </a:p>
        </p:txBody>
      </p:sp>
      <p:sp>
        <p:nvSpPr>
          <p:cNvPr id="41" name="Shape 39"/>
          <p:cNvSpPr/>
          <p:nvPr/>
        </p:nvSpPr>
        <p:spPr>
          <a:xfrm>
            <a:off x="9646920" y="2880360"/>
            <a:ext cx="1783080" cy="1828800"/>
          </a:xfrm>
          <a:prstGeom prst="roundRect">
            <a:avLst>
              <a:gd name="adj" fmla="val 4103"/>
            </a:avLst>
          </a:prstGeom>
          <a:solidFill>
            <a:srgbClr val="FFFFFF"/>
          </a:solidFill>
          <a:ln w="15875">
            <a:solidFill>
              <a:srgbClr val="33363F"/>
            </a:solidFill>
            <a:prstDash val="solid"/>
          </a:ln>
        </p:spPr>
      </p:sp>
      <p:sp>
        <p:nvSpPr>
          <p:cNvPr id="42" name="Shape 40"/>
          <p:cNvSpPr/>
          <p:nvPr/>
        </p:nvSpPr>
        <p:spPr>
          <a:xfrm>
            <a:off x="10264140" y="3063240"/>
            <a:ext cx="548640" cy="402336"/>
          </a:xfrm>
          <a:prstGeom prst="roundRect">
            <a:avLst>
              <a:gd name="adj" fmla="val 22727"/>
            </a:avLst>
          </a:prstGeom>
          <a:solidFill>
            <a:srgbClr val="FFFFFF"/>
          </a:solidFill>
          <a:ln w="25400">
            <a:solidFill>
              <a:srgbClr val="33363F"/>
            </a:solidFill>
            <a:prstDash val="solid"/>
          </a:ln>
        </p:spPr>
      </p:sp>
      <p:sp>
        <p:nvSpPr>
          <p:cNvPr id="43" name="Shape 41"/>
          <p:cNvSpPr/>
          <p:nvPr/>
        </p:nvSpPr>
        <p:spPr>
          <a:xfrm flipV="1">
            <a:off x="10392156" y="3447288"/>
            <a:ext cx="128016" cy="109728"/>
          </a:xfrm>
          <a:prstGeom prst="triangle">
            <a:avLst/>
          </a:prstGeom>
          <a:solidFill>
            <a:srgbClr val="33363F"/>
          </a:solidFill>
          <a:ln/>
        </p:spPr>
      </p:sp>
      <p:sp>
        <p:nvSpPr>
          <p:cNvPr id="44" name="Shape 42"/>
          <p:cNvSpPr/>
          <p:nvPr/>
        </p:nvSpPr>
        <p:spPr>
          <a:xfrm>
            <a:off x="10387584" y="3236976"/>
            <a:ext cx="64008" cy="64008"/>
          </a:xfrm>
          <a:prstGeom prst="ellipse">
            <a:avLst/>
          </a:prstGeom>
          <a:solidFill>
            <a:srgbClr val="33363F"/>
          </a:solidFill>
          <a:ln/>
        </p:spPr>
      </p:sp>
      <p:sp>
        <p:nvSpPr>
          <p:cNvPr id="45" name="Shape 43"/>
          <p:cNvSpPr/>
          <p:nvPr/>
        </p:nvSpPr>
        <p:spPr>
          <a:xfrm>
            <a:off x="10506456" y="3236976"/>
            <a:ext cx="64008" cy="64008"/>
          </a:xfrm>
          <a:prstGeom prst="ellipse">
            <a:avLst/>
          </a:prstGeom>
          <a:solidFill>
            <a:srgbClr val="33363F"/>
          </a:solidFill>
          <a:ln/>
        </p:spPr>
      </p:sp>
      <p:sp>
        <p:nvSpPr>
          <p:cNvPr id="46" name="Shape 44"/>
          <p:cNvSpPr/>
          <p:nvPr/>
        </p:nvSpPr>
        <p:spPr>
          <a:xfrm>
            <a:off x="10625328" y="3236976"/>
            <a:ext cx="64008" cy="64008"/>
          </a:xfrm>
          <a:prstGeom prst="ellipse">
            <a:avLst/>
          </a:prstGeom>
          <a:solidFill>
            <a:srgbClr val="33363F"/>
          </a:solidFill>
          <a:ln/>
        </p:spPr>
      </p:sp>
      <p:sp>
        <p:nvSpPr>
          <p:cNvPr id="47" name="Text 45"/>
          <p:cNvSpPr/>
          <p:nvPr/>
        </p:nvSpPr>
        <p:spPr>
          <a:xfrm>
            <a:off x="9692640" y="3666744"/>
            <a:ext cx="1691640" cy="27432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AI services · :5001</a:t>
            </a:r>
            <a:endParaRPr lang="en-US" sz="1250" dirty="0"/>
          </a:p>
        </p:txBody>
      </p:sp>
      <p:sp>
        <p:nvSpPr>
          <p:cNvPr id="48" name="Text 46"/>
          <p:cNvSpPr/>
          <p:nvPr/>
        </p:nvSpPr>
        <p:spPr>
          <a:xfrm>
            <a:off x="9756648" y="3959352"/>
            <a:ext cx="1563624" cy="713232"/>
          </a:xfrm>
          <a:prstGeom prst="rect">
            <a:avLst/>
          </a:prstGeom>
          <a:noFill/>
          <a:ln/>
        </p:spPr>
        <p:txBody>
          <a:bodyPr wrap="square" lIns="0" tIns="0" rIns="0" bIns="0" rtlCol="0" anchor="t"/>
          <a:lstStyle/>
          <a:p>
            <a:pPr algn="ctr" indent="0" marL="0">
              <a:buNone/>
            </a:pPr>
            <a:r>
              <a:rPr lang="en-US" sz="1000" dirty="0">
                <a:solidFill>
                  <a:srgbClr val="8B8B90"/>
                </a:solidFill>
                <a:latin typeface="Calibri" pitchFamily="34" charset="0"/>
                <a:ea typeface="Calibri" pitchFamily="34" charset="-122"/>
                <a:cs typeface="Calibri" pitchFamily="34" charset="-120"/>
              </a:rPr>
              <a:t>Groq chatbot (RAG) · Prophet, XGBoost, SHAP</a:t>
            </a:r>
            <a:endParaRPr lang="en-US" sz="1000" dirty="0"/>
          </a:p>
        </p:txBody>
      </p:sp>
      <p:sp>
        <p:nvSpPr>
          <p:cNvPr id="49" name="Shape 47"/>
          <p:cNvSpPr/>
          <p:nvPr/>
        </p:nvSpPr>
        <p:spPr>
          <a:xfrm>
            <a:off x="3063240" y="5230368"/>
            <a:ext cx="6172200" cy="822960"/>
          </a:xfrm>
          <a:prstGeom prst="roundRect">
            <a:avLst>
              <a:gd name="adj" fmla="val 8889"/>
            </a:avLst>
          </a:prstGeom>
          <a:solidFill>
            <a:srgbClr val="33363F"/>
          </a:solidFill>
          <a:ln/>
        </p:spPr>
      </p:sp>
      <p:sp>
        <p:nvSpPr>
          <p:cNvPr id="50" name="Shape 48"/>
          <p:cNvSpPr/>
          <p:nvPr/>
        </p:nvSpPr>
        <p:spPr>
          <a:xfrm>
            <a:off x="3319272" y="5404104"/>
            <a:ext cx="402336" cy="475488"/>
          </a:xfrm>
          <a:prstGeom prst="can">
            <a:avLst/>
          </a:prstGeom>
          <a:solidFill>
            <a:srgbClr val="33363F"/>
          </a:solidFill>
          <a:ln w="22225">
            <a:solidFill>
              <a:srgbClr val="FFE600"/>
            </a:solidFill>
            <a:prstDash val="solid"/>
          </a:ln>
        </p:spPr>
      </p:sp>
      <p:sp>
        <p:nvSpPr>
          <p:cNvPr id="51" name="Text 49"/>
          <p:cNvSpPr/>
          <p:nvPr/>
        </p:nvSpPr>
        <p:spPr>
          <a:xfrm>
            <a:off x="3931920" y="5230368"/>
            <a:ext cx="5212080" cy="8229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MySQL 8 · :3306</a:t>
            </a:r>
            <a:endParaRPr lang="en-US" sz="1300" dirty="0"/>
          </a:p>
          <a:p>
            <a:pPr indent="0" marL="0">
              <a:buNone/>
            </a:pPr>
            <a:r>
              <a:rPr lang="en-US" sz="1050" dirty="0">
                <a:solidFill>
                  <a:srgbClr val="C7CBD0"/>
                </a:solidFill>
                <a:latin typeface="Calibri" pitchFamily="34" charset="0"/>
                <a:ea typeface="Calibri" pitchFamily="34" charset="-122"/>
                <a:cs typeface="Calibri" pitchFamily="34" charset="-120"/>
              </a:rPr>
              <a:t>documents → cells → KPI values · via XAMPP, started by the user</a:t>
            </a:r>
            <a:endParaRPr lang="en-US" sz="1300" dirty="0"/>
          </a:p>
        </p:txBody>
      </p:sp>
      <p:sp>
        <p:nvSpPr>
          <p:cNvPr id="52" name="Shape 50"/>
          <p:cNvSpPr/>
          <p:nvPr/>
        </p:nvSpPr>
        <p:spPr>
          <a:xfrm>
            <a:off x="9646920" y="5230368"/>
            <a:ext cx="1783080" cy="822960"/>
          </a:xfrm>
          <a:prstGeom prst="roundRect">
            <a:avLst>
              <a:gd name="adj" fmla="val 8889"/>
            </a:avLst>
          </a:prstGeom>
          <a:solidFill>
            <a:srgbClr val="FFFFFF"/>
          </a:solidFill>
          <a:ln w="15875">
            <a:solidFill>
              <a:srgbClr val="33363F"/>
            </a:solidFill>
            <a:prstDash val="solid"/>
          </a:ln>
        </p:spPr>
      </p:sp>
      <p:sp>
        <p:nvSpPr>
          <p:cNvPr id="53" name="Text 51"/>
          <p:cNvSpPr/>
          <p:nvPr/>
        </p:nvSpPr>
        <p:spPr>
          <a:xfrm>
            <a:off x="9646920" y="5230368"/>
            <a:ext cx="1783080" cy="822960"/>
          </a:xfrm>
          <a:prstGeom prst="rect">
            <a:avLst/>
          </a:prstGeom>
          <a:noFill/>
          <a:ln/>
        </p:spPr>
        <p:txBody>
          <a:bodyPr wrap="square" lIns="0" tIns="0" rIns="0" bIns="0" rtlCol="0" anchor="ctr"/>
          <a:lstStyle/>
          <a:p>
            <a:pPr algn="ctr" indent="0" marL="0">
              <a:buNone/>
            </a:pPr>
            <a:r>
              <a:rPr lang="en-US" sz="1250" b="1" dirty="0">
                <a:solidFill>
                  <a:srgbClr val="33363F"/>
                </a:solidFill>
                <a:latin typeface="Calibri" pitchFamily="34" charset="0"/>
                <a:ea typeface="Calibri" pitchFamily="34" charset="-122"/>
                <a:cs typeface="Calibri" pitchFamily="34" charset="-120"/>
              </a:rPr>
              <a:t>SQLite mirror</a:t>
            </a:r>
            <a:endParaRPr lang="en-US" sz="1250" dirty="0"/>
          </a:p>
          <a:p>
            <a:pPr algn="ctr" indent="0" marL="0">
              <a:buNone/>
            </a:pPr>
            <a:r>
              <a:rPr lang="en-US" sz="1050" dirty="0">
                <a:solidFill>
                  <a:srgbClr val="8B8B90"/>
                </a:solidFill>
                <a:latin typeface="Calibri" pitchFamily="34" charset="0"/>
                <a:ea typeface="Calibri" pitchFamily="34" charset="-122"/>
                <a:cs typeface="Calibri" pitchFamily="34" charset="-120"/>
              </a:rPr>
              <a:t>read-only, for the chatbot</a:t>
            </a:r>
            <a:endParaRPr lang="en-US" sz="1250" dirty="0"/>
          </a:p>
        </p:txBody>
      </p:sp>
      <p:sp>
        <p:nvSpPr>
          <p:cNvPr id="54" name="Text 52"/>
          <p:cNvSpPr/>
          <p:nvPr/>
        </p:nvSpPr>
        <p:spPr>
          <a:xfrm>
            <a:off x="5257800" y="1636776"/>
            <a:ext cx="1783080" cy="201168"/>
          </a:xfrm>
          <a:prstGeom prst="rect">
            <a:avLst/>
          </a:prstGeom>
          <a:noFill/>
          <a:ln/>
        </p:spPr>
        <p:txBody>
          <a:bodyPr wrap="square" lIns="0" tIns="0" rIns="0" bIns="0" rtlCol="0" anchor="ctr"/>
          <a:lstStyle/>
          <a:p>
            <a:pPr algn="r" indent="0" marL="0">
              <a:buNone/>
            </a:pPr>
            <a:r>
              <a:rPr lang="en-US" sz="950" b="1" spc="150" kern="0" dirty="0">
                <a:solidFill>
                  <a:srgbClr val="8B8B90"/>
                </a:solidFill>
                <a:latin typeface="Calibri" pitchFamily="34" charset="0"/>
                <a:ea typeface="Calibri" pitchFamily="34" charset="-122"/>
                <a:cs typeface="Calibri" pitchFamily="34" charset="-120"/>
              </a:rPr>
              <a:t>INTERNET</a:t>
            </a:r>
            <a:endParaRPr lang="en-US" sz="950" dirty="0"/>
          </a:p>
        </p:txBody>
      </p:sp>
      <p:sp>
        <p:nvSpPr>
          <p:cNvPr id="55" name="Shape 53"/>
          <p:cNvSpPr/>
          <p:nvPr/>
        </p:nvSpPr>
        <p:spPr>
          <a:xfrm>
            <a:off x="7452360" y="1417320"/>
            <a:ext cx="1783080" cy="640080"/>
          </a:xfrm>
          <a:prstGeom prst="roundRect">
            <a:avLst>
              <a:gd name="adj" fmla="val 11429"/>
            </a:avLst>
          </a:prstGeom>
          <a:solidFill>
            <a:srgbClr val="FFFFFF"/>
          </a:solidFill>
          <a:ln w="15875">
            <a:solidFill>
              <a:srgbClr val="33363F"/>
            </a:solidFill>
            <a:prstDash val="solid"/>
          </a:ln>
        </p:spPr>
      </p:sp>
      <p:sp>
        <p:nvSpPr>
          <p:cNvPr id="56" name="Shape 54"/>
          <p:cNvSpPr/>
          <p:nvPr/>
        </p:nvSpPr>
        <p:spPr>
          <a:xfrm>
            <a:off x="7616952" y="1581912"/>
            <a:ext cx="438912" cy="310896"/>
          </a:xfrm>
          <a:prstGeom prst="cloud">
            <a:avLst/>
          </a:prstGeom>
          <a:solidFill>
            <a:srgbClr val="FFFFFF"/>
          </a:solidFill>
          <a:ln w="22225">
            <a:solidFill>
              <a:srgbClr val="33363F"/>
            </a:solidFill>
            <a:prstDash val="solid"/>
          </a:ln>
        </p:spPr>
      </p:sp>
      <p:sp>
        <p:nvSpPr>
          <p:cNvPr id="57" name="Text 55"/>
          <p:cNvSpPr/>
          <p:nvPr/>
        </p:nvSpPr>
        <p:spPr>
          <a:xfrm>
            <a:off x="8165592" y="1417320"/>
            <a:ext cx="1005840" cy="640080"/>
          </a:xfrm>
          <a:prstGeom prst="rect">
            <a:avLst/>
          </a:prstGeom>
          <a:noFill/>
          <a:ln/>
        </p:spPr>
        <p:txBody>
          <a:bodyPr wrap="square" lIns="0" tIns="0" rIns="0" bIns="0" rtlCol="0" anchor="ctr"/>
          <a:lstStyle/>
          <a:p>
            <a:pPr indent="0" marL="0">
              <a:buNone/>
            </a:pPr>
            <a:r>
              <a:rPr lang="en-US" sz="1200" b="1" dirty="0">
                <a:solidFill>
                  <a:srgbClr val="33363F"/>
                </a:solidFill>
                <a:latin typeface="Calibri" pitchFamily="34" charset="0"/>
                <a:ea typeface="Calibri" pitchFamily="34" charset="-122"/>
                <a:cs typeface="Calibri" pitchFamily="34" charset="-120"/>
              </a:rPr>
              <a:t>7 sources</a:t>
            </a:r>
            <a:endParaRPr lang="en-US" sz="1200" dirty="0"/>
          </a:p>
          <a:p>
            <a:pPr indent="0" marL="0">
              <a:buNone/>
            </a:pPr>
            <a:r>
              <a:rPr lang="en-US" sz="1000" dirty="0">
                <a:solidFill>
                  <a:srgbClr val="8B8B90"/>
                </a:solidFill>
                <a:latin typeface="Calibri" pitchFamily="34" charset="0"/>
                <a:ea typeface="Calibri" pitchFamily="34" charset="-122"/>
                <a:cs typeface="Calibri" pitchFamily="34" charset="-120"/>
              </a:rPr>
              <a:t>public websites</a:t>
            </a:r>
            <a:endParaRPr lang="en-US" sz="1200" dirty="0"/>
          </a:p>
        </p:txBody>
      </p:sp>
      <p:sp>
        <p:nvSpPr>
          <p:cNvPr id="58" name="Shape 56"/>
          <p:cNvSpPr/>
          <p:nvPr/>
        </p:nvSpPr>
        <p:spPr>
          <a:xfrm>
            <a:off x="9646920" y="1417320"/>
            <a:ext cx="1783080" cy="640080"/>
          </a:xfrm>
          <a:prstGeom prst="roundRect">
            <a:avLst>
              <a:gd name="adj" fmla="val 11429"/>
            </a:avLst>
          </a:prstGeom>
          <a:solidFill>
            <a:srgbClr val="FFFFFF"/>
          </a:solidFill>
          <a:ln w="15875">
            <a:solidFill>
              <a:srgbClr val="33363F"/>
            </a:solidFill>
            <a:prstDash val="solid"/>
          </a:ln>
        </p:spPr>
      </p:sp>
      <p:sp>
        <p:nvSpPr>
          <p:cNvPr id="59" name="Shape 57"/>
          <p:cNvSpPr/>
          <p:nvPr/>
        </p:nvSpPr>
        <p:spPr>
          <a:xfrm>
            <a:off x="9811512" y="1581912"/>
            <a:ext cx="438912" cy="310896"/>
          </a:xfrm>
          <a:prstGeom prst="cloud">
            <a:avLst/>
          </a:prstGeom>
          <a:solidFill>
            <a:srgbClr val="FFFFFF"/>
          </a:solidFill>
          <a:ln w="22225">
            <a:solidFill>
              <a:srgbClr val="33363F"/>
            </a:solidFill>
            <a:prstDash val="solid"/>
          </a:ln>
        </p:spPr>
      </p:sp>
      <p:sp>
        <p:nvSpPr>
          <p:cNvPr id="60" name="Text 58"/>
          <p:cNvSpPr/>
          <p:nvPr/>
        </p:nvSpPr>
        <p:spPr>
          <a:xfrm>
            <a:off x="10360152" y="1417320"/>
            <a:ext cx="1005840" cy="640080"/>
          </a:xfrm>
          <a:prstGeom prst="rect">
            <a:avLst/>
          </a:prstGeom>
          <a:noFill/>
          <a:ln/>
        </p:spPr>
        <p:txBody>
          <a:bodyPr wrap="square" lIns="0" tIns="0" rIns="0" bIns="0" rtlCol="0" anchor="ctr"/>
          <a:lstStyle/>
          <a:p>
            <a:pPr indent="0" marL="0">
              <a:buNone/>
            </a:pPr>
            <a:r>
              <a:rPr lang="en-US" sz="1200" b="1" dirty="0">
                <a:solidFill>
                  <a:srgbClr val="33363F"/>
                </a:solidFill>
                <a:latin typeface="Calibri" pitchFamily="34" charset="0"/>
                <a:ea typeface="Calibri" pitchFamily="34" charset="-122"/>
                <a:cs typeface="Calibri" pitchFamily="34" charset="-120"/>
              </a:rPr>
              <a:t>Groq API</a:t>
            </a:r>
            <a:endParaRPr lang="en-US" sz="1200" dirty="0"/>
          </a:p>
          <a:p>
            <a:pPr indent="0" marL="0">
              <a:buNone/>
            </a:pPr>
            <a:r>
              <a:rPr lang="en-US" sz="1000" dirty="0">
                <a:solidFill>
                  <a:srgbClr val="8B8B90"/>
                </a:solidFill>
                <a:latin typeface="Calibri" pitchFamily="34" charset="0"/>
                <a:ea typeface="Calibri" pitchFamily="34" charset="-122"/>
                <a:cs typeface="Calibri" pitchFamily="34" charset="-120"/>
              </a:rPr>
              <a:t>cloud LLM</a:t>
            </a:r>
            <a:endParaRPr lang="en-US" sz="1200" dirty="0"/>
          </a:p>
        </p:txBody>
      </p:sp>
      <p:sp>
        <p:nvSpPr>
          <p:cNvPr id="61" name="Shape 59"/>
          <p:cNvSpPr/>
          <p:nvPr/>
        </p:nvSpPr>
        <p:spPr>
          <a:xfrm>
            <a:off x="2331720" y="3749040"/>
            <a:ext cx="713232" cy="9144"/>
          </a:xfrm>
          <a:prstGeom prst="line">
            <a:avLst/>
          </a:prstGeom>
          <a:noFill/>
          <a:ln w="22225">
            <a:solidFill>
              <a:srgbClr val="33363F"/>
            </a:solidFill>
            <a:prstDash val="solid"/>
            <a:tailEnd type="triangle"/>
          </a:ln>
        </p:spPr>
      </p:sp>
      <p:sp>
        <p:nvSpPr>
          <p:cNvPr id="62" name="Text 60"/>
          <p:cNvSpPr/>
          <p:nvPr/>
        </p:nvSpPr>
        <p:spPr>
          <a:xfrm>
            <a:off x="2496312" y="3502152"/>
            <a:ext cx="274320" cy="201168"/>
          </a:xfrm>
          <a:prstGeom prst="rect">
            <a:avLst/>
          </a:prstGeom>
          <a:noFill/>
          <a:ln/>
        </p:spPr>
        <p:txBody>
          <a:bodyPr wrap="square" lIns="0" tIns="0" rIns="0" bIns="0" rtlCol="0" anchor="ctr"/>
          <a:lstStyle/>
          <a:p>
            <a:pPr indent="0" marL="0">
              <a:buNone/>
            </a:pPr>
            <a:r>
              <a:rPr lang="en-US" sz="950" i="1" dirty="0">
                <a:solidFill>
                  <a:srgbClr val="8B8B90"/>
                </a:solidFill>
                <a:latin typeface="Calibri" pitchFamily="34" charset="0"/>
                <a:ea typeface="Calibri" pitchFamily="34" charset="-122"/>
                <a:cs typeface="Calibri" pitchFamily="34" charset="-120"/>
              </a:rPr>
              <a:t>REST</a:t>
            </a:r>
            <a:endParaRPr lang="en-US" sz="950" dirty="0"/>
          </a:p>
        </p:txBody>
      </p:sp>
      <p:sp>
        <p:nvSpPr>
          <p:cNvPr id="63" name="Shape 61"/>
          <p:cNvSpPr/>
          <p:nvPr/>
        </p:nvSpPr>
        <p:spPr>
          <a:xfrm>
            <a:off x="7059168" y="3794760"/>
            <a:ext cx="374904" cy="9144"/>
          </a:xfrm>
          <a:prstGeom prst="line">
            <a:avLst/>
          </a:prstGeom>
          <a:noFill/>
          <a:ln w="22225">
            <a:solidFill>
              <a:srgbClr val="33363F"/>
            </a:solidFill>
            <a:prstDash val="sysDot"/>
            <a:tailEnd type="triangle"/>
          </a:ln>
        </p:spPr>
      </p:sp>
      <p:sp>
        <p:nvSpPr>
          <p:cNvPr id="64" name="Shape 62"/>
          <p:cNvSpPr/>
          <p:nvPr/>
        </p:nvSpPr>
        <p:spPr>
          <a:xfrm>
            <a:off x="8339328" y="2057400"/>
            <a:ext cx="9144" cy="804672"/>
          </a:xfrm>
          <a:prstGeom prst="line">
            <a:avLst/>
          </a:prstGeom>
          <a:noFill/>
          <a:ln w="22225">
            <a:solidFill>
              <a:srgbClr val="33363F"/>
            </a:solidFill>
            <a:prstDash val="solid"/>
            <a:tailEnd type="triangle"/>
          </a:ln>
        </p:spPr>
      </p:sp>
      <p:sp>
        <p:nvSpPr>
          <p:cNvPr id="65" name="Text 63"/>
          <p:cNvSpPr/>
          <p:nvPr/>
        </p:nvSpPr>
        <p:spPr>
          <a:xfrm>
            <a:off x="8412480" y="2212848"/>
            <a:ext cx="822960" cy="201168"/>
          </a:xfrm>
          <a:prstGeom prst="rect">
            <a:avLst/>
          </a:prstGeom>
          <a:noFill/>
          <a:ln/>
        </p:spPr>
        <p:txBody>
          <a:bodyPr wrap="square" lIns="0" tIns="0" rIns="0" bIns="0" rtlCol="0" anchor="ctr"/>
          <a:lstStyle/>
          <a:p>
            <a:pPr indent="0" marL="0">
              <a:buNone/>
            </a:pPr>
            <a:r>
              <a:rPr lang="en-US" sz="950" i="1" dirty="0">
                <a:solidFill>
                  <a:srgbClr val="8B8B90"/>
                </a:solidFill>
                <a:latin typeface="Calibri" pitchFamily="34" charset="0"/>
                <a:ea typeface="Calibri" pitchFamily="34" charset="-122"/>
                <a:cs typeface="Calibri" pitchFamily="34" charset="-120"/>
              </a:rPr>
              <a:t>HTTP</a:t>
            </a:r>
            <a:endParaRPr lang="en-US" sz="950" dirty="0"/>
          </a:p>
        </p:txBody>
      </p:sp>
      <p:sp>
        <p:nvSpPr>
          <p:cNvPr id="66" name="Shape 64"/>
          <p:cNvSpPr/>
          <p:nvPr/>
        </p:nvSpPr>
        <p:spPr>
          <a:xfrm>
            <a:off x="10533888" y="2057400"/>
            <a:ext cx="9144" cy="804672"/>
          </a:xfrm>
          <a:prstGeom prst="line">
            <a:avLst/>
          </a:prstGeom>
          <a:noFill/>
          <a:ln w="22225">
            <a:solidFill>
              <a:srgbClr val="33363F"/>
            </a:solidFill>
            <a:prstDash val="solid"/>
            <a:headEnd type="triangle"/>
            <a:tailEnd type="triangle"/>
          </a:ln>
        </p:spPr>
      </p:sp>
      <p:sp>
        <p:nvSpPr>
          <p:cNvPr id="67" name="Text 65"/>
          <p:cNvSpPr/>
          <p:nvPr/>
        </p:nvSpPr>
        <p:spPr>
          <a:xfrm>
            <a:off x="10607040" y="2212848"/>
            <a:ext cx="822960" cy="201168"/>
          </a:xfrm>
          <a:prstGeom prst="rect">
            <a:avLst/>
          </a:prstGeom>
          <a:noFill/>
          <a:ln/>
        </p:spPr>
        <p:txBody>
          <a:bodyPr wrap="square" lIns="0" tIns="0" rIns="0" bIns="0" rtlCol="0" anchor="ctr"/>
          <a:lstStyle/>
          <a:p>
            <a:pPr indent="0" marL="0">
              <a:buNone/>
            </a:pPr>
            <a:r>
              <a:rPr lang="en-US" sz="950" i="1" dirty="0">
                <a:solidFill>
                  <a:srgbClr val="8B8B90"/>
                </a:solidFill>
                <a:latin typeface="Calibri" pitchFamily="34" charset="0"/>
                <a:ea typeface="Calibri" pitchFamily="34" charset="-122"/>
                <a:cs typeface="Calibri" pitchFamily="34" charset="-120"/>
              </a:rPr>
              <a:t>HTTPS</a:t>
            </a:r>
            <a:endParaRPr lang="en-US" sz="950" dirty="0"/>
          </a:p>
        </p:txBody>
      </p:sp>
      <p:sp>
        <p:nvSpPr>
          <p:cNvPr id="68" name="Shape 66"/>
          <p:cNvSpPr/>
          <p:nvPr/>
        </p:nvSpPr>
        <p:spPr>
          <a:xfrm>
            <a:off x="3931920" y="4709160"/>
            <a:ext cx="9144" cy="502920"/>
          </a:xfrm>
          <a:prstGeom prst="line">
            <a:avLst/>
          </a:prstGeom>
          <a:noFill/>
          <a:ln w="22225">
            <a:solidFill>
              <a:srgbClr val="33363F"/>
            </a:solidFill>
            <a:prstDash val="solid"/>
            <a:headEnd type="triangle"/>
            <a:tailEnd type="triangle"/>
          </a:ln>
        </p:spPr>
      </p:sp>
      <p:sp>
        <p:nvSpPr>
          <p:cNvPr id="69" name="Text 67"/>
          <p:cNvSpPr/>
          <p:nvPr/>
        </p:nvSpPr>
        <p:spPr>
          <a:xfrm>
            <a:off x="4023360" y="4846320"/>
            <a:ext cx="914400" cy="201168"/>
          </a:xfrm>
          <a:prstGeom prst="rect">
            <a:avLst/>
          </a:prstGeom>
          <a:noFill/>
          <a:ln/>
        </p:spPr>
        <p:txBody>
          <a:bodyPr wrap="square" lIns="0" tIns="0" rIns="0" bIns="0" rtlCol="0" anchor="ctr"/>
          <a:lstStyle/>
          <a:p>
            <a:pPr indent="0" marL="0">
              <a:buNone/>
            </a:pPr>
            <a:r>
              <a:rPr lang="en-US" sz="950" i="1" dirty="0">
                <a:solidFill>
                  <a:srgbClr val="8B8B90"/>
                </a:solidFill>
                <a:latin typeface="Calibri" pitchFamily="34" charset="0"/>
                <a:ea typeface="Calibri" pitchFamily="34" charset="-122"/>
                <a:cs typeface="Calibri" pitchFamily="34" charset="-120"/>
              </a:rPr>
              <a:t>SQL</a:t>
            </a:r>
            <a:endParaRPr lang="en-US" sz="950" dirty="0"/>
          </a:p>
        </p:txBody>
      </p:sp>
      <p:sp>
        <p:nvSpPr>
          <p:cNvPr id="70" name="Shape 68"/>
          <p:cNvSpPr/>
          <p:nvPr/>
        </p:nvSpPr>
        <p:spPr>
          <a:xfrm>
            <a:off x="8339328" y="4709160"/>
            <a:ext cx="9144" cy="502920"/>
          </a:xfrm>
          <a:prstGeom prst="line">
            <a:avLst/>
          </a:prstGeom>
          <a:noFill/>
          <a:ln w="22225">
            <a:solidFill>
              <a:srgbClr val="33363F"/>
            </a:solidFill>
            <a:prstDash val="sysDot"/>
            <a:tailEnd type="triangle"/>
          </a:ln>
        </p:spPr>
      </p:sp>
      <p:sp>
        <p:nvSpPr>
          <p:cNvPr id="71" name="Text 69"/>
          <p:cNvSpPr/>
          <p:nvPr/>
        </p:nvSpPr>
        <p:spPr>
          <a:xfrm>
            <a:off x="8412480" y="4846320"/>
            <a:ext cx="1097280" cy="201168"/>
          </a:xfrm>
          <a:prstGeom prst="rect">
            <a:avLst/>
          </a:prstGeom>
          <a:noFill/>
          <a:ln/>
        </p:spPr>
        <p:txBody>
          <a:bodyPr wrap="square" lIns="0" tIns="0" rIns="0" bIns="0" rtlCol="0" anchor="ctr"/>
          <a:lstStyle/>
          <a:p>
            <a:pPr indent="0" marL="0">
              <a:buNone/>
            </a:pPr>
            <a:r>
              <a:rPr lang="en-US" sz="950" i="1" dirty="0">
                <a:solidFill>
                  <a:srgbClr val="8B8B90"/>
                </a:solidFill>
                <a:latin typeface="Calibri" pitchFamily="34" charset="0"/>
                <a:ea typeface="Calibri" pitchFamily="34" charset="-122"/>
                <a:cs typeface="Calibri" pitchFamily="34" charset="-120"/>
              </a:rPr>
              <a:t>async writes</a:t>
            </a:r>
            <a:endParaRPr lang="en-US" sz="950" dirty="0"/>
          </a:p>
        </p:txBody>
      </p:sp>
      <p:sp>
        <p:nvSpPr>
          <p:cNvPr id="72" name="Shape 70"/>
          <p:cNvSpPr/>
          <p:nvPr/>
        </p:nvSpPr>
        <p:spPr>
          <a:xfrm>
            <a:off x="10533888" y="4709160"/>
            <a:ext cx="9144" cy="502920"/>
          </a:xfrm>
          <a:prstGeom prst="line">
            <a:avLst/>
          </a:prstGeom>
          <a:noFill/>
          <a:ln w="22225">
            <a:solidFill>
              <a:srgbClr val="33363F"/>
            </a:solidFill>
            <a:prstDash val="solid"/>
            <a:tailEnd type="triangle"/>
          </a:ln>
        </p:spPr>
      </p:sp>
      <p:sp>
        <p:nvSpPr>
          <p:cNvPr id="73" name="Text 71"/>
          <p:cNvSpPr/>
          <p:nvPr/>
        </p:nvSpPr>
        <p:spPr>
          <a:xfrm>
            <a:off x="10607040" y="4846320"/>
            <a:ext cx="822960" cy="201168"/>
          </a:xfrm>
          <a:prstGeom prst="rect">
            <a:avLst/>
          </a:prstGeom>
          <a:noFill/>
          <a:ln/>
        </p:spPr>
        <p:txBody>
          <a:bodyPr wrap="square" lIns="0" tIns="0" rIns="0" bIns="0" rtlCol="0" anchor="ctr"/>
          <a:lstStyle/>
          <a:p>
            <a:pPr indent="0" marL="0">
              <a:buNone/>
            </a:pPr>
            <a:r>
              <a:rPr lang="en-US" sz="950" i="1" dirty="0">
                <a:solidFill>
                  <a:srgbClr val="8B8B90"/>
                </a:solidFill>
                <a:latin typeface="Calibri" pitchFamily="34" charset="0"/>
                <a:ea typeface="Calibri" pitchFamily="34" charset="-122"/>
                <a:cs typeface="Calibri" pitchFamily="34" charset="-120"/>
              </a:rPr>
              <a:t>reads</a:t>
            </a:r>
            <a:endParaRPr lang="en-US" sz="950" dirty="0"/>
          </a:p>
        </p:txBody>
      </p:sp>
      <p:sp>
        <p:nvSpPr>
          <p:cNvPr id="74" name="Shape 72"/>
          <p:cNvSpPr/>
          <p:nvPr/>
        </p:nvSpPr>
        <p:spPr>
          <a:xfrm>
            <a:off x="548640" y="5257800"/>
            <a:ext cx="1920240" cy="1005840"/>
          </a:xfrm>
          <a:prstGeom prst="roundRect">
            <a:avLst>
              <a:gd name="adj" fmla="val 7273"/>
            </a:avLst>
          </a:prstGeom>
          <a:solidFill>
            <a:srgbClr val="FFFFFF"/>
          </a:solidFill>
          <a:ln w="15875">
            <a:solidFill>
              <a:srgbClr val="B9BCC5"/>
            </a:solidFill>
            <a:prstDash val="dash"/>
          </a:ln>
        </p:spPr>
      </p:sp>
      <p:sp>
        <p:nvSpPr>
          <p:cNvPr id="75" name="Text 73"/>
          <p:cNvSpPr/>
          <p:nvPr/>
        </p:nvSpPr>
        <p:spPr>
          <a:xfrm>
            <a:off x="658368" y="5303520"/>
            <a:ext cx="1645920" cy="237744"/>
          </a:xfrm>
          <a:prstGeom prst="rect">
            <a:avLst/>
          </a:prstGeom>
          <a:noFill/>
          <a:ln/>
        </p:spPr>
        <p:txBody>
          <a:bodyPr wrap="square" lIns="0" tIns="0" rIns="0" bIns="0" rtlCol="0" anchor="ctr"/>
          <a:lstStyle/>
          <a:p>
            <a:pPr indent="0" marL="0">
              <a:buNone/>
            </a:pPr>
            <a:r>
              <a:rPr lang="en-US" sz="1100" b="1" dirty="0">
                <a:solidFill>
                  <a:srgbClr val="33363F"/>
                </a:solidFill>
                <a:latin typeface="Calibri" pitchFamily="34" charset="0"/>
                <a:ea typeface="Calibri" pitchFamily="34" charset="-122"/>
                <a:cs typeface="Calibri" pitchFamily="34" charset="-120"/>
              </a:rPr>
              <a:t>Legend</a:t>
            </a:r>
            <a:endParaRPr lang="en-US" sz="1100" dirty="0"/>
          </a:p>
        </p:txBody>
      </p:sp>
      <p:sp>
        <p:nvSpPr>
          <p:cNvPr id="76" name="Shape 74"/>
          <p:cNvSpPr/>
          <p:nvPr/>
        </p:nvSpPr>
        <p:spPr>
          <a:xfrm>
            <a:off x="685800" y="5779008"/>
            <a:ext cx="457200" cy="9144"/>
          </a:xfrm>
          <a:prstGeom prst="line">
            <a:avLst/>
          </a:prstGeom>
          <a:noFill/>
          <a:ln w="22225">
            <a:solidFill>
              <a:srgbClr val="33363F"/>
            </a:solidFill>
            <a:prstDash val="solid"/>
            <a:tailEnd type="triangle"/>
          </a:ln>
        </p:spPr>
      </p:sp>
      <p:sp>
        <p:nvSpPr>
          <p:cNvPr id="77" name="Text 75"/>
          <p:cNvSpPr/>
          <p:nvPr/>
        </p:nvSpPr>
        <p:spPr>
          <a:xfrm>
            <a:off x="1207008" y="5669280"/>
            <a:ext cx="1280160" cy="228600"/>
          </a:xfrm>
          <a:prstGeom prst="rect">
            <a:avLst/>
          </a:prstGeom>
          <a:noFill/>
          <a:ln/>
        </p:spPr>
        <p:txBody>
          <a:bodyPr wrap="square" lIns="0" tIns="0" rIns="0" bIns="0" rtlCol="0" anchor="ctr"/>
          <a:lstStyle/>
          <a:p>
            <a:pPr indent="0" marL="0">
              <a:buNone/>
            </a:pPr>
            <a:r>
              <a:rPr lang="en-US" sz="900" dirty="0">
                <a:solidFill>
                  <a:srgbClr val="5A5D66"/>
                </a:solidFill>
                <a:latin typeface="Calibri" pitchFamily="34" charset="0"/>
                <a:ea typeface="Calibri" pitchFamily="34" charset="-122"/>
                <a:cs typeface="Calibri" pitchFamily="34" charset="-120"/>
              </a:rPr>
              <a:t>synchronous (REST, SQL)</a:t>
            </a:r>
            <a:endParaRPr lang="en-US" sz="900" dirty="0"/>
          </a:p>
        </p:txBody>
      </p:sp>
      <p:sp>
        <p:nvSpPr>
          <p:cNvPr id="78" name="Shape 76"/>
          <p:cNvSpPr/>
          <p:nvPr/>
        </p:nvSpPr>
        <p:spPr>
          <a:xfrm>
            <a:off x="685800" y="6053328"/>
            <a:ext cx="457200" cy="9144"/>
          </a:xfrm>
          <a:prstGeom prst="line">
            <a:avLst/>
          </a:prstGeom>
          <a:noFill/>
          <a:ln w="22225">
            <a:solidFill>
              <a:srgbClr val="33363F"/>
            </a:solidFill>
            <a:prstDash val="sysDot"/>
            <a:tailEnd type="triangle"/>
          </a:ln>
        </p:spPr>
      </p:sp>
      <p:sp>
        <p:nvSpPr>
          <p:cNvPr id="79" name="Text 77"/>
          <p:cNvSpPr/>
          <p:nvPr/>
        </p:nvSpPr>
        <p:spPr>
          <a:xfrm>
            <a:off x="1207008" y="5943600"/>
            <a:ext cx="1280160" cy="228600"/>
          </a:xfrm>
          <a:prstGeom prst="rect">
            <a:avLst/>
          </a:prstGeom>
          <a:noFill/>
          <a:ln/>
        </p:spPr>
        <p:txBody>
          <a:bodyPr wrap="square" lIns="0" tIns="0" rIns="0" bIns="0" rtlCol="0" anchor="ctr"/>
          <a:lstStyle/>
          <a:p>
            <a:pPr indent="0" marL="0">
              <a:buNone/>
            </a:pPr>
            <a:r>
              <a:rPr lang="en-US" sz="900" dirty="0">
                <a:solidFill>
                  <a:srgbClr val="5A5D66"/>
                </a:solidFill>
                <a:latin typeface="Calibri" pitchFamily="34" charset="0"/>
                <a:ea typeface="Calibri" pitchFamily="34" charset="-122"/>
                <a:cs typeface="Calibri" pitchFamily="34" charset="-120"/>
              </a:rPr>
              <a:t>asynchronous (background)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2026-09-20T20:47:57Z</dcterms:created>
  <dcterms:modified xsi:type="dcterms:W3CDTF">2026-09-20T20:47:57Z</dcterms:modified>
</cp:coreProperties>
</file>