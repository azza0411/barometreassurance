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E6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END-OF-STUDIES PROJECT DEFENSE  •  ESPRIT × EY TUNISIA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103327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FS Market Intelligence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9144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Insurance Barometer — Tunisia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372600" y="4160520"/>
            <a:ext cx="1005840" cy="1005840"/>
          </a:xfrm>
          <a:prstGeom prst="ellipse">
            <a:avLst/>
          </a:prstGeom>
          <a:solidFill>
            <a:srgbClr val="FFE600"/>
          </a:solidFill>
        </p:spPr>
      </p:sp>
      <p:sp>
        <p:nvSpPr>
          <p:cNvPr id="6" name="Text 4"/>
          <p:cNvSpPr/>
          <p:nvPr/>
        </p:nvSpPr>
        <p:spPr>
          <a:xfrm>
            <a:off x="9372600" y="416052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FSMI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 flipH="1" flipV="1">
            <a:off x="8758489" y="4370712"/>
            <a:ext cx="1117031" cy="292728"/>
          </a:xfrm>
          <a:prstGeom prst="line">
            <a:avLst/>
          </a:prstGeom>
          <a:noFill/>
          <a:ln w="19050">
            <a:solidFill>
              <a:srgbClr val="5A639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374441" y="3986664"/>
            <a:ext cx="768096" cy="768096"/>
          </a:xfrm>
          <a:prstGeom prst="ellipse">
            <a:avLst/>
          </a:prstGeom>
          <a:solidFill>
            <a:srgbClr val="262C52"/>
          </a:solidFill>
          <a:ln w="12700">
            <a:solidFill>
              <a:srgbClr val="7C87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74441" y="3986664"/>
            <a:ext cx="768096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E6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COLLECT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 flipV="1">
            <a:off x="9875520" y="3807562"/>
            <a:ext cx="9144" cy="855878"/>
          </a:xfrm>
          <a:prstGeom prst="line">
            <a:avLst/>
          </a:prstGeom>
          <a:noFill/>
          <a:ln w="19050">
            <a:solidFill>
              <a:srgbClr val="5A639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491472" y="3423514"/>
            <a:ext cx="768096" cy="768096"/>
          </a:xfrm>
          <a:prstGeom prst="ellipse">
            <a:avLst/>
          </a:prstGeom>
          <a:solidFill>
            <a:srgbClr val="262C52"/>
          </a:solidFill>
          <a:ln w="12700">
            <a:solidFill>
              <a:srgbClr val="7C87A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91472" y="3423514"/>
            <a:ext cx="768096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E6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EXTRACT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 flipV="1">
            <a:off x="9875520" y="4370712"/>
            <a:ext cx="1117031" cy="292728"/>
          </a:xfrm>
          <a:prstGeom prst="line">
            <a:avLst/>
          </a:prstGeom>
          <a:noFill/>
          <a:ln w="19050">
            <a:solidFill>
              <a:srgbClr val="5A639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608503" y="3986664"/>
            <a:ext cx="768096" cy="768096"/>
          </a:xfrm>
          <a:prstGeom prst="ellipse">
            <a:avLst/>
          </a:prstGeom>
          <a:solidFill>
            <a:srgbClr val="262C52"/>
          </a:solidFill>
          <a:ln w="12700">
            <a:solidFill>
              <a:srgbClr val="7C87A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08503" y="3986664"/>
            <a:ext cx="768096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E6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ANALYZE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875520" y="4663440"/>
            <a:ext cx="9144" cy="855878"/>
          </a:xfrm>
          <a:prstGeom prst="line">
            <a:avLst/>
          </a:prstGeom>
          <a:noFill/>
          <a:ln w="19050">
            <a:solidFill>
              <a:srgbClr val="5A639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491472" y="5135270"/>
            <a:ext cx="768096" cy="768096"/>
          </a:xfrm>
          <a:prstGeom prst="ellipse">
            <a:avLst/>
          </a:prstGeom>
          <a:solidFill>
            <a:srgbClr val="262C52"/>
          </a:solidFill>
          <a:ln w="12700">
            <a:solidFill>
              <a:srgbClr val="7C87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91472" y="5135270"/>
            <a:ext cx="768096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E6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22960" y="2834640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FFE6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ACADEMIC SUPERVISOR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00400" y="283464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Ilhem Jouini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22960" y="3236976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FFE6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PROFESSIONAL SUPERVISOR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00400" y="3236976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Mohamed Ali Mestikou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22960" y="3639312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FFE6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PREPARED BY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00400" y="3639312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Azza Hamdi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22960" y="4041648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FFE6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COMPANY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00400" y="4041648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EY — Financial Services Consulting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22960" y="4443984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FFE6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YEAR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200400" y="4443984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262C52"/>
          </a:solidFill>
        </p:spPr>
      </p:sp>
      <p:sp>
        <p:nvSpPr>
          <p:cNvPr id="3" name="Shape 1"/>
          <p:cNvSpPr/>
          <p:nvPr/>
        </p:nvSpPr>
        <p:spPr>
          <a:xfrm>
            <a:off x="10515600" y="4754880"/>
            <a:ext cx="3291840" cy="3291840"/>
          </a:xfrm>
          <a:prstGeom prst="ellipse">
            <a:avLst/>
          </a:prstGeom>
          <a:solidFill>
            <a:srgbClr val="262C52"/>
          </a:solidFill>
        </p:spPr>
      </p:sp>
      <p:sp>
        <p:nvSpPr>
          <p:cNvPr id="4" name="Text 2"/>
          <p:cNvSpPr/>
          <p:nvPr/>
        </p:nvSpPr>
        <p:spPr>
          <a:xfrm>
            <a:off x="822960" y="2331720"/>
            <a:ext cx="27432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FFE6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98755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 Context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8686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market, the department and the users behind this project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458200" y="777240"/>
            <a:ext cx="2468880" cy="2468880"/>
          </a:xfrm>
          <a:prstGeom prst="ellipse">
            <a:avLst/>
          </a:prstGeom>
          <a:ln w="19050">
            <a:solidFill>
              <a:srgbClr val="7C87A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9680" y="1188720"/>
            <a:ext cx="1645920" cy="1645920"/>
          </a:xfrm>
          <a:prstGeom prst="ellipse">
            <a:avLst/>
          </a:prstGeom>
          <a:ln w="19050">
            <a:solidFill>
              <a:srgbClr val="7C87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600200"/>
            <a:ext cx="822960" cy="822960"/>
          </a:xfrm>
          <a:prstGeom prst="ellipse">
            <a:avLst/>
          </a:prstGeom>
          <a:ln w="19050">
            <a:solidFill>
              <a:srgbClr val="FFE6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EY Tunisia &amp; the FST Department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103120" y="333756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148840" y="3337560"/>
            <a:ext cx="19202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EY Tunisia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 flipV="1">
            <a:off x="3108960" y="2514600"/>
            <a:ext cx="9144" cy="822960"/>
          </a:xfrm>
          <a:prstGeom prst="line">
            <a:avLst/>
          </a:prstGeom>
          <a:noFill/>
          <a:ln w="28575">
            <a:solidFill>
              <a:srgbClr val="7C87A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114800" y="3840480"/>
            <a:ext cx="1188720" cy="9144"/>
          </a:xfrm>
          <a:prstGeom prst="line">
            <a:avLst/>
          </a:prstGeom>
          <a:noFill/>
          <a:ln w="28575">
            <a:solidFill>
              <a:srgbClr val="7C87A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108960" y="4343400"/>
            <a:ext cx="9144" cy="731520"/>
          </a:xfrm>
          <a:prstGeom prst="line">
            <a:avLst/>
          </a:prstGeom>
          <a:noFill/>
          <a:ln w="28575">
            <a:solidFill>
              <a:srgbClr val="7C87A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48840" y="141732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4A5578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94560" y="1417320"/>
            <a:ext cx="18288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Financial Services Transformation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303520" y="333756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4A5578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49240" y="3418027"/>
            <a:ext cx="2057400" cy="402336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FST Consultants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76672" y="3860597"/>
            <a:ext cx="2002536" cy="42245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primary users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48840" y="507492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4A5578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194560" y="5074920"/>
            <a:ext cx="18288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Internal tool — not client-facing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863840" y="1508760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global professional services network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863840" y="2011680"/>
            <a:ext cx="3840480" cy="457200"/>
          </a:xfrm>
          <a:prstGeom prst="roundRect">
            <a:avLst>
              <a:gd name="adj" fmla="val 12000"/>
            </a:avLst>
          </a:prstGeom>
          <a:solidFill>
            <a:srgbClr val="F4F5FA"/>
          </a:solidFill>
        </p:spPr>
      </p:sp>
      <p:sp>
        <p:nvSpPr>
          <p:cNvPr id="19" name="Text 17"/>
          <p:cNvSpPr/>
          <p:nvPr/>
        </p:nvSpPr>
        <p:spPr>
          <a:xfrm>
            <a:off x="7863840" y="201168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63840" y="2578608"/>
            <a:ext cx="3840480" cy="457200"/>
          </a:xfrm>
          <a:prstGeom prst="roundRect">
            <a:avLst>
              <a:gd name="adj" fmla="val 12000"/>
            </a:avLst>
          </a:prstGeom>
          <a:solidFill>
            <a:srgbClr val="F4F5FA"/>
          </a:solidFill>
        </p:spPr>
      </p:sp>
      <p:sp>
        <p:nvSpPr>
          <p:cNvPr id="21" name="Text 19"/>
          <p:cNvSpPr/>
          <p:nvPr/>
        </p:nvSpPr>
        <p:spPr>
          <a:xfrm>
            <a:off x="7863840" y="2578608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Consulting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863840" y="3145536"/>
            <a:ext cx="3840480" cy="457200"/>
          </a:xfrm>
          <a:prstGeom prst="roundRect">
            <a:avLst>
              <a:gd name="adj" fmla="val 12000"/>
            </a:avLst>
          </a:prstGeom>
          <a:solidFill>
            <a:srgbClr val="F4F5FA"/>
          </a:solidFill>
        </p:spPr>
      </p:sp>
      <p:sp>
        <p:nvSpPr>
          <p:cNvPr id="23" name="Text 21"/>
          <p:cNvSpPr/>
          <p:nvPr/>
        </p:nvSpPr>
        <p:spPr>
          <a:xfrm>
            <a:off x="7863840" y="3145536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Tax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63840" y="3712464"/>
            <a:ext cx="3840480" cy="457200"/>
          </a:xfrm>
          <a:prstGeom prst="roundRect">
            <a:avLst>
              <a:gd name="adj" fmla="val 12000"/>
            </a:avLst>
          </a:prstGeom>
          <a:solidFill>
            <a:srgbClr val="F4F5FA"/>
          </a:solidFill>
        </p:spPr>
      </p:sp>
      <p:sp>
        <p:nvSpPr>
          <p:cNvPr id="25" name="Text 23"/>
          <p:cNvSpPr/>
          <p:nvPr/>
        </p:nvSpPr>
        <p:spPr>
          <a:xfrm>
            <a:off x="7863840" y="3712464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Strategy &amp; Transactions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Tunisian Insurance Market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F4F5FA"/>
          </a:solidFill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737360"/>
            <a:ext cx="2377440" cy="8549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24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2532888"/>
            <a:ext cx="2103120" cy="5907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4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companies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24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063240" y="160020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F4F5FA"/>
          </a:solidFill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63240" y="1737360"/>
            <a:ext cx="2377440" cy="8549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200400" y="2532888"/>
            <a:ext cx="2103120" cy="5907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4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conventional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24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insurers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577840" y="160020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F4F5FA"/>
          </a:solidFill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577840" y="1737360"/>
            <a:ext cx="2377440" cy="8549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715000" y="2532888"/>
            <a:ext cx="2103120" cy="5907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4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pure Takaful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24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insurers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92440" y="160020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F4F5FA"/>
          </a:solidFill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92440" y="1737360"/>
            <a:ext cx="2377440" cy="8549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229600" y="2532888"/>
            <a:ext cx="2103120" cy="5907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4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Arabic-only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24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Takaful insurer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352044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Regulatory ecosystem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262C52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4054450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CGA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" y="4476902"/>
            <a:ext cx="1362456" cy="403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Regulator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40280" y="397764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262C52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286000" y="4054450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FTUSA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313432" y="4476902"/>
            <a:ext cx="1362456" cy="403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Federation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931920" y="397764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262C52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977640" y="4054450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CMF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005072" y="4476902"/>
            <a:ext cx="1362456" cy="403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Financial filings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26480" y="3520440"/>
            <a:ext cx="5303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Takaful is different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26480" y="397764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FFE600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172200" y="4112971"/>
            <a:ext cx="2423160" cy="676656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NCT 43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199632" y="4857293"/>
            <a:ext cx="2368296" cy="71048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Combined balance sheet: Fund / Company / Combined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823960" y="397764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E600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869680" y="4112971"/>
            <a:ext cx="2514600" cy="676656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IFSB Ratios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897112" y="4857293"/>
            <a:ext cx="2459736" cy="71048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Wakala / Moudharaba — not comparable to conventional formulas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Target Users &amp; Needs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645920"/>
            <a:ext cx="34290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FST Consultants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4F5FA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017520"/>
            <a:ext cx="306324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4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Benchmark a company vs. the market before citing a figure in a client deliverable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64592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89120" y="1645920"/>
            <a:ext cx="34290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FST Managers / Partners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43400" y="278892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4F5FA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3017520"/>
            <a:ext cx="306324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4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macro market view for missions and internal due-diligence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164592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83880" y="1645920"/>
            <a:ext cx="34290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Internal Data/Tech Team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38160" y="278892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4F5FA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66760" y="3017520"/>
            <a:ext cx="306324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4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 extraction quality &amp; freshness over time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3492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E600"/>
          </a:solidFill>
        </p:spPr>
      </p:sp>
      <p:sp>
        <p:nvSpPr>
          <p:cNvPr id="18" name="Text 16"/>
          <p:cNvSpPr/>
          <p:nvPr/>
        </p:nvSpPr>
        <p:spPr>
          <a:xfrm>
            <a:off x="822960" y="5349240"/>
            <a:ext cx="10515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One shared requirement: trust in every number — traceable to its PDF source, never a black box.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262C52"/>
          </a:solidFill>
        </p:spPr>
      </p:sp>
      <p:sp>
        <p:nvSpPr>
          <p:cNvPr id="3" name="Shape 1"/>
          <p:cNvSpPr/>
          <p:nvPr/>
        </p:nvSpPr>
        <p:spPr>
          <a:xfrm>
            <a:off x="10515600" y="4754880"/>
            <a:ext cx="3291840" cy="3291840"/>
          </a:xfrm>
          <a:prstGeom prst="ellipse">
            <a:avLst/>
          </a:prstGeom>
          <a:solidFill>
            <a:srgbClr val="262C52"/>
          </a:solidFill>
        </p:spPr>
      </p:sp>
      <p:sp>
        <p:nvSpPr>
          <p:cNvPr id="4" name="Text 2"/>
          <p:cNvSpPr/>
          <p:nvPr/>
        </p:nvSpPr>
        <p:spPr>
          <a:xfrm>
            <a:off x="822960" y="2331720"/>
            <a:ext cx="27432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FFE6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98755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Existing Situation &amp; Solution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8686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scattered data to an automated, intelligent platform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0" y="1371600"/>
            <a:ext cx="2926080" cy="822960"/>
          </a:xfrm>
          <a:prstGeom prst="rightArrow">
            <a:avLst/>
          </a:prstGeom>
          <a:solidFill>
            <a:srgbClr val="FFE600"/>
          </a:solid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From Chaos to Clarity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834640" cy="2011680"/>
          </a:xfrm>
          <a:prstGeom prst="roundRect">
            <a:avLst>
              <a:gd name="adj" fmla="val 3636"/>
            </a:avLst>
          </a:prstGeom>
          <a:solidFill>
            <a:srgbClr val="4A5578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2538374"/>
            <a:ext cx="2743200" cy="80467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Scattered PDFs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spreadsheets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" y="3423514"/>
            <a:ext cx="2688336" cy="8449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 companies × up to 11 years, downloaded and keyed in by hand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29000" y="3383280"/>
            <a:ext cx="1280160" cy="9144"/>
          </a:xfrm>
          <a:prstGeom prst="line">
            <a:avLst/>
          </a:prstGeom>
          <a:noFill/>
          <a:ln w="3810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754880" y="2011680"/>
            <a:ext cx="2743200" cy="2743200"/>
          </a:xfrm>
          <a:prstGeom prst="roundRect">
            <a:avLst>
              <a:gd name="adj" fmla="val 2667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2231136"/>
            <a:ext cx="2651760" cy="109728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FS Market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Intelligence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28032" y="3438144"/>
            <a:ext cx="2596896" cy="11521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collection · extraction · modeling · quality · restitution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543800" y="3383280"/>
            <a:ext cx="1280160" cy="9144"/>
          </a:xfrm>
          <a:prstGeom prst="line">
            <a:avLst/>
          </a:prstGeom>
          <a:noFill/>
          <a:ln w="3810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869680" y="2377440"/>
            <a:ext cx="2788920" cy="2011680"/>
          </a:xfrm>
          <a:prstGeom prst="roundRect">
            <a:avLst>
              <a:gd name="adj" fmla="val 3636"/>
            </a:avLst>
          </a:prstGeom>
          <a:solidFill>
            <a:srgbClr val="4A5578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15400" y="2538374"/>
            <a:ext cx="2697480" cy="80467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Interactive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42832" y="3423514"/>
            <a:ext cx="2642616" cy="8449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traceable, trustworthy, continuously updated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F4F5FA"/>
          </a:solidFill>
        </p:spPr>
      </p:sp>
      <p:sp>
        <p:nvSpPr>
          <p:cNvPr id="17" name="Text 15"/>
          <p:cNvSpPr/>
          <p:nvPr/>
        </p:nvSpPr>
        <p:spPr>
          <a:xfrm>
            <a:off x="548640" y="4937760"/>
            <a:ext cx="1110996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“Data is power — only if you use it.”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Not an Existing Market Tool?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4F5FA"/>
          </a:solidFill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874520"/>
            <a:ext cx="4800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Azure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4800600" cy="502920"/>
          </a:xfrm>
          <a:prstGeom prst="roundRect">
            <a:avLst>
              <a:gd name="adj" fmla="val 45455"/>
            </a:avLst>
          </a:prstGeom>
          <a:solidFill>
            <a:srgbClr val="1B1F3B"/>
          </a:solidFill>
        </p:spPr>
      </p:sp>
      <p:sp>
        <p:nvSpPr>
          <p:cNvPr id="8" name="Text 6"/>
          <p:cNvSpPr/>
          <p:nvPr/>
        </p:nvSpPr>
        <p:spPr>
          <a:xfrm>
            <a:off x="822960" y="2468880"/>
            <a:ext cx="4800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E6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Document / OCR extraction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4800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 Needs extra tools for analysis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4F5FA"/>
          </a:solidFill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1874520"/>
            <a:ext cx="4800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AlphaSense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92240" y="2468880"/>
            <a:ext cx="4800600" cy="502920"/>
          </a:xfrm>
          <a:prstGeom prst="roundRect">
            <a:avLst>
              <a:gd name="adj" fmla="val 45455"/>
            </a:avLst>
          </a:prstGeom>
          <a:solidFill>
            <a:srgbClr val="1B1F3B"/>
          </a:solidFill>
        </p:spPr>
      </p:sp>
      <p:sp>
        <p:nvSpPr>
          <p:cNvPr id="13" name="Text 11"/>
          <p:cNvSpPr/>
          <p:nvPr/>
        </p:nvSpPr>
        <p:spPr>
          <a:xfrm>
            <a:off x="6492240" y="2468880"/>
            <a:ext cx="4800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E6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AI-powered financial search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92240" y="3108960"/>
            <a:ext cx="4800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 Requires integration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4F5FA"/>
          </a:solidFill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4297680"/>
            <a:ext cx="4800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Palantir Foundry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" y="4892040"/>
            <a:ext cx="4800600" cy="502920"/>
          </a:xfrm>
          <a:prstGeom prst="roundRect">
            <a:avLst>
              <a:gd name="adj" fmla="val 45455"/>
            </a:avLst>
          </a:prstGeom>
          <a:solidFill>
            <a:srgbClr val="1B1F3B"/>
          </a:solidFill>
        </p:spPr>
      </p:sp>
      <p:sp>
        <p:nvSpPr>
          <p:cNvPr id="18" name="Text 16"/>
          <p:cNvSpPr/>
          <p:nvPr/>
        </p:nvSpPr>
        <p:spPr>
          <a:xfrm>
            <a:off x="822960" y="4892040"/>
            <a:ext cx="4800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E6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Data integration &amp; AI/ML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5532120"/>
            <a:ext cx="4800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 Complex, not insurance-specific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41148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4F5FA"/>
          </a:solidFill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92240" y="4297680"/>
            <a:ext cx="4800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Power BI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492240" y="4892040"/>
            <a:ext cx="4800600" cy="502920"/>
          </a:xfrm>
          <a:prstGeom prst="roundRect">
            <a:avLst>
              <a:gd name="adj" fmla="val 45455"/>
            </a:avLst>
          </a:prstGeom>
          <a:solidFill>
            <a:srgbClr val="1B1F3B"/>
          </a:solidFill>
        </p:spPr>
      </p:sp>
      <p:sp>
        <p:nvSpPr>
          <p:cNvPr id="23" name="Text 21"/>
          <p:cNvSpPr/>
          <p:nvPr/>
        </p:nvSpPr>
        <p:spPr>
          <a:xfrm>
            <a:off x="6492240" y="4892040"/>
            <a:ext cx="4800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E6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Easy KPI monitoring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92240" y="5532120"/>
            <a:ext cx="4800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 Data prep needs other tools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None is purpose-built for the Tunisian insurance market.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463040" y="17373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4A5578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08760" y="1737360"/>
            <a:ext cx="224028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Scattered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24328" y="2788920"/>
            <a:ext cx="3456432" cy="1005840"/>
          </a:xfrm>
          <a:prstGeom prst="line">
            <a:avLst/>
          </a:prstGeom>
          <a:noFill/>
          <a:ln w="22225">
            <a:solidFill>
              <a:srgbClr val="7C87A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434840" y="17373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4A5578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0560" y="1737360"/>
            <a:ext cx="224028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596128" y="2788920"/>
            <a:ext cx="484632" cy="1005840"/>
          </a:xfrm>
          <a:prstGeom prst="line">
            <a:avLst/>
          </a:prstGeom>
          <a:noFill/>
          <a:ln w="22225">
            <a:solidFill>
              <a:srgbClr val="7C87A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406640" y="17373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4A5578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52360" y="1737360"/>
            <a:ext cx="224028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Insights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 flipH="1">
            <a:off x="6080760" y="2788920"/>
            <a:ext cx="2487168" cy="1005840"/>
          </a:xfrm>
          <a:prstGeom prst="line">
            <a:avLst/>
          </a:prstGeom>
          <a:noFill/>
          <a:ln w="22225">
            <a:solidFill>
              <a:srgbClr val="7C87A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74920" y="379476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FFE600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20640" y="3794760"/>
            <a:ext cx="192024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Financial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Sector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44068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1B1F3B"/>
          </a:solidFill>
        </p:spPr>
      </p:sp>
      <p:sp>
        <p:nvSpPr>
          <p:cNvPr id="17" name="Text 15"/>
          <p:cNvSpPr/>
          <p:nvPr/>
        </p:nvSpPr>
        <p:spPr>
          <a:xfrm>
            <a:off x="548640" y="5440680"/>
            <a:ext cx="1106424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Rich in data — poor in actionable insight.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983480" y="306324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FFE600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0" y="3063240"/>
            <a:ext cx="20116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FS Market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Intelligence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 flipH="1">
            <a:off x="4617720" y="3566160"/>
            <a:ext cx="365760" cy="9144"/>
          </a:xfrm>
          <a:prstGeom prst="line">
            <a:avLst/>
          </a:prstGeom>
          <a:noFill/>
          <a:ln w="22225">
            <a:solidFill>
              <a:srgbClr val="7C87A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80360" y="31089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26080" y="318211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953512" y="3584448"/>
            <a:ext cx="1773936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manual re-entry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 flipV="1">
            <a:off x="6035040" y="2571293"/>
            <a:ext cx="9144" cy="683057"/>
          </a:xfrm>
          <a:prstGeom prst="line">
            <a:avLst/>
          </a:prstGeom>
          <a:noFill/>
          <a:ln w="22225">
            <a:solidFill>
              <a:srgbClr val="7C87A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74920" y="1748333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20640" y="1821485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148072" y="2223821"/>
            <a:ext cx="1773936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any KPI to its PDF cell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086600" y="3566160"/>
            <a:ext cx="365760" cy="9144"/>
          </a:xfrm>
          <a:prstGeom prst="line">
            <a:avLst/>
          </a:prstGeom>
          <a:noFill/>
          <a:ln w="22225">
            <a:solidFill>
              <a:srgbClr val="7C87A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269480" y="31089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0" y="318211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42632" y="3584448"/>
            <a:ext cx="1773936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Continuous scheduled pipeline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35040" y="3877970"/>
            <a:ext cx="9144" cy="683057"/>
          </a:xfrm>
          <a:prstGeom prst="line">
            <a:avLst/>
          </a:prstGeom>
          <a:noFill/>
          <a:ln w="22225">
            <a:solidFill>
              <a:srgbClr val="7C87A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074920" y="4469587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120640" y="4542739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AUGMENT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148072" y="4945075"/>
            <a:ext cx="1773936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AI: anomalies, forecasts, chat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262C52"/>
          </a:solidFill>
        </p:spPr>
      </p:sp>
      <p:sp>
        <p:nvSpPr>
          <p:cNvPr id="3" name="Shape 1"/>
          <p:cNvSpPr/>
          <p:nvPr/>
        </p:nvSpPr>
        <p:spPr>
          <a:xfrm>
            <a:off x="10515600" y="4754880"/>
            <a:ext cx="3291840" cy="3291840"/>
          </a:xfrm>
          <a:prstGeom prst="ellipse">
            <a:avLst/>
          </a:prstGeom>
          <a:solidFill>
            <a:srgbClr val="262C52"/>
          </a:solidFill>
        </p:spPr>
      </p:sp>
      <p:sp>
        <p:nvSpPr>
          <p:cNvPr id="4" name="Text 2"/>
          <p:cNvSpPr/>
          <p:nvPr/>
        </p:nvSpPr>
        <p:spPr>
          <a:xfrm>
            <a:off x="822960" y="2331720"/>
            <a:ext cx="27432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FFE6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98755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Requirements &amp; Methodology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8686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the platform must do, and how it was built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503920" y="4937760"/>
            <a:ext cx="292608" cy="292608"/>
          </a:xfrm>
          <a:prstGeom prst="ellipse">
            <a:avLst/>
          </a:prstGeom>
          <a:solidFill>
            <a:srgbClr val="FFE600"/>
          </a:solidFill>
          <a:ln w="12700">
            <a:solidFill>
              <a:srgbClr val="7C87A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0" y="4937760"/>
            <a:ext cx="292608" cy="292608"/>
          </a:xfrm>
          <a:prstGeom prst="ellipse">
            <a:avLst/>
          </a:prstGeom>
          <a:solidFill>
            <a:srgbClr val="FFE600"/>
          </a:solidFill>
          <a:ln w="12700">
            <a:solidFill>
              <a:srgbClr val="7C87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937760"/>
            <a:ext cx="292608" cy="292608"/>
          </a:xfrm>
          <a:prstGeom prst="ellipse">
            <a:avLst/>
          </a:prstGeom>
          <a:solidFill>
            <a:srgbClr val="FFE600"/>
          </a:solidFill>
          <a:ln w="12700">
            <a:solidFill>
              <a:srgbClr val="7C87A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0" y="4937760"/>
            <a:ext cx="292608" cy="292608"/>
          </a:xfrm>
          <a:prstGeom prst="ellipse">
            <a:avLst/>
          </a:prstGeom>
          <a:solidFill>
            <a:srgbClr val="FFE600"/>
          </a:solidFill>
          <a:ln w="12700">
            <a:solidFill>
              <a:srgbClr val="7C87A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332720" y="4937760"/>
            <a:ext cx="292608" cy="292608"/>
          </a:xfrm>
          <a:prstGeom prst="ellipse">
            <a:avLst/>
          </a:prstGeom>
          <a:solidFill>
            <a:srgbClr val="262C52"/>
          </a:solidFill>
          <a:ln w="12700">
            <a:solidFill>
              <a:srgbClr val="7C87A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89920" y="4937760"/>
            <a:ext cx="292608" cy="292608"/>
          </a:xfrm>
          <a:prstGeom prst="ellipse">
            <a:avLst/>
          </a:prstGeom>
          <a:solidFill>
            <a:srgbClr val="262C52"/>
          </a:solidFill>
          <a:ln w="12700">
            <a:solidFill>
              <a:srgbClr val="7C87AC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the Platform Must 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394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63640" y="1554480"/>
            <a:ext cx="5394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NON-FUNCTIONAL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39112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" y="2441448"/>
            <a:ext cx="5248656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KPIs &amp; profiles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262C52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090672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1792" y="3493008"/>
            <a:ext cx="5248656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Benchmarks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4142232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1792" y="4544568"/>
            <a:ext cx="5248656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Alerts &amp; watch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262C52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5193792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1792" y="5596128"/>
            <a:ext cx="5248656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assistant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196596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4A5578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09360" y="2039112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36792" y="2441448"/>
            <a:ext cx="5248656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verifiable source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63640" y="301752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5B6699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09360" y="3090672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Usability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36792" y="3493008"/>
            <a:ext cx="5248656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 entry point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63640" y="406908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4A5578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09360" y="4142232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Reliability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36792" y="4544568"/>
            <a:ext cx="5248656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documented edge cases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63640" y="512064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5B6699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309360" y="5193792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Scalability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336792" y="5596128"/>
            <a:ext cx="5248656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standalone exe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Methodology — CRISP-DM + Agile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971800" y="146304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017520" y="1463040"/>
            <a:ext cx="14630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74371" y="244602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20091" y="2446020"/>
            <a:ext cx="14630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74371" y="441198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20091" y="4411980"/>
            <a:ext cx="14630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Preparation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71800" y="539496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17520" y="5394960"/>
            <a:ext cx="14630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269229" y="441198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314949" y="4411980"/>
            <a:ext cx="14630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269229" y="244602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314949" y="2446020"/>
            <a:ext cx="14630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Deployment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60320" y="2468880"/>
            <a:ext cx="2377440" cy="2926080"/>
          </a:xfrm>
          <a:prstGeom prst="ellipse">
            <a:avLst/>
          </a:prstGeom>
          <a:ln w="15875">
            <a:solidFill>
              <a:srgbClr val="7C87A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54680" y="356616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FFE600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0" y="3566160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CRISP-DM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06640" y="1600200"/>
            <a:ext cx="4206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AGILE WORKING CYCLE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406640" y="214884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262C52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52360" y="2148840"/>
            <a:ext cx="4114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509760" y="2834640"/>
            <a:ext cx="9144" cy="228600"/>
          </a:xfrm>
          <a:prstGeom prst="line">
            <a:avLst/>
          </a:prstGeom>
          <a:noFill/>
          <a:ln w="2540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406640" y="306324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4A5578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52360" y="3063240"/>
            <a:ext cx="4114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Correct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509760" y="3749040"/>
            <a:ext cx="9144" cy="228600"/>
          </a:xfrm>
          <a:prstGeom prst="line">
            <a:avLst/>
          </a:prstGeom>
          <a:noFill/>
          <a:ln w="2540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406640" y="397764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262C52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452360" y="3977640"/>
            <a:ext cx="4114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509760" y="4663440"/>
            <a:ext cx="9144" cy="228600"/>
          </a:xfrm>
          <a:prstGeom prst="line">
            <a:avLst/>
          </a:prstGeom>
          <a:noFill/>
          <a:ln w="2540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406640" y="489204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4A5578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452360" y="4892040"/>
            <a:ext cx="4114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 flipH="1" flipV="1">
            <a:off x="7680960" y="2148840"/>
            <a:ext cx="914400" cy="3429000"/>
          </a:xfrm>
          <a:prstGeom prst="line">
            <a:avLst/>
          </a:prstGeom>
          <a:noFill/>
          <a:ln w="22225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7406640" y="5760720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iterate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 Roadmap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4400" y="3566160"/>
            <a:ext cx="10332720" cy="0"/>
          </a:xfrm>
          <a:prstGeom prst="line">
            <a:avLst/>
          </a:prstGeom>
          <a:noFill/>
          <a:ln w="25400">
            <a:solidFill>
              <a:srgbClr val="7C87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3310128"/>
            <a:ext cx="512064" cy="512064"/>
          </a:xfrm>
          <a:prstGeom prst="ellipse">
            <a:avLst/>
          </a:prstGeom>
          <a:solidFill>
            <a:srgbClr val="FFE6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331012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" y="2651760"/>
            <a:ext cx="1554480" cy="45720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Framing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80488" y="3310128"/>
            <a:ext cx="512064" cy="512064"/>
          </a:xfrm>
          <a:prstGeom prst="ellipse">
            <a:avLst/>
          </a:prstGeom>
          <a:solidFill>
            <a:srgbClr val="1B1F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80488" y="331012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E6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59280" y="3977640"/>
            <a:ext cx="155448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02608" y="3310128"/>
            <a:ext cx="512064" cy="512064"/>
          </a:xfrm>
          <a:prstGeom prst="ellipse">
            <a:avLst/>
          </a:prstGeom>
          <a:solidFill>
            <a:srgbClr val="FFE6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02608" y="331012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81400" y="2651760"/>
            <a:ext cx="1554480" cy="45720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Extraction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24728" y="3310128"/>
            <a:ext cx="512064" cy="512064"/>
          </a:xfrm>
          <a:prstGeom prst="ellipse">
            <a:avLst/>
          </a:prstGeom>
          <a:solidFill>
            <a:srgbClr val="1B1F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24728" y="331012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E6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0" y="3977640"/>
            <a:ext cx="155448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46848" y="3310128"/>
            <a:ext cx="512064" cy="512064"/>
          </a:xfrm>
          <a:prstGeom prst="ellipse">
            <a:avLst/>
          </a:prstGeom>
          <a:solidFill>
            <a:srgbClr val="FFE6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46848" y="331012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25640" y="2651760"/>
            <a:ext cx="1554480" cy="45720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Quality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68968" y="3310128"/>
            <a:ext cx="512064" cy="512064"/>
          </a:xfrm>
          <a:prstGeom prst="ellipse">
            <a:avLst/>
          </a:prstGeom>
          <a:solidFill>
            <a:srgbClr val="1B1F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68968" y="331012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E6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747760" y="3977640"/>
            <a:ext cx="155448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Restitution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991088" y="3310128"/>
            <a:ext cx="512064" cy="512064"/>
          </a:xfrm>
          <a:prstGeom prst="ellipse">
            <a:avLst/>
          </a:prstGeom>
          <a:solidFill>
            <a:srgbClr val="FFE6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91088" y="331012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469880" y="2651760"/>
            <a:ext cx="1554480" cy="45720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Packaging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262C52"/>
          </a:solidFill>
        </p:spPr>
      </p:sp>
      <p:sp>
        <p:nvSpPr>
          <p:cNvPr id="3" name="Shape 1"/>
          <p:cNvSpPr/>
          <p:nvPr/>
        </p:nvSpPr>
        <p:spPr>
          <a:xfrm>
            <a:off x="10515600" y="4754880"/>
            <a:ext cx="3291840" cy="3291840"/>
          </a:xfrm>
          <a:prstGeom prst="ellipse">
            <a:avLst/>
          </a:prstGeom>
          <a:solidFill>
            <a:srgbClr val="262C52"/>
          </a:solidFill>
        </p:spPr>
      </p:sp>
      <p:sp>
        <p:nvSpPr>
          <p:cNvPr id="4" name="Text 2"/>
          <p:cNvSpPr/>
          <p:nvPr/>
        </p:nvSpPr>
        <p:spPr>
          <a:xfrm>
            <a:off x="822960" y="2331720"/>
            <a:ext cx="27432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FFE6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98755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Technologies &amp; Architecture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8686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stack and the structure behind the platform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595360" y="2743200"/>
            <a:ext cx="2743200" cy="292608"/>
          </a:xfrm>
          <a:prstGeom prst="rect">
            <a:avLst/>
          </a:prstGeom>
          <a:solidFill>
            <a:srgbClr val="FFE600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0" y="2697480"/>
            <a:ext cx="2377440" cy="292608"/>
          </a:xfrm>
          <a:prstGeom prst="rect">
            <a:avLst/>
          </a:prstGeom>
          <a:solidFill>
            <a:srgbClr val="262C52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0" y="2651760"/>
            <a:ext cx="2011680" cy="292608"/>
          </a:xfrm>
          <a:prstGeom prst="rect">
            <a:avLst/>
          </a:prstGeom>
          <a:solidFill>
            <a:srgbClr val="262C52"/>
          </a:solidFill>
          <a:ln w="12700">
            <a:solidFill>
              <a:srgbClr val="1B1F3B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0607040" cy="713232"/>
          </a:xfrm>
          <a:prstGeom prst="roundRect">
            <a:avLst>
              <a:gd name="adj" fmla="val 7692"/>
            </a:avLst>
          </a:prstGeom>
          <a:solidFill>
            <a:srgbClr val="1B1F3B"/>
          </a:solidFill>
        </p:spPr>
      </p:sp>
      <p:sp>
        <p:nvSpPr>
          <p:cNvPr id="6" name="Text 4"/>
          <p:cNvSpPr/>
          <p:nvPr/>
        </p:nvSpPr>
        <p:spPr>
          <a:xfrm>
            <a:off x="777240" y="1600200"/>
            <a:ext cx="29260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E6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749040" y="1600200"/>
            <a:ext cx="72237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18 · Vite · ApexCharts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91540" y="2386584"/>
            <a:ext cx="9921240" cy="713232"/>
          </a:xfrm>
          <a:prstGeom prst="roundRect">
            <a:avLst>
              <a:gd name="adj" fmla="val 7692"/>
            </a:avLst>
          </a:prstGeom>
          <a:solidFill>
            <a:srgbClr val="FFE600"/>
          </a:solidFill>
        </p:spPr>
      </p:sp>
      <p:sp>
        <p:nvSpPr>
          <p:cNvPr id="9" name="Text 7"/>
          <p:cNvSpPr/>
          <p:nvPr/>
        </p:nvSpPr>
        <p:spPr>
          <a:xfrm>
            <a:off x="1120140" y="2386584"/>
            <a:ext cx="29260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Intelligence (AI/ML)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091940" y="2386584"/>
            <a:ext cx="65379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Groq LLM · Prophet · XGBoost · SHAP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234440" y="3172968"/>
            <a:ext cx="9235440" cy="713232"/>
          </a:xfrm>
          <a:prstGeom prst="roundRect">
            <a:avLst>
              <a:gd name="adj" fmla="val 7692"/>
            </a:avLst>
          </a:prstGeom>
          <a:solidFill>
            <a:srgbClr val="1B1F3B"/>
          </a:solidFill>
        </p:spPr>
      </p:sp>
      <p:sp>
        <p:nvSpPr>
          <p:cNvPr id="12" name="Text 10"/>
          <p:cNvSpPr/>
          <p:nvPr/>
        </p:nvSpPr>
        <p:spPr>
          <a:xfrm>
            <a:off x="1463040" y="3172968"/>
            <a:ext cx="29260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E6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34840" y="3172968"/>
            <a:ext cx="58521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Flask · Gunicorn · ReportLab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577340" y="3959352"/>
            <a:ext cx="8549640" cy="713232"/>
          </a:xfrm>
          <a:prstGeom prst="roundRect">
            <a:avLst>
              <a:gd name="adj" fmla="val 7692"/>
            </a:avLst>
          </a:prstGeom>
          <a:solidFill>
            <a:srgbClr val="262C52"/>
          </a:solidFill>
        </p:spPr>
      </p:sp>
      <p:sp>
        <p:nvSpPr>
          <p:cNvPr id="15" name="Text 13"/>
          <p:cNvSpPr/>
          <p:nvPr/>
        </p:nvSpPr>
        <p:spPr>
          <a:xfrm>
            <a:off x="1805940" y="3959352"/>
            <a:ext cx="29260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E6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Persistence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777740" y="3959352"/>
            <a:ext cx="51663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 8 · pymysql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920240" y="4745736"/>
            <a:ext cx="7863840" cy="713232"/>
          </a:xfrm>
          <a:prstGeom prst="roundRect">
            <a:avLst>
              <a:gd name="adj" fmla="val 7692"/>
            </a:avLst>
          </a:prstGeom>
          <a:solidFill>
            <a:srgbClr val="1B1F3B"/>
          </a:solidFill>
        </p:spPr>
      </p:sp>
      <p:sp>
        <p:nvSpPr>
          <p:cNvPr id="18" name="Text 16"/>
          <p:cNvSpPr/>
          <p:nvPr/>
        </p:nvSpPr>
        <p:spPr>
          <a:xfrm>
            <a:off x="2148840" y="4745736"/>
            <a:ext cx="29260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E6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Extraction &amp; Processing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120640" y="4745736"/>
            <a:ext cx="44805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Tesseract OCR · pandas · pdfplumber · openpyxl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263140" y="5532120"/>
            <a:ext cx="7178040" cy="713232"/>
          </a:xfrm>
          <a:prstGeom prst="roundRect">
            <a:avLst>
              <a:gd name="adj" fmla="val 7692"/>
            </a:avLst>
          </a:prstGeom>
          <a:solidFill>
            <a:srgbClr val="262C52"/>
          </a:solidFill>
        </p:spPr>
      </p:sp>
      <p:sp>
        <p:nvSpPr>
          <p:cNvPr id="21" name="Text 19"/>
          <p:cNvSpPr/>
          <p:nvPr/>
        </p:nvSpPr>
        <p:spPr>
          <a:xfrm>
            <a:off x="2491740" y="5532120"/>
            <a:ext cx="29260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E6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Collection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63540" y="5532120"/>
            <a:ext cx="37947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· Selenium · Requests · BeautifulSoup4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Components &amp; Data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821485"/>
            <a:ext cx="2377440" cy="42062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1792" y="2284171"/>
            <a:ext cx="2322576" cy="441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· :5173→80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017520" y="2267712"/>
            <a:ext cx="1417320" cy="9144"/>
          </a:xfrm>
          <a:prstGeom prst="line">
            <a:avLst/>
          </a:prstGeom>
          <a:noFill/>
          <a:ln w="3175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063240" y="1874520"/>
            <a:ext cx="1280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80560" y="17373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26280" y="1821485"/>
            <a:ext cx="2240280" cy="42062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53712" y="2284171"/>
            <a:ext cx="2185416" cy="441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Flask · :8002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12280" y="2267712"/>
            <a:ext cx="1417320" cy="9144"/>
          </a:xfrm>
          <a:prstGeom prst="line">
            <a:avLst/>
          </a:prstGeom>
          <a:noFill/>
          <a:ln w="3175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858000" y="1874520"/>
            <a:ext cx="1280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275320" y="173736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21040" y="1821485"/>
            <a:ext cx="2286000" cy="42062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48472" y="2284171"/>
            <a:ext cx="2231136" cy="441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 8 · :3306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28800" y="2788920"/>
            <a:ext cx="9144" cy="731520"/>
          </a:xfrm>
          <a:prstGeom prst="line">
            <a:avLst/>
          </a:prstGeom>
          <a:noFill/>
          <a:ln w="3175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48640" y="356616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262C52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650285"/>
            <a:ext cx="2377440" cy="42062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chatbot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1792" y="4112971"/>
            <a:ext cx="2322576" cy="441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Flask · Groq · :5001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017520" y="4096512"/>
            <a:ext cx="1417320" cy="9144"/>
          </a:xfrm>
          <a:prstGeom prst="line">
            <a:avLst/>
          </a:prstGeom>
          <a:noFill/>
          <a:ln w="25400">
            <a:solidFill>
              <a:srgbClr val="7C87A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480560" y="35661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262C52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26280" y="3650285"/>
            <a:ext cx="2240280" cy="42062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SQLite copy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53712" y="4112971"/>
            <a:ext cx="2185416" cy="441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read-only mirror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315200" y="356616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4A5578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360920" y="3650285"/>
            <a:ext cx="1600200" cy="42062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pipeline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388352" y="4112971"/>
            <a:ext cx="1545336" cy="441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7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batch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281160" y="356616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4A5578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326880" y="3650285"/>
            <a:ext cx="1600200" cy="42062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watcher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354312" y="4112971"/>
            <a:ext cx="1545336" cy="441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7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 min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 flipV="1">
            <a:off x="8138160" y="2267712"/>
            <a:ext cx="731520" cy="1298448"/>
          </a:xfrm>
          <a:prstGeom prst="line">
            <a:avLst/>
          </a:prstGeom>
          <a:noFill/>
          <a:ln w="25400">
            <a:solidFill>
              <a:srgbClr val="7C87AC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H="1" flipV="1">
            <a:off x="9326880" y="2267712"/>
            <a:ext cx="777240" cy="1298448"/>
          </a:xfrm>
          <a:prstGeom prst="line">
            <a:avLst/>
          </a:prstGeom>
          <a:noFill/>
          <a:ln w="25400">
            <a:solidFill>
              <a:srgbClr val="7C87AC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7315200" y="47091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scheduled writes + alerts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Platform Modules — 13 Pages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645920"/>
            <a:ext cx="199339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 Overview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61488" y="1645920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4A5578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07208" y="1645920"/>
            <a:ext cx="199339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Comparative Analysis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74336" y="1645920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0056" y="1645920"/>
            <a:ext cx="199339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Geography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87184" y="1645920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4A5578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232904" y="1645920"/>
            <a:ext cx="199339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Company Profiles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400032" y="1645920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445752" y="1645920"/>
            <a:ext cx="199339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 Survey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642616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2642616"/>
            <a:ext cx="199339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Regulatory Watch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61488" y="2642616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4A5578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807208" y="2642616"/>
            <a:ext cx="199339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News &amp; Events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74336" y="2642616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0056" y="2642616"/>
            <a:ext cx="199339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Quality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87184" y="2642616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4A5578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32904" y="2642616"/>
            <a:ext cx="199339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KPI Detail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400032" y="2642616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445752" y="2642616"/>
            <a:ext cx="199339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Pipeline Report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639312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94360" y="3639312"/>
            <a:ext cx="199339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Anomalies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61488" y="3639312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4A5578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807208" y="3639312"/>
            <a:ext cx="199339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Management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74336" y="3639312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0056" y="3639312"/>
            <a:ext cx="199339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Home Hub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262C52"/>
          </a:solidFill>
        </p:spPr>
      </p:sp>
      <p:sp>
        <p:nvSpPr>
          <p:cNvPr id="3" name="Shape 1"/>
          <p:cNvSpPr/>
          <p:nvPr/>
        </p:nvSpPr>
        <p:spPr>
          <a:xfrm>
            <a:off x="10515600" y="4754880"/>
            <a:ext cx="3291840" cy="3291840"/>
          </a:xfrm>
          <a:prstGeom prst="ellipse">
            <a:avLst/>
          </a:prstGeom>
          <a:solidFill>
            <a:srgbClr val="262C52"/>
          </a:solidFill>
        </p:spPr>
      </p:sp>
      <p:sp>
        <p:nvSpPr>
          <p:cNvPr id="4" name="Text 2"/>
          <p:cNvSpPr/>
          <p:nvPr/>
        </p:nvSpPr>
        <p:spPr>
          <a:xfrm>
            <a:off x="822960" y="2331720"/>
            <a:ext cx="27432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FFE6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05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98755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Pipeline &amp; AI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8686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raw PDFs to trusted, intelligent insights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927080" y="2606040"/>
            <a:ext cx="274320" cy="274320"/>
          </a:xfrm>
          <a:prstGeom prst="ellipse">
            <a:avLst/>
          </a:prstGeom>
          <a:solidFill>
            <a:srgbClr val="FFE600"/>
          </a:solidFill>
        </p:spPr>
      </p:sp>
      <p:sp>
        <p:nvSpPr>
          <p:cNvPr id="8" name="Shape 6"/>
          <p:cNvSpPr/>
          <p:nvPr/>
        </p:nvSpPr>
        <p:spPr>
          <a:xfrm>
            <a:off x="10105695" y="3736580"/>
            <a:ext cx="274320" cy="274320"/>
          </a:xfrm>
          <a:prstGeom prst="ellipse">
            <a:avLst/>
          </a:prstGeom>
          <a:solidFill>
            <a:srgbClr val="FFE600"/>
          </a:solidFill>
        </p:spPr>
      </p:sp>
      <p:sp>
        <p:nvSpPr>
          <p:cNvPr id="9" name="Shape 7"/>
          <p:cNvSpPr/>
          <p:nvPr/>
        </p:nvSpPr>
        <p:spPr>
          <a:xfrm>
            <a:off x="8776665" y="3304752"/>
            <a:ext cx="274320" cy="274320"/>
          </a:xfrm>
          <a:prstGeom prst="ellipse">
            <a:avLst/>
          </a:prstGeom>
          <a:solidFill>
            <a:srgbClr val="FFE600"/>
          </a:solidFill>
        </p:spPr>
      </p:sp>
      <p:sp>
        <p:nvSpPr>
          <p:cNvPr id="10" name="Shape 8"/>
          <p:cNvSpPr/>
          <p:nvPr/>
        </p:nvSpPr>
        <p:spPr>
          <a:xfrm>
            <a:off x="8776665" y="1907328"/>
            <a:ext cx="274320" cy="274320"/>
          </a:xfrm>
          <a:prstGeom prst="ellipse">
            <a:avLst/>
          </a:prstGeom>
          <a:solidFill>
            <a:srgbClr val="FFE600"/>
          </a:solidFill>
        </p:spPr>
      </p:sp>
      <p:sp>
        <p:nvSpPr>
          <p:cNvPr id="11" name="Shape 9"/>
          <p:cNvSpPr/>
          <p:nvPr/>
        </p:nvSpPr>
        <p:spPr>
          <a:xfrm>
            <a:off x="10105695" y="1475500"/>
            <a:ext cx="274320" cy="274320"/>
          </a:xfrm>
          <a:prstGeom prst="ellipse">
            <a:avLst/>
          </a:prstGeom>
          <a:solidFill>
            <a:srgbClr val="FFE600"/>
          </a:solidFill>
        </p:spPr>
      </p:sp>
      <p:sp>
        <p:nvSpPr>
          <p:cNvPr id="12" name="Shape 10"/>
          <p:cNvSpPr/>
          <p:nvPr/>
        </p:nvSpPr>
        <p:spPr>
          <a:xfrm>
            <a:off x="9646920" y="2514600"/>
            <a:ext cx="457200" cy="457200"/>
          </a:xfrm>
          <a:prstGeom prst="ellipse">
            <a:avLst/>
          </a:prstGeom>
          <a:solidFill>
            <a:srgbClr val="262C52"/>
          </a:solidFill>
          <a:ln w="19050">
            <a:solidFill>
              <a:srgbClr val="FFE600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Sources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257800" y="329184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FFE600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0" y="3291840"/>
            <a:ext cx="14630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 flipV="1">
            <a:off x="6035040" y="2286914"/>
            <a:ext cx="9144" cy="1087222"/>
          </a:xfrm>
          <a:prstGeom prst="line">
            <a:avLst/>
          </a:prstGeom>
          <a:noFill/>
          <a:ln w="19050">
            <a:solidFill>
              <a:srgbClr val="7C87A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321808" y="1454810"/>
            <a:ext cx="1426464" cy="914400"/>
          </a:xfrm>
          <a:prstGeom prst="roundRect">
            <a:avLst>
              <a:gd name="adj" fmla="val 8000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67528" y="1454810"/>
            <a:ext cx="1335024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CGA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flipV="1">
            <a:off x="6642711" y="2837420"/>
            <a:ext cx="700609" cy="677872"/>
          </a:xfrm>
          <a:prstGeom prst="line">
            <a:avLst/>
          </a:prstGeom>
          <a:noFill/>
          <a:ln w="19050">
            <a:solidFill>
              <a:srgbClr val="7C87A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073329" y="2146471"/>
            <a:ext cx="1426464" cy="914400"/>
          </a:xfrm>
          <a:prstGeom prst="roundRect">
            <a:avLst>
              <a:gd name="adj" fmla="val 8000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119049" y="2146471"/>
            <a:ext cx="1335024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FTUSA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92793" y="3832464"/>
            <a:ext cx="873645" cy="241930"/>
          </a:xfrm>
          <a:prstGeom prst="line">
            <a:avLst/>
          </a:prstGeom>
          <a:noFill/>
          <a:ln w="19050">
            <a:solidFill>
              <a:srgbClr val="7C87A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505920" y="3700618"/>
            <a:ext cx="1426464" cy="914400"/>
          </a:xfrm>
          <a:prstGeom prst="roundRect">
            <a:avLst>
              <a:gd name="adj" fmla="val 8000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51640" y="3700618"/>
            <a:ext cx="1335024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CMF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72272" y="4086817"/>
            <a:ext cx="388808" cy="979553"/>
          </a:xfrm>
          <a:prstGeom prst="line">
            <a:avLst/>
          </a:prstGeom>
          <a:noFill/>
          <a:ln w="19050">
            <a:solidFill>
              <a:srgbClr val="7C87A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93829" y="4946946"/>
            <a:ext cx="1426464" cy="914400"/>
          </a:xfrm>
          <a:prstGeom prst="roundRect">
            <a:avLst>
              <a:gd name="adj" fmla="val 8000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39549" y="4946946"/>
            <a:ext cx="1335024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BVMT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 flipH="1">
            <a:off x="5309000" y="4086817"/>
            <a:ext cx="388808" cy="979553"/>
          </a:xfrm>
          <a:prstGeom prst="line">
            <a:avLst/>
          </a:prstGeom>
          <a:noFill/>
          <a:ln w="19050">
            <a:solidFill>
              <a:srgbClr val="7C87A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349787" y="4946946"/>
            <a:ext cx="1426464" cy="914400"/>
          </a:xfrm>
          <a:prstGeom prst="roundRect">
            <a:avLst>
              <a:gd name="adj" fmla="val 8000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395507" y="4946946"/>
            <a:ext cx="1335024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flipH="1">
            <a:off x="4403642" y="3832464"/>
            <a:ext cx="873645" cy="241930"/>
          </a:xfrm>
          <a:prstGeom prst="line">
            <a:avLst/>
          </a:prstGeom>
          <a:noFill/>
          <a:ln w="19050">
            <a:solidFill>
              <a:srgbClr val="7C87A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137696" y="3700618"/>
            <a:ext cx="1426464" cy="914400"/>
          </a:xfrm>
          <a:prstGeom prst="roundRect">
            <a:avLst>
              <a:gd name="adj" fmla="val 8000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183416" y="3700618"/>
            <a:ext cx="1335024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Atlas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Magazine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 flipH="1" flipV="1">
            <a:off x="4726761" y="2837420"/>
            <a:ext cx="700609" cy="677872"/>
          </a:xfrm>
          <a:prstGeom prst="line">
            <a:avLst/>
          </a:prstGeom>
          <a:noFill/>
          <a:ln w="19050">
            <a:solidFill>
              <a:srgbClr val="7C87AC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570287" y="2146471"/>
            <a:ext cx="1426464" cy="914400"/>
          </a:xfrm>
          <a:prstGeom prst="roundRect">
            <a:avLst>
              <a:gd name="adj" fmla="val 8000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616007" y="2146471"/>
            <a:ext cx="1335024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ilBoursa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End-to-End Data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2516429"/>
            <a:ext cx="1965960" cy="69494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" y="3280867"/>
            <a:ext cx="1911096" cy="7296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sources scraped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06040" y="3246120"/>
            <a:ext cx="256032" cy="9144"/>
          </a:xfrm>
          <a:prstGeom prst="line">
            <a:avLst/>
          </a:prstGeom>
          <a:noFill/>
          <a:ln w="3175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62072" y="237744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262C52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07792" y="2516429"/>
            <a:ext cx="1965960" cy="69494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35224" y="3280867"/>
            <a:ext cx="1911096" cy="7296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 + OCR, cell-level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19472" y="3246120"/>
            <a:ext cx="256032" cy="9144"/>
          </a:xfrm>
          <a:prstGeom prst="line">
            <a:avLst/>
          </a:prstGeom>
          <a:noFill/>
          <a:ln w="3175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75504" y="237744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21224" y="2516429"/>
            <a:ext cx="1965960" cy="69494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48656" y="3280867"/>
            <a:ext cx="1911096" cy="7296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KPI computation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232904" y="3246120"/>
            <a:ext cx="256032" cy="9144"/>
          </a:xfrm>
          <a:prstGeom prst="line">
            <a:avLst/>
          </a:prstGeom>
          <a:noFill/>
          <a:ln w="3175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88936" y="237744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262C52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34656" y="2516429"/>
            <a:ext cx="1965960" cy="69494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562088" y="3280867"/>
            <a:ext cx="1911096" cy="7296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Quality &amp; anomaly audit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546336" y="3246120"/>
            <a:ext cx="256032" cy="9144"/>
          </a:xfrm>
          <a:prstGeom prst="line">
            <a:avLst/>
          </a:prstGeom>
          <a:noFill/>
          <a:ln w="3175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802368" y="237744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848088" y="2516429"/>
            <a:ext cx="1965960" cy="69494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Restitute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875520" y="3280867"/>
            <a:ext cx="1911096" cy="7296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Dashboards, AI, exports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Conventional vs Takaful — A Core Differentiator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892040" y="155448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937760" y="1554480"/>
            <a:ext cx="22860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 + 3 companies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 flipH="1">
            <a:off x="3017520" y="2423160"/>
            <a:ext cx="2468880" cy="868680"/>
          </a:xfrm>
          <a:prstGeom prst="line">
            <a:avLst/>
          </a:prstGeom>
          <a:noFill/>
          <a:ln w="25400">
            <a:solidFill>
              <a:srgbClr val="7C87A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995160" y="2423160"/>
            <a:ext cx="2103120" cy="868680"/>
          </a:xfrm>
          <a:prstGeom prst="line">
            <a:avLst/>
          </a:prstGeom>
          <a:noFill/>
          <a:ln w="25400">
            <a:solidFill>
              <a:srgbClr val="7C87A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280160" y="333756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4A5578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3450946"/>
            <a:ext cx="3383280" cy="566928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Conventional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53312" y="4074566"/>
            <a:ext cx="3328416" cy="5952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 ratios &amp; formulas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06640" y="333756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E600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52360" y="3450946"/>
            <a:ext cx="3383280" cy="566928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Takaful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79792" y="4074566"/>
            <a:ext cx="3328416" cy="5952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NCT 43 · IFSB ratios · Wakala/Moudharaba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17520" y="4754880"/>
            <a:ext cx="2560320" cy="594360"/>
          </a:xfrm>
          <a:prstGeom prst="line">
            <a:avLst/>
          </a:prstGeom>
          <a:noFill/>
          <a:ln w="25400">
            <a:solidFill>
              <a:srgbClr val="7C87A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H="1">
            <a:off x="6629400" y="4754880"/>
            <a:ext cx="2514600" cy="594360"/>
          </a:xfrm>
          <a:prstGeom prst="line">
            <a:avLst/>
          </a:prstGeom>
          <a:noFill/>
          <a:ln w="25400">
            <a:solidFill>
              <a:srgbClr val="7C87A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480560" y="539496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262C52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26280" y="539496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Unified dashboards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Takaful — By the Numbers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514600"/>
            <a:ext cx="2606040" cy="11064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E6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33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3584448"/>
            <a:ext cx="2331720" cy="7644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Takaful ratios sourced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IFSB references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237744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2514600"/>
            <a:ext cx="2606040" cy="11064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E6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474720" y="3584448"/>
            <a:ext cx="2331720" cy="7644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“Participants' Fund”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KPIs, never available before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26480" y="237744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2514600"/>
            <a:ext cx="2606040" cy="11064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E6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100%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263640" y="3584448"/>
            <a:ext cx="2331720" cy="7644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coverage 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AT-Takafulia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15400" y="237744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15400" y="2514600"/>
            <a:ext cx="2606040" cy="11064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E6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90/90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052560" y="3584448"/>
            <a:ext cx="2331720" cy="7644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tests green —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 regression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Quality, Validation &amp; Traceability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120640" y="1504188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166360" y="1504188"/>
            <a:ext cx="17373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Extract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223760" y="329184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269480" y="3291840"/>
            <a:ext cx="17373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120640" y="5079492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FFE600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66360" y="5079492"/>
            <a:ext cx="17373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Flag anomaly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recommend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17520" y="329184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63240" y="3291840"/>
            <a:ext cx="17373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Highlight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cell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2510028"/>
            <a:ext cx="2377440" cy="2569464"/>
          </a:xfrm>
          <a:prstGeom prst="ellipse">
            <a:avLst/>
          </a:prstGeom>
          <a:ln w="19050">
            <a:solidFill>
              <a:srgbClr val="7C87A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3566160"/>
            <a:ext cx="1005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TRUST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 — Three Concrete Capabilities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74920" y="32918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E600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120640" y="3291840"/>
            <a:ext cx="19202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Groq LLM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 flipH="1" flipV="1">
            <a:off x="4813730" y="2894076"/>
            <a:ext cx="395947" cy="660654"/>
          </a:xfrm>
          <a:prstGeom prst="line">
            <a:avLst/>
          </a:prstGeom>
          <a:noFill/>
          <a:ln w="22225">
            <a:solidFill>
              <a:srgbClr val="7C87A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485733" y="2085975"/>
            <a:ext cx="2834640" cy="1188720"/>
          </a:xfrm>
          <a:prstGeom prst="roundRect">
            <a:avLst>
              <a:gd name="adj" fmla="val 6154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31453" y="2181073"/>
            <a:ext cx="2743200" cy="475488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 Reports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58885" y="2704109"/>
            <a:ext cx="2688336" cy="4992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Anomaly summary,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7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causes, recommendations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 flipV="1">
            <a:off x="6951843" y="2894076"/>
            <a:ext cx="395947" cy="660654"/>
          </a:xfrm>
          <a:prstGeom prst="line">
            <a:avLst/>
          </a:prstGeom>
          <a:noFill/>
          <a:ln w="22225">
            <a:solidFill>
              <a:srgbClr val="7C87A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41147" y="2085975"/>
            <a:ext cx="2834640" cy="1188720"/>
          </a:xfrm>
          <a:prstGeom prst="roundRect">
            <a:avLst>
              <a:gd name="adj" fmla="val 6154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86867" y="2181073"/>
            <a:ext cx="2743200" cy="475488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Answer Questions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14299" y="2704109"/>
            <a:ext cx="2688336" cy="4992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RAG — grounded in real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7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platform data, 2015–2024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80760" y="4137660"/>
            <a:ext cx="9144" cy="1321308"/>
          </a:xfrm>
          <a:prstGeom prst="line">
            <a:avLst/>
          </a:prstGeom>
          <a:noFill/>
          <a:ln w="22225">
            <a:solidFill>
              <a:srgbClr val="7C87A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663440" y="5292090"/>
            <a:ext cx="2834640" cy="1188720"/>
          </a:xfrm>
          <a:prstGeom prst="roundRect">
            <a:avLst>
              <a:gd name="adj" fmla="val 6154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9160" y="5387188"/>
            <a:ext cx="2743200" cy="475488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Anticipate Trends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36592" y="5910224"/>
            <a:ext cx="2688336" cy="4992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Prophet / XGBoost +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7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SHAP explainability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262C52"/>
          </a:solidFill>
        </p:spPr>
      </p:sp>
      <p:sp>
        <p:nvSpPr>
          <p:cNvPr id="3" name="Shape 1"/>
          <p:cNvSpPr/>
          <p:nvPr/>
        </p:nvSpPr>
        <p:spPr>
          <a:xfrm>
            <a:off x="10515600" y="4754880"/>
            <a:ext cx="3291840" cy="3291840"/>
          </a:xfrm>
          <a:prstGeom prst="ellipse">
            <a:avLst/>
          </a:prstGeom>
          <a:solidFill>
            <a:srgbClr val="262C52"/>
          </a:solidFill>
        </p:spPr>
      </p:sp>
      <p:sp>
        <p:nvSpPr>
          <p:cNvPr id="4" name="Text 2"/>
          <p:cNvSpPr/>
          <p:nvPr/>
        </p:nvSpPr>
        <p:spPr>
          <a:xfrm>
            <a:off x="822960" y="2331720"/>
            <a:ext cx="27432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FFE6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06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98755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 &amp; Perspectives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8686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was delivered, and what remains open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0" y="4206240"/>
            <a:ext cx="3108960" cy="822960"/>
          </a:xfrm>
          <a:prstGeom prst="chevron">
            <a:avLst/>
          </a:prstGeom>
          <a:solidFill>
            <a:srgbClr val="FFE600"/>
          </a:solidFill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Added Value &amp; Business Impact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828800"/>
            <a:ext cx="2606040" cy="10812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E6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24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2871216"/>
            <a:ext cx="2331720" cy="7470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companies tracked,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automatically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1691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828800"/>
            <a:ext cx="2606040" cy="10812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E6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474720" y="2871216"/>
            <a:ext cx="2331720" cy="7470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pages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26480" y="1691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828800"/>
            <a:ext cx="2606040" cy="10812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E6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263640" y="2871216"/>
            <a:ext cx="2331720" cy="7470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sources unified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one pipeline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15400" y="1691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B1F3B"/>
          </a:solidFill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15400" y="1828800"/>
            <a:ext cx="2606040" cy="10812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E6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100%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052560" y="2871216"/>
            <a:ext cx="2331720" cy="7470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traceability to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PDF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4F5FA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3977640"/>
            <a:ext cx="2514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 saved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337560" y="39776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4F5FA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83280" y="3977640"/>
            <a:ext cx="2514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Trustworthy numbers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126480" y="39776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4F5FA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72200" y="3977640"/>
            <a:ext cx="2514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Forward-looking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915400" y="39776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4F5FA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961120" y="3977640"/>
            <a:ext cx="2514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Faster answers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Limitations — Honestly Stated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" cy="548640"/>
          </a:xfrm>
          <a:prstGeom prst="ellipse">
            <a:avLst/>
          </a:prstGeom>
          <a:solidFill>
            <a:srgbClr val="FFE600"/>
          </a:solidFill>
        </p:spPr>
      </p:sp>
      <p:sp>
        <p:nvSpPr>
          <p:cNvPr id="6" name="Text 4"/>
          <p:cNvSpPr/>
          <p:nvPr/>
        </p:nvSpPr>
        <p:spPr>
          <a:xfrm>
            <a:off x="548640" y="16916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80160" y="1737360"/>
            <a:ext cx="10332720" cy="457200"/>
          </a:xfrm>
          <a:prstGeom prst="roundRect">
            <a:avLst>
              <a:gd name="adj" fmla="val 12000"/>
            </a:avLst>
          </a:prstGeom>
          <a:solidFill>
            <a:srgbClr val="F4F5FA"/>
          </a:solidFill>
        </p:spPr>
      </p:sp>
      <p:sp>
        <p:nvSpPr>
          <p:cNvPr id="8" name="Text 6"/>
          <p:cNvSpPr/>
          <p:nvPr/>
        </p:nvSpPr>
        <p:spPr>
          <a:xfrm>
            <a:off x="1508760" y="1737360"/>
            <a:ext cx="9966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Coverage limited to Tunisia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548640" cy="548640"/>
          </a:xfrm>
          <a:prstGeom prst="ellipse">
            <a:avLst/>
          </a:prstGeom>
          <a:solidFill>
            <a:srgbClr val="FFE600"/>
          </a:solidFill>
        </p:spPr>
      </p:sp>
      <p:sp>
        <p:nvSpPr>
          <p:cNvPr id="10" name="Text 8"/>
          <p:cNvSpPr/>
          <p:nvPr/>
        </p:nvSpPr>
        <p:spPr>
          <a:xfrm>
            <a:off x="548640" y="25603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80160" y="2606040"/>
            <a:ext cx="10332720" cy="457200"/>
          </a:xfrm>
          <a:prstGeom prst="roundRect">
            <a:avLst>
              <a:gd name="adj" fmla="val 12000"/>
            </a:avLst>
          </a:prstGeom>
          <a:solidFill>
            <a:srgbClr val="F4F5FA"/>
          </a:solidFill>
        </p:spPr>
      </p:sp>
      <p:sp>
        <p:nvSpPr>
          <p:cNvPr id="12" name="Text 10"/>
          <p:cNvSpPr/>
          <p:nvPr/>
        </p:nvSpPr>
        <p:spPr>
          <a:xfrm>
            <a:off x="1508760" y="2606040"/>
            <a:ext cx="9966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Some indicators can't be extracted (corrupted PDF fonts / scanned pages)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548640" cy="548640"/>
          </a:xfrm>
          <a:prstGeom prst="ellipse">
            <a:avLst/>
          </a:prstGeom>
          <a:solidFill>
            <a:srgbClr val="FFE600"/>
          </a:solidFill>
        </p:spPr>
      </p:sp>
      <p:sp>
        <p:nvSpPr>
          <p:cNvPr id="14" name="Text 12"/>
          <p:cNvSpPr/>
          <p:nvPr/>
        </p:nvSpPr>
        <p:spPr>
          <a:xfrm>
            <a:off x="548640" y="34290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280160" y="3474720"/>
            <a:ext cx="10332720" cy="457200"/>
          </a:xfrm>
          <a:prstGeom prst="roundRect">
            <a:avLst>
              <a:gd name="adj" fmla="val 12000"/>
            </a:avLst>
          </a:prstGeom>
          <a:solidFill>
            <a:srgbClr val="F4F5FA"/>
          </a:solidFill>
        </p:spPr>
      </p:sp>
      <p:sp>
        <p:nvSpPr>
          <p:cNvPr id="16" name="Text 14"/>
          <p:cNvSpPr/>
          <p:nvPr/>
        </p:nvSpPr>
        <p:spPr>
          <a:xfrm>
            <a:off x="1508760" y="3474720"/>
            <a:ext cx="9966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Chatbot data may lag a few minutes behind the live database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548640" cy="548640"/>
          </a:xfrm>
          <a:prstGeom prst="ellipse">
            <a:avLst/>
          </a:prstGeom>
          <a:solidFill>
            <a:srgbClr val="FFE600"/>
          </a:solidFill>
        </p:spPr>
      </p:sp>
      <p:sp>
        <p:nvSpPr>
          <p:cNvPr id="18" name="Text 16"/>
          <p:cNvSpPr/>
          <p:nvPr/>
        </p:nvSpPr>
        <p:spPr>
          <a:xfrm>
            <a:off x="548640" y="42976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80160" y="4343400"/>
            <a:ext cx="10332720" cy="457200"/>
          </a:xfrm>
          <a:prstGeom prst="roundRect">
            <a:avLst>
              <a:gd name="adj" fmla="val 12000"/>
            </a:avLst>
          </a:prstGeom>
          <a:solidFill>
            <a:srgbClr val="F4F5FA"/>
          </a:solidFill>
        </p:spPr>
      </p:sp>
      <p:sp>
        <p:nvSpPr>
          <p:cNvPr id="20" name="Text 18"/>
          <p:cNvSpPr/>
          <p:nvPr/>
        </p:nvSpPr>
        <p:spPr>
          <a:xfrm>
            <a:off x="1508760" y="4343400"/>
            <a:ext cx="9966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Arabic Takaful company: partial coverage on some fund indicators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5166360"/>
            <a:ext cx="548640" cy="548640"/>
          </a:xfrm>
          <a:prstGeom prst="ellipse">
            <a:avLst/>
          </a:prstGeom>
          <a:solidFill>
            <a:srgbClr val="FFE600"/>
          </a:solidFill>
        </p:spPr>
      </p:sp>
      <p:sp>
        <p:nvSpPr>
          <p:cNvPr id="22" name="Text 20"/>
          <p:cNvSpPr/>
          <p:nvPr/>
        </p:nvSpPr>
        <p:spPr>
          <a:xfrm>
            <a:off x="548640" y="51663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80160" y="5212080"/>
            <a:ext cx="10332720" cy="457200"/>
          </a:xfrm>
          <a:prstGeom prst="roundRect">
            <a:avLst>
              <a:gd name="adj" fmla="val 12000"/>
            </a:avLst>
          </a:prstGeom>
          <a:solidFill>
            <a:srgbClr val="F4F5FA"/>
          </a:solidFill>
        </p:spPr>
      </p:sp>
      <p:sp>
        <p:nvSpPr>
          <p:cNvPr id="24" name="Text 22"/>
          <p:cNvSpPr/>
          <p:nvPr/>
        </p:nvSpPr>
        <p:spPr>
          <a:xfrm>
            <a:off x="1508760" y="5212080"/>
            <a:ext cx="9966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deployment currently loaded with 5 fiscal years (instead of 10)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Roadmap — What's Next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2606040" cy="1188720"/>
          </a:xfrm>
          <a:prstGeom prst="chevron">
            <a:avLst/>
          </a:prstGeom>
          <a:solidFill>
            <a:srgbClr val="FFE600"/>
          </a:solidFill>
        </p:spPr>
      </p:sp>
      <p:sp>
        <p:nvSpPr>
          <p:cNvPr id="6" name="Text 4"/>
          <p:cNvSpPr/>
          <p:nvPr/>
        </p:nvSpPr>
        <p:spPr>
          <a:xfrm>
            <a:off x="640080" y="2651760"/>
            <a:ext cx="23317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Recover missing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indicators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2651760"/>
            <a:ext cx="2606040" cy="1188720"/>
          </a:xfrm>
          <a:prstGeom prst="chevron">
            <a:avLst/>
          </a:prstGeom>
          <a:solidFill>
            <a:srgbClr val="E6CE00"/>
          </a:solidFill>
        </p:spPr>
      </p:sp>
      <p:sp>
        <p:nvSpPr>
          <p:cNvPr id="8" name="Text 6"/>
          <p:cNvSpPr/>
          <p:nvPr/>
        </p:nvSpPr>
        <p:spPr>
          <a:xfrm>
            <a:off x="3429000" y="2651760"/>
            <a:ext cx="23317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Sync chatbot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faster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2651760"/>
            <a:ext cx="2606040" cy="1188720"/>
          </a:xfrm>
          <a:prstGeom prst="chevron">
            <a:avLst/>
          </a:prstGeom>
          <a:solidFill>
            <a:srgbClr val="FFE600"/>
          </a:solidFill>
        </p:spPr>
      </p:sp>
      <p:sp>
        <p:nvSpPr>
          <p:cNvPr id="10" name="Text 8"/>
          <p:cNvSpPr/>
          <p:nvPr/>
        </p:nvSpPr>
        <p:spPr>
          <a:xfrm>
            <a:off x="6217920" y="2651760"/>
            <a:ext cx="23317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Expand OCR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production mode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915400" y="2651760"/>
            <a:ext cx="2606040" cy="1188720"/>
          </a:xfrm>
          <a:prstGeom prst="chevron">
            <a:avLst/>
          </a:prstGeom>
          <a:solidFill>
            <a:srgbClr val="E6CE00"/>
          </a:solidFill>
        </p:spPr>
      </p:sp>
      <p:sp>
        <p:nvSpPr>
          <p:cNvPr id="12" name="Text 10"/>
          <p:cNvSpPr/>
          <p:nvPr/>
        </p:nvSpPr>
        <p:spPr>
          <a:xfrm>
            <a:off x="9006840" y="2651760"/>
            <a:ext cx="23317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Expand beyond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Tunisia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114800"/>
            <a:ext cx="4572000" cy="4572000"/>
          </a:xfrm>
          <a:prstGeom prst="ellipse">
            <a:avLst/>
          </a:prstGeom>
          <a:solidFill>
            <a:srgbClr val="262C52"/>
          </a:solidFill>
        </p:spPr>
      </p:sp>
      <p:sp>
        <p:nvSpPr>
          <p:cNvPr id="3" name="Text 1"/>
          <p:cNvSpPr/>
          <p:nvPr/>
        </p:nvSpPr>
        <p:spPr>
          <a:xfrm>
            <a:off x="822960" y="192024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consultant has questions...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100584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E6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platform has the answers.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4206240"/>
            <a:ext cx="7315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507492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E6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5464</Words>
  <Application>WPS Presentation</Application>
  <PresentationFormat>On-screen Show (16:9)</PresentationFormat>
  <Paragraphs>701</Paragraphs>
  <Slides>30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2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Azza Hamdi</cp:lastModifiedBy>
  <cp:revision>2</cp:revision>
  <dcterms:created xsi:type="dcterms:W3CDTF">2026-09-17T22:24:00Z</dcterms:created>
  <dcterms:modified xsi:type="dcterms:W3CDTF">2026-09-18T22:51:26Z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1036-12.1.0.28485</vt:lpwstr>
  </property>
  <property fmtid="{D5CDD505-2E9C-101B-9397-08002B2CF9AE}" pid="3" name="ICV">
    <vt:lpwstr>E95C844A5B4549CFAAE494F70BD39FF5_12</vt:lpwstr>
  </property>
</Properties>
</file>