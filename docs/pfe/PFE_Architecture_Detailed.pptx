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in five stages, from source to insight. Sources: seven of them, mainly the CMF annual reports in PDF. Ingestion and extraction: scrapers collect the files, pdfplumber and Tesseract OCR read the tables, including Arabic and scanned pages, and accounting identities validate each result. Storage: MySQL keeps documents, cells and KPI values, so every figure keeps its source cell; a read-only SQLite copy serves the chatbot. Services: a Flask API with a KPI layer, quality checks and exports, plus the AI services: a Groq chatbot and forecasts with Prophet, XGBoost and SHAP. Consumption: React dashboards for the market, the companies, comparisons, data quality and regulatory watch. Around it all, a scheduled pipeline and a watcher every 30 minutes keep data fresh, and everything is packaged as one executable. To be transparent: this is an ETL-style architecture on a relational store, not a star-schema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Architecture — From Source to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94560" cy="685800"/>
          </a:xfrm>
          <a:prstGeom prst="homePlate">
            <a:avLst/>
          </a:prstGeom>
          <a:solidFill>
            <a:srgbClr val="3336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2103120" cy="3017520"/>
          </a:xfrm>
          <a:prstGeom prst="roundRect">
            <a:avLst>
              <a:gd name="adj" fmla="val 2609"/>
            </a:avLst>
          </a:prstGeom>
          <a:solidFill>
            <a:srgbClr val="F5F5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786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insurers' annual reports (PDF)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FTUSA · CGA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statistics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BVMT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exchange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statistics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Magazine · ilBoursa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and news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600200"/>
            <a:ext cx="2194560" cy="685800"/>
          </a:xfrm>
          <a:prstGeom prst="homePlate">
            <a:avLst/>
          </a:prstGeom>
          <a:solidFill>
            <a:srgbClr val="33363F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Extraction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batch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2395728"/>
            <a:ext cx="2103120" cy="3017520"/>
          </a:xfrm>
          <a:prstGeom prst="roundRect">
            <a:avLst>
              <a:gd name="adj" fmla="val 2609"/>
            </a:avLst>
          </a:prstGeom>
          <a:solidFill>
            <a:srgbClr val="F5F5F6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5786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· Requests + BeautifulSoup4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pdfplumber, one per table type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Tesseract, scanned and Arabic pages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identities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00200"/>
            <a:ext cx="2194560" cy="685800"/>
          </a:xfrm>
          <a:prstGeom prst="homePlate">
            <a:avLst/>
          </a:prstGeom>
          <a:solidFill>
            <a:srgbClr val="33363F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395728"/>
            <a:ext cx="2103120" cy="3017520"/>
          </a:xfrm>
          <a:prstGeom prst="roundRect">
            <a:avLst>
              <a:gd name="adj" fmla="val 2609"/>
            </a:avLst>
          </a:prstGeom>
          <a:solidFill>
            <a:srgbClr val="F5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5786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→ cells → KPI values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keeps its source cell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each check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mirror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copy for the chatbot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1600200"/>
            <a:ext cx="2194560" cy="685800"/>
          </a:xfrm>
          <a:prstGeom prst="homePlate">
            <a:avLst/>
          </a:prstGeom>
          <a:solidFill>
            <a:srgbClr val="333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:8002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69480" y="2395728"/>
            <a:ext cx="2103120" cy="3017520"/>
          </a:xfrm>
          <a:prstGeom prst="roundRect">
            <a:avLst>
              <a:gd name="adj" fmla="val 2609"/>
            </a:avLst>
          </a:prstGeom>
          <a:solidFill>
            <a:srgbClr val="F5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5786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layer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per KPI</a:t>
            </a:r>
            <a:endParaRPr lang="en-US" sz="95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anomalies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aberrant values</a:t>
            </a:r>
            <a:endParaRPr lang="en-US" sz="95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PDF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:5001</a:t>
            </a:r>
            <a:endParaRPr lang="en-US" sz="95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chatbot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on the data</a:t>
            </a:r>
            <a:endParaRPr lang="en-US" sz="95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 + SHAP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0" y="1600200"/>
            <a:ext cx="2103120" cy="685800"/>
          </a:xfrm>
          <a:prstGeom prst="homePlate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964692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:5173 → 80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2395728"/>
            <a:ext cx="2103120" cy="3017520"/>
          </a:xfrm>
          <a:prstGeom prst="roundRect">
            <a:avLst>
              <a:gd name="adj" fmla="val 2609"/>
            </a:avLst>
          </a:prstGeom>
          <a:solidFill>
            <a:srgbClr val="F5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0" y="2578608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correction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watch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879592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669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</a:t>
            </a:r>
            <a:pPr indent="0" marL="0">
              <a:buNone/>
            </a:pPr>
            <a:r>
              <a:rPr lang="en-US" sz="12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pipeline + watcher every 30 min, with alerts.   </a:t>
            </a:r>
            <a:pPr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— </a:t>
            </a:r>
            <a:pPr indent="0" marL="0">
              <a:buNone/>
            </a:pPr>
            <a:r>
              <a:rPr lang="en-US" sz="12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standalone executable; MySQL via XAMPP is the only prerequisite.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2026-09-20T20:35:00Z</dcterms:created>
  <dcterms:modified xsi:type="dcterms:W3CDTF">2026-09-20T20:35:00Z</dcterms:modified>
</cp:coreProperties>
</file>