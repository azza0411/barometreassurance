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data pipeline has five steps, and each one is mapped to a phase of the CRISP-DM methodology. To make it concrete, I follow one real figure through the five steps: the total assets, Total actif, of STAR for 2025, 1,661,612,773 dinars. One: Collect. We get the reports from seven public sources and one internal source; here is the STAR financial statements as published on the CMF website. Two: Extract. We read the tables of the report. The balance sheet on page 2 is a scanned page, so it is read with OCR, and the Net cell of the Total de l'actif row gives our figure; the column on its right, 1,571 million, is the previous year. Three: Model. The stored cells become KPIs, each with one single definition. Here is the formula of the Ratio combiné of STAR for 2025, 92.86 percent: the claims charges plus the acquisition and management charges, divided by the written premiums, and each component is a value taken from the reports. Four: Verify. The numbers are checked with accounting identities; here the platform flagged an anomaly on this very figure, because the total assets do not equal the equity plus the liabilities, with the probable cause and a recommendation to check the source PDF. That is exactly the role of this step. Five: Deliver. The verified KPIs are available in dashboards, an Excel export and a chatbot; the company profile of STAR is the dashboard view. The next slides detail each step.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B8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PIPELINE &amp; AI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484B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Data Pipeline in Five Steps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61288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536192"/>
            <a:ext cx="384048" cy="384048"/>
          </a:xfrm>
          <a:prstGeom prst="ellipse">
            <a:avLst/>
          </a:prstGeom>
          <a:solidFill>
            <a:srgbClr val="484B54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5361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51560" y="1490472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84B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Collect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51560" y="1773936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B8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Understanding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377440" y="1490472"/>
            <a:ext cx="1737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2628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the reports</a:t>
            </a:r>
            <a:endParaRPr lang="en-US" sz="1250" dirty="0"/>
          </a:p>
          <a:p>
            <a:pPr algn="r" indent="0" marL="0">
              <a:buNone/>
            </a:pPr>
            <a:r>
              <a:rPr lang="en-US" sz="1100" dirty="0">
                <a:solidFill>
                  <a:srgbClr val="5A5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public sources + 1 internal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2057400"/>
            <a:ext cx="3566160" cy="18288"/>
          </a:xfrm>
          <a:prstGeom prst="rect">
            <a:avLst/>
          </a:prstGeom>
          <a:solidFill>
            <a:srgbClr val="D3D5DB"/>
          </a:solidFill>
          <a:ln/>
        </p:spPr>
      </p:sp>
      <p:sp>
        <p:nvSpPr>
          <p:cNvPr id="11" name="Shape 9"/>
          <p:cNvSpPr/>
          <p:nvPr/>
        </p:nvSpPr>
        <p:spPr>
          <a:xfrm>
            <a:off x="1069340" y="2167128"/>
            <a:ext cx="252476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D3D5DB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2000"/>
              </a:srgbClr>
            </a:outerShdw>
          </a:effectLst>
        </p:spPr>
      </p:sp>
      <p:pic>
        <p:nvPicPr>
          <p:cNvPr id="12" name="Image 0" descr="C:/Users/HP/Desktop/SCRAPING/docs/scratch/star/crops/s1_collec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9340" y="2167128"/>
            <a:ext cx="2524760" cy="1298448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548640" y="3493008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8B8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STAR report, as collected from the CMF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4297680" y="1536192"/>
            <a:ext cx="384048" cy="384048"/>
          </a:xfrm>
          <a:prstGeom prst="ellipse">
            <a:avLst/>
          </a:prstGeom>
          <a:solidFill>
            <a:srgbClr val="484B54"/>
          </a:solidFill>
          <a:ln/>
        </p:spPr>
      </p:sp>
      <p:sp>
        <p:nvSpPr>
          <p:cNvPr id="15" name="Text 12"/>
          <p:cNvSpPr/>
          <p:nvPr/>
        </p:nvSpPr>
        <p:spPr>
          <a:xfrm>
            <a:off x="4297680" y="15361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4800600" y="1490472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84B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Extract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4800600" y="1773936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B8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Preparation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6126480" y="1490472"/>
            <a:ext cx="1737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2628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tables</a:t>
            </a:r>
            <a:endParaRPr lang="en-US" sz="1250" dirty="0"/>
          </a:p>
          <a:p>
            <a:pPr algn="r" indent="0" marL="0">
              <a:buNone/>
            </a:pPr>
            <a:r>
              <a:rPr lang="en-US" sz="1100" dirty="0">
                <a:solidFill>
                  <a:srgbClr val="5A5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scanned pages: OCR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4297680" y="2057400"/>
            <a:ext cx="3566160" cy="18288"/>
          </a:xfrm>
          <a:prstGeom prst="rect">
            <a:avLst/>
          </a:prstGeom>
          <a:solidFill>
            <a:srgbClr val="D3D5DB"/>
          </a:solidFill>
          <a:ln/>
        </p:spPr>
      </p:sp>
      <p:sp>
        <p:nvSpPr>
          <p:cNvPr id="20" name="Shape 17"/>
          <p:cNvSpPr/>
          <p:nvPr/>
        </p:nvSpPr>
        <p:spPr>
          <a:xfrm>
            <a:off x="4297680" y="2314527"/>
            <a:ext cx="3566160" cy="1003650"/>
          </a:xfrm>
          <a:prstGeom prst="rect">
            <a:avLst/>
          </a:prstGeom>
          <a:solidFill>
            <a:srgbClr val="FFFFFF"/>
          </a:solidFill>
          <a:ln w="12700">
            <a:solidFill>
              <a:srgbClr val="D3D5DB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2000"/>
              </a:srgbClr>
            </a:outerShdw>
          </a:effectLst>
        </p:spPr>
      </p:sp>
      <p:pic>
        <p:nvPicPr>
          <p:cNvPr id="21" name="Image 1" descr="C:/Users/HP/Desktop/SCRAPING/docs/scratch/star/crops/s2_extrac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7680" y="2314527"/>
            <a:ext cx="3566160" cy="100365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4297680" y="3493008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8B8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2 of the report · the “Net” cell is read</a:t>
            </a:r>
            <a:endParaRPr lang="en-US" sz="1050" dirty="0"/>
          </a:p>
        </p:txBody>
      </p:sp>
      <p:sp>
        <p:nvSpPr>
          <p:cNvPr id="23" name="Shape 19"/>
          <p:cNvSpPr/>
          <p:nvPr/>
        </p:nvSpPr>
        <p:spPr>
          <a:xfrm>
            <a:off x="8046720" y="1536192"/>
            <a:ext cx="384048" cy="384048"/>
          </a:xfrm>
          <a:prstGeom prst="ellipse">
            <a:avLst/>
          </a:prstGeom>
          <a:solidFill>
            <a:srgbClr val="484B54"/>
          </a:solidFill>
          <a:ln/>
        </p:spPr>
      </p:sp>
      <p:sp>
        <p:nvSpPr>
          <p:cNvPr id="24" name="Text 20"/>
          <p:cNvSpPr/>
          <p:nvPr/>
        </p:nvSpPr>
        <p:spPr>
          <a:xfrm>
            <a:off x="8046720" y="15361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25" name="Text 21"/>
          <p:cNvSpPr/>
          <p:nvPr/>
        </p:nvSpPr>
        <p:spPr>
          <a:xfrm>
            <a:off x="8549640" y="1490472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84B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</a:t>
            </a:r>
            <a:endParaRPr lang="en-US" sz="1800" dirty="0"/>
          </a:p>
        </p:txBody>
      </p:sp>
      <p:sp>
        <p:nvSpPr>
          <p:cNvPr id="26" name="Text 22"/>
          <p:cNvSpPr/>
          <p:nvPr/>
        </p:nvSpPr>
        <p:spPr>
          <a:xfrm>
            <a:off x="8549640" y="1773936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B8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Modeling</a:t>
            </a:r>
            <a:endParaRPr lang="en-US" sz="1100" dirty="0"/>
          </a:p>
        </p:txBody>
      </p:sp>
      <p:sp>
        <p:nvSpPr>
          <p:cNvPr id="27" name="Text 23"/>
          <p:cNvSpPr/>
          <p:nvPr/>
        </p:nvSpPr>
        <p:spPr>
          <a:xfrm>
            <a:off x="9875520" y="1490472"/>
            <a:ext cx="1737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2628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the KPIs</a:t>
            </a:r>
            <a:endParaRPr lang="en-US" sz="1250" dirty="0"/>
          </a:p>
          <a:p>
            <a:pPr algn="r" indent="0" marL="0">
              <a:buNone/>
            </a:pPr>
            <a:r>
              <a:rPr lang="en-US" sz="1100" dirty="0">
                <a:solidFill>
                  <a:srgbClr val="5A5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definition per KPI</a:t>
            </a:r>
            <a:endParaRPr lang="en-US" sz="1250" dirty="0"/>
          </a:p>
        </p:txBody>
      </p:sp>
      <p:sp>
        <p:nvSpPr>
          <p:cNvPr id="28" name="Shape 24"/>
          <p:cNvSpPr/>
          <p:nvPr/>
        </p:nvSpPr>
        <p:spPr>
          <a:xfrm>
            <a:off x="8046720" y="2057400"/>
            <a:ext cx="3566160" cy="18288"/>
          </a:xfrm>
          <a:prstGeom prst="rect">
            <a:avLst/>
          </a:prstGeom>
          <a:solidFill>
            <a:srgbClr val="D3D5DB"/>
          </a:solidFill>
          <a:ln/>
        </p:spPr>
      </p:sp>
      <p:sp>
        <p:nvSpPr>
          <p:cNvPr id="29" name="Shape 25"/>
          <p:cNvSpPr/>
          <p:nvPr/>
        </p:nvSpPr>
        <p:spPr>
          <a:xfrm>
            <a:off x="8153720" y="2167128"/>
            <a:ext cx="335216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D3D5DB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2000"/>
              </a:srgbClr>
            </a:outerShdw>
          </a:effectLst>
        </p:spPr>
      </p:sp>
      <p:pic>
        <p:nvPicPr>
          <p:cNvPr id="30" name="Image 2" descr="C:/Users/HP/Desktop/SCRAPING/docs/scratch/star/crops/s3_mode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53720" y="2167128"/>
            <a:ext cx="3352160" cy="1298448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8046720" y="3493008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8B8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· Formule de calcul — Ratio combiné, STAR 2025</a:t>
            </a:r>
            <a:endParaRPr lang="en-US" sz="1050" dirty="0"/>
          </a:p>
        </p:txBody>
      </p:sp>
      <p:sp>
        <p:nvSpPr>
          <p:cNvPr id="32" name="Shape 27"/>
          <p:cNvSpPr/>
          <p:nvPr/>
        </p:nvSpPr>
        <p:spPr>
          <a:xfrm>
            <a:off x="548640" y="3959352"/>
            <a:ext cx="384048" cy="384048"/>
          </a:xfrm>
          <a:prstGeom prst="ellipse">
            <a:avLst/>
          </a:prstGeom>
          <a:solidFill>
            <a:srgbClr val="484B54"/>
          </a:solidFill>
          <a:ln/>
        </p:spPr>
      </p:sp>
      <p:sp>
        <p:nvSpPr>
          <p:cNvPr id="33" name="Text 28"/>
          <p:cNvSpPr/>
          <p:nvPr/>
        </p:nvSpPr>
        <p:spPr>
          <a:xfrm>
            <a:off x="548640" y="39593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34" name="Text 29"/>
          <p:cNvSpPr/>
          <p:nvPr/>
        </p:nvSpPr>
        <p:spPr>
          <a:xfrm>
            <a:off x="1051560" y="3913632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84B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Verify</a:t>
            </a:r>
            <a:endParaRPr lang="en-US" sz="1800" dirty="0"/>
          </a:p>
        </p:txBody>
      </p:sp>
      <p:sp>
        <p:nvSpPr>
          <p:cNvPr id="35" name="Text 30"/>
          <p:cNvSpPr/>
          <p:nvPr/>
        </p:nvSpPr>
        <p:spPr>
          <a:xfrm>
            <a:off x="1051560" y="4197096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B8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100" dirty="0"/>
          </a:p>
        </p:txBody>
      </p:sp>
      <p:sp>
        <p:nvSpPr>
          <p:cNvPr id="36" name="Text 31"/>
          <p:cNvSpPr/>
          <p:nvPr/>
        </p:nvSpPr>
        <p:spPr>
          <a:xfrm>
            <a:off x="2377440" y="3913632"/>
            <a:ext cx="1737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2628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the numbers</a:t>
            </a:r>
            <a:endParaRPr lang="en-US" sz="1250" dirty="0"/>
          </a:p>
          <a:p>
            <a:pPr algn="r" indent="0" marL="0">
              <a:buNone/>
            </a:pPr>
            <a:r>
              <a:rPr lang="en-US" sz="1100" dirty="0">
                <a:solidFill>
                  <a:srgbClr val="5A5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anomalies are flagged</a:t>
            </a:r>
            <a:endParaRPr lang="en-US" sz="1250" dirty="0"/>
          </a:p>
        </p:txBody>
      </p:sp>
      <p:sp>
        <p:nvSpPr>
          <p:cNvPr id="37" name="Shape 32"/>
          <p:cNvSpPr/>
          <p:nvPr/>
        </p:nvSpPr>
        <p:spPr>
          <a:xfrm>
            <a:off x="548640" y="4480560"/>
            <a:ext cx="3566160" cy="18288"/>
          </a:xfrm>
          <a:prstGeom prst="rect">
            <a:avLst/>
          </a:prstGeom>
          <a:solidFill>
            <a:srgbClr val="D3D5DB"/>
          </a:solidFill>
          <a:ln/>
        </p:spPr>
      </p:sp>
      <p:sp>
        <p:nvSpPr>
          <p:cNvPr id="38" name="Shape 33"/>
          <p:cNvSpPr/>
          <p:nvPr/>
        </p:nvSpPr>
        <p:spPr>
          <a:xfrm>
            <a:off x="548640" y="4597189"/>
            <a:ext cx="3566160" cy="1284646"/>
          </a:xfrm>
          <a:prstGeom prst="rect">
            <a:avLst/>
          </a:prstGeom>
          <a:solidFill>
            <a:srgbClr val="FFFFFF"/>
          </a:solidFill>
          <a:ln w="12700">
            <a:solidFill>
              <a:srgbClr val="D3D5DB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2000"/>
              </a:srgbClr>
            </a:outerShdw>
          </a:effectLst>
        </p:spPr>
      </p:sp>
      <p:pic>
        <p:nvPicPr>
          <p:cNvPr id="39" name="Image 3" descr="C:/Users/HP/Desktop/SCRAPING/docs/scratch/star/crops/s4_verif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4597189"/>
            <a:ext cx="3566160" cy="1284646"/>
          </a:xfrm>
          <a:prstGeom prst="rect">
            <a:avLst/>
          </a:prstGeom>
        </p:spPr>
      </p:pic>
      <p:sp>
        <p:nvSpPr>
          <p:cNvPr id="40" name="Text 34"/>
          <p:cNvSpPr/>
          <p:nvPr/>
        </p:nvSpPr>
        <p:spPr>
          <a:xfrm>
            <a:off x="548640" y="5916168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8B8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· anomaly detected on Total actif</a:t>
            </a:r>
            <a:endParaRPr lang="en-US" sz="1050" dirty="0"/>
          </a:p>
        </p:txBody>
      </p:sp>
      <p:sp>
        <p:nvSpPr>
          <p:cNvPr id="41" name="Shape 35"/>
          <p:cNvSpPr/>
          <p:nvPr/>
        </p:nvSpPr>
        <p:spPr>
          <a:xfrm>
            <a:off x="4297680" y="3959352"/>
            <a:ext cx="384048" cy="384048"/>
          </a:xfrm>
          <a:prstGeom prst="ellipse">
            <a:avLst/>
          </a:prstGeom>
          <a:solidFill>
            <a:srgbClr val="FFE600"/>
          </a:solidFill>
          <a:ln/>
        </p:spPr>
      </p:sp>
      <p:sp>
        <p:nvSpPr>
          <p:cNvPr id="42" name="Text 36"/>
          <p:cNvSpPr/>
          <p:nvPr/>
        </p:nvSpPr>
        <p:spPr>
          <a:xfrm>
            <a:off x="4297680" y="39593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84B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43" name="Text 37"/>
          <p:cNvSpPr/>
          <p:nvPr/>
        </p:nvSpPr>
        <p:spPr>
          <a:xfrm>
            <a:off x="4800600" y="3913632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84B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Deliver</a:t>
            </a:r>
            <a:endParaRPr lang="en-US" sz="1800" dirty="0"/>
          </a:p>
        </p:txBody>
      </p:sp>
      <p:sp>
        <p:nvSpPr>
          <p:cNvPr id="44" name="Text 38"/>
          <p:cNvSpPr/>
          <p:nvPr/>
        </p:nvSpPr>
        <p:spPr>
          <a:xfrm>
            <a:off x="4800600" y="4197096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B8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100" dirty="0"/>
          </a:p>
        </p:txBody>
      </p:sp>
      <p:sp>
        <p:nvSpPr>
          <p:cNvPr id="45" name="Text 39"/>
          <p:cNvSpPr/>
          <p:nvPr/>
        </p:nvSpPr>
        <p:spPr>
          <a:xfrm>
            <a:off x="6126480" y="3913632"/>
            <a:ext cx="1737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2628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access</a:t>
            </a:r>
            <a:endParaRPr lang="en-US" sz="1250" dirty="0"/>
          </a:p>
          <a:p>
            <a:pPr algn="r" indent="0" marL="0">
              <a:buNone/>
            </a:pPr>
            <a:r>
              <a:rPr lang="en-US" sz="1100" dirty="0">
                <a:solidFill>
                  <a:srgbClr val="5A5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 · Excel · chatbot</a:t>
            </a:r>
            <a:endParaRPr lang="en-US" sz="1250" dirty="0"/>
          </a:p>
        </p:txBody>
      </p:sp>
      <p:sp>
        <p:nvSpPr>
          <p:cNvPr id="46" name="Shape 40"/>
          <p:cNvSpPr/>
          <p:nvPr/>
        </p:nvSpPr>
        <p:spPr>
          <a:xfrm>
            <a:off x="4297680" y="4480560"/>
            <a:ext cx="3566160" cy="18288"/>
          </a:xfrm>
          <a:prstGeom prst="rect">
            <a:avLst/>
          </a:prstGeom>
          <a:solidFill>
            <a:srgbClr val="D3D5DB"/>
          </a:solidFill>
          <a:ln/>
        </p:spPr>
      </p:sp>
      <p:sp>
        <p:nvSpPr>
          <p:cNvPr id="47" name="Shape 41"/>
          <p:cNvSpPr/>
          <p:nvPr/>
        </p:nvSpPr>
        <p:spPr>
          <a:xfrm>
            <a:off x="4297680" y="4819066"/>
            <a:ext cx="3566160" cy="840892"/>
          </a:xfrm>
          <a:prstGeom prst="rect">
            <a:avLst/>
          </a:prstGeom>
          <a:solidFill>
            <a:srgbClr val="FFFFFF"/>
          </a:solidFill>
          <a:ln w="12700">
            <a:solidFill>
              <a:srgbClr val="D3D5DB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2000"/>
              </a:srgbClr>
            </a:outerShdw>
          </a:effectLst>
        </p:spPr>
      </p:sp>
      <p:pic>
        <p:nvPicPr>
          <p:cNvPr id="48" name="Image 4" descr="C:/Users/HP/Desktop/SCRAPING/docs/scratch/star/crops/s5_deliver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97680" y="4819066"/>
            <a:ext cx="3566160" cy="840892"/>
          </a:xfrm>
          <a:prstGeom prst="rect">
            <a:avLst/>
          </a:prstGeom>
        </p:spPr>
      </p:pic>
      <p:sp>
        <p:nvSpPr>
          <p:cNvPr id="49" name="Text 42"/>
          <p:cNvSpPr/>
          <p:nvPr/>
        </p:nvSpPr>
        <p:spPr>
          <a:xfrm>
            <a:off x="4297680" y="5916168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8B8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· Vue par assurance — STAR (2024)</a:t>
            </a:r>
            <a:endParaRPr lang="en-US" sz="1050" dirty="0"/>
          </a:p>
        </p:txBody>
      </p:sp>
      <p:sp>
        <p:nvSpPr>
          <p:cNvPr id="50" name="Shape 43"/>
          <p:cNvSpPr/>
          <p:nvPr/>
        </p:nvSpPr>
        <p:spPr>
          <a:xfrm>
            <a:off x="8046720" y="3931920"/>
            <a:ext cx="3566160" cy="2194560"/>
          </a:xfrm>
          <a:prstGeom prst="roundRect">
            <a:avLst>
              <a:gd name="adj" fmla="val 3333"/>
            </a:avLst>
          </a:prstGeom>
          <a:solidFill>
            <a:srgbClr val="484B54"/>
          </a:solidFill>
          <a:ln/>
        </p:spPr>
      </p:sp>
      <p:sp>
        <p:nvSpPr>
          <p:cNvPr id="51" name="Shape 44"/>
          <p:cNvSpPr/>
          <p:nvPr/>
        </p:nvSpPr>
        <p:spPr>
          <a:xfrm>
            <a:off x="8366760" y="4315968"/>
            <a:ext cx="457200" cy="45720"/>
          </a:xfrm>
          <a:prstGeom prst="rect">
            <a:avLst/>
          </a:prstGeom>
          <a:solidFill>
            <a:srgbClr val="FFE600"/>
          </a:solidFill>
          <a:ln/>
        </p:spPr>
      </p:sp>
      <p:sp>
        <p:nvSpPr>
          <p:cNvPr id="52" name="Text 45"/>
          <p:cNvSpPr/>
          <p:nvPr/>
        </p:nvSpPr>
        <p:spPr>
          <a:xfrm>
            <a:off x="8366760" y="4041648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FFE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FOLLOWED END TO END</a:t>
            </a:r>
            <a:endParaRPr lang="en-US" sz="1100" dirty="0"/>
          </a:p>
        </p:txBody>
      </p:sp>
      <p:sp>
        <p:nvSpPr>
          <p:cNvPr id="53" name="Text 46"/>
          <p:cNvSpPr/>
          <p:nvPr/>
        </p:nvSpPr>
        <p:spPr>
          <a:xfrm>
            <a:off x="8366760" y="44805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STAR · 2025</a:t>
            </a:r>
            <a:endParaRPr lang="en-US" sz="2600" dirty="0"/>
          </a:p>
        </p:txBody>
      </p:sp>
      <p:sp>
        <p:nvSpPr>
          <p:cNvPr id="54" name="Text 47"/>
          <p:cNvSpPr/>
          <p:nvPr/>
        </p:nvSpPr>
        <p:spPr>
          <a:xfrm>
            <a:off x="8366760" y="4983480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5D7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actif</a:t>
            </a:r>
            <a:endParaRPr lang="en-US" sz="1500" dirty="0"/>
          </a:p>
          <a:p>
            <a:pPr indent="0" marL="0">
              <a:buNone/>
            </a:pPr>
            <a:r>
              <a:rPr lang="en-US" sz="2200" b="1" dirty="0">
                <a:solidFill>
                  <a:srgbClr val="FFE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1 661 612 773 TND</a:t>
            </a:r>
            <a:endParaRPr lang="en-US" sz="1500" dirty="0"/>
          </a:p>
        </p:txBody>
      </p:sp>
      <p:sp>
        <p:nvSpPr>
          <p:cNvPr id="55" name="Text 48"/>
          <p:cNvSpPr/>
          <p:nvPr/>
        </p:nvSpPr>
        <p:spPr>
          <a:xfrm>
            <a:off x="8366760" y="55778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5D7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 combiné   </a:t>
            </a:r>
            <a:pPr indent="0" marL="0">
              <a:buNone/>
            </a:pPr>
            <a:r>
              <a:rPr lang="en-US" sz="2200" b="1" dirty="0">
                <a:solidFill>
                  <a:srgbClr val="FFE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92,86 %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2026-09-21T15:14:59Z</dcterms:created>
  <dcterms:modified xsi:type="dcterms:W3CDTF">2026-09-21T15:14:59Z</dcterms:modified>
</cp:coreProperties>
</file>