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I'll walk through the architecture in six layers, from source to insight. Sources: seven heterogeneous sources, mainly the CMF reports in PDF. Ingestion: Python with Selenium, Requests and BeautifulSoup, run as a scheduled batch. Transformation is the core: pdfplumber and Tesseract OCR read the tables, pandas shapes them, and canonical row and column dictionaries give one common schema; each result is checked with accounting identities. Storage: MySQL, organized as documents, cells and KPI values, with validation results stored too. Serving: a Flask REST API with a KPI layer, so each KPI has one definition and derived ratios are computed in one place. Consumption: dashboards, Excel and PDF exports, a chatbot and forecasts. To be transparent: this is an ETL-style architecture on a relational store, not a star-schema data warehouse. It fits the volume and the need for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make this architecture trustworthy. Data quality: I use accounting identities as automatic checks, for example net equals gross plus ceded, and every KPI carries a status: extracted, calculated, missing or aberrant. For instance, LLOYD_VIE shows a combined ratio of 29.5% against a sector average of 82.4%, so it is flagged. Lineage: every KPI links back to its source document, page and cell. ATTIJARI's total assets of 920.2 million open the PDF on page 2 with the cell highlighted. Orchestration: a scheduled batch pipeline and a watcher every 30 minutes, with alerts on new documents, news and regulatory texts. And workload isolation: the chatbot reads a read-only mirror, so AI queries never slow down the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to Insight — The Data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13432" y="2034540"/>
            <a:ext cx="95098" cy="9144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CMF, FTUSA, CGA, BVMT, INS, 2 press sites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heterogeneous 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8530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8530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73322" y="2034540"/>
            <a:ext cx="95098" cy="9144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08530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2545690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Selenium · Requests · BeautifulSoup4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45690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2545690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batch, files kept locally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68419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68419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33211" y="2034540"/>
            <a:ext cx="95098" cy="9144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68419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23" name="Text 21"/>
          <p:cNvSpPr/>
          <p:nvPr/>
        </p:nvSpPr>
        <p:spPr>
          <a:xfrm>
            <a:off x="4405579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Tesseract OCR · pandas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05579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5" name="Text 23"/>
          <p:cNvSpPr/>
          <p:nvPr/>
        </p:nvSpPr>
        <p:spPr>
          <a:xfrm>
            <a:off x="4405579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row/column dictionaries, accounting-identity checks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8309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8309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93101" y="2034540"/>
            <a:ext cx="95098" cy="9144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8309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5469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5469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5469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cells → KPI values, validations stored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88198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88198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752990" y="2034540"/>
            <a:ext cx="95098" cy="9144"/>
          </a:xfrm>
          <a:prstGeom prst="line">
            <a:avLst/>
          </a:prstGeom>
          <a:noFill/>
          <a:ln w="2540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88198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37" name="Text 35"/>
          <p:cNvSpPr/>
          <p:nvPr/>
        </p:nvSpPr>
        <p:spPr>
          <a:xfrm>
            <a:off x="8125358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25358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9" name="Text 37"/>
          <p:cNvSpPr/>
          <p:nvPr/>
        </p:nvSpPr>
        <p:spPr>
          <a:xfrm>
            <a:off x="8125358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layer: one definition per KPI, derived ratios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848088" y="1691640"/>
            <a:ext cx="1764792" cy="685800"/>
          </a:xfrm>
          <a:prstGeom prst="roundRect">
            <a:avLst>
              <a:gd name="adj" fmla="val 10667"/>
            </a:avLst>
          </a:prstGeom>
          <a:solidFill>
            <a:srgbClr val="FFE60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848088" y="169164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848088" y="2560320"/>
            <a:ext cx="1764792" cy="2240280"/>
          </a:xfrm>
          <a:prstGeom prst="roundRect">
            <a:avLst>
              <a:gd name="adj" fmla="val 4145"/>
            </a:avLst>
          </a:prstGeom>
          <a:solidFill>
            <a:srgbClr val="F5F5F6"/>
          </a:solidFill>
          <a:ln/>
        </p:spPr>
      </p:sp>
      <p:sp>
        <p:nvSpPr>
          <p:cNvPr id="43" name="Text 41"/>
          <p:cNvSpPr/>
          <p:nvPr/>
        </p:nvSpPr>
        <p:spPr>
          <a:xfrm>
            <a:off x="9985248" y="2697480"/>
            <a:ext cx="1490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ApexCharts · Excel/PDF · Groq · Prophet/XGBoost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985248" y="3611880"/>
            <a:ext cx="109728" cy="10972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5" name="Text 43"/>
          <p:cNvSpPr/>
          <p:nvPr/>
        </p:nvSpPr>
        <p:spPr>
          <a:xfrm>
            <a:off x="9985248" y="3794760"/>
            <a:ext cx="1490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exports, chatbot, forecasts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ETL-style architecture on a relational store — not a star-schema warehouse.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Trustworthy — Quality, Lineage,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84248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18745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identities as checks (Net = Gross + Ceded). Each KPI gets a status: Extracted, Calculated, Missing or Aberrant.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LLOYD_VIE combined ratio 29.5% vs sector 82.4% → flagged.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984248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2" name="Text 10"/>
          <p:cNvSpPr/>
          <p:nvPr/>
        </p:nvSpPr>
        <p:spPr>
          <a:xfrm>
            <a:off x="6739128" y="18745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links back to its source document, page and cell.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108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ATTIJARI total assets 920.2M → PDF page 2, cell highlighted.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78808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069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batch pipeline plus a watcher every 30 minutes; alerts on new documents, news and regulatory texts.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daily watch.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178808"/>
            <a:ext cx="146304" cy="146304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4069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isolation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reads a read-only SQLite mirror, separate from the main database.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53035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never slow the dashboards.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2026-09-20T17:18:11Z</dcterms:created>
  <dcterms:modified xsi:type="dcterms:W3CDTF">2026-09-20T17:18:11Z</dcterms:modified>
</cp:coreProperties>
</file>