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summarizes how the platform decides, with if and else. Start on the left: a report has been collected. First question: is the text layer usable? If yes, which is the standard path, we read the text and the tables directly, this is the native extraction. If not, second question: is it an Arabic scan? If yes, special case number two: Arabic OCR is used only to find the row and the column, then an English OCR reads the digits. If not, special case number one, a French scan: French OCR after a rendering at 340 dpi and the removal of the grid lines. Notice that a text layer that is corrupted, for example with broken fonts, also goes to OCR. The three paths join: names and values are normalized. Then a check: are the totals consistent? If yes, the cells are stored and the KPIs computed, and they feed the dashboards, the Excel exports and the chatbot. If not, the anomaly is flagged and the analyst corrects it manually, with an audit trail, and the corrected value is stored. At the bottom, the chatbot also decides: a question about figures goes to a read-only SQL query; a question about the future goes to the forecasting module, where Prophet and XGBoost compete; a regulatory question goes to RAG with cited sources. In all cases, the language model only rewrites, and the numbers are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normalization, on our fixed example, the Annexe 12 of STAR. Each company writes the same line in its own way. Look at three real cases from the report. The label charge de prestations is in lower case in the PDF. The line Participation aux résultats is shortened, while our canonical name is Participation aux résultats et intérêts techniques. And the line about the provisions is written on two lines in the PDF, so it is first merged. For the columns, it is the same: in the STAR 2025 report the header Acceptation is split in two lines, Acceptatio and n, and the header is recovered. The method is simple: for each table we keep a canonical list of names, and we match every extracted label to it with a fuzzy matching. The result is that all companies and all years share the same vocabulary, so the numbers are comparable and can be aggregated. What is not recognized stays visible, so that it can be corrected manually.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names, the values. In a PDF a number is only text. Look at the real line of our example: minus 8 787 121 is written with spaces between the thousands. Before storing it, the pipeline applies a few rules. The spaces between thousands are removed, including the non-breaking spaces that some PDFs use. Brackets are read as a negative amount, which is the accounting notation. The different minus signs, the hyphen, the en dash, the em dash, are unified. A lone dash means nothing and is stored as empty, not as zero. And both number formats are understood, for example the American format with commas for thousands and a dot for decimals, that we met at COTUNACE. The result is a real number, here the net acquisition and management charges of STAR in 2024, minus 8,787,121, that can be summed, compared with other companies and validated. The first line and the last format come from real documents; the bracket and dash lines illustrate the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Cleaning: what happens after the extraction. A number that is well read can still be wrong, for instance a misread digit or a value put in the wrong column. So the pipeline checks it in three ways. First, the accounting identity of the table. For our example, the technical result must be equal to the sum of the four balances: 13,288,024, minus 8,787,121, plus 10,682,816, minus 744,782, gives exactly 14,438,937. The gap is zero, so it is validated. Second, a year-over-year plausibility check: a KPI that falls by 95 percent or more, is multiplied by twenty, or changes sign compared to the previous year is flagged, because it is more often an extraction error than a real evolution. For the premiums of STAR, from 346.3 to 428.2 million, that is plus 23.6 percent, so nothing is flagged. Third, a flag never rewrites the data: it is sent to the anomaly report, and the analyst can correct the value in the manual correction page, with an audit trail. So nothing is silently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exceptional case: scanned PDFs. Most reports have a text layer, so we can read the tables directly. But some companies, like AMI or COTUNACE, publish a scan: the page is only a picture. The pipeline detects it automatically, because such a page has almost no text characters, and it switches to OCR. Step two: it locates the right pages with a fast, low-resolution OCR and a fuzzy match on the title, so it does not process the whole document. Step three: the selected pages are rendered at 340 dpi, the grid lines of the table are removed with OpenCV, otherwise the OCR reads them as text, and Tesseract returns every word with its position. Step four: rows come from the OCR lines and columns from the horizontal position of the numbers. The output has exactly the same format as a normal table, so everything after that, validation and KPIs, does not change. For example, the Annexe 13 of AMI 2023 gives 155 stored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exceptional case: Arabic PDFs, for El Amana Takaful. The reports are scanned, written right to left, and the Arabic OCR model is good at recognizing words but not reliable on digits: in our tests it read 38,089,744 as 35,089,4. So we split the job in two. First, we use the Arabic OCR only to find things: the row, by a fuzzy match on the expected Arabic label, for instance the label of the total assets, and the column, in the same way with its header. Then we crop this exact cell and read it again with the English model, restricted to digits, because Tunisian financial reports use Western digits even in Arabic. Arabic is used to find, English to read. And we cross-check the result: the total assets of 2024, 38,089,744 dinars, is also the N-1 column of the following year's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chatbot, in its simplest form. A question in plain language goes first to a router, which recognizes the KPI, the company and the year. Then there are three paths. For figures, the chatbot queries the KPI database with read-only SQL. For the future, it calls the forecasting module, where Prophet and XGBoost compete, which I detail later. And for regulation, it uses RAG, retrieval-augmented generation, which works in three steps. One, retrieve: the three most relevant passages are selected among eleven legal texts, such as the insurance code and CGA circulars, and one hundred and six extracts of the CGA annual reports. Two, read: the language model receives only these passages. Three, answer: it answers from them and cites its sources, or says clearly that the answer is not in the documents. So the model never answers from memory on regulation.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use of generative AI: the anomaly report. The pipeline detects anomalies with rules: a missing component, a suspicious variation, a gap with the sector. But a list of several dozen lines, 37 to 84 depending on the year, is not easy to use. So we first compute the facts: the number of anomalies, their severity, the most affected KPIs and a sample of the real causes. Then a language model, gpt-oss-120b served by Groq, writes a short report: an executive summary, the trends and three recommendations, in less than three hundred words, with the strict instruction to use only these facts. Then comes a check: every number in the text must exist in the facts, otherwise the text is rejected and replaced by a fixed template. Finally the tables are assembled, and they are computed directly, never rewritten by the model. The result is a readable report that cannot contain an invented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use of generative AI: explaining a figure. In the menu of a KPI, the consultant clicks Expliquer ce chiffre. The platform first computes the facts with SQL: the value, the change compared to the previous year, the sector average and the rank. The language model then writes two to four sentences using only these facts, and a check verifies that every number in the text is one of the facts, otherwise a fixed template is used. For the technical result of STAR in 2024, the answer says 14.3 million dinars, an increase of 212 percent compared to 2023, but 2023 was negative, so the percentage must be read with care; the sector average is 16.4 million and STAR ranks seventh out of seventeen. The model phrases and puts the number in context, but it does not calculate or invent.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predictive part, in the chatbot. We did not choose one model in advance: Prophet, a time-series model, and XGBoost, a gradient boosting model, compete for every question about the future. Step one, both are trained on the yearly history of the KPI. Step two, they are tested with a time-series cross-validation: always training on the past and predicting the following year, so the test is honest. Step three, the error scores, MAPE and RMSE, are compared and the best model is selected automatically. Step four, the forecast is produced and explained with SHAP, which shows which inputs pushed it up or down. If there is no usable history, a simple linear regression takes over, with its method stated. On the example of the net result of STAR, XGBoost has an error of 18 percent against 96 percent for Prophet, so it is selected and forecasts 31.59 million dinars for 2026. With about ten annual points per series, the forecasts remain indicative, and I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C. Normalisation &amp; cleaning</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How the platform decides  -</a:t>
            </a:r>
            <a:endParaRPr lang="en-US" sz="2200" dirty="0"/>
          </a:p>
        </p:txBody>
      </p:sp>
      <p:sp>
        <p:nvSpPr>
          <p:cNvPr id="7" name="Shape 4"/>
          <p:cNvSpPr/>
          <p:nvPr/>
        </p:nvSpPr>
        <p:spPr>
          <a:xfrm>
            <a:off x="6949440" y="2194560"/>
            <a:ext cx="201168" cy="201168"/>
          </a:xfrm>
          <a:prstGeom prst="rect">
            <a:avLst/>
          </a:prstGeom>
          <a:solidFill>
            <a:srgbClr val="F2F2F2"/>
          </a:solidFill>
          <a:ln w="12700">
            <a:solidFill>
              <a:srgbClr val="D3D5DB"/>
            </a:solidFill>
            <a:prstDash val="solid"/>
          </a:ln>
        </p:spPr>
      </p:sp>
      <p:sp>
        <p:nvSpPr>
          <p:cNvPr id="8" name="Text 5"/>
          <p:cNvSpPr/>
          <p:nvPr/>
        </p:nvSpPr>
        <p:spPr>
          <a:xfrm>
            <a:off x="7223760" y="2157984"/>
            <a:ext cx="1371600" cy="274320"/>
          </a:xfrm>
          <a:prstGeom prst="rect">
            <a:avLst/>
          </a:prstGeom>
          <a:noFill/>
          <a:ln/>
        </p:spPr>
        <p:txBody>
          <a:bodyPr wrap="square" lIns="0" tIns="0" rIns="0" bIns="0" rtlCol="0" anchor="ctr"/>
          <a:lstStyle/>
          <a:p>
            <a:pPr indent="0" marL="0">
              <a:buNone/>
            </a:pPr>
            <a:r>
              <a:rPr lang="en-US" sz="1050" dirty="0">
                <a:solidFill>
                  <a:srgbClr val="8B8B90"/>
                </a:solidFill>
                <a:latin typeface="Calibri" pitchFamily="34" charset="0"/>
                <a:ea typeface="Calibri" pitchFamily="34" charset="-122"/>
                <a:cs typeface="Calibri" pitchFamily="34" charset="-120"/>
              </a:rPr>
              <a:t>standard path</a:t>
            </a:r>
            <a:endParaRPr lang="en-US" sz="1050" dirty="0"/>
          </a:p>
        </p:txBody>
      </p:sp>
      <p:sp>
        <p:nvSpPr>
          <p:cNvPr id="9" name="Shape 6"/>
          <p:cNvSpPr/>
          <p:nvPr/>
        </p:nvSpPr>
        <p:spPr>
          <a:xfrm>
            <a:off x="8503920" y="2194560"/>
            <a:ext cx="201168" cy="201168"/>
          </a:xfrm>
          <a:prstGeom prst="rect">
            <a:avLst/>
          </a:prstGeom>
          <a:solidFill>
            <a:srgbClr val="FFE600"/>
          </a:solidFill>
          <a:ln/>
        </p:spPr>
      </p:sp>
      <p:sp>
        <p:nvSpPr>
          <p:cNvPr id="10" name="Text 7"/>
          <p:cNvSpPr/>
          <p:nvPr/>
        </p:nvSpPr>
        <p:spPr>
          <a:xfrm>
            <a:off x="8778240" y="2157984"/>
            <a:ext cx="1371600" cy="274320"/>
          </a:xfrm>
          <a:prstGeom prst="rect">
            <a:avLst/>
          </a:prstGeom>
          <a:noFill/>
          <a:ln/>
        </p:spPr>
        <p:txBody>
          <a:bodyPr wrap="square" lIns="0" tIns="0" rIns="0" bIns="0" rtlCol="0" anchor="ctr"/>
          <a:lstStyle/>
          <a:p>
            <a:pPr indent="0" marL="0">
              <a:buNone/>
            </a:pPr>
            <a:r>
              <a:rPr lang="en-US" sz="1050" dirty="0">
                <a:solidFill>
                  <a:srgbClr val="8B8B90"/>
                </a:solidFill>
                <a:latin typeface="Calibri" pitchFamily="34" charset="0"/>
                <a:ea typeface="Calibri" pitchFamily="34" charset="-122"/>
                <a:cs typeface="Calibri" pitchFamily="34" charset="-120"/>
              </a:rPr>
              <a:t>special case</a:t>
            </a:r>
            <a:endParaRPr lang="en-US" sz="1050" dirty="0"/>
          </a:p>
        </p:txBody>
      </p:sp>
      <p:sp>
        <p:nvSpPr>
          <p:cNvPr id="11" name="Shape 8"/>
          <p:cNvSpPr/>
          <p:nvPr/>
        </p:nvSpPr>
        <p:spPr>
          <a:xfrm>
            <a:off x="457200" y="2514600"/>
            <a:ext cx="1051560" cy="457200"/>
          </a:xfrm>
          <a:prstGeom prst="roundRect">
            <a:avLst>
              <a:gd name="adj" fmla="val 14000"/>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12" name="Text 9"/>
          <p:cNvSpPr/>
          <p:nvPr/>
        </p:nvSpPr>
        <p:spPr>
          <a:xfrm>
            <a:off x="530352" y="2514600"/>
            <a:ext cx="905256" cy="457200"/>
          </a:xfrm>
          <a:prstGeom prst="rect">
            <a:avLst/>
          </a:prstGeom>
          <a:noFill/>
          <a:ln/>
        </p:spPr>
        <p:txBody>
          <a:bodyPr wrap="square" lIns="0" tIns="0" rIns="0" bIns="0" rtlCol="0" anchor="ctr"/>
          <a:lstStyle/>
          <a:p>
            <a:pPr algn="ctr" indent="0" marL="0">
              <a:buNone/>
            </a:pPr>
            <a:r>
              <a:rPr lang="en-US" sz="1200" b="1" dirty="0">
                <a:solidFill>
                  <a:srgbClr val="3A3A3A"/>
                </a:solidFill>
                <a:latin typeface="Calibri" pitchFamily="34" charset="0"/>
                <a:ea typeface="Calibri" pitchFamily="34" charset="-122"/>
                <a:cs typeface="Calibri" pitchFamily="34" charset="-120"/>
              </a:rPr>
              <a:t>PDF report</a:t>
            </a:r>
            <a:endParaRPr lang="en-US" sz="1200" dirty="0"/>
          </a:p>
        </p:txBody>
      </p:sp>
      <p:sp>
        <p:nvSpPr>
          <p:cNvPr id="13" name="Shape 10"/>
          <p:cNvSpPr/>
          <p:nvPr/>
        </p:nvSpPr>
        <p:spPr>
          <a:xfrm>
            <a:off x="1508760" y="2743200"/>
            <a:ext cx="182880" cy="0"/>
          </a:xfrm>
          <a:prstGeom prst="line">
            <a:avLst/>
          </a:prstGeom>
          <a:noFill/>
          <a:ln w="22225">
            <a:solidFill>
              <a:srgbClr val="9A9CA5"/>
            </a:solidFill>
            <a:prstDash val="solid"/>
            <a:tailEnd type="triangle"/>
          </a:ln>
        </p:spPr>
      </p:sp>
      <p:sp>
        <p:nvSpPr>
          <p:cNvPr id="14" name="Shape 11"/>
          <p:cNvSpPr/>
          <p:nvPr/>
        </p:nvSpPr>
        <p:spPr>
          <a:xfrm>
            <a:off x="1691640" y="2240280"/>
            <a:ext cx="1737360" cy="1005840"/>
          </a:xfrm>
          <a:prstGeom prst="diamond">
            <a:avLst/>
          </a:prstGeom>
          <a:solidFill>
            <a:srgbClr val="FFFFFF"/>
          </a:solidFill>
          <a:ln w="22225">
            <a:solidFill>
              <a:srgbClr val="484B54"/>
            </a:solidFill>
            <a:prstDash val="solid"/>
          </a:ln>
        </p:spPr>
      </p:sp>
      <p:sp>
        <p:nvSpPr>
          <p:cNvPr id="15" name="Text 12"/>
          <p:cNvSpPr/>
          <p:nvPr/>
        </p:nvSpPr>
        <p:spPr>
          <a:xfrm>
            <a:off x="1965960" y="2240280"/>
            <a:ext cx="1188720" cy="1005840"/>
          </a:xfrm>
          <a:prstGeom prst="rect">
            <a:avLst/>
          </a:prstGeom>
          <a:noFill/>
          <a:ln/>
        </p:spPr>
        <p:txBody>
          <a:bodyPr wrap="square" lIns="0" tIns="0" rIns="0" bIns="0" rtlCol="0" anchor="ctr"/>
          <a:lstStyle/>
          <a:p>
            <a:pPr algn="ctr" indent="0" marL="0">
              <a:buNone/>
            </a:pPr>
            <a:r>
              <a:rPr lang="en-US" sz="1050" b="1" dirty="0">
                <a:solidFill>
                  <a:srgbClr val="3A3A3A"/>
                </a:solidFill>
                <a:latin typeface="Calibri" pitchFamily="34" charset="0"/>
                <a:ea typeface="Calibri" pitchFamily="34" charset="-122"/>
                <a:cs typeface="Calibri" pitchFamily="34" charset="-120"/>
              </a:rPr>
              <a:t>Text layer usable?</a:t>
            </a:r>
            <a:endParaRPr lang="en-US" sz="1050" dirty="0"/>
          </a:p>
        </p:txBody>
      </p:sp>
      <p:sp>
        <p:nvSpPr>
          <p:cNvPr id="16" name="Shape 13"/>
          <p:cNvSpPr/>
          <p:nvPr/>
        </p:nvSpPr>
        <p:spPr>
          <a:xfrm>
            <a:off x="3429000" y="2743200"/>
            <a:ext cx="502920" cy="0"/>
          </a:xfrm>
          <a:prstGeom prst="line">
            <a:avLst/>
          </a:prstGeom>
          <a:noFill/>
          <a:ln w="22225">
            <a:solidFill>
              <a:srgbClr val="9A9CA5"/>
            </a:solidFill>
            <a:prstDash val="solid"/>
            <a:tailEnd type="triangle"/>
          </a:ln>
        </p:spPr>
      </p:sp>
      <p:sp>
        <p:nvSpPr>
          <p:cNvPr id="17" name="Text 14"/>
          <p:cNvSpPr/>
          <p:nvPr/>
        </p:nvSpPr>
        <p:spPr>
          <a:xfrm>
            <a:off x="3493008" y="2487168"/>
            <a:ext cx="457200" cy="219456"/>
          </a:xfrm>
          <a:prstGeom prst="rect">
            <a:avLst/>
          </a:prstGeom>
          <a:noFill/>
          <a:ln/>
        </p:spPr>
        <p:txBody>
          <a:bodyPr wrap="square" lIns="0" tIns="0" rIns="0" bIns="0" rtlCol="0" anchor="ctr"/>
          <a:lstStyle/>
          <a:p>
            <a:pPr indent="0" marL="0">
              <a:buNone/>
            </a:pPr>
            <a:r>
              <a:rPr lang="en-US" sz="1050" b="1" dirty="0">
                <a:solidFill>
                  <a:srgbClr val="8B8B90"/>
                </a:solidFill>
                <a:latin typeface="Calibri" pitchFamily="34" charset="0"/>
                <a:ea typeface="Calibri" pitchFamily="34" charset="-122"/>
                <a:cs typeface="Calibri" pitchFamily="34" charset="-120"/>
              </a:rPr>
              <a:t>yes</a:t>
            </a:r>
            <a:endParaRPr lang="en-US" sz="1050" dirty="0"/>
          </a:p>
        </p:txBody>
      </p:sp>
      <p:sp>
        <p:nvSpPr>
          <p:cNvPr id="18" name="Shape 15"/>
          <p:cNvSpPr/>
          <p:nvPr/>
        </p:nvSpPr>
        <p:spPr>
          <a:xfrm>
            <a:off x="3931920" y="2395728"/>
            <a:ext cx="2194560" cy="694944"/>
          </a:xfrm>
          <a:prstGeom prst="roundRect">
            <a:avLst>
              <a:gd name="adj" fmla="val 9211"/>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19" name="Text 16"/>
          <p:cNvSpPr/>
          <p:nvPr/>
        </p:nvSpPr>
        <p:spPr>
          <a:xfrm>
            <a:off x="4005072" y="2395728"/>
            <a:ext cx="2048256" cy="694944"/>
          </a:xfrm>
          <a:prstGeom prst="rect">
            <a:avLst/>
          </a:prstGeom>
          <a:noFill/>
          <a:ln/>
        </p:spPr>
        <p:txBody>
          <a:bodyPr wrap="square" lIns="0" tIns="0" rIns="0" bIns="0" rtlCol="0" anchor="ctr"/>
          <a:lstStyle/>
          <a:p>
            <a:pPr algn="ctr" indent="0" marL="0">
              <a:buNone/>
            </a:pPr>
            <a:r>
              <a:rPr lang="en-US" sz="1200" b="1" dirty="0">
                <a:solidFill>
                  <a:srgbClr val="3A3A3A"/>
                </a:solidFill>
                <a:latin typeface="Calibri" pitchFamily="34" charset="0"/>
                <a:ea typeface="Calibri" pitchFamily="34" charset="-122"/>
                <a:cs typeface="Calibri" pitchFamily="34" charset="-120"/>
              </a:rPr>
              <a:t>Native extraction</a:t>
            </a:r>
            <a:endParaRPr lang="en-US" sz="1200" dirty="0"/>
          </a:p>
          <a:p>
            <a:pPr algn="ctr" indent="0" marL="0">
              <a:buNone/>
            </a:pPr>
            <a:r>
              <a:rPr lang="en-US" sz="1050" dirty="0">
                <a:solidFill>
                  <a:srgbClr val="3A3A3A"/>
                </a:solidFill>
                <a:latin typeface="Calibri" pitchFamily="34" charset="0"/>
                <a:ea typeface="Calibri" pitchFamily="34" charset="-122"/>
                <a:cs typeface="Calibri" pitchFamily="34" charset="-120"/>
              </a:rPr>
              <a:t>text + table reading</a:t>
            </a:r>
            <a:endParaRPr lang="en-US" sz="1200" dirty="0"/>
          </a:p>
        </p:txBody>
      </p:sp>
      <p:sp>
        <p:nvSpPr>
          <p:cNvPr id="20" name="Shape 17"/>
          <p:cNvSpPr/>
          <p:nvPr/>
        </p:nvSpPr>
        <p:spPr>
          <a:xfrm>
            <a:off x="2560320" y="3246120"/>
            <a:ext cx="0" cy="182880"/>
          </a:xfrm>
          <a:prstGeom prst="line">
            <a:avLst/>
          </a:prstGeom>
          <a:noFill/>
          <a:ln w="22225">
            <a:solidFill>
              <a:srgbClr val="9A9CA5"/>
            </a:solidFill>
            <a:prstDash val="solid"/>
            <a:tailEnd type="triangle"/>
          </a:ln>
        </p:spPr>
      </p:sp>
      <p:sp>
        <p:nvSpPr>
          <p:cNvPr id="21" name="Text 18"/>
          <p:cNvSpPr/>
          <p:nvPr/>
        </p:nvSpPr>
        <p:spPr>
          <a:xfrm>
            <a:off x="2633472" y="3200400"/>
            <a:ext cx="457200" cy="219456"/>
          </a:xfrm>
          <a:prstGeom prst="rect">
            <a:avLst/>
          </a:prstGeom>
          <a:noFill/>
          <a:ln/>
        </p:spPr>
        <p:txBody>
          <a:bodyPr wrap="square" lIns="0" tIns="0" rIns="0" bIns="0" rtlCol="0" anchor="ctr"/>
          <a:lstStyle/>
          <a:p>
            <a:pPr indent="0" marL="0">
              <a:buNone/>
            </a:pPr>
            <a:r>
              <a:rPr lang="en-US" sz="1050" b="1" dirty="0">
                <a:solidFill>
                  <a:srgbClr val="8B8B90"/>
                </a:solidFill>
                <a:latin typeface="Calibri" pitchFamily="34" charset="0"/>
                <a:ea typeface="Calibri" pitchFamily="34" charset="-122"/>
                <a:cs typeface="Calibri" pitchFamily="34" charset="-120"/>
              </a:rPr>
              <a:t>no</a:t>
            </a:r>
            <a:endParaRPr lang="en-US" sz="1050" dirty="0"/>
          </a:p>
        </p:txBody>
      </p:sp>
      <p:sp>
        <p:nvSpPr>
          <p:cNvPr id="22" name="Shape 19"/>
          <p:cNvSpPr/>
          <p:nvPr/>
        </p:nvSpPr>
        <p:spPr>
          <a:xfrm>
            <a:off x="1691640" y="3429000"/>
            <a:ext cx="1737360" cy="1005840"/>
          </a:xfrm>
          <a:prstGeom prst="diamond">
            <a:avLst/>
          </a:prstGeom>
          <a:solidFill>
            <a:srgbClr val="FFFFFF"/>
          </a:solidFill>
          <a:ln w="22225">
            <a:solidFill>
              <a:srgbClr val="484B54"/>
            </a:solidFill>
            <a:prstDash val="solid"/>
          </a:ln>
        </p:spPr>
      </p:sp>
      <p:sp>
        <p:nvSpPr>
          <p:cNvPr id="23" name="Text 20"/>
          <p:cNvSpPr/>
          <p:nvPr/>
        </p:nvSpPr>
        <p:spPr>
          <a:xfrm>
            <a:off x="1965960" y="3429000"/>
            <a:ext cx="1188720" cy="1005840"/>
          </a:xfrm>
          <a:prstGeom prst="rect">
            <a:avLst/>
          </a:prstGeom>
          <a:noFill/>
          <a:ln/>
        </p:spPr>
        <p:txBody>
          <a:bodyPr wrap="square" lIns="0" tIns="0" rIns="0" bIns="0" rtlCol="0" anchor="ctr"/>
          <a:lstStyle/>
          <a:p>
            <a:pPr algn="ctr" indent="0" marL="0">
              <a:buNone/>
            </a:pPr>
            <a:r>
              <a:rPr lang="en-US" sz="1050" b="1" dirty="0">
                <a:solidFill>
                  <a:srgbClr val="3A3A3A"/>
                </a:solidFill>
                <a:latin typeface="Calibri" pitchFamily="34" charset="0"/>
                <a:ea typeface="Calibri" pitchFamily="34" charset="-122"/>
                <a:cs typeface="Calibri" pitchFamily="34" charset="-120"/>
              </a:rPr>
              <a:t>Arabic scan?</a:t>
            </a:r>
            <a:endParaRPr lang="en-US" sz="1050" dirty="0"/>
          </a:p>
        </p:txBody>
      </p:sp>
      <p:sp>
        <p:nvSpPr>
          <p:cNvPr id="24" name="Shape 21"/>
          <p:cNvSpPr/>
          <p:nvPr/>
        </p:nvSpPr>
        <p:spPr>
          <a:xfrm>
            <a:off x="3429000" y="3931920"/>
            <a:ext cx="502920" cy="0"/>
          </a:xfrm>
          <a:prstGeom prst="line">
            <a:avLst/>
          </a:prstGeom>
          <a:noFill/>
          <a:ln w="22225">
            <a:solidFill>
              <a:srgbClr val="9A9CA5"/>
            </a:solidFill>
            <a:prstDash val="solid"/>
            <a:tailEnd type="triangle"/>
          </a:ln>
        </p:spPr>
      </p:sp>
      <p:sp>
        <p:nvSpPr>
          <p:cNvPr id="25" name="Text 22"/>
          <p:cNvSpPr/>
          <p:nvPr/>
        </p:nvSpPr>
        <p:spPr>
          <a:xfrm>
            <a:off x="3493008" y="3675888"/>
            <a:ext cx="457200" cy="219456"/>
          </a:xfrm>
          <a:prstGeom prst="rect">
            <a:avLst/>
          </a:prstGeom>
          <a:noFill/>
          <a:ln/>
        </p:spPr>
        <p:txBody>
          <a:bodyPr wrap="square" lIns="0" tIns="0" rIns="0" bIns="0" rtlCol="0" anchor="ctr"/>
          <a:lstStyle/>
          <a:p>
            <a:pPr indent="0" marL="0">
              <a:buNone/>
            </a:pPr>
            <a:r>
              <a:rPr lang="en-US" sz="1050" b="1" dirty="0">
                <a:solidFill>
                  <a:srgbClr val="8B8B90"/>
                </a:solidFill>
                <a:latin typeface="Calibri" pitchFamily="34" charset="0"/>
                <a:ea typeface="Calibri" pitchFamily="34" charset="-122"/>
                <a:cs typeface="Calibri" pitchFamily="34" charset="-120"/>
              </a:rPr>
              <a:t>yes</a:t>
            </a:r>
            <a:endParaRPr lang="en-US" sz="1050" dirty="0"/>
          </a:p>
        </p:txBody>
      </p:sp>
      <p:sp>
        <p:nvSpPr>
          <p:cNvPr id="26" name="Shape 23"/>
          <p:cNvSpPr/>
          <p:nvPr/>
        </p:nvSpPr>
        <p:spPr>
          <a:xfrm>
            <a:off x="3931920" y="3584448"/>
            <a:ext cx="2194560" cy="694944"/>
          </a:xfrm>
          <a:prstGeom prst="roundRect">
            <a:avLst>
              <a:gd name="adj" fmla="val 9211"/>
            </a:avLst>
          </a:prstGeom>
          <a:solidFill>
            <a:srgbClr val="FFE600"/>
          </a:solidFill>
          <a:ln/>
          <a:effectLst>
            <a:outerShdw sx="100000" sy="100000" kx="0" ky="0" algn="bl" rotWithShape="0" blurRad="76200" dist="25400" dir="5400000">
              <a:srgbClr val="000000">
                <a:alpha val="14000"/>
              </a:srgbClr>
            </a:outerShdw>
          </a:effectLst>
        </p:spPr>
      </p:sp>
      <p:sp>
        <p:nvSpPr>
          <p:cNvPr id="27" name="Text 24"/>
          <p:cNvSpPr/>
          <p:nvPr/>
        </p:nvSpPr>
        <p:spPr>
          <a:xfrm>
            <a:off x="4005072" y="3584448"/>
            <a:ext cx="2048256" cy="694944"/>
          </a:xfrm>
          <a:prstGeom prst="rect">
            <a:avLst/>
          </a:prstGeom>
          <a:noFill/>
          <a:ln/>
        </p:spPr>
        <p:txBody>
          <a:bodyPr wrap="square" lIns="0" tIns="0" rIns="0" bIns="0" rtlCol="0" anchor="ctr"/>
          <a:lstStyle/>
          <a:p>
            <a:pPr algn="ctr" indent="0" marL="0">
              <a:buNone/>
            </a:pPr>
            <a:r>
              <a:rPr lang="en-US" sz="1200" b="1" dirty="0">
                <a:solidFill>
                  <a:srgbClr val="3A3A3A"/>
                </a:solidFill>
                <a:latin typeface="Calibri" pitchFamily="34" charset="0"/>
                <a:ea typeface="Calibri" pitchFamily="34" charset="-122"/>
                <a:cs typeface="Calibri" pitchFamily="34" charset="-120"/>
              </a:rPr>
              <a:t>Arabic: find, then read</a:t>
            </a:r>
            <a:endParaRPr lang="en-US" sz="1200" dirty="0"/>
          </a:p>
          <a:p>
            <a:pPr algn="ctr" indent="0" marL="0">
              <a:buNone/>
            </a:pPr>
            <a:r>
              <a:rPr lang="en-US" sz="1050" dirty="0">
                <a:solidFill>
                  <a:srgbClr val="3A3A3A"/>
                </a:solidFill>
                <a:latin typeface="Calibri" pitchFamily="34" charset="0"/>
                <a:ea typeface="Calibri" pitchFamily="34" charset="-122"/>
                <a:cs typeface="Calibri" pitchFamily="34" charset="-120"/>
              </a:rPr>
              <a:t>Arabic OCR finds the cell, English OCR reads digits</a:t>
            </a:r>
            <a:endParaRPr lang="en-US" sz="1200" dirty="0"/>
          </a:p>
        </p:txBody>
      </p:sp>
      <p:sp>
        <p:nvSpPr>
          <p:cNvPr id="28" name="Shape 25"/>
          <p:cNvSpPr/>
          <p:nvPr/>
        </p:nvSpPr>
        <p:spPr>
          <a:xfrm>
            <a:off x="2560320" y="4434840"/>
            <a:ext cx="0" cy="411480"/>
          </a:xfrm>
          <a:prstGeom prst="line">
            <a:avLst/>
          </a:prstGeom>
          <a:noFill/>
          <a:ln w="22225">
            <a:solidFill>
              <a:srgbClr val="9A9CA5"/>
            </a:solidFill>
            <a:prstDash val="solid"/>
          </a:ln>
        </p:spPr>
      </p:sp>
      <p:sp>
        <p:nvSpPr>
          <p:cNvPr id="29" name="Shape 26"/>
          <p:cNvSpPr/>
          <p:nvPr/>
        </p:nvSpPr>
        <p:spPr>
          <a:xfrm>
            <a:off x="2560320" y="4846320"/>
            <a:ext cx="1371600" cy="0"/>
          </a:xfrm>
          <a:prstGeom prst="line">
            <a:avLst/>
          </a:prstGeom>
          <a:noFill/>
          <a:ln w="22225">
            <a:solidFill>
              <a:srgbClr val="9A9CA5"/>
            </a:solidFill>
            <a:prstDash val="solid"/>
            <a:tailEnd type="triangle"/>
          </a:ln>
        </p:spPr>
      </p:sp>
      <p:sp>
        <p:nvSpPr>
          <p:cNvPr id="30" name="Text 27"/>
          <p:cNvSpPr/>
          <p:nvPr/>
        </p:nvSpPr>
        <p:spPr>
          <a:xfrm>
            <a:off x="2633472" y="4480560"/>
            <a:ext cx="457200" cy="219456"/>
          </a:xfrm>
          <a:prstGeom prst="rect">
            <a:avLst/>
          </a:prstGeom>
          <a:noFill/>
          <a:ln/>
        </p:spPr>
        <p:txBody>
          <a:bodyPr wrap="square" lIns="0" tIns="0" rIns="0" bIns="0" rtlCol="0" anchor="ctr"/>
          <a:lstStyle/>
          <a:p>
            <a:pPr indent="0" marL="0">
              <a:buNone/>
            </a:pPr>
            <a:r>
              <a:rPr lang="en-US" sz="1050" b="1" dirty="0">
                <a:solidFill>
                  <a:srgbClr val="8B8B90"/>
                </a:solidFill>
                <a:latin typeface="Calibri" pitchFamily="34" charset="0"/>
                <a:ea typeface="Calibri" pitchFamily="34" charset="-122"/>
                <a:cs typeface="Calibri" pitchFamily="34" charset="-120"/>
              </a:rPr>
              <a:t>no</a:t>
            </a:r>
            <a:endParaRPr lang="en-US" sz="1050" dirty="0"/>
          </a:p>
        </p:txBody>
      </p:sp>
      <p:sp>
        <p:nvSpPr>
          <p:cNvPr id="31" name="Shape 28"/>
          <p:cNvSpPr/>
          <p:nvPr/>
        </p:nvSpPr>
        <p:spPr>
          <a:xfrm>
            <a:off x="3931920" y="4572000"/>
            <a:ext cx="2194560" cy="548640"/>
          </a:xfrm>
          <a:prstGeom prst="roundRect">
            <a:avLst>
              <a:gd name="adj" fmla="val 11667"/>
            </a:avLst>
          </a:prstGeom>
          <a:solidFill>
            <a:srgbClr val="FFE600"/>
          </a:solidFill>
          <a:ln/>
          <a:effectLst>
            <a:outerShdw sx="100000" sy="100000" kx="0" ky="0" algn="bl" rotWithShape="0" blurRad="76200" dist="25400" dir="5400000">
              <a:srgbClr val="000000">
                <a:alpha val="14000"/>
              </a:srgbClr>
            </a:outerShdw>
          </a:effectLst>
        </p:spPr>
      </p:sp>
      <p:sp>
        <p:nvSpPr>
          <p:cNvPr id="32" name="Text 29"/>
          <p:cNvSpPr/>
          <p:nvPr/>
        </p:nvSpPr>
        <p:spPr>
          <a:xfrm>
            <a:off x="4005072" y="4572000"/>
            <a:ext cx="2048256" cy="548640"/>
          </a:xfrm>
          <a:prstGeom prst="rect">
            <a:avLst/>
          </a:prstGeom>
          <a:noFill/>
          <a:ln/>
        </p:spPr>
        <p:txBody>
          <a:bodyPr wrap="square" lIns="0" tIns="0" rIns="0" bIns="0" rtlCol="0" anchor="ctr"/>
          <a:lstStyle/>
          <a:p>
            <a:pPr algn="ctr" indent="0" marL="0">
              <a:buNone/>
            </a:pPr>
            <a:r>
              <a:rPr lang="en-US" sz="1200" b="1" dirty="0">
                <a:solidFill>
                  <a:srgbClr val="3A3A3A"/>
                </a:solidFill>
                <a:latin typeface="Calibri" pitchFamily="34" charset="0"/>
                <a:ea typeface="Calibri" pitchFamily="34" charset="-122"/>
                <a:cs typeface="Calibri" pitchFamily="34" charset="-120"/>
              </a:rPr>
              <a:t>French OCR</a:t>
            </a:r>
            <a:endParaRPr lang="en-US" sz="1200" dirty="0"/>
          </a:p>
          <a:p>
            <a:pPr algn="ctr" indent="0" marL="0">
              <a:buNone/>
            </a:pPr>
            <a:r>
              <a:rPr lang="en-US" sz="1050" dirty="0">
                <a:solidFill>
                  <a:srgbClr val="3A3A3A"/>
                </a:solidFill>
                <a:latin typeface="Calibri" pitchFamily="34" charset="0"/>
                <a:ea typeface="Calibri" pitchFamily="34" charset="-122"/>
                <a:cs typeface="Calibri" pitchFamily="34" charset="-120"/>
              </a:rPr>
              <a:t>340 dpi, grid lines removed</a:t>
            </a:r>
            <a:endParaRPr lang="en-US" sz="1200" dirty="0"/>
          </a:p>
        </p:txBody>
      </p:sp>
      <p:sp>
        <p:nvSpPr>
          <p:cNvPr id="33" name="Shape 30"/>
          <p:cNvSpPr/>
          <p:nvPr/>
        </p:nvSpPr>
        <p:spPr>
          <a:xfrm>
            <a:off x="6126480" y="2743200"/>
            <a:ext cx="457200" cy="0"/>
          </a:xfrm>
          <a:prstGeom prst="line">
            <a:avLst/>
          </a:prstGeom>
          <a:noFill/>
          <a:ln w="22225">
            <a:solidFill>
              <a:srgbClr val="9A9CA5"/>
            </a:solidFill>
            <a:prstDash val="solid"/>
          </a:ln>
        </p:spPr>
      </p:sp>
      <p:sp>
        <p:nvSpPr>
          <p:cNvPr id="34" name="Shape 31"/>
          <p:cNvSpPr/>
          <p:nvPr/>
        </p:nvSpPr>
        <p:spPr>
          <a:xfrm>
            <a:off x="6126480" y="3931920"/>
            <a:ext cx="457200" cy="0"/>
          </a:xfrm>
          <a:prstGeom prst="line">
            <a:avLst/>
          </a:prstGeom>
          <a:noFill/>
          <a:ln w="22225">
            <a:solidFill>
              <a:srgbClr val="9A9CA5"/>
            </a:solidFill>
            <a:prstDash val="solid"/>
          </a:ln>
        </p:spPr>
      </p:sp>
      <p:sp>
        <p:nvSpPr>
          <p:cNvPr id="35" name="Shape 32"/>
          <p:cNvSpPr/>
          <p:nvPr/>
        </p:nvSpPr>
        <p:spPr>
          <a:xfrm>
            <a:off x="6126480" y="4846320"/>
            <a:ext cx="457200" cy="0"/>
          </a:xfrm>
          <a:prstGeom prst="line">
            <a:avLst/>
          </a:prstGeom>
          <a:noFill/>
          <a:ln w="22225">
            <a:solidFill>
              <a:srgbClr val="9A9CA5"/>
            </a:solidFill>
            <a:prstDash val="solid"/>
          </a:ln>
        </p:spPr>
      </p:sp>
      <p:sp>
        <p:nvSpPr>
          <p:cNvPr id="36" name="Shape 33"/>
          <p:cNvSpPr/>
          <p:nvPr/>
        </p:nvSpPr>
        <p:spPr>
          <a:xfrm>
            <a:off x="6583680" y="2743200"/>
            <a:ext cx="0" cy="2103120"/>
          </a:xfrm>
          <a:prstGeom prst="line">
            <a:avLst/>
          </a:prstGeom>
          <a:noFill/>
          <a:ln w="22225">
            <a:solidFill>
              <a:srgbClr val="9A9CA5"/>
            </a:solidFill>
            <a:prstDash val="solid"/>
          </a:ln>
        </p:spPr>
      </p:sp>
      <p:sp>
        <p:nvSpPr>
          <p:cNvPr id="37" name="Shape 34"/>
          <p:cNvSpPr/>
          <p:nvPr/>
        </p:nvSpPr>
        <p:spPr>
          <a:xfrm>
            <a:off x="6583680" y="3931920"/>
            <a:ext cx="365760" cy="0"/>
          </a:xfrm>
          <a:prstGeom prst="line">
            <a:avLst/>
          </a:prstGeom>
          <a:noFill/>
          <a:ln w="22225">
            <a:solidFill>
              <a:srgbClr val="9A9CA5"/>
            </a:solidFill>
            <a:prstDash val="solid"/>
            <a:tailEnd type="triangle"/>
          </a:ln>
        </p:spPr>
      </p:sp>
      <p:sp>
        <p:nvSpPr>
          <p:cNvPr id="38" name="Shape 35"/>
          <p:cNvSpPr/>
          <p:nvPr/>
        </p:nvSpPr>
        <p:spPr>
          <a:xfrm>
            <a:off x="6949440" y="3566160"/>
            <a:ext cx="1417320" cy="731520"/>
          </a:xfrm>
          <a:prstGeom prst="roundRect">
            <a:avLst>
              <a:gd name="adj" fmla="val 8750"/>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39" name="Text 36"/>
          <p:cNvSpPr/>
          <p:nvPr/>
        </p:nvSpPr>
        <p:spPr>
          <a:xfrm>
            <a:off x="7022592" y="3566160"/>
            <a:ext cx="1271016" cy="731520"/>
          </a:xfrm>
          <a:prstGeom prst="rect">
            <a:avLst/>
          </a:prstGeom>
          <a:noFill/>
          <a:ln/>
        </p:spPr>
        <p:txBody>
          <a:bodyPr wrap="square" lIns="0" tIns="0" rIns="0" bIns="0" rtlCol="0" anchor="ctr"/>
          <a:lstStyle/>
          <a:p>
            <a:pPr algn="ctr" indent="0" marL="0">
              <a:buNone/>
            </a:pPr>
            <a:r>
              <a:rPr lang="en-US" sz="1200" b="1" dirty="0">
                <a:solidFill>
                  <a:srgbClr val="3A3A3A"/>
                </a:solidFill>
                <a:latin typeface="Calibri" pitchFamily="34" charset="0"/>
                <a:ea typeface="Calibri" pitchFamily="34" charset="-122"/>
                <a:cs typeface="Calibri" pitchFamily="34" charset="-120"/>
              </a:rPr>
              <a:t>Normalise</a:t>
            </a:r>
            <a:endParaRPr lang="en-US" sz="1200" dirty="0"/>
          </a:p>
          <a:p>
            <a:pPr algn="ctr" indent="0" marL="0">
              <a:buNone/>
            </a:pPr>
            <a:r>
              <a:rPr lang="en-US" sz="1050" dirty="0">
                <a:solidFill>
                  <a:srgbClr val="3A3A3A"/>
                </a:solidFill>
                <a:latin typeface="Calibri" pitchFamily="34" charset="0"/>
                <a:ea typeface="Calibri" pitchFamily="34" charset="-122"/>
                <a:cs typeface="Calibri" pitchFamily="34" charset="-120"/>
              </a:rPr>
              <a:t>names and values</a:t>
            </a:r>
            <a:endParaRPr lang="en-US" sz="1200" dirty="0"/>
          </a:p>
        </p:txBody>
      </p:sp>
      <p:sp>
        <p:nvSpPr>
          <p:cNvPr id="40" name="Shape 37"/>
          <p:cNvSpPr/>
          <p:nvPr/>
        </p:nvSpPr>
        <p:spPr>
          <a:xfrm>
            <a:off x="8366760" y="3931920"/>
            <a:ext cx="182880" cy="0"/>
          </a:xfrm>
          <a:prstGeom prst="line">
            <a:avLst/>
          </a:prstGeom>
          <a:noFill/>
          <a:ln w="22225">
            <a:solidFill>
              <a:srgbClr val="9A9CA5"/>
            </a:solidFill>
            <a:prstDash val="solid"/>
            <a:tailEnd type="triangle"/>
          </a:ln>
        </p:spPr>
      </p:sp>
      <p:sp>
        <p:nvSpPr>
          <p:cNvPr id="41" name="Shape 38"/>
          <p:cNvSpPr/>
          <p:nvPr/>
        </p:nvSpPr>
        <p:spPr>
          <a:xfrm>
            <a:off x="8549640" y="3383280"/>
            <a:ext cx="1554480" cy="1097280"/>
          </a:xfrm>
          <a:prstGeom prst="diamond">
            <a:avLst/>
          </a:prstGeom>
          <a:solidFill>
            <a:srgbClr val="FFFFFF"/>
          </a:solidFill>
          <a:ln w="22225">
            <a:solidFill>
              <a:srgbClr val="484B54"/>
            </a:solidFill>
            <a:prstDash val="solid"/>
          </a:ln>
        </p:spPr>
      </p:sp>
      <p:sp>
        <p:nvSpPr>
          <p:cNvPr id="42" name="Text 39"/>
          <p:cNvSpPr/>
          <p:nvPr/>
        </p:nvSpPr>
        <p:spPr>
          <a:xfrm>
            <a:off x="8823960" y="3383280"/>
            <a:ext cx="1005840" cy="1097280"/>
          </a:xfrm>
          <a:prstGeom prst="rect">
            <a:avLst/>
          </a:prstGeom>
          <a:noFill/>
          <a:ln/>
        </p:spPr>
        <p:txBody>
          <a:bodyPr wrap="square" lIns="0" tIns="0" rIns="0" bIns="0" rtlCol="0" anchor="ctr"/>
          <a:lstStyle/>
          <a:p>
            <a:pPr algn="ctr" indent="0" marL="0">
              <a:buNone/>
            </a:pPr>
            <a:r>
              <a:rPr lang="en-US" sz="1050" b="1" dirty="0">
                <a:solidFill>
                  <a:srgbClr val="3A3A3A"/>
                </a:solidFill>
                <a:latin typeface="Calibri" pitchFamily="34" charset="0"/>
                <a:ea typeface="Calibri" pitchFamily="34" charset="-122"/>
                <a:cs typeface="Calibri" pitchFamily="34" charset="-120"/>
              </a:rPr>
              <a:t>Totals consistent?</a:t>
            </a:r>
            <a:endParaRPr lang="en-US" sz="1050" dirty="0"/>
          </a:p>
        </p:txBody>
      </p:sp>
      <p:sp>
        <p:nvSpPr>
          <p:cNvPr id="43" name="Shape 40"/>
          <p:cNvSpPr/>
          <p:nvPr/>
        </p:nvSpPr>
        <p:spPr>
          <a:xfrm>
            <a:off x="10104120" y="3931920"/>
            <a:ext cx="274320" cy="0"/>
          </a:xfrm>
          <a:prstGeom prst="line">
            <a:avLst/>
          </a:prstGeom>
          <a:noFill/>
          <a:ln w="22225">
            <a:solidFill>
              <a:srgbClr val="9A9CA5"/>
            </a:solidFill>
            <a:prstDash val="solid"/>
            <a:tailEnd type="triangle"/>
          </a:ln>
        </p:spPr>
      </p:sp>
      <p:sp>
        <p:nvSpPr>
          <p:cNvPr id="44" name="Text 41"/>
          <p:cNvSpPr/>
          <p:nvPr/>
        </p:nvSpPr>
        <p:spPr>
          <a:xfrm>
            <a:off x="10131552" y="3675888"/>
            <a:ext cx="457200" cy="219456"/>
          </a:xfrm>
          <a:prstGeom prst="rect">
            <a:avLst/>
          </a:prstGeom>
          <a:noFill/>
          <a:ln/>
        </p:spPr>
        <p:txBody>
          <a:bodyPr wrap="square" lIns="0" tIns="0" rIns="0" bIns="0" rtlCol="0" anchor="ctr"/>
          <a:lstStyle/>
          <a:p>
            <a:pPr indent="0" marL="0">
              <a:buNone/>
            </a:pPr>
            <a:r>
              <a:rPr lang="en-US" sz="1050" b="1" dirty="0">
                <a:solidFill>
                  <a:srgbClr val="8B8B90"/>
                </a:solidFill>
                <a:latin typeface="Calibri" pitchFamily="34" charset="0"/>
                <a:ea typeface="Calibri" pitchFamily="34" charset="-122"/>
                <a:cs typeface="Calibri" pitchFamily="34" charset="-120"/>
              </a:rPr>
              <a:t>yes</a:t>
            </a:r>
            <a:endParaRPr lang="en-US" sz="1050" dirty="0"/>
          </a:p>
        </p:txBody>
      </p:sp>
      <p:sp>
        <p:nvSpPr>
          <p:cNvPr id="45" name="Shape 42"/>
          <p:cNvSpPr/>
          <p:nvPr/>
        </p:nvSpPr>
        <p:spPr>
          <a:xfrm>
            <a:off x="10378440" y="3566160"/>
            <a:ext cx="1280160" cy="731520"/>
          </a:xfrm>
          <a:prstGeom prst="roundRect">
            <a:avLst>
              <a:gd name="adj" fmla="val 8750"/>
            </a:avLst>
          </a:prstGeom>
          <a:solidFill>
            <a:srgbClr val="484B54"/>
          </a:solidFill>
          <a:ln/>
          <a:effectLst>
            <a:outerShdw sx="100000" sy="100000" kx="0" ky="0" algn="bl" rotWithShape="0" blurRad="76200" dist="25400" dir="5400000">
              <a:srgbClr val="000000">
                <a:alpha val="14000"/>
              </a:srgbClr>
            </a:outerShdw>
          </a:effectLst>
        </p:spPr>
      </p:sp>
      <p:sp>
        <p:nvSpPr>
          <p:cNvPr id="46" name="Text 43"/>
          <p:cNvSpPr/>
          <p:nvPr/>
        </p:nvSpPr>
        <p:spPr>
          <a:xfrm>
            <a:off x="10451592" y="3566160"/>
            <a:ext cx="1133856"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Store + compute KPIs</a:t>
            </a:r>
            <a:endParaRPr lang="en-US" sz="1200" dirty="0"/>
          </a:p>
        </p:txBody>
      </p:sp>
      <p:sp>
        <p:nvSpPr>
          <p:cNvPr id="47" name="Shape 44"/>
          <p:cNvSpPr/>
          <p:nvPr/>
        </p:nvSpPr>
        <p:spPr>
          <a:xfrm flipV="1">
            <a:off x="11018520" y="3108960"/>
            <a:ext cx="0" cy="457200"/>
          </a:xfrm>
          <a:prstGeom prst="line">
            <a:avLst/>
          </a:prstGeom>
          <a:noFill/>
          <a:ln w="22225">
            <a:solidFill>
              <a:srgbClr val="9A9CA5"/>
            </a:solidFill>
            <a:prstDash val="solid"/>
            <a:tailEnd type="triangle"/>
          </a:ln>
        </p:spPr>
      </p:sp>
      <p:sp>
        <p:nvSpPr>
          <p:cNvPr id="48" name="Shape 45"/>
          <p:cNvSpPr/>
          <p:nvPr/>
        </p:nvSpPr>
        <p:spPr>
          <a:xfrm>
            <a:off x="10287000" y="2377440"/>
            <a:ext cx="1371600" cy="731520"/>
          </a:xfrm>
          <a:prstGeom prst="roundRect">
            <a:avLst>
              <a:gd name="adj" fmla="val 8750"/>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49" name="Text 46"/>
          <p:cNvSpPr/>
          <p:nvPr/>
        </p:nvSpPr>
        <p:spPr>
          <a:xfrm>
            <a:off x="10360152" y="2377440"/>
            <a:ext cx="1225296" cy="731520"/>
          </a:xfrm>
          <a:prstGeom prst="rect">
            <a:avLst/>
          </a:prstGeom>
          <a:noFill/>
          <a:ln/>
        </p:spPr>
        <p:txBody>
          <a:bodyPr wrap="square" lIns="0" tIns="0" rIns="0" bIns="0" rtlCol="0" anchor="ctr"/>
          <a:lstStyle/>
          <a:p>
            <a:pPr algn="ctr" indent="0" marL="0">
              <a:buNone/>
            </a:pPr>
            <a:r>
              <a:rPr lang="en-US" sz="1200" b="1" dirty="0">
                <a:solidFill>
                  <a:srgbClr val="3A3A3A"/>
                </a:solidFill>
                <a:latin typeface="Calibri" pitchFamily="34" charset="0"/>
                <a:ea typeface="Calibri" pitchFamily="34" charset="-122"/>
                <a:cs typeface="Calibri" pitchFamily="34" charset="-120"/>
              </a:rPr>
              <a:t>Dashboards · Excel · Chatbot</a:t>
            </a:r>
            <a:endParaRPr lang="en-US" sz="1200" dirty="0"/>
          </a:p>
        </p:txBody>
      </p:sp>
      <p:sp>
        <p:nvSpPr>
          <p:cNvPr id="50" name="Shape 47"/>
          <p:cNvSpPr/>
          <p:nvPr/>
        </p:nvSpPr>
        <p:spPr>
          <a:xfrm>
            <a:off x="9326880" y="4480560"/>
            <a:ext cx="0" cy="91440"/>
          </a:xfrm>
          <a:prstGeom prst="line">
            <a:avLst/>
          </a:prstGeom>
          <a:noFill/>
          <a:ln w="22225">
            <a:solidFill>
              <a:srgbClr val="9A9CA5"/>
            </a:solidFill>
            <a:prstDash val="solid"/>
            <a:tailEnd type="triangle"/>
          </a:ln>
        </p:spPr>
      </p:sp>
      <p:sp>
        <p:nvSpPr>
          <p:cNvPr id="51" name="Text 48"/>
          <p:cNvSpPr/>
          <p:nvPr/>
        </p:nvSpPr>
        <p:spPr>
          <a:xfrm>
            <a:off x="9491472" y="4279392"/>
            <a:ext cx="457200" cy="219456"/>
          </a:xfrm>
          <a:prstGeom prst="rect">
            <a:avLst/>
          </a:prstGeom>
          <a:noFill/>
          <a:ln/>
        </p:spPr>
        <p:txBody>
          <a:bodyPr wrap="square" lIns="0" tIns="0" rIns="0" bIns="0" rtlCol="0" anchor="ctr"/>
          <a:lstStyle/>
          <a:p>
            <a:pPr indent="0" marL="0">
              <a:buNone/>
            </a:pPr>
            <a:r>
              <a:rPr lang="en-US" sz="1050" b="1" dirty="0">
                <a:solidFill>
                  <a:srgbClr val="8B8B90"/>
                </a:solidFill>
                <a:latin typeface="Calibri" pitchFamily="34" charset="0"/>
                <a:ea typeface="Calibri" pitchFamily="34" charset="-122"/>
                <a:cs typeface="Calibri" pitchFamily="34" charset="-120"/>
              </a:rPr>
              <a:t>no</a:t>
            </a:r>
            <a:endParaRPr lang="en-US" sz="1050" dirty="0"/>
          </a:p>
        </p:txBody>
      </p:sp>
      <p:sp>
        <p:nvSpPr>
          <p:cNvPr id="52" name="Shape 49"/>
          <p:cNvSpPr/>
          <p:nvPr/>
        </p:nvSpPr>
        <p:spPr>
          <a:xfrm>
            <a:off x="8321040" y="4572000"/>
            <a:ext cx="2011680" cy="548640"/>
          </a:xfrm>
          <a:prstGeom prst="roundRect">
            <a:avLst>
              <a:gd name="adj" fmla="val 11667"/>
            </a:avLst>
          </a:prstGeom>
          <a:solidFill>
            <a:srgbClr val="FFE600"/>
          </a:solidFill>
          <a:ln/>
          <a:effectLst>
            <a:outerShdw sx="100000" sy="100000" kx="0" ky="0" algn="bl" rotWithShape="0" blurRad="76200" dist="25400" dir="5400000">
              <a:srgbClr val="000000">
                <a:alpha val="14000"/>
              </a:srgbClr>
            </a:outerShdw>
          </a:effectLst>
        </p:spPr>
      </p:sp>
      <p:sp>
        <p:nvSpPr>
          <p:cNvPr id="53" name="Text 50"/>
          <p:cNvSpPr/>
          <p:nvPr/>
        </p:nvSpPr>
        <p:spPr>
          <a:xfrm>
            <a:off x="8394192" y="4572000"/>
            <a:ext cx="1865376" cy="548640"/>
          </a:xfrm>
          <a:prstGeom prst="rect">
            <a:avLst/>
          </a:prstGeom>
          <a:noFill/>
          <a:ln/>
        </p:spPr>
        <p:txBody>
          <a:bodyPr wrap="square" lIns="0" tIns="0" rIns="0" bIns="0" rtlCol="0" anchor="ctr"/>
          <a:lstStyle/>
          <a:p>
            <a:pPr algn="ctr" indent="0" marL="0">
              <a:buNone/>
            </a:pPr>
            <a:r>
              <a:rPr lang="en-US" sz="1200" b="1" dirty="0">
                <a:solidFill>
                  <a:srgbClr val="3A3A3A"/>
                </a:solidFill>
                <a:latin typeface="Calibri" pitchFamily="34" charset="0"/>
                <a:ea typeface="Calibri" pitchFamily="34" charset="-122"/>
                <a:cs typeface="Calibri" pitchFamily="34" charset="-120"/>
              </a:rPr>
              <a:t>Flag anomaly</a:t>
            </a:r>
            <a:endParaRPr lang="en-US" sz="1200" dirty="0"/>
          </a:p>
          <a:p>
            <a:pPr algn="ctr" indent="0" marL="0">
              <a:buNone/>
            </a:pPr>
            <a:r>
              <a:rPr lang="en-US" sz="1050" dirty="0">
                <a:solidFill>
                  <a:srgbClr val="3A3A3A"/>
                </a:solidFill>
                <a:latin typeface="Calibri" pitchFamily="34" charset="0"/>
                <a:ea typeface="Calibri" pitchFamily="34" charset="-122"/>
                <a:cs typeface="Calibri" pitchFamily="34" charset="-120"/>
              </a:rPr>
              <a:t>manual correction, audited</a:t>
            </a:r>
            <a:endParaRPr lang="en-US" sz="1200" dirty="0"/>
          </a:p>
        </p:txBody>
      </p:sp>
      <p:sp>
        <p:nvSpPr>
          <p:cNvPr id="54" name="Shape 51"/>
          <p:cNvSpPr/>
          <p:nvPr/>
        </p:nvSpPr>
        <p:spPr>
          <a:xfrm>
            <a:off x="10332720" y="4846320"/>
            <a:ext cx="685800" cy="0"/>
          </a:xfrm>
          <a:prstGeom prst="line">
            <a:avLst/>
          </a:prstGeom>
          <a:noFill/>
          <a:ln w="22225">
            <a:solidFill>
              <a:srgbClr val="9A9CA5"/>
            </a:solidFill>
            <a:prstDash val="solid"/>
          </a:ln>
        </p:spPr>
      </p:sp>
      <p:sp>
        <p:nvSpPr>
          <p:cNvPr id="55" name="Shape 52"/>
          <p:cNvSpPr/>
          <p:nvPr/>
        </p:nvSpPr>
        <p:spPr>
          <a:xfrm flipV="1">
            <a:off x="11018520" y="4297680"/>
            <a:ext cx="0" cy="548640"/>
          </a:xfrm>
          <a:prstGeom prst="line">
            <a:avLst/>
          </a:prstGeom>
          <a:noFill/>
          <a:ln w="22225">
            <a:solidFill>
              <a:srgbClr val="9A9CA5"/>
            </a:solidFill>
            <a:prstDash val="solid"/>
            <a:tailEnd type="triangle"/>
          </a:ln>
        </p:spPr>
      </p:sp>
      <p:sp>
        <p:nvSpPr>
          <p:cNvPr id="56" name="Shape 53"/>
          <p:cNvSpPr/>
          <p:nvPr/>
        </p:nvSpPr>
        <p:spPr>
          <a:xfrm>
            <a:off x="548640" y="5266944"/>
            <a:ext cx="11091672" cy="0"/>
          </a:xfrm>
          <a:prstGeom prst="line">
            <a:avLst/>
          </a:prstGeom>
          <a:noFill/>
          <a:ln w="12700">
            <a:solidFill>
              <a:srgbClr val="D3D5DB"/>
            </a:solidFill>
            <a:prstDash val="dash"/>
          </a:ln>
        </p:spPr>
      </p:sp>
      <p:sp>
        <p:nvSpPr>
          <p:cNvPr id="57" name="Text 54"/>
          <p:cNvSpPr/>
          <p:nvPr/>
        </p:nvSpPr>
        <p:spPr>
          <a:xfrm>
            <a:off x="548640" y="5303520"/>
            <a:ext cx="1828800" cy="219456"/>
          </a:xfrm>
          <a:prstGeom prst="rect">
            <a:avLst/>
          </a:prstGeom>
          <a:noFill/>
          <a:ln/>
        </p:spPr>
        <p:txBody>
          <a:bodyPr wrap="square" lIns="0" tIns="0" rIns="0" bIns="0" rtlCol="0" anchor="ctr"/>
          <a:lstStyle/>
          <a:p>
            <a:pPr indent="0" marL="0">
              <a:buNone/>
            </a:pPr>
            <a:r>
              <a:rPr lang="en-US" sz="1050" b="1" spc="200" kern="0" dirty="0">
                <a:solidFill>
                  <a:srgbClr val="8B8B90"/>
                </a:solidFill>
                <a:latin typeface="Calibri" pitchFamily="34" charset="0"/>
                <a:ea typeface="Calibri" pitchFamily="34" charset="-122"/>
                <a:cs typeface="Calibri" pitchFamily="34" charset="-120"/>
              </a:rPr>
              <a:t>CHATBOT</a:t>
            </a:r>
            <a:endParaRPr lang="en-US" sz="1050" dirty="0"/>
          </a:p>
        </p:txBody>
      </p:sp>
      <p:sp>
        <p:nvSpPr>
          <p:cNvPr id="58" name="Shape 55"/>
          <p:cNvSpPr/>
          <p:nvPr/>
        </p:nvSpPr>
        <p:spPr>
          <a:xfrm>
            <a:off x="548640" y="5806440"/>
            <a:ext cx="1097280" cy="548640"/>
          </a:xfrm>
          <a:prstGeom prst="roundRect">
            <a:avLst>
              <a:gd name="adj" fmla="val 11667"/>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59" name="Text 56"/>
          <p:cNvSpPr/>
          <p:nvPr/>
        </p:nvSpPr>
        <p:spPr>
          <a:xfrm>
            <a:off x="621792" y="5806440"/>
            <a:ext cx="950976" cy="548640"/>
          </a:xfrm>
          <a:prstGeom prst="rect">
            <a:avLst/>
          </a:prstGeom>
          <a:noFill/>
          <a:ln/>
        </p:spPr>
        <p:txBody>
          <a:bodyPr wrap="square" lIns="0" tIns="0" rIns="0" bIns="0" rtlCol="0" anchor="ctr"/>
          <a:lstStyle/>
          <a:p>
            <a:pPr algn="ctr" indent="0" marL="0">
              <a:buNone/>
            </a:pPr>
            <a:r>
              <a:rPr lang="en-US" sz="1200" b="1" dirty="0">
                <a:solidFill>
                  <a:srgbClr val="3A3A3A"/>
                </a:solidFill>
                <a:latin typeface="Calibri" pitchFamily="34" charset="0"/>
                <a:ea typeface="Calibri" pitchFamily="34" charset="-122"/>
                <a:cs typeface="Calibri" pitchFamily="34" charset="-120"/>
              </a:rPr>
              <a:t>Question</a:t>
            </a:r>
            <a:endParaRPr lang="en-US" sz="1200" dirty="0"/>
          </a:p>
        </p:txBody>
      </p:sp>
      <p:sp>
        <p:nvSpPr>
          <p:cNvPr id="60" name="Shape 57"/>
          <p:cNvSpPr/>
          <p:nvPr/>
        </p:nvSpPr>
        <p:spPr>
          <a:xfrm>
            <a:off x="1645920" y="6080760"/>
            <a:ext cx="182880" cy="0"/>
          </a:xfrm>
          <a:prstGeom prst="line">
            <a:avLst/>
          </a:prstGeom>
          <a:noFill/>
          <a:ln w="22225">
            <a:solidFill>
              <a:srgbClr val="9A9CA5"/>
            </a:solidFill>
            <a:prstDash val="solid"/>
            <a:tailEnd type="triangle"/>
          </a:ln>
        </p:spPr>
      </p:sp>
      <p:sp>
        <p:nvSpPr>
          <p:cNvPr id="61" name="Shape 58"/>
          <p:cNvSpPr/>
          <p:nvPr/>
        </p:nvSpPr>
        <p:spPr>
          <a:xfrm>
            <a:off x="1828800" y="5532120"/>
            <a:ext cx="1371600" cy="1097280"/>
          </a:xfrm>
          <a:prstGeom prst="diamond">
            <a:avLst/>
          </a:prstGeom>
          <a:solidFill>
            <a:srgbClr val="FFFFFF"/>
          </a:solidFill>
          <a:ln w="22225">
            <a:solidFill>
              <a:srgbClr val="484B54"/>
            </a:solidFill>
            <a:prstDash val="solid"/>
          </a:ln>
        </p:spPr>
      </p:sp>
      <p:sp>
        <p:nvSpPr>
          <p:cNvPr id="62" name="Text 59"/>
          <p:cNvSpPr/>
          <p:nvPr/>
        </p:nvSpPr>
        <p:spPr>
          <a:xfrm>
            <a:off x="2103120" y="5532120"/>
            <a:ext cx="822960" cy="1097280"/>
          </a:xfrm>
          <a:prstGeom prst="rect">
            <a:avLst/>
          </a:prstGeom>
          <a:noFill/>
          <a:ln/>
        </p:spPr>
        <p:txBody>
          <a:bodyPr wrap="square" lIns="0" tIns="0" rIns="0" bIns="0" rtlCol="0" anchor="ctr"/>
          <a:lstStyle/>
          <a:p>
            <a:pPr algn="ctr" indent="0" marL="0">
              <a:buNone/>
            </a:pPr>
            <a:r>
              <a:rPr lang="en-US" sz="1050" b="1" dirty="0">
                <a:solidFill>
                  <a:srgbClr val="3A3A3A"/>
                </a:solidFill>
                <a:latin typeface="Calibri" pitchFamily="34" charset="0"/>
                <a:ea typeface="Calibri" pitchFamily="34" charset="-122"/>
                <a:cs typeface="Calibri" pitchFamily="34" charset="-120"/>
              </a:rPr>
              <a:t>Type?</a:t>
            </a:r>
            <a:endParaRPr lang="en-US" sz="1050" dirty="0"/>
          </a:p>
        </p:txBody>
      </p:sp>
      <p:sp>
        <p:nvSpPr>
          <p:cNvPr id="63" name="Shape 60"/>
          <p:cNvSpPr/>
          <p:nvPr/>
        </p:nvSpPr>
        <p:spPr>
          <a:xfrm flipV="1">
            <a:off x="3200400" y="5632704"/>
            <a:ext cx="365760" cy="448056"/>
          </a:xfrm>
          <a:prstGeom prst="line">
            <a:avLst/>
          </a:prstGeom>
          <a:noFill/>
          <a:ln w="22225">
            <a:solidFill>
              <a:srgbClr val="9A9CA5"/>
            </a:solidFill>
            <a:prstDash val="solid"/>
            <a:tailEnd type="triangle"/>
          </a:ln>
        </p:spPr>
      </p:sp>
      <p:sp>
        <p:nvSpPr>
          <p:cNvPr id="64" name="Shape 61"/>
          <p:cNvSpPr/>
          <p:nvPr/>
        </p:nvSpPr>
        <p:spPr>
          <a:xfrm>
            <a:off x="3200400" y="6080760"/>
            <a:ext cx="365760" cy="0"/>
          </a:xfrm>
          <a:prstGeom prst="line">
            <a:avLst/>
          </a:prstGeom>
          <a:noFill/>
          <a:ln w="22225">
            <a:solidFill>
              <a:srgbClr val="9A9CA5"/>
            </a:solidFill>
            <a:prstDash val="solid"/>
            <a:tailEnd type="triangle"/>
          </a:ln>
        </p:spPr>
      </p:sp>
      <p:sp>
        <p:nvSpPr>
          <p:cNvPr id="65" name="Shape 62"/>
          <p:cNvSpPr/>
          <p:nvPr/>
        </p:nvSpPr>
        <p:spPr>
          <a:xfrm>
            <a:off x="3200400" y="6080760"/>
            <a:ext cx="365760" cy="448056"/>
          </a:xfrm>
          <a:prstGeom prst="line">
            <a:avLst/>
          </a:prstGeom>
          <a:noFill/>
          <a:ln w="22225">
            <a:solidFill>
              <a:srgbClr val="9A9CA5"/>
            </a:solidFill>
            <a:prstDash val="solid"/>
            <a:tailEnd type="triangle"/>
          </a:ln>
        </p:spPr>
      </p:sp>
      <p:sp>
        <p:nvSpPr>
          <p:cNvPr id="66" name="Shape 63"/>
          <p:cNvSpPr/>
          <p:nvPr/>
        </p:nvSpPr>
        <p:spPr>
          <a:xfrm>
            <a:off x="3566160" y="5440680"/>
            <a:ext cx="4937760" cy="384048"/>
          </a:xfrm>
          <a:prstGeom prst="roundRect">
            <a:avLst>
              <a:gd name="adj" fmla="val 16667"/>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67" name="Text 64"/>
          <p:cNvSpPr/>
          <p:nvPr/>
        </p:nvSpPr>
        <p:spPr>
          <a:xfrm>
            <a:off x="3639312" y="5440680"/>
            <a:ext cx="4791456" cy="384048"/>
          </a:xfrm>
          <a:prstGeom prst="rect">
            <a:avLst/>
          </a:prstGeom>
          <a:noFill/>
          <a:ln/>
        </p:spPr>
        <p:txBody>
          <a:bodyPr wrap="square" lIns="0" tIns="0" rIns="0" bIns="0" rtlCol="0" anchor="ctr"/>
          <a:lstStyle/>
          <a:p>
            <a:pPr algn="ctr" indent="0" marL="0">
              <a:buNone/>
            </a:pPr>
            <a:r>
              <a:rPr lang="en-US" sz="1200" b="1" dirty="0">
                <a:solidFill>
                  <a:srgbClr val="3A3A3A"/>
                </a:solidFill>
                <a:latin typeface="Calibri" pitchFamily="34" charset="0"/>
                <a:ea typeface="Calibri" pitchFamily="34" charset="-122"/>
                <a:cs typeface="Calibri" pitchFamily="34" charset="-120"/>
              </a:rPr>
              <a:t>figures: read-only SQL on the KPI database</a:t>
            </a:r>
            <a:endParaRPr lang="en-US" sz="1200" dirty="0"/>
          </a:p>
        </p:txBody>
      </p:sp>
      <p:sp>
        <p:nvSpPr>
          <p:cNvPr id="68" name="Shape 65"/>
          <p:cNvSpPr/>
          <p:nvPr/>
        </p:nvSpPr>
        <p:spPr>
          <a:xfrm>
            <a:off x="3566160" y="5888736"/>
            <a:ext cx="4937760" cy="384048"/>
          </a:xfrm>
          <a:prstGeom prst="roundRect">
            <a:avLst>
              <a:gd name="adj" fmla="val 16667"/>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69" name="Text 66"/>
          <p:cNvSpPr/>
          <p:nvPr/>
        </p:nvSpPr>
        <p:spPr>
          <a:xfrm>
            <a:off x="3639312" y="5888736"/>
            <a:ext cx="4791456" cy="384048"/>
          </a:xfrm>
          <a:prstGeom prst="rect">
            <a:avLst/>
          </a:prstGeom>
          <a:noFill/>
          <a:ln/>
        </p:spPr>
        <p:txBody>
          <a:bodyPr wrap="square" lIns="0" tIns="0" rIns="0" bIns="0" rtlCol="0" anchor="ctr"/>
          <a:lstStyle/>
          <a:p>
            <a:pPr algn="ctr" indent="0" marL="0">
              <a:buNone/>
            </a:pPr>
            <a:r>
              <a:rPr lang="en-US" sz="1200" b="1" dirty="0">
                <a:solidFill>
                  <a:srgbClr val="3A3A3A"/>
                </a:solidFill>
                <a:latin typeface="Calibri" pitchFamily="34" charset="0"/>
                <a:ea typeface="Calibri" pitchFamily="34" charset="-122"/>
                <a:cs typeface="Calibri" pitchFamily="34" charset="-120"/>
              </a:rPr>
              <a:t>future: Prophet vs XGBoost, the best model forecasts</a:t>
            </a:r>
            <a:endParaRPr lang="en-US" sz="1200" dirty="0"/>
          </a:p>
        </p:txBody>
      </p:sp>
      <p:sp>
        <p:nvSpPr>
          <p:cNvPr id="70" name="Shape 67"/>
          <p:cNvSpPr/>
          <p:nvPr/>
        </p:nvSpPr>
        <p:spPr>
          <a:xfrm>
            <a:off x="3566160" y="6336792"/>
            <a:ext cx="4937760" cy="384048"/>
          </a:xfrm>
          <a:prstGeom prst="roundRect">
            <a:avLst>
              <a:gd name="adj" fmla="val 16667"/>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71" name="Text 68"/>
          <p:cNvSpPr/>
          <p:nvPr/>
        </p:nvSpPr>
        <p:spPr>
          <a:xfrm>
            <a:off x="3639312" y="6336792"/>
            <a:ext cx="4791456" cy="384048"/>
          </a:xfrm>
          <a:prstGeom prst="rect">
            <a:avLst/>
          </a:prstGeom>
          <a:noFill/>
          <a:ln/>
        </p:spPr>
        <p:txBody>
          <a:bodyPr wrap="square" lIns="0" tIns="0" rIns="0" bIns="0" rtlCol="0" anchor="ctr"/>
          <a:lstStyle/>
          <a:p>
            <a:pPr algn="ctr" indent="0" marL="0">
              <a:buNone/>
            </a:pPr>
            <a:r>
              <a:rPr lang="en-US" sz="1200" b="1" dirty="0">
                <a:solidFill>
                  <a:srgbClr val="3A3A3A"/>
                </a:solidFill>
                <a:latin typeface="Calibri" pitchFamily="34" charset="0"/>
                <a:ea typeface="Calibri" pitchFamily="34" charset="-122"/>
                <a:cs typeface="Calibri" pitchFamily="34" charset="-120"/>
              </a:rPr>
              <a:t>regulation: RAG, 3 legal passages + cited sources</a:t>
            </a:r>
            <a:endParaRPr lang="en-US" sz="1200" dirty="0"/>
          </a:p>
        </p:txBody>
      </p:sp>
      <p:sp>
        <p:nvSpPr>
          <p:cNvPr id="72" name="Shape 69"/>
          <p:cNvSpPr/>
          <p:nvPr/>
        </p:nvSpPr>
        <p:spPr>
          <a:xfrm>
            <a:off x="8503920" y="5632704"/>
            <a:ext cx="274320" cy="0"/>
          </a:xfrm>
          <a:prstGeom prst="line">
            <a:avLst/>
          </a:prstGeom>
          <a:noFill/>
          <a:ln w="22225">
            <a:solidFill>
              <a:srgbClr val="9A9CA5"/>
            </a:solidFill>
            <a:prstDash val="solid"/>
          </a:ln>
        </p:spPr>
      </p:sp>
      <p:sp>
        <p:nvSpPr>
          <p:cNvPr id="73" name="Shape 70"/>
          <p:cNvSpPr/>
          <p:nvPr/>
        </p:nvSpPr>
        <p:spPr>
          <a:xfrm>
            <a:off x="8503920" y="6080760"/>
            <a:ext cx="274320" cy="0"/>
          </a:xfrm>
          <a:prstGeom prst="line">
            <a:avLst/>
          </a:prstGeom>
          <a:noFill/>
          <a:ln w="22225">
            <a:solidFill>
              <a:srgbClr val="9A9CA5"/>
            </a:solidFill>
            <a:prstDash val="solid"/>
          </a:ln>
        </p:spPr>
      </p:sp>
      <p:sp>
        <p:nvSpPr>
          <p:cNvPr id="74" name="Shape 71"/>
          <p:cNvSpPr/>
          <p:nvPr/>
        </p:nvSpPr>
        <p:spPr>
          <a:xfrm>
            <a:off x="8503920" y="6528816"/>
            <a:ext cx="274320" cy="0"/>
          </a:xfrm>
          <a:prstGeom prst="line">
            <a:avLst/>
          </a:prstGeom>
          <a:noFill/>
          <a:ln w="22225">
            <a:solidFill>
              <a:srgbClr val="9A9CA5"/>
            </a:solidFill>
            <a:prstDash val="solid"/>
          </a:ln>
        </p:spPr>
      </p:sp>
      <p:sp>
        <p:nvSpPr>
          <p:cNvPr id="75" name="Shape 72"/>
          <p:cNvSpPr/>
          <p:nvPr/>
        </p:nvSpPr>
        <p:spPr>
          <a:xfrm>
            <a:off x="8778240" y="5632704"/>
            <a:ext cx="0" cy="896112"/>
          </a:xfrm>
          <a:prstGeom prst="line">
            <a:avLst/>
          </a:prstGeom>
          <a:noFill/>
          <a:ln w="22225">
            <a:solidFill>
              <a:srgbClr val="9A9CA5"/>
            </a:solidFill>
            <a:prstDash val="solid"/>
          </a:ln>
        </p:spPr>
      </p:sp>
      <p:sp>
        <p:nvSpPr>
          <p:cNvPr id="76" name="Shape 73"/>
          <p:cNvSpPr/>
          <p:nvPr/>
        </p:nvSpPr>
        <p:spPr>
          <a:xfrm>
            <a:off x="8778240" y="6080760"/>
            <a:ext cx="274320" cy="0"/>
          </a:xfrm>
          <a:prstGeom prst="line">
            <a:avLst/>
          </a:prstGeom>
          <a:noFill/>
          <a:ln w="22225">
            <a:solidFill>
              <a:srgbClr val="9A9CA5"/>
            </a:solidFill>
            <a:prstDash val="solid"/>
            <a:tailEnd type="triangle"/>
          </a:ln>
        </p:spPr>
      </p:sp>
      <p:sp>
        <p:nvSpPr>
          <p:cNvPr id="77" name="Shape 74"/>
          <p:cNvSpPr/>
          <p:nvPr/>
        </p:nvSpPr>
        <p:spPr>
          <a:xfrm>
            <a:off x="9052560" y="5760720"/>
            <a:ext cx="2606040" cy="640080"/>
          </a:xfrm>
          <a:prstGeom prst="roundRect">
            <a:avLst>
              <a:gd name="adj" fmla="val 10000"/>
            </a:avLst>
          </a:prstGeom>
          <a:solidFill>
            <a:srgbClr val="484B54"/>
          </a:solidFill>
          <a:ln/>
          <a:effectLst>
            <a:outerShdw sx="100000" sy="100000" kx="0" ky="0" algn="bl" rotWithShape="0" blurRad="76200" dist="25400" dir="5400000">
              <a:srgbClr val="000000">
                <a:alpha val="14000"/>
              </a:srgbClr>
            </a:outerShdw>
          </a:effectLst>
        </p:spPr>
      </p:sp>
      <p:sp>
        <p:nvSpPr>
          <p:cNvPr id="78" name="Text 75"/>
          <p:cNvSpPr/>
          <p:nvPr/>
        </p:nvSpPr>
        <p:spPr>
          <a:xfrm>
            <a:off x="9125712" y="5760720"/>
            <a:ext cx="2459736"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Answer + sources</a:t>
            </a:r>
            <a:endParaRPr lang="en-US" sz="1200" dirty="0"/>
          </a:p>
          <a:p>
            <a:pPr algn="ctr" indent="0" marL="0">
              <a:buNone/>
            </a:pPr>
            <a:r>
              <a:rPr lang="en-US" sz="1050" dirty="0">
                <a:solidFill>
                  <a:srgbClr val="FFFFFF"/>
                </a:solidFill>
                <a:latin typeface="Calibri" pitchFamily="34" charset="0"/>
                <a:ea typeface="Calibri" pitchFamily="34" charset="-122"/>
                <a:cs typeface="Calibri" pitchFamily="34" charset="-120"/>
              </a:rPr>
              <a:t>the LLM rewrites, numbers are verified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C. Normalisation &amp; cleaning</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Normalisation · Names  -</a:t>
            </a:r>
            <a:endParaRPr lang="en-US" sz="2200" dirty="0"/>
          </a:p>
        </p:txBody>
      </p:sp>
      <p:sp>
        <p:nvSpPr>
          <p:cNvPr id="7" name="Text 4"/>
          <p:cNvSpPr/>
          <p:nvPr/>
        </p:nvSpPr>
        <p:spPr>
          <a:xfrm>
            <a:off x="548640" y="2121408"/>
            <a:ext cx="493776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IN THE PDF (STAR · ANNEXE 12)</a:t>
            </a:r>
            <a:endParaRPr lang="en-US" sz="1100" dirty="0"/>
          </a:p>
        </p:txBody>
      </p:sp>
      <p:sp>
        <p:nvSpPr>
          <p:cNvPr id="8" name="Text 5"/>
          <p:cNvSpPr/>
          <p:nvPr/>
        </p:nvSpPr>
        <p:spPr>
          <a:xfrm>
            <a:off x="6217920" y="2121408"/>
            <a:ext cx="539496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IN THE PLATFORM</a:t>
            </a:r>
            <a:endParaRPr lang="en-US" sz="1100" dirty="0"/>
          </a:p>
        </p:txBody>
      </p:sp>
      <p:sp>
        <p:nvSpPr>
          <p:cNvPr id="9" name="Text 6"/>
          <p:cNvSpPr/>
          <p:nvPr/>
        </p:nvSpPr>
        <p:spPr>
          <a:xfrm>
            <a:off x="548640" y="2450592"/>
            <a:ext cx="2743200" cy="237744"/>
          </a:xfrm>
          <a:prstGeom prst="rect">
            <a:avLst/>
          </a:prstGeom>
          <a:noFill/>
          <a:ln/>
        </p:spPr>
        <p:txBody>
          <a:bodyPr wrap="square" lIns="0" tIns="0" rIns="0" bIns="0" rtlCol="0" anchor="ctr"/>
          <a:lstStyle/>
          <a:p>
            <a:pPr indent="0" marL="0">
              <a:buNone/>
            </a:pPr>
            <a:r>
              <a:rPr lang="en-US" sz="1100" b="1" spc="200" kern="0" dirty="0">
                <a:solidFill>
                  <a:srgbClr val="484B54"/>
                </a:solidFill>
                <a:latin typeface="Calibri" pitchFamily="34" charset="0"/>
                <a:ea typeface="Calibri" pitchFamily="34" charset="-122"/>
                <a:cs typeface="Calibri" pitchFamily="34" charset="-120"/>
              </a:rPr>
              <a:t>ROW NAMES</a:t>
            </a:r>
            <a:endParaRPr lang="en-US" sz="1100" dirty="0"/>
          </a:p>
        </p:txBody>
      </p:sp>
      <p:sp>
        <p:nvSpPr>
          <p:cNvPr id="10" name="Shape 7"/>
          <p:cNvSpPr/>
          <p:nvPr/>
        </p:nvSpPr>
        <p:spPr>
          <a:xfrm>
            <a:off x="548640" y="2743200"/>
            <a:ext cx="4937760" cy="457200"/>
          </a:xfrm>
          <a:prstGeom prst="roundRect">
            <a:avLst>
              <a:gd name="adj" fmla="val 12000"/>
            </a:avLst>
          </a:prstGeom>
          <a:solidFill>
            <a:srgbClr val="F2F2F2"/>
          </a:solidFill>
          <a:ln w="12700">
            <a:solidFill>
              <a:srgbClr val="D3D5DB"/>
            </a:solidFill>
            <a:prstDash val="solid"/>
          </a:ln>
        </p:spPr>
      </p:sp>
      <p:sp>
        <p:nvSpPr>
          <p:cNvPr id="11" name="Text 8"/>
          <p:cNvSpPr/>
          <p:nvPr/>
        </p:nvSpPr>
        <p:spPr>
          <a:xfrm>
            <a:off x="685800" y="2743200"/>
            <a:ext cx="4663440" cy="457200"/>
          </a:xfrm>
          <a:prstGeom prst="rect">
            <a:avLst/>
          </a:prstGeom>
          <a:noFill/>
          <a:ln/>
        </p:spPr>
        <p:txBody>
          <a:bodyPr wrap="square" lIns="0" tIns="0" rIns="0" bIns="0" rtlCol="0" anchor="ctr"/>
          <a:lstStyle/>
          <a:p>
            <a:pPr indent="0" marL="0">
              <a:buNone/>
            </a:pPr>
            <a:r>
              <a:rPr lang="en-US" sz="1250" i="1" dirty="0">
                <a:solidFill>
                  <a:srgbClr val="2F3136"/>
                </a:solidFill>
                <a:latin typeface="Calibri" pitchFamily="34" charset="0"/>
                <a:ea typeface="Calibri" pitchFamily="34" charset="-122"/>
                <a:cs typeface="Calibri" pitchFamily="34" charset="-120"/>
              </a:rPr>
              <a:t>“charges de prestations”  (lower case)</a:t>
            </a:r>
            <a:endParaRPr lang="en-US" sz="1250" dirty="0"/>
          </a:p>
        </p:txBody>
      </p:sp>
      <p:sp>
        <p:nvSpPr>
          <p:cNvPr id="12" name="Shape 9"/>
          <p:cNvSpPr/>
          <p:nvPr/>
        </p:nvSpPr>
        <p:spPr>
          <a:xfrm>
            <a:off x="5532120" y="2971800"/>
            <a:ext cx="640080" cy="0"/>
          </a:xfrm>
          <a:prstGeom prst="line">
            <a:avLst/>
          </a:prstGeom>
          <a:noFill/>
          <a:ln w="22225">
            <a:solidFill>
              <a:srgbClr val="9A9CA5"/>
            </a:solidFill>
            <a:prstDash val="solid"/>
            <a:tailEnd type="triangle"/>
          </a:ln>
        </p:spPr>
      </p:sp>
      <p:sp>
        <p:nvSpPr>
          <p:cNvPr id="13" name="Shape 10"/>
          <p:cNvSpPr/>
          <p:nvPr/>
        </p:nvSpPr>
        <p:spPr>
          <a:xfrm>
            <a:off x="6217920" y="2743200"/>
            <a:ext cx="5422392" cy="457200"/>
          </a:xfrm>
          <a:prstGeom prst="roundRect">
            <a:avLst>
              <a:gd name="adj" fmla="val 12000"/>
            </a:avLst>
          </a:prstGeom>
          <a:solidFill>
            <a:srgbClr val="FFE600"/>
          </a:solidFill>
          <a:ln/>
        </p:spPr>
      </p:sp>
      <p:sp>
        <p:nvSpPr>
          <p:cNvPr id="14" name="Text 11"/>
          <p:cNvSpPr/>
          <p:nvPr/>
        </p:nvSpPr>
        <p:spPr>
          <a:xfrm>
            <a:off x="6355080" y="2743200"/>
            <a:ext cx="5166360" cy="457200"/>
          </a:xfrm>
          <a:prstGeom prst="rect">
            <a:avLst/>
          </a:prstGeom>
          <a:noFill/>
          <a:ln/>
        </p:spPr>
        <p:txBody>
          <a:bodyPr wrap="square" lIns="0" tIns="0" rIns="0" bIns="0" rtlCol="0" anchor="ctr"/>
          <a:lstStyle/>
          <a:p>
            <a:pPr indent="0" marL="0">
              <a:buNone/>
            </a:pPr>
            <a:r>
              <a:rPr lang="en-US" sz="1250" b="1" dirty="0">
                <a:solidFill>
                  <a:srgbClr val="3A3A3A"/>
                </a:solidFill>
                <a:latin typeface="Calibri" pitchFamily="34" charset="0"/>
                <a:ea typeface="Calibri" pitchFamily="34" charset="-122"/>
                <a:cs typeface="Calibri" pitchFamily="34" charset="-120"/>
              </a:rPr>
              <a:t>Charges de prestations</a:t>
            </a:r>
            <a:endParaRPr lang="en-US" sz="1250" dirty="0"/>
          </a:p>
        </p:txBody>
      </p:sp>
      <p:sp>
        <p:nvSpPr>
          <p:cNvPr id="15" name="Shape 12"/>
          <p:cNvSpPr/>
          <p:nvPr/>
        </p:nvSpPr>
        <p:spPr>
          <a:xfrm>
            <a:off x="548640" y="3291840"/>
            <a:ext cx="4937760" cy="457200"/>
          </a:xfrm>
          <a:prstGeom prst="roundRect">
            <a:avLst>
              <a:gd name="adj" fmla="val 12000"/>
            </a:avLst>
          </a:prstGeom>
          <a:solidFill>
            <a:srgbClr val="F2F2F2"/>
          </a:solidFill>
          <a:ln w="12700">
            <a:solidFill>
              <a:srgbClr val="D3D5DB"/>
            </a:solidFill>
            <a:prstDash val="solid"/>
          </a:ln>
        </p:spPr>
      </p:sp>
      <p:sp>
        <p:nvSpPr>
          <p:cNvPr id="16" name="Text 13"/>
          <p:cNvSpPr/>
          <p:nvPr/>
        </p:nvSpPr>
        <p:spPr>
          <a:xfrm>
            <a:off x="685800" y="3291840"/>
            <a:ext cx="4663440" cy="457200"/>
          </a:xfrm>
          <a:prstGeom prst="rect">
            <a:avLst/>
          </a:prstGeom>
          <a:noFill/>
          <a:ln/>
        </p:spPr>
        <p:txBody>
          <a:bodyPr wrap="square" lIns="0" tIns="0" rIns="0" bIns="0" rtlCol="0" anchor="ctr"/>
          <a:lstStyle/>
          <a:p>
            <a:pPr indent="0" marL="0">
              <a:buNone/>
            </a:pPr>
            <a:r>
              <a:rPr lang="en-US" sz="1250" i="1" dirty="0">
                <a:solidFill>
                  <a:srgbClr val="2F3136"/>
                </a:solidFill>
                <a:latin typeface="Calibri" pitchFamily="34" charset="0"/>
                <a:ea typeface="Calibri" pitchFamily="34" charset="-122"/>
                <a:cs typeface="Calibri" pitchFamily="34" charset="-120"/>
              </a:rPr>
              <a:t>“Participation aux résultats”  (short name)</a:t>
            </a:r>
            <a:endParaRPr lang="en-US" sz="1250" dirty="0"/>
          </a:p>
        </p:txBody>
      </p:sp>
      <p:sp>
        <p:nvSpPr>
          <p:cNvPr id="17" name="Shape 14"/>
          <p:cNvSpPr/>
          <p:nvPr/>
        </p:nvSpPr>
        <p:spPr>
          <a:xfrm>
            <a:off x="5532120" y="3520440"/>
            <a:ext cx="640080" cy="0"/>
          </a:xfrm>
          <a:prstGeom prst="line">
            <a:avLst/>
          </a:prstGeom>
          <a:noFill/>
          <a:ln w="22225">
            <a:solidFill>
              <a:srgbClr val="9A9CA5"/>
            </a:solidFill>
            <a:prstDash val="solid"/>
            <a:tailEnd type="triangle"/>
          </a:ln>
        </p:spPr>
      </p:sp>
      <p:sp>
        <p:nvSpPr>
          <p:cNvPr id="18" name="Shape 15"/>
          <p:cNvSpPr/>
          <p:nvPr/>
        </p:nvSpPr>
        <p:spPr>
          <a:xfrm>
            <a:off x="6217920" y="3291840"/>
            <a:ext cx="5422392" cy="457200"/>
          </a:xfrm>
          <a:prstGeom prst="roundRect">
            <a:avLst>
              <a:gd name="adj" fmla="val 12000"/>
            </a:avLst>
          </a:prstGeom>
          <a:solidFill>
            <a:srgbClr val="FFE600"/>
          </a:solidFill>
          <a:ln/>
        </p:spPr>
      </p:sp>
      <p:sp>
        <p:nvSpPr>
          <p:cNvPr id="19" name="Text 16"/>
          <p:cNvSpPr/>
          <p:nvPr/>
        </p:nvSpPr>
        <p:spPr>
          <a:xfrm>
            <a:off x="6355080" y="3291840"/>
            <a:ext cx="5166360" cy="457200"/>
          </a:xfrm>
          <a:prstGeom prst="rect">
            <a:avLst/>
          </a:prstGeom>
          <a:noFill/>
          <a:ln/>
        </p:spPr>
        <p:txBody>
          <a:bodyPr wrap="square" lIns="0" tIns="0" rIns="0" bIns="0" rtlCol="0" anchor="ctr"/>
          <a:lstStyle/>
          <a:p>
            <a:pPr indent="0" marL="0">
              <a:buNone/>
            </a:pPr>
            <a:r>
              <a:rPr lang="en-US" sz="1250" b="1" dirty="0">
                <a:solidFill>
                  <a:srgbClr val="3A3A3A"/>
                </a:solidFill>
                <a:latin typeface="Calibri" pitchFamily="34" charset="0"/>
                <a:ea typeface="Calibri" pitchFamily="34" charset="-122"/>
                <a:cs typeface="Calibri" pitchFamily="34" charset="-120"/>
              </a:rPr>
              <a:t>Participation aux résultats et intérêts techniques</a:t>
            </a:r>
            <a:endParaRPr lang="en-US" sz="1250" dirty="0"/>
          </a:p>
        </p:txBody>
      </p:sp>
      <p:sp>
        <p:nvSpPr>
          <p:cNvPr id="20" name="Shape 17"/>
          <p:cNvSpPr/>
          <p:nvPr/>
        </p:nvSpPr>
        <p:spPr>
          <a:xfrm>
            <a:off x="548640" y="3840480"/>
            <a:ext cx="4937760" cy="603504"/>
          </a:xfrm>
          <a:prstGeom prst="roundRect">
            <a:avLst>
              <a:gd name="adj" fmla="val 9091"/>
            </a:avLst>
          </a:prstGeom>
          <a:solidFill>
            <a:srgbClr val="F2F2F2"/>
          </a:solidFill>
          <a:ln w="12700">
            <a:solidFill>
              <a:srgbClr val="D3D5DB"/>
            </a:solidFill>
            <a:prstDash val="solid"/>
          </a:ln>
        </p:spPr>
      </p:sp>
      <p:sp>
        <p:nvSpPr>
          <p:cNvPr id="21" name="Text 18"/>
          <p:cNvSpPr/>
          <p:nvPr/>
        </p:nvSpPr>
        <p:spPr>
          <a:xfrm>
            <a:off x="685800" y="3840480"/>
            <a:ext cx="4663440" cy="603504"/>
          </a:xfrm>
          <a:prstGeom prst="rect">
            <a:avLst/>
          </a:prstGeom>
          <a:noFill/>
          <a:ln/>
        </p:spPr>
        <p:txBody>
          <a:bodyPr wrap="square" lIns="0" tIns="0" rIns="0" bIns="0" rtlCol="0" anchor="ctr"/>
          <a:lstStyle/>
          <a:p>
            <a:pPr indent="0" marL="0">
              <a:buNone/>
            </a:pPr>
            <a:r>
              <a:rPr lang="en-US" sz="1250" i="1" dirty="0">
                <a:solidFill>
                  <a:srgbClr val="2F3136"/>
                </a:solidFill>
                <a:latin typeface="Calibri" pitchFamily="34" charset="0"/>
                <a:ea typeface="Calibri" pitchFamily="34" charset="-122"/>
                <a:cs typeface="Calibri" pitchFamily="34" charset="-120"/>
              </a:rPr>
              <a:t>“charges des provisions d'assurance vie et des autres”  +  “provisions techniques”  (label on 2 lines)</a:t>
            </a:r>
            <a:endParaRPr lang="en-US" sz="1250" dirty="0"/>
          </a:p>
        </p:txBody>
      </p:sp>
      <p:sp>
        <p:nvSpPr>
          <p:cNvPr id="22" name="Shape 19"/>
          <p:cNvSpPr/>
          <p:nvPr/>
        </p:nvSpPr>
        <p:spPr>
          <a:xfrm>
            <a:off x="5532120" y="4142232"/>
            <a:ext cx="640080" cy="0"/>
          </a:xfrm>
          <a:prstGeom prst="line">
            <a:avLst/>
          </a:prstGeom>
          <a:noFill/>
          <a:ln w="22225">
            <a:solidFill>
              <a:srgbClr val="9A9CA5"/>
            </a:solidFill>
            <a:prstDash val="solid"/>
            <a:tailEnd type="triangle"/>
          </a:ln>
        </p:spPr>
      </p:sp>
      <p:sp>
        <p:nvSpPr>
          <p:cNvPr id="23" name="Shape 20"/>
          <p:cNvSpPr/>
          <p:nvPr/>
        </p:nvSpPr>
        <p:spPr>
          <a:xfrm>
            <a:off x="6217920" y="3840480"/>
            <a:ext cx="5422392" cy="603504"/>
          </a:xfrm>
          <a:prstGeom prst="roundRect">
            <a:avLst>
              <a:gd name="adj" fmla="val 9091"/>
            </a:avLst>
          </a:prstGeom>
          <a:solidFill>
            <a:srgbClr val="FFE600"/>
          </a:solidFill>
          <a:ln/>
        </p:spPr>
      </p:sp>
      <p:sp>
        <p:nvSpPr>
          <p:cNvPr id="24" name="Text 21"/>
          <p:cNvSpPr/>
          <p:nvPr/>
        </p:nvSpPr>
        <p:spPr>
          <a:xfrm>
            <a:off x="6355080" y="3840480"/>
            <a:ext cx="5166360" cy="603504"/>
          </a:xfrm>
          <a:prstGeom prst="rect">
            <a:avLst/>
          </a:prstGeom>
          <a:noFill/>
          <a:ln/>
        </p:spPr>
        <p:txBody>
          <a:bodyPr wrap="square" lIns="0" tIns="0" rIns="0" bIns="0" rtlCol="0" anchor="ctr"/>
          <a:lstStyle/>
          <a:p>
            <a:pPr indent="0" marL="0">
              <a:buNone/>
            </a:pPr>
            <a:r>
              <a:rPr lang="en-US" sz="1250" b="1" dirty="0">
                <a:solidFill>
                  <a:srgbClr val="3A3A3A"/>
                </a:solidFill>
                <a:latin typeface="Calibri" pitchFamily="34" charset="0"/>
                <a:ea typeface="Calibri" pitchFamily="34" charset="-122"/>
                <a:cs typeface="Calibri" pitchFamily="34" charset="-120"/>
              </a:rPr>
              <a:t>Charges des provisions d'assurance vie et des autres provisions techniques</a:t>
            </a:r>
            <a:endParaRPr lang="en-US" sz="1250" dirty="0"/>
          </a:p>
        </p:txBody>
      </p:sp>
      <p:sp>
        <p:nvSpPr>
          <p:cNvPr id="25" name="Text 22"/>
          <p:cNvSpPr/>
          <p:nvPr/>
        </p:nvSpPr>
        <p:spPr>
          <a:xfrm>
            <a:off x="548640" y="4572000"/>
            <a:ext cx="2743200" cy="237744"/>
          </a:xfrm>
          <a:prstGeom prst="rect">
            <a:avLst/>
          </a:prstGeom>
          <a:noFill/>
          <a:ln/>
        </p:spPr>
        <p:txBody>
          <a:bodyPr wrap="square" lIns="0" tIns="0" rIns="0" bIns="0" rtlCol="0" anchor="ctr"/>
          <a:lstStyle/>
          <a:p>
            <a:pPr indent="0" marL="0">
              <a:buNone/>
            </a:pPr>
            <a:r>
              <a:rPr lang="en-US" sz="1100" b="1" spc="200" kern="0" dirty="0">
                <a:solidFill>
                  <a:srgbClr val="484B54"/>
                </a:solidFill>
                <a:latin typeface="Calibri" pitchFamily="34" charset="0"/>
                <a:ea typeface="Calibri" pitchFamily="34" charset="-122"/>
                <a:cs typeface="Calibri" pitchFamily="34" charset="-120"/>
              </a:rPr>
              <a:t>COLUMN NAMES</a:t>
            </a:r>
            <a:endParaRPr lang="en-US" sz="1100" dirty="0"/>
          </a:p>
        </p:txBody>
      </p:sp>
      <p:sp>
        <p:nvSpPr>
          <p:cNvPr id="26" name="Shape 23"/>
          <p:cNvSpPr/>
          <p:nvPr/>
        </p:nvSpPr>
        <p:spPr>
          <a:xfrm>
            <a:off x="548640" y="4864608"/>
            <a:ext cx="4937760" cy="457200"/>
          </a:xfrm>
          <a:prstGeom prst="roundRect">
            <a:avLst>
              <a:gd name="adj" fmla="val 12000"/>
            </a:avLst>
          </a:prstGeom>
          <a:solidFill>
            <a:srgbClr val="F2F2F2"/>
          </a:solidFill>
          <a:ln w="12700">
            <a:solidFill>
              <a:srgbClr val="D3D5DB"/>
            </a:solidFill>
            <a:prstDash val="solid"/>
          </a:ln>
        </p:spPr>
      </p:sp>
      <p:sp>
        <p:nvSpPr>
          <p:cNvPr id="27" name="Text 24"/>
          <p:cNvSpPr/>
          <p:nvPr/>
        </p:nvSpPr>
        <p:spPr>
          <a:xfrm>
            <a:off x="685800" y="4864608"/>
            <a:ext cx="4663440" cy="457200"/>
          </a:xfrm>
          <a:prstGeom prst="rect">
            <a:avLst/>
          </a:prstGeom>
          <a:noFill/>
          <a:ln/>
        </p:spPr>
        <p:txBody>
          <a:bodyPr wrap="square" lIns="0" tIns="0" rIns="0" bIns="0" rtlCol="0" anchor="ctr"/>
          <a:lstStyle/>
          <a:p>
            <a:pPr indent="0" marL="0">
              <a:buNone/>
            </a:pPr>
            <a:r>
              <a:rPr lang="en-US" sz="1250" i="1" dirty="0">
                <a:solidFill>
                  <a:srgbClr val="2F3136"/>
                </a:solidFill>
                <a:latin typeface="Calibri" pitchFamily="34" charset="0"/>
                <a:ea typeface="Calibri" pitchFamily="34" charset="-122"/>
                <a:cs typeface="Calibri" pitchFamily="34" charset="-120"/>
              </a:rPr>
              <a:t>“Acceptatio” + “n”  (header split on 2 lines, STAR 2025)</a:t>
            </a:r>
            <a:endParaRPr lang="en-US" sz="1250" dirty="0"/>
          </a:p>
        </p:txBody>
      </p:sp>
      <p:sp>
        <p:nvSpPr>
          <p:cNvPr id="28" name="Shape 25"/>
          <p:cNvSpPr/>
          <p:nvPr/>
        </p:nvSpPr>
        <p:spPr>
          <a:xfrm>
            <a:off x="5532120" y="5093208"/>
            <a:ext cx="640080" cy="0"/>
          </a:xfrm>
          <a:prstGeom prst="line">
            <a:avLst/>
          </a:prstGeom>
          <a:noFill/>
          <a:ln w="22225">
            <a:solidFill>
              <a:srgbClr val="9A9CA5"/>
            </a:solidFill>
            <a:prstDash val="solid"/>
            <a:tailEnd type="triangle"/>
          </a:ln>
        </p:spPr>
      </p:sp>
      <p:sp>
        <p:nvSpPr>
          <p:cNvPr id="29" name="Shape 26"/>
          <p:cNvSpPr/>
          <p:nvPr/>
        </p:nvSpPr>
        <p:spPr>
          <a:xfrm>
            <a:off x="6217920" y="4864608"/>
            <a:ext cx="5422392" cy="457200"/>
          </a:xfrm>
          <a:prstGeom prst="roundRect">
            <a:avLst>
              <a:gd name="adj" fmla="val 12000"/>
            </a:avLst>
          </a:prstGeom>
          <a:solidFill>
            <a:srgbClr val="FFE600"/>
          </a:solidFill>
          <a:ln/>
        </p:spPr>
      </p:sp>
      <p:sp>
        <p:nvSpPr>
          <p:cNvPr id="30" name="Text 27"/>
          <p:cNvSpPr/>
          <p:nvPr/>
        </p:nvSpPr>
        <p:spPr>
          <a:xfrm>
            <a:off x="6355080" y="4864608"/>
            <a:ext cx="5166360" cy="457200"/>
          </a:xfrm>
          <a:prstGeom prst="rect">
            <a:avLst/>
          </a:prstGeom>
          <a:noFill/>
          <a:ln/>
        </p:spPr>
        <p:txBody>
          <a:bodyPr wrap="square" lIns="0" tIns="0" rIns="0" bIns="0" rtlCol="0" anchor="ctr"/>
          <a:lstStyle/>
          <a:p>
            <a:pPr indent="0" marL="0">
              <a:buNone/>
            </a:pPr>
            <a:r>
              <a:rPr lang="en-US" sz="1250" b="1" dirty="0">
                <a:solidFill>
                  <a:srgbClr val="3A3A3A"/>
                </a:solidFill>
                <a:latin typeface="Calibri" pitchFamily="34" charset="0"/>
                <a:ea typeface="Calibri" pitchFamily="34" charset="-122"/>
                <a:cs typeface="Calibri" pitchFamily="34" charset="-120"/>
              </a:rPr>
              <a:t>Acceptation   ·   columns: Vie · Décès · Mixte · Acceptation · Total</a:t>
            </a:r>
            <a:endParaRPr lang="en-US" sz="1250" dirty="0"/>
          </a:p>
        </p:txBody>
      </p:sp>
      <p:sp>
        <p:nvSpPr>
          <p:cNvPr id="31" name="Shape 28"/>
          <p:cNvSpPr/>
          <p:nvPr/>
        </p:nvSpPr>
        <p:spPr>
          <a:xfrm>
            <a:off x="548640" y="5577840"/>
            <a:ext cx="11091672" cy="868680"/>
          </a:xfrm>
          <a:prstGeom prst="roundRect">
            <a:avLst>
              <a:gd name="adj" fmla="val 8421"/>
            </a:avLst>
          </a:prstGeom>
          <a:solidFill>
            <a:srgbClr val="484B54"/>
          </a:solidFill>
          <a:ln/>
        </p:spPr>
      </p:sp>
      <p:sp>
        <p:nvSpPr>
          <p:cNvPr id="32" name="Text 29"/>
          <p:cNvSpPr/>
          <p:nvPr/>
        </p:nvSpPr>
        <p:spPr>
          <a:xfrm>
            <a:off x="777240" y="5632704"/>
            <a:ext cx="1828800" cy="256032"/>
          </a:xfrm>
          <a:prstGeom prst="rect">
            <a:avLst/>
          </a:prstGeom>
          <a:noFill/>
          <a:ln/>
        </p:spPr>
        <p:txBody>
          <a:bodyPr wrap="square" lIns="0" tIns="0" rIns="0" bIns="0" rtlCol="0" anchor="ctr"/>
          <a:lstStyle/>
          <a:p>
            <a:pPr indent="0" marL="0">
              <a:buNone/>
            </a:pPr>
            <a:r>
              <a:rPr lang="en-US" sz="1100" b="1" spc="160" kern="0" dirty="0">
                <a:solidFill>
                  <a:srgbClr val="FFE600"/>
                </a:solidFill>
                <a:latin typeface="Calibri" pitchFamily="34" charset="0"/>
                <a:ea typeface="Calibri" pitchFamily="34" charset="-122"/>
                <a:cs typeface="Calibri" pitchFamily="34" charset="-120"/>
              </a:rPr>
              <a:t>METHOD</a:t>
            </a:r>
            <a:endParaRPr lang="en-US" sz="1100" dirty="0"/>
          </a:p>
        </p:txBody>
      </p:sp>
      <p:sp>
        <p:nvSpPr>
          <p:cNvPr id="33" name="Text 30"/>
          <p:cNvSpPr/>
          <p:nvPr/>
        </p:nvSpPr>
        <p:spPr>
          <a:xfrm>
            <a:off x="777240" y="5888736"/>
            <a:ext cx="10607040" cy="512064"/>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 canonical list of names per table + fuzzy matching (Python difflib). Every company and every year ends up with the same names, so figures can be compared.</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C. Normalisation &amp; cleaning</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Normalisation · Values  -</a:t>
            </a:r>
            <a:endParaRPr lang="en-US" sz="2200" dirty="0"/>
          </a:p>
        </p:txBody>
      </p:sp>
      <p:sp>
        <p:nvSpPr>
          <p:cNvPr id="7" name="Text 4"/>
          <p:cNvSpPr/>
          <p:nvPr/>
        </p:nvSpPr>
        <p:spPr>
          <a:xfrm>
            <a:off x="548640" y="2121408"/>
            <a:ext cx="329184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IN THE PDF (TEXT)</a:t>
            </a:r>
            <a:endParaRPr lang="en-US" sz="1100" dirty="0"/>
          </a:p>
        </p:txBody>
      </p:sp>
      <p:sp>
        <p:nvSpPr>
          <p:cNvPr id="8" name="Text 5"/>
          <p:cNvSpPr/>
          <p:nvPr/>
        </p:nvSpPr>
        <p:spPr>
          <a:xfrm>
            <a:off x="4114800" y="2121408"/>
            <a:ext cx="329184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IN THE PLATFORM (NUMBER)</a:t>
            </a:r>
            <a:endParaRPr lang="en-US" sz="1100" dirty="0"/>
          </a:p>
        </p:txBody>
      </p:sp>
      <p:sp>
        <p:nvSpPr>
          <p:cNvPr id="9" name="Text 6"/>
          <p:cNvSpPr/>
          <p:nvPr/>
        </p:nvSpPr>
        <p:spPr>
          <a:xfrm>
            <a:off x="7863840" y="2121408"/>
            <a:ext cx="274320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RULE</a:t>
            </a:r>
            <a:endParaRPr lang="en-US" sz="1100" dirty="0"/>
          </a:p>
        </p:txBody>
      </p:sp>
      <p:sp>
        <p:nvSpPr>
          <p:cNvPr id="10" name="Shape 7"/>
          <p:cNvSpPr/>
          <p:nvPr/>
        </p:nvSpPr>
        <p:spPr>
          <a:xfrm>
            <a:off x="548640" y="2450592"/>
            <a:ext cx="3291840" cy="530352"/>
          </a:xfrm>
          <a:prstGeom prst="roundRect">
            <a:avLst>
              <a:gd name="adj" fmla="val 10345"/>
            </a:avLst>
          </a:prstGeom>
          <a:solidFill>
            <a:srgbClr val="F2F2F2"/>
          </a:solidFill>
          <a:ln w="12700">
            <a:solidFill>
              <a:srgbClr val="D3D5DB"/>
            </a:solidFill>
            <a:prstDash val="solid"/>
          </a:ln>
        </p:spPr>
      </p:sp>
      <p:sp>
        <p:nvSpPr>
          <p:cNvPr id="11" name="Text 8"/>
          <p:cNvSpPr/>
          <p:nvPr/>
        </p:nvSpPr>
        <p:spPr>
          <a:xfrm>
            <a:off x="685800" y="2450592"/>
            <a:ext cx="3017520" cy="530352"/>
          </a:xfrm>
          <a:prstGeom prst="rect">
            <a:avLst/>
          </a:prstGeom>
          <a:noFill/>
          <a:ln/>
        </p:spPr>
        <p:txBody>
          <a:bodyPr wrap="square" lIns="0" tIns="0" rIns="0" bIns="0" rtlCol="0" anchor="ctr"/>
          <a:lstStyle/>
          <a:p>
            <a:pPr indent="0" marL="0">
              <a:buNone/>
            </a:pPr>
            <a:r>
              <a:rPr lang="en-US" sz="1350" dirty="0">
                <a:solidFill>
                  <a:srgbClr val="2F3136"/>
                </a:solidFill>
                <a:latin typeface="Consolas" pitchFamily="34" charset="0"/>
                <a:ea typeface="Consolas" pitchFamily="34" charset="-122"/>
                <a:cs typeface="Consolas" pitchFamily="34" charset="-120"/>
              </a:rPr>
              <a:t>-8 787 121</a:t>
            </a:r>
            <a:endParaRPr lang="en-US" sz="1350" dirty="0"/>
          </a:p>
        </p:txBody>
      </p:sp>
      <p:sp>
        <p:nvSpPr>
          <p:cNvPr id="12" name="Shape 9"/>
          <p:cNvSpPr/>
          <p:nvPr/>
        </p:nvSpPr>
        <p:spPr>
          <a:xfrm>
            <a:off x="3886200" y="2715768"/>
            <a:ext cx="182880" cy="0"/>
          </a:xfrm>
          <a:prstGeom prst="line">
            <a:avLst/>
          </a:prstGeom>
          <a:noFill/>
          <a:ln w="22225">
            <a:solidFill>
              <a:srgbClr val="9A9CA5"/>
            </a:solidFill>
            <a:prstDash val="solid"/>
            <a:tailEnd type="triangle"/>
          </a:ln>
        </p:spPr>
      </p:sp>
      <p:sp>
        <p:nvSpPr>
          <p:cNvPr id="13" name="Shape 10"/>
          <p:cNvSpPr/>
          <p:nvPr/>
        </p:nvSpPr>
        <p:spPr>
          <a:xfrm>
            <a:off x="4114800" y="2450592"/>
            <a:ext cx="3291840" cy="530352"/>
          </a:xfrm>
          <a:prstGeom prst="roundRect">
            <a:avLst>
              <a:gd name="adj" fmla="val 10345"/>
            </a:avLst>
          </a:prstGeom>
          <a:solidFill>
            <a:srgbClr val="FFE600"/>
          </a:solidFill>
          <a:ln/>
        </p:spPr>
      </p:sp>
      <p:sp>
        <p:nvSpPr>
          <p:cNvPr id="14" name="Text 11"/>
          <p:cNvSpPr/>
          <p:nvPr/>
        </p:nvSpPr>
        <p:spPr>
          <a:xfrm>
            <a:off x="4251960" y="2450592"/>
            <a:ext cx="3017520" cy="530352"/>
          </a:xfrm>
          <a:prstGeom prst="rect">
            <a:avLst/>
          </a:prstGeom>
          <a:noFill/>
          <a:ln/>
        </p:spPr>
        <p:txBody>
          <a:bodyPr wrap="square" lIns="0" tIns="0" rIns="0" bIns="0" rtlCol="0" anchor="ctr"/>
          <a:lstStyle/>
          <a:p>
            <a:pPr indent="0" marL="0">
              <a:buNone/>
            </a:pPr>
            <a:r>
              <a:rPr lang="en-US" sz="1350" b="1" dirty="0">
                <a:solidFill>
                  <a:srgbClr val="3A3A3A"/>
                </a:solidFill>
                <a:latin typeface="Consolas" pitchFamily="34" charset="0"/>
                <a:ea typeface="Consolas" pitchFamily="34" charset="-122"/>
                <a:cs typeface="Consolas" pitchFamily="34" charset="-120"/>
              </a:rPr>
              <a:t>-8 787 121</a:t>
            </a:r>
            <a:endParaRPr lang="en-US" sz="1350" dirty="0"/>
          </a:p>
        </p:txBody>
      </p:sp>
      <p:sp>
        <p:nvSpPr>
          <p:cNvPr id="15" name="Text 12"/>
          <p:cNvSpPr/>
          <p:nvPr/>
        </p:nvSpPr>
        <p:spPr>
          <a:xfrm>
            <a:off x="7863840" y="2450592"/>
            <a:ext cx="3776472" cy="530352"/>
          </a:xfrm>
          <a:prstGeom prst="rect">
            <a:avLst/>
          </a:prstGeom>
          <a:noFill/>
          <a:ln/>
        </p:spPr>
        <p:txBody>
          <a:bodyPr wrap="square" lIns="0" tIns="0" rIns="0" bIns="0" rtlCol="0" anchor="ctr"/>
          <a:lstStyle/>
          <a:p>
            <a:pPr indent="0" marL="0">
              <a:buNone/>
            </a:pPr>
            <a:r>
              <a:rPr lang="en-US" sz="1200" dirty="0">
                <a:solidFill>
                  <a:srgbClr val="2F3136"/>
                </a:solidFill>
                <a:latin typeface="Calibri" pitchFamily="34" charset="0"/>
                <a:ea typeface="Calibri" pitchFamily="34" charset="-122"/>
                <a:cs typeface="Calibri" pitchFamily="34" charset="-120"/>
              </a:rPr>
              <a:t>Spaces between thousands are removed (including non-breaking spaces)</a:t>
            </a:r>
            <a:endParaRPr lang="en-US" sz="1200" dirty="0"/>
          </a:p>
        </p:txBody>
      </p:sp>
      <p:sp>
        <p:nvSpPr>
          <p:cNvPr id="16" name="Shape 13"/>
          <p:cNvSpPr/>
          <p:nvPr/>
        </p:nvSpPr>
        <p:spPr>
          <a:xfrm>
            <a:off x="548640" y="3090672"/>
            <a:ext cx="3291840" cy="530352"/>
          </a:xfrm>
          <a:prstGeom prst="roundRect">
            <a:avLst>
              <a:gd name="adj" fmla="val 10345"/>
            </a:avLst>
          </a:prstGeom>
          <a:solidFill>
            <a:srgbClr val="F2F2F2"/>
          </a:solidFill>
          <a:ln w="12700">
            <a:solidFill>
              <a:srgbClr val="D3D5DB"/>
            </a:solidFill>
            <a:prstDash val="solid"/>
          </a:ln>
        </p:spPr>
      </p:sp>
      <p:sp>
        <p:nvSpPr>
          <p:cNvPr id="17" name="Text 14"/>
          <p:cNvSpPr/>
          <p:nvPr/>
        </p:nvSpPr>
        <p:spPr>
          <a:xfrm>
            <a:off x="685800" y="3090672"/>
            <a:ext cx="3017520" cy="530352"/>
          </a:xfrm>
          <a:prstGeom prst="rect">
            <a:avLst/>
          </a:prstGeom>
          <a:noFill/>
          <a:ln/>
        </p:spPr>
        <p:txBody>
          <a:bodyPr wrap="square" lIns="0" tIns="0" rIns="0" bIns="0" rtlCol="0" anchor="ctr"/>
          <a:lstStyle/>
          <a:p>
            <a:pPr indent="0" marL="0">
              <a:buNone/>
            </a:pPr>
            <a:r>
              <a:rPr lang="en-US" sz="1350" dirty="0">
                <a:solidFill>
                  <a:srgbClr val="2F3136"/>
                </a:solidFill>
                <a:latin typeface="Consolas" pitchFamily="34" charset="0"/>
                <a:ea typeface="Consolas" pitchFamily="34" charset="-122"/>
                <a:cs typeface="Consolas" pitchFamily="34" charset="-120"/>
              </a:rPr>
              <a:t>(12 345)</a:t>
            </a:r>
            <a:endParaRPr lang="en-US" sz="1350" dirty="0"/>
          </a:p>
        </p:txBody>
      </p:sp>
      <p:sp>
        <p:nvSpPr>
          <p:cNvPr id="18" name="Shape 15"/>
          <p:cNvSpPr/>
          <p:nvPr/>
        </p:nvSpPr>
        <p:spPr>
          <a:xfrm>
            <a:off x="3886200" y="3355848"/>
            <a:ext cx="182880" cy="0"/>
          </a:xfrm>
          <a:prstGeom prst="line">
            <a:avLst/>
          </a:prstGeom>
          <a:noFill/>
          <a:ln w="22225">
            <a:solidFill>
              <a:srgbClr val="9A9CA5"/>
            </a:solidFill>
            <a:prstDash val="solid"/>
            <a:tailEnd type="triangle"/>
          </a:ln>
        </p:spPr>
      </p:sp>
      <p:sp>
        <p:nvSpPr>
          <p:cNvPr id="19" name="Shape 16"/>
          <p:cNvSpPr/>
          <p:nvPr/>
        </p:nvSpPr>
        <p:spPr>
          <a:xfrm>
            <a:off x="4114800" y="3090672"/>
            <a:ext cx="3291840" cy="530352"/>
          </a:xfrm>
          <a:prstGeom prst="roundRect">
            <a:avLst>
              <a:gd name="adj" fmla="val 10345"/>
            </a:avLst>
          </a:prstGeom>
          <a:solidFill>
            <a:srgbClr val="FFE600"/>
          </a:solidFill>
          <a:ln/>
        </p:spPr>
      </p:sp>
      <p:sp>
        <p:nvSpPr>
          <p:cNvPr id="20" name="Text 17"/>
          <p:cNvSpPr/>
          <p:nvPr/>
        </p:nvSpPr>
        <p:spPr>
          <a:xfrm>
            <a:off x="4251960" y="3090672"/>
            <a:ext cx="3017520" cy="530352"/>
          </a:xfrm>
          <a:prstGeom prst="rect">
            <a:avLst/>
          </a:prstGeom>
          <a:noFill/>
          <a:ln/>
        </p:spPr>
        <p:txBody>
          <a:bodyPr wrap="square" lIns="0" tIns="0" rIns="0" bIns="0" rtlCol="0" anchor="ctr"/>
          <a:lstStyle/>
          <a:p>
            <a:pPr indent="0" marL="0">
              <a:buNone/>
            </a:pPr>
            <a:r>
              <a:rPr lang="en-US" sz="1350" b="1" dirty="0">
                <a:solidFill>
                  <a:srgbClr val="3A3A3A"/>
                </a:solidFill>
                <a:latin typeface="Consolas" pitchFamily="34" charset="0"/>
                <a:ea typeface="Consolas" pitchFamily="34" charset="-122"/>
                <a:cs typeface="Consolas" pitchFamily="34" charset="-120"/>
              </a:rPr>
              <a:t>-12 345</a:t>
            </a:r>
            <a:endParaRPr lang="en-US" sz="1350" dirty="0"/>
          </a:p>
        </p:txBody>
      </p:sp>
      <p:sp>
        <p:nvSpPr>
          <p:cNvPr id="21" name="Text 18"/>
          <p:cNvSpPr/>
          <p:nvPr/>
        </p:nvSpPr>
        <p:spPr>
          <a:xfrm>
            <a:off x="7863840" y="3090672"/>
            <a:ext cx="3776472" cy="530352"/>
          </a:xfrm>
          <a:prstGeom prst="rect">
            <a:avLst/>
          </a:prstGeom>
          <a:noFill/>
          <a:ln/>
        </p:spPr>
        <p:txBody>
          <a:bodyPr wrap="square" lIns="0" tIns="0" rIns="0" bIns="0" rtlCol="0" anchor="ctr"/>
          <a:lstStyle/>
          <a:p>
            <a:pPr indent="0" marL="0">
              <a:buNone/>
            </a:pPr>
            <a:r>
              <a:rPr lang="en-US" sz="1200" dirty="0">
                <a:solidFill>
                  <a:srgbClr val="2F3136"/>
                </a:solidFill>
                <a:latin typeface="Calibri" pitchFamily="34" charset="0"/>
                <a:ea typeface="Calibri" pitchFamily="34" charset="-122"/>
                <a:cs typeface="Calibri" pitchFamily="34" charset="-120"/>
              </a:rPr>
              <a:t>Brackets mean a negative amount (accounting notation)</a:t>
            </a:r>
            <a:endParaRPr lang="en-US" sz="1200" dirty="0"/>
          </a:p>
        </p:txBody>
      </p:sp>
      <p:sp>
        <p:nvSpPr>
          <p:cNvPr id="22" name="Shape 19"/>
          <p:cNvSpPr/>
          <p:nvPr/>
        </p:nvSpPr>
        <p:spPr>
          <a:xfrm>
            <a:off x="548640" y="3730752"/>
            <a:ext cx="3291840" cy="530352"/>
          </a:xfrm>
          <a:prstGeom prst="roundRect">
            <a:avLst>
              <a:gd name="adj" fmla="val 10345"/>
            </a:avLst>
          </a:prstGeom>
          <a:solidFill>
            <a:srgbClr val="F2F2F2"/>
          </a:solidFill>
          <a:ln w="12700">
            <a:solidFill>
              <a:srgbClr val="D3D5DB"/>
            </a:solidFill>
            <a:prstDash val="solid"/>
          </a:ln>
        </p:spPr>
      </p:sp>
      <p:sp>
        <p:nvSpPr>
          <p:cNvPr id="23" name="Text 20"/>
          <p:cNvSpPr/>
          <p:nvPr/>
        </p:nvSpPr>
        <p:spPr>
          <a:xfrm>
            <a:off x="685800" y="3730752"/>
            <a:ext cx="3017520" cy="530352"/>
          </a:xfrm>
          <a:prstGeom prst="rect">
            <a:avLst/>
          </a:prstGeom>
          <a:noFill/>
          <a:ln/>
        </p:spPr>
        <p:txBody>
          <a:bodyPr wrap="square" lIns="0" tIns="0" rIns="0" bIns="0" rtlCol="0" anchor="ctr"/>
          <a:lstStyle/>
          <a:p>
            <a:pPr indent="0" marL="0">
              <a:buNone/>
            </a:pPr>
            <a:r>
              <a:rPr lang="en-US" sz="1350" dirty="0">
                <a:solidFill>
                  <a:srgbClr val="2F3136"/>
                </a:solidFill>
                <a:latin typeface="Consolas" pitchFamily="34" charset="0"/>
                <a:ea typeface="Consolas" pitchFamily="34" charset="-122"/>
                <a:cs typeface="Consolas" pitchFamily="34" charset="-120"/>
              </a:rPr>
              <a:t>−   –   —</a:t>
            </a:r>
            <a:endParaRPr lang="en-US" sz="1350" dirty="0"/>
          </a:p>
        </p:txBody>
      </p:sp>
      <p:sp>
        <p:nvSpPr>
          <p:cNvPr id="24" name="Shape 21"/>
          <p:cNvSpPr/>
          <p:nvPr/>
        </p:nvSpPr>
        <p:spPr>
          <a:xfrm>
            <a:off x="3886200" y="3995928"/>
            <a:ext cx="182880" cy="0"/>
          </a:xfrm>
          <a:prstGeom prst="line">
            <a:avLst/>
          </a:prstGeom>
          <a:noFill/>
          <a:ln w="22225">
            <a:solidFill>
              <a:srgbClr val="9A9CA5"/>
            </a:solidFill>
            <a:prstDash val="solid"/>
            <a:tailEnd type="triangle"/>
          </a:ln>
        </p:spPr>
      </p:sp>
      <p:sp>
        <p:nvSpPr>
          <p:cNvPr id="25" name="Shape 22"/>
          <p:cNvSpPr/>
          <p:nvPr/>
        </p:nvSpPr>
        <p:spPr>
          <a:xfrm>
            <a:off x="4114800" y="3730752"/>
            <a:ext cx="3291840" cy="530352"/>
          </a:xfrm>
          <a:prstGeom prst="roundRect">
            <a:avLst>
              <a:gd name="adj" fmla="val 10345"/>
            </a:avLst>
          </a:prstGeom>
          <a:solidFill>
            <a:srgbClr val="FFE600"/>
          </a:solidFill>
          <a:ln/>
        </p:spPr>
      </p:sp>
      <p:sp>
        <p:nvSpPr>
          <p:cNvPr id="26" name="Text 23"/>
          <p:cNvSpPr/>
          <p:nvPr/>
        </p:nvSpPr>
        <p:spPr>
          <a:xfrm>
            <a:off x="4251960" y="3730752"/>
            <a:ext cx="3017520" cy="530352"/>
          </a:xfrm>
          <a:prstGeom prst="rect">
            <a:avLst/>
          </a:prstGeom>
          <a:noFill/>
          <a:ln/>
        </p:spPr>
        <p:txBody>
          <a:bodyPr wrap="square" lIns="0" tIns="0" rIns="0" bIns="0" rtlCol="0" anchor="ctr"/>
          <a:lstStyle/>
          <a:p>
            <a:pPr indent="0" marL="0">
              <a:buNone/>
            </a:pPr>
            <a:r>
              <a:rPr lang="en-US" sz="1350" b="1" dirty="0">
                <a:solidFill>
                  <a:srgbClr val="3A3A3A"/>
                </a:solidFill>
                <a:latin typeface="Consolas" pitchFamily="34" charset="0"/>
                <a:ea typeface="Consolas" pitchFamily="34" charset="-122"/>
                <a:cs typeface="Consolas" pitchFamily="34" charset="-120"/>
              </a:rPr>
              <a:t>-</a:t>
            </a:r>
            <a:endParaRPr lang="en-US" sz="1350" dirty="0"/>
          </a:p>
        </p:txBody>
      </p:sp>
      <p:sp>
        <p:nvSpPr>
          <p:cNvPr id="27" name="Text 24"/>
          <p:cNvSpPr/>
          <p:nvPr/>
        </p:nvSpPr>
        <p:spPr>
          <a:xfrm>
            <a:off x="7863840" y="3730752"/>
            <a:ext cx="3776472" cy="530352"/>
          </a:xfrm>
          <a:prstGeom prst="rect">
            <a:avLst/>
          </a:prstGeom>
          <a:noFill/>
          <a:ln/>
        </p:spPr>
        <p:txBody>
          <a:bodyPr wrap="square" lIns="0" tIns="0" rIns="0" bIns="0" rtlCol="0" anchor="ctr"/>
          <a:lstStyle/>
          <a:p>
            <a:pPr indent="0" marL="0">
              <a:buNone/>
            </a:pPr>
            <a:r>
              <a:rPr lang="en-US" sz="1200" dirty="0">
                <a:solidFill>
                  <a:srgbClr val="2F3136"/>
                </a:solidFill>
                <a:latin typeface="Calibri" pitchFamily="34" charset="0"/>
                <a:ea typeface="Calibri" pitchFamily="34" charset="-122"/>
                <a:cs typeface="Calibri" pitchFamily="34" charset="-120"/>
              </a:rPr>
              <a:t>All minus-sign variants become the same sign</a:t>
            </a:r>
            <a:endParaRPr lang="en-US" sz="1200" dirty="0"/>
          </a:p>
        </p:txBody>
      </p:sp>
      <p:sp>
        <p:nvSpPr>
          <p:cNvPr id="28" name="Shape 25"/>
          <p:cNvSpPr/>
          <p:nvPr/>
        </p:nvSpPr>
        <p:spPr>
          <a:xfrm>
            <a:off x="548640" y="4370832"/>
            <a:ext cx="3291840" cy="530352"/>
          </a:xfrm>
          <a:prstGeom prst="roundRect">
            <a:avLst>
              <a:gd name="adj" fmla="val 10345"/>
            </a:avLst>
          </a:prstGeom>
          <a:solidFill>
            <a:srgbClr val="F2F2F2"/>
          </a:solidFill>
          <a:ln w="12700">
            <a:solidFill>
              <a:srgbClr val="D3D5DB"/>
            </a:solidFill>
            <a:prstDash val="solid"/>
          </a:ln>
        </p:spPr>
      </p:sp>
      <p:sp>
        <p:nvSpPr>
          <p:cNvPr id="29" name="Text 26"/>
          <p:cNvSpPr/>
          <p:nvPr/>
        </p:nvSpPr>
        <p:spPr>
          <a:xfrm>
            <a:off x="685800" y="4370832"/>
            <a:ext cx="3017520" cy="530352"/>
          </a:xfrm>
          <a:prstGeom prst="rect">
            <a:avLst/>
          </a:prstGeom>
          <a:noFill/>
          <a:ln/>
        </p:spPr>
        <p:txBody>
          <a:bodyPr wrap="square" lIns="0" tIns="0" rIns="0" bIns="0" rtlCol="0" anchor="ctr"/>
          <a:lstStyle/>
          <a:p>
            <a:pPr indent="0" marL="0">
              <a:buNone/>
            </a:pPr>
            <a:r>
              <a:rPr lang="en-US" sz="1350" dirty="0">
                <a:solidFill>
                  <a:srgbClr val="2F3136"/>
                </a:solidFill>
                <a:latin typeface="Consolas" pitchFamily="34" charset="0"/>
                <a:ea typeface="Consolas" pitchFamily="34" charset="-122"/>
                <a:cs typeface="Consolas" pitchFamily="34" charset="-120"/>
              </a:rPr>
              <a:t>-  (alone)</a:t>
            </a:r>
            <a:endParaRPr lang="en-US" sz="1350" dirty="0"/>
          </a:p>
        </p:txBody>
      </p:sp>
      <p:sp>
        <p:nvSpPr>
          <p:cNvPr id="30" name="Shape 27"/>
          <p:cNvSpPr/>
          <p:nvPr/>
        </p:nvSpPr>
        <p:spPr>
          <a:xfrm>
            <a:off x="3886200" y="4636008"/>
            <a:ext cx="182880" cy="0"/>
          </a:xfrm>
          <a:prstGeom prst="line">
            <a:avLst/>
          </a:prstGeom>
          <a:noFill/>
          <a:ln w="22225">
            <a:solidFill>
              <a:srgbClr val="9A9CA5"/>
            </a:solidFill>
            <a:prstDash val="solid"/>
            <a:tailEnd type="triangle"/>
          </a:ln>
        </p:spPr>
      </p:sp>
      <p:sp>
        <p:nvSpPr>
          <p:cNvPr id="31" name="Shape 28"/>
          <p:cNvSpPr/>
          <p:nvPr/>
        </p:nvSpPr>
        <p:spPr>
          <a:xfrm>
            <a:off x="4114800" y="4370832"/>
            <a:ext cx="3291840" cy="530352"/>
          </a:xfrm>
          <a:prstGeom prst="roundRect">
            <a:avLst>
              <a:gd name="adj" fmla="val 10345"/>
            </a:avLst>
          </a:prstGeom>
          <a:solidFill>
            <a:srgbClr val="FFE600"/>
          </a:solidFill>
          <a:ln/>
        </p:spPr>
      </p:sp>
      <p:sp>
        <p:nvSpPr>
          <p:cNvPr id="32" name="Text 29"/>
          <p:cNvSpPr/>
          <p:nvPr/>
        </p:nvSpPr>
        <p:spPr>
          <a:xfrm>
            <a:off x="4251960" y="4370832"/>
            <a:ext cx="3017520" cy="530352"/>
          </a:xfrm>
          <a:prstGeom prst="rect">
            <a:avLst/>
          </a:prstGeom>
          <a:noFill/>
          <a:ln/>
        </p:spPr>
        <p:txBody>
          <a:bodyPr wrap="square" lIns="0" tIns="0" rIns="0" bIns="0" rtlCol="0" anchor="ctr"/>
          <a:lstStyle/>
          <a:p>
            <a:pPr indent="0" marL="0">
              <a:buNone/>
            </a:pPr>
            <a:r>
              <a:rPr lang="en-US" sz="1350" b="1" dirty="0">
                <a:solidFill>
                  <a:srgbClr val="3A3A3A"/>
                </a:solidFill>
                <a:latin typeface="Consolas" pitchFamily="34" charset="0"/>
                <a:ea typeface="Consolas" pitchFamily="34" charset="-122"/>
                <a:cs typeface="Consolas" pitchFamily="34" charset="-120"/>
              </a:rPr>
              <a:t>empty</a:t>
            </a:r>
            <a:endParaRPr lang="en-US" sz="1350" dirty="0"/>
          </a:p>
        </p:txBody>
      </p:sp>
      <p:sp>
        <p:nvSpPr>
          <p:cNvPr id="33" name="Text 30"/>
          <p:cNvSpPr/>
          <p:nvPr/>
        </p:nvSpPr>
        <p:spPr>
          <a:xfrm>
            <a:off x="7863840" y="4370832"/>
            <a:ext cx="3776472" cy="530352"/>
          </a:xfrm>
          <a:prstGeom prst="rect">
            <a:avLst/>
          </a:prstGeom>
          <a:noFill/>
          <a:ln/>
        </p:spPr>
        <p:txBody>
          <a:bodyPr wrap="square" lIns="0" tIns="0" rIns="0" bIns="0" rtlCol="0" anchor="ctr"/>
          <a:lstStyle/>
          <a:p>
            <a:pPr indent="0" marL="0">
              <a:buNone/>
            </a:pPr>
            <a:r>
              <a:rPr lang="en-US" sz="1200" dirty="0">
                <a:solidFill>
                  <a:srgbClr val="2F3136"/>
                </a:solidFill>
                <a:latin typeface="Calibri" pitchFamily="34" charset="0"/>
                <a:ea typeface="Calibri" pitchFamily="34" charset="-122"/>
                <a:cs typeface="Calibri" pitchFamily="34" charset="-120"/>
              </a:rPr>
              <a:t>A lone dash means “nothing”, not a value</a:t>
            </a:r>
            <a:endParaRPr lang="en-US" sz="1200" dirty="0"/>
          </a:p>
        </p:txBody>
      </p:sp>
      <p:sp>
        <p:nvSpPr>
          <p:cNvPr id="34" name="Shape 31"/>
          <p:cNvSpPr/>
          <p:nvPr/>
        </p:nvSpPr>
        <p:spPr>
          <a:xfrm>
            <a:off x="548640" y="5010912"/>
            <a:ext cx="3291840" cy="530352"/>
          </a:xfrm>
          <a:prstGeom prst="roundRect">
            <a:avLst>
              <a:gd name="adj" fmla="val 10345"/>
            </a:avLst>
          </a:prstGeom>
          <a:solidFill>
            <a:srgbClr val="F2F2F2"/>
          </a:solidFill>
          <a:ln w="12700">
            <a:solidFill>
              <a:srgbClr val="D3D5DB"/>
            </a:solidFill>
            <a:prstDash val="solid"/>
          </a:ln>
        </p:spPr>
      </p:sp>
      <p:sp>
        <p:nvSpPr>
          <p:cNvPr id="35" name="Text 32"/>
          <p:cNvSpPr/>
          <p:nvPr/>
        </p:nvSpPr>
        <p:spPr>
          <a:xfrm>
            <a:off x="685800" y="5010912"/>
            <a:ext cx="3017520" cy="530352"/>
          </a:xfrm>
          <a:prstGeom prst="rect">
            <a:avLst/>
          </a:prstGeom>
          <a:noFill/>
          <a:ln/>
        </p:spPr>
        <p:txBody>
          <a:bodyPr wrap="square" lIns="0" tIns="0" rIns="0" bIns="0" rtlCol="0" anchor="ctr"/>
          <a:lstStyle/>
          <a:p>
            <a:pPr indent="0" marL="0">
              <a:buNone/>
            </a:pPr>
            <a:r>
              <a:rPr lang="en-US" sz="1350" dirty="0">
                <a:solidFill>
                  <a:srgbClr val="2F3136"/>
                </a:solidFill>
                <a:latin typeface="Consolas" pitchFamily="34" charset="0"/>
                <a:ea typeface="Consolas" pitchFamily="34" charset="-122"/>
                <a:cs typeface="Consolas" pitchFamily="34" charset="-120"/>
              </a:rPr>
              <a:t>13,531,056.575</a:t>
            </a:r>
            <a:endParaRPr lang="en-US" sz="1350" dirty="0"/>
          </a:p>
        </p:txBody>
      </p:sp>
      <p:sp>
        <p:nvSpPr>
          <p:cNvPr id="36" name="Shape 33"/>
          <p:cNvSpPr/>
          <p:nvPr/>
        </p:nvSpPr>
        <p:spPr>
          <a:xfrm>
            <a:off x="3886200" y="5276088"/>
            <a:ext cx="182880" cy="0"/>
          </a:xfrm>
          <a:prstGeom prst="line">
            <a:avLst/>
          </a:prstGeom>
          <a:noFill/>
          <a:ln w="22225">
            <a:solidFill>
              <a:srgbClr val="9A9CA5"/>
            </a:solidFill>
            <a:prstDash val="solid"/>
            <a:tailEnd type="triangle"/>
          </a:ln>
        </p:spPr>
      </p:sp>
      <p:sp>
        <p:nvSpPr>
          <p:cNvPr id="37" name="Shape 34"/>
          <p:cNvSpPr/>
          <p:nvPr/>
        </p:nvSpPr>
        <p:spPr>
          <a:xfrm>
            <a:off x="4114800" y="5010912"/>
            <a:ext cx="3291840" cy="530352"/>
          </a:xfrm>
          <a:prstGeom prst="roundRect">
            <a:avLst>
              <a:gd name="adj" fmla="val 10345"/>
            </a:avLst>
          </a:prstGeom>
          <a:solidFill>
            <a:srgbClr val="FFE600"/>
          </a:solidFill>
          <a:ln/>
        </p:spPr>
      </p:sp>
      <p:sp>
        <p:nvSpPr>
          <p:cNvPr id="38" name="Text 35"/>
          <p:cNvSpPr/>
          <p:nvPr/>
        </p:nvSpPr>
        <p:spPr>
          <a:xfrm>
            <a:off x="4251960" y="5010912"/>
            <a:ext cx="3017520" cy="530352"/>
          </a:xfrm>
          <a:prstGeom prst="rect">
            <a:avLst/>
          </a:prstGeom>
          <a:noFill/>
          <a:ln/>
        </p:spPr>
        <p:txBody>
          <a:bodyPr wrap="square" lIns="0" tIns="0" rIns="0" bIns="0" rtlCol="0" anchor="ctr"/>
          <a:lstStyle/>
          <a:p>
            <a:pPr indent="0" marL="0">
              <a:buNone/>
            </a:pPr>
            <a:r>
              <a:rPr lang="en-US" sz="1350" b="1" dirty="0">
                <a:solidFill>
                  <a:srgbClr val="3A3A3A"/>
                </a:solidFill>
                <a:latin typeface="Consolas" pitchFamily="34" charset="0"/>
                <a:ea typeface="Consolas" pitchFamily="34" charset="-122"/>
                <a:cs typeface="Consolas" pitchFamily="34" charset="-120"/>
              </a:rPr>
              <a:t>13 531 056,575</a:t>
            </a:r>
            <a:endParaRPr lang="en-US" sz="1350" dirty="0"/>
          </a:p>
        </p:txBody>
      </p:sp>
      <p:sp>
        <p:nvSpPr>
          <p:cNvPr id="39" name="Text 36"/>
          <p:cNvSpPr/>
          <p:nvPr/>
        </p:nvSpPr>
        <p:spPr>
          <a:xfrm>
            <a:off x="7863840" y="5010912"/>
            <a:ext cx="3776472" cy="530352"/>
          </a:xfrm>
          <a:prstGeom prst="rect">
            <a:avLst/>
          </a:prstGeom>
          <a:noFill/>
          <a:ln/>
        </p:spPr>
        <p:txBody>
          <a:bodyPr wrap="square" lIns="0" tIns="0" rIns="0" bIns="0" rtlCol="0" anchor="ctr"/>
          <a:lstStyle/>
          <a:p>
            <a:pPr indent="0" marL="0">
              <a:buNone/>
            </a:pPr>
            <a:r>
              <a:rPr lang="en-US" sz="1200" dirty="0">
                <a:solidFill>
                  <a:srgbClr val="2F3136"/>
                </a:solidFill>
                <a:latin typeface="Calibri" pitchFamily="34" charset="0"/>
                <a:ea typeface="Calibri" pitchFamily="34" charset="-122"/>
                <a:cs typeface="Calibri" pitchFamily="34" charset="-120"/>
              </a:rPr>
              <a:t>Both number formats are understood (comma or dot)</a:t>
            </a:r>
            <a:endParaRPr lang="en-US" sz="1200" dirty="0"/>
          </a:p>
        </p:txBody>
      </p:sp>
      <p:sp>
        <p:nvSpPr>
          <p:cNvPr id="40" name="Shape 37"/>
          <p:cNvSpPr/>
          <p:nvPr/>
        </p:nvSpPr>
        <p:spPr>
          <a:xfrm>
            <a:off x="548640" y="5715000"/>
            <a:ext cx="11091672" cy="731520"/>
          </a:xfrm>
          <a:prstGeom prst="roundRect">
            <a:avLst>
              <a:gd name="adj" fmla="val 10000"/>
            </a:avLst>
          </a:prstGeom>
          <a:solidFill>
            <a:srgbClr val="484B54"/>
          </a:solidFill>
          <a:ln/>
        </p:spPr>
      </p:sp>
      <p:sp>
        <p:nvSpPr>
          <p:cNvPr id="41" name="Text 38"/>
          <p:cNvSpPr/>
          <p:nvPr/>
        </p:nvSpPr>
        <p:spPr>
          <a:xfrm>
            <a:off x="777240" y="5760720"/>
            <a:ext cx="1828800" cy="256032"/>
          </a:xfrm>
          <a:prstGeom prst="rect">
            <a:avLst/>
          </a:prstGeom>
          <a:noFill/>
          <a:ln/>
        </p:spPr>
        <p:txBody>
          <a:bodyPr wrap="square" lIns="0" tIns="0" rIns="0" bIns="0" rtlCol="0" anchor="ctr"/>
          <a:lstStyle/>
          <a:p>
            <a:pPr indent="0" marL="0">
              <a:buNone/>
            </a:pPr>
            <a:r>
              <a:rPr lang="en-US" sz="1100" b="1" spc="160" kern="0" dirty="0">
                <a:solidFill>
                  <a:srgbClr val="FFE600"/>
                </a:solidFill>
                <a:latin typeface="Calibri" pitchFamily="34" charset="0"/>
                <a:ea typeface="Calibri" pitchFamily="34" charset="-122"/>
                <a:cs typeface="Calibri" pitchFamily="34" charset="-120"/>
              </a:rPr>
              <a:t>RESULT</a:t>
            </a:r>
            <a:endParaRPr lang="en-US" sz="1100" dirty="0"/>
          </a:p>
        </p:txBody>
      </p:sp>
      <p:sp>
        <p:nvSpPr>
          <p:cNvPr id="42" name="Text 39"/>
          <p:cNvSpPr/>
          <p:nvPr/>
        </p:nvSpPr>
        <p:spPr>
          <a:xfrm>
            <a:off x="777240" y="5998464"/>
            <a:ext cx="10607040" cy="402336"/>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Charges d'acquisition et de gestion nettes, STAR 2024, Total = -8 787 121: a real number that can be summed, compared and validated.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C. Normalisation &amp; cleaning</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Cleaning · Checks after extraction  -</a:t>
            </a:r>
            <a:endParaRPr lang="en-US" sz="2200" dirty="0"/>
          </a:p>
        </p:txBody>
      </p:sp>
      <p:sp>
        <p:nvSpPr>
          <p:cNvPr id="7" name="Shape 4"/>
          <p:cNvSpPr/>
          <p:nvPr/>
        </p:nvSpPr>
        <p:spPr>
          <a:xfrm>
            <a:off x="548640" y="2194560"/>
            <a:ext cx="11091672" cy="658368"/>
          </a:xfrm>
          <a:prstGeom prst="roundRect">
            <a:avLst>
              <a:gd name="adj" fmla="val 11111"/>
            </a:avLst>
          </a:prstGeom>
          <a:solidFill>
            <a:srgbClr val="FFFFFF"/>
          </a:solidFill>
          <a:ln w="19050">
            <a:solidFill>
              <a:srgbClr val="484B54"/>
            </a:solidFill>
            <a:prstDash val="solid"/>
          </a:ln>
        </p:spPr>
      </p:sp>
      <p:sp>
        <p:nvSpPr>
          <p:cNvPr id="8" name="Text 5"/>
          <p:cNvSpPr/>
          <p:nvPr/>
        </p:nvSpPr>
        <p:spPr>
          <a:xfrm>
            <a:off x="777240" y="2194560"/>
            <a:ext cx="1737360" cy="658368"/>
          </a:xfrm>
          <a:prstGeom prst="rect">
            <a:avLst/>
          </a:prstGeom>
          <a:noFill/>
          <a:ln/>
        </p:spPr>
        <p:txBody>
          <a:bodyPr wrap="square" lIns="0" tIns="0" rIns="0" bIns="0" rtlCol="0" anchor="ctr"/>
          <a:lstStyle/>
          <a:p>
            <a:pPr indent="0" marL="0">
              <a:buNone/>
            </a:pPr>
            <a:r>
              <a:rPr lang="en-US" sz="1100" b="1" spc="160" kern="0" dirty="0">
                <a:solidFill>
                  <a:srgbClr val="8B8B90"/>
                </a:solidFill>
                <a:latin typeface="Calibri" pitchFamily="34" charset="0"/>
                <a:ea typeface="Calibri" pitchFamily="34" charset="-122"/>
                <a:cs typeface="Calibri" pitchFamily="34" charset="-120"/>
              </a:rPr>
              <a:t>THE PROBLEM</a:t>
            </a:r>
            <a:endParaRPr lang="en-US" sz="1100" dirty="0"/>
          </a:p>
        </p:txBody>
      </p:sp>
      <p:sp>
        <p:nvSpPr>
          <p:cNvPr id="9" name="Text 6"/>
          <p:cNvSpPr/>
          <p:nvPr/>
        </p:nvSpPr>
        <p:spPr>
          <a:xfrm>
            <a:off x="2514600" y="2194560"/>
            <a:ext cx="9006840" cy="658368"/>
          </a:xfrm>
          <a:prstGeom prst="rect">
            <a:avLst/>
          </a:prstGeom>
          <a:noFill/>
          <a:ln/>
        </p:spPr>
        <p:txBody>
          <a:bodyPr wrap="square" lIns="0" tIns="0" rIns="0" bIns="0" rtlCol="0" anchor="ctr"/>
          <a:lstStyle/>
          <a:p>
            <a:pPr indent="0" marL="0">
              <a:buNone/>
            </a:pPr>
            <a:r>
              <a:rPr lang="en-US" sz="1400" dirty="0">
                <a:solidFill>
                  <a:srgbClr val="2F3136"/>
                </a:solidFill>
                <a:latin typeface="Calibri" pitchFamily="34" charset="0"/>
                <a:ea typeface="Calibri" pitchFamily="34" charset="-122"/>
                <a:cs typeface="Calibri" pitchFamily="34" charset="-120"/>
              </a:rPr>
              <a:t>A well-read number can still be wrong (misread digit, wrong column). The pipeline checks it before it is used.</a:t>
            </a:r>
            <a:endParaRPr lang="en-US" sz="1400" dirty="0"/>
          </a:p>
        </p:txBody>
      </p:sp>
      <p:sp>
        <p:nvSpPr>
          <p:cNvPr id="10" name="Shape 7"/>
          <p:cNvSpPr/>
          <p:nvPr/>
        </p:nvSpPr>
        <p:spPr>
          <a:xfrm>
            <a:off x="548640" y="3127248"/>
            <a:ext cx="344119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11" name="Shape 8"/>
          <p:cNvSpPr/>
          <p:nvPr/>
        </p:nvSpPr>
        <p:spPr>
          <a:xfrm>
            <a:off x="685800" y="3264408"/>
            <a:ext cx="365760" cy="365760"/>
          </a:xfrm>
          <a:prstGeom prst="ellipse">
            <a:avLst/>
          </a:prstGeom>
          <a:solidFill>
            <a:srgbClr val="FFE600"/>
          </a:solidFill>
          <a:ln/>
        </p:spPr>
      </p:sp>
      <p:sp>
        <p:nvSpPr>
          <p:cNvPr id="12" name="Text 9"/>
          <p:cNvSpPr/>
          <p:nvPr/>
        </p:nvSpPr>
        <p:spPr>
          <a:xfrm>
            <a:off x="68580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1</a:t>
            </a:r>
            <a:endParaRPr lang="en-US" sz="1300" dirty="0"/>
          </a:p>
        </p:txBody>
      </p:sp>
      <p:sp>
        <p:nvSpPr>
          <p:cNvPr id="13" name="Text 10"/>
          <p:cNvSpPr/>
          <p:nvPr/>
        </p:nvSpPr>
        <p:spPr>
          <a:xfrm>
            <a:off x="1143000" y="3246120"/>
            <a:ext cx="275539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Accounting identity</a:t>
            </a:r>
            <a:endParaRPr lang="en-US" sz="1500" dirty="0"/>
          </a:p>
        </p:txBody>
      </p:sp>
      <p:sp>
        <p:nvSpPr>
          <p:cNvPr id="14" name="Text 11"/>
          <p:cNvSpPr/>
          <p:nvPr/>
        </p:nvSpPr>
        <p:spPr>
          <a:xfrm>
            <a:off x="713232" y="3767328"/>
            <a:ext cx="313029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Résultat technique = the 4 balances: 13 288 024 − 8 787 121 + 10 682 816 − 744 782 = 14 438 937. Gap 0: OK.</a:t>
            </a:r>
            <a:endParaRPr lang="en-US" sz="1250" dirty="0"/>
          </a:p>
        </p:txBody>
      </p:sp>
      <p:sp>
        <p:nvSpPr>
          <p:cNvPr id="15" name="Shape 12"/>
          <p:cNvSpPr/>
          <p:nvPr/>
        </p:nvSpPr>
        <p:spPr>
          <a:xfrm>
            <a:off x="4026408" y="4018788"/>
            <a:ext cx="310896" cy="0"/>
          </a:xfrm>
          <a:prstGeom prst="line">
            <a:avLst/>
          </a:prstGeom>
          <a:noFill/>
          <a:ln w="22225">
            <a:solidFill>
              <a:srgbClr val="9A9CA5"/>
            </a:solidFill>
            <a:prstDash val="solid"/>
            <a:tailEnd type="triangle"/>
          </a:ln>
        </p:spPr>
      </p:sp>
      <p:sp>
        <p:nvSpPr>
          <p:cNvPr id="16" name="Shape 13"/>
          <p:cNvSpPr/>
          <p:nvPr/>
        </p:nvSpPr>
        <p:spPr>
          <a:xfrm>
            <a:off x="4373880" y="3127248"/>
            <a:ext cx="344119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17" name="Shape 14"/>
          <p:cNvSpPr/>
          <p:nvPr/>
        </p:nvSpPr>
        <p:spPr>
          <a:xfrm>
            <a:off x="4511040" y="3264408"/>
            <a:ext cx="365760" cy="365760"/>
          </a:xfrm>
          <a:prstGeom prst="ellipse">
            <a:avLst/>
          </a:prstGeom>
          <a:solidFill>
            <a:srgbClr val="FFE600"/>
          </a:solidFill>
          <a:ln/>
        </p:spPr>
      </p:sp>
      <p:sp>
        <p:nvSpPr>
          <p:cNvPr id="18" name="Text 15"/>
          <p:cNvSpPr/>
          <p:nvPr/>
        </p:nvSpPr>
        <p:spPr>
          <a:xfrm>
            <a:off x="451104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2</a:t>
            </a:r>
            <a:endParaRPr lang="en-US" sz="1300" dirty="0"/>
          </a:p>
        </p:txBody>
      </p:sp>
      <p:sp>
        <p:nvSpPr>
          <p:cNvPr id="19" name="Text 16"/>
          <p:cNvSpPr/>
          <p:nvPr/>
        </p:nvSpPr>
        <p:spPr>
          <a:xfrm>
            <a:off x="4968240" y="3246120"/>
            <a:ext cx="275539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Year-over-year</a:t>
            </a:r>
            <a:endParaRPr lang="en-US" sz="1500" dirty="0"/>
          </a:p>
        </p:txBody>
      </p:sp>
      <p:sp>
        <p:nvSpPr>
          <p:cNvPr id="20" name="Text 17"/>
          <p:cNvSpPr/>
          <p:nvPr/>
        </p:nvSpPr>
        <p:spPr>
          <a:xfrm>
            <a:off x="4538472" y="3767328"/>
            <a:ext cx="313029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Flag a fall of 95 % or more, a ×20 jump or a sign change vs last year. STAR premiums: 346,3 M → 428,2 M (+23,6 %): OK.</a:t>
            </a:r>
            <a:endParaRPr lang="en-US" sz="1250" dirty="0"/>
          </a:p>
        </p:txBody>
      </p:sp>
      <p:sp>
        <p:nvSpPr>
          <p:cNvPr id="21" name="Shape 18"/>
          <p:cNvSpPr/>
          <p:nvPr/>
        </p:nvSpPr>
        <p:spPr>
          <a:xfrm>
            <a:off x="7851648" y="4018788"/>
            <a:ext cx="310896" cy="0"/>
          </a:xfrm>
          <a:prstGeom prst="line">
            <a:avLst/>
          </a:prstGeom>
          <a:noFill/>
          <a:ln w="22225">
            <a:solidFill>
              <a:srgbClr val="9A9CA5"/>
            </a:solidFill>
            <a:prstDash val="solid"/>
            <a:tailEnd type="triangle"/>
          </a:ln>
        </p:spPr>
      </p:sp>
      <p:sp>
        <p:nvSpPr>
          <p:cNvPr id="22" name="Shape 19"/>
          <p:cNvSpPr/>
          <p:nvPr/>
        </p:nvSpPr>
        <p:spPr>
          <a:xfrm>
            <a:off x="8199120" y="3127248"/>
            <a:ext cx="344119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23" name="Shape 20"/>
          <p:cNvSpPr/>
          <p:nvPr/>
        </p:nvSpPr>
        <p:spPr>
          <a:xfrm>
            <a:off x="8336280" y="3264408"/>
            <a:ext cx="365760" cy="365760"/>
          </a:xfrm>
          <a:prstGeom prst="ellipse">
            <a:avLst/>
          </a:prstGeom>
          <a:solidFill>
            <a:srgbClr val="FFE600"/>
          </a:solidFill>
          <a:ln/>
        </p:spPr>
      </p:sp>
      <p:sp>
        <p:nvSpPr>
          <p:cNvPr id="24" name="Text 21"/>
          <p:cNvSpPr/>
          <p:nvPr/>
        </p:nvSpPr>
        <p:spPr>
          <a:xfrm>
            <a:off x="833628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3</a:t>
            </a:r>
            <a:endParaRPr lang="en-US" sz="1300" dirty="0"/>
          </a:p>
        </p:txBody>
      </p:sp>
      <p:sp>
        <p:nvSpPr>
          <p:cNvPr id="25" name="Text 22"/>
          <p:cNvSpPr/>
          <p:nvPr/>
        </p:nvSpPr>
        <p:spPr>
          <a:xfrm>
            <a:off x="8793480" y="3246120"/>
            <a:ext cx="275539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Report, then correct</a:t>
            </a:r>
            <a:endParaRPr lang="en-US" sz="1500" dirty="0"/>
          </a:p>
        </p:txBody>
      </p:sp>
      <p:sp>
        <p:nvSpPr>
          <p:cNvPr id="26" name="Text 23"/>
          <p:cNvSpPr/>
          <p:nvPr/>
        </p:nvSpPr>
        <p:spPr>
          <a:xfrm>
            <a:off x="8363712" y="3767328"/>
            <a:ext cx="313029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A flag never rewrites data: it goes to the anomaly report, and the analyst corrects manually (audited).</a:t>
            </a:r>
            <a:endParaRPr lang="en-US" sz="1250" dirty="0"/>
          </a:p>
        </p:txBody>
      </p:sp>
      <p:sp>
        <p:nvSpPr>
          <p:cNvPr id="27" name="Text 24"/>
          <p:cNvSpPr/>
          <p:nvPr/>
        </p:nvSpPr>
        <p:spPr>
          <a:xfrm>
            <a:off x="548640" y="5120640"/>
            <a:ext cx="274320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TOOLS</a:t>
            </a:r>
            <a:endParaRPr lang="en-US" sz="1100" dirty="0"/>
          </a:p>
        </p:txBody>
      </p:sp>
      <p:sp>
        <p:nvSpPr>
          <p:cNvPr id="28" name="Shape 25"/>
          <p:cNvSpPr/>
          <p:nvPr/>
        </p:nvSpPr>
        <p:spPr>
          <a:xfrm>
            <a:off x="548640" y="5431536"/>
            <a:ext cx="1265530" cy="365760"/>
          </a:xfrm>
          <a:prstGeom prst="roundRect">
            <a:avLst>
              <a:gd name="adj" fmla="val 50000"/>
            </a:avLst>
          </a:prstGeom>
          <a:solidFill>
            <a:srgbClr val="FFE600"/>
          </a:solidFill>
          <a:ln/>
        </p:spPr>
      </p:sp>
      <p:sp>
        <p:nvSpPr>
          <p:cNvPr id="29" name="Text 26"/>
          <p:cNvSpPr/>
          <p:nvPr/>
        </p:nvSpPr>
        <p:spPr>
          <a:xfrm>
            <a:off x="548640" y="5431536"/>
            <a:ext cx="1265530"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Python rules</a:t>
            </a:r>
            <a:endParaRPr lang="en-US" sz="1150" dirty="0"/>
          </a:p>
        </p:txBody>
      </p:sp>
      <p:sp>
        <p:nvSpPr>
          <p:cNvPr id="30" name="Shape 27"/>
          <p:cNvSpPr/>
          <p:nvPr/>
        </p:nvSpPr>
        <p:spPr>
          <a:xfrm>
            <a:off x="1942186" y="5431536"/>
            <a:ext cx="676656" cy="365760"/>
          </a:xfrm>
          <a:prstGeom prst="roundRect">
            <a:avLst>
              <a:gd name="adj" fmla="val 50000"/>
            </a:avLst>
          </a:prstGeom>
          <a:solidFill>
            <a:srgbClr val="FFE600"/>
          </a:solidFill>
          <a:ln/>
        </p:spPr>
      </p:sp>
      <p:sp>
        <p:nvSpPr>
          <p:cNvPr id="31" name="Text 28"/>
          <p:cNvSpPr/>
          <p:nvPr/>
        </p:nvSpPr>
        <p:spPr>
          <a:xfrm>
            <a:off x="1942186" y="5431536"/>
            <a:ext cx="676656"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MySQL</a:t>
            </a:r>
            <a:endParaRPr lang="en-US" sz="1150" dirty="0"/>
          </a:p>
        </p:txBody>
      </p:sp>
      <p:sp>
        <p:nvSpPr>
          <p:cNvPr id="32" name="Shape 29"/>
          <p:cNvSpPr/>
          <p:nvPr/>
        </p:nvSpPr>
        <p:spPr>
          <a:xfrm>
            <a:off x="2746858" y="5431536"/>
            <a:ext cx="1686154" cy="365760"/>
          </a:xfrm>
          <a:prstGeom prst="roundRect">
            <a:avLst>
              <a:gd name="adj" fmla="val 50000"/>
            </a:avLst>
          </a:prstGeom>
          <a:solidFill>
            <a:srgbClr val="FFE600"/>
          </a:solidFill>
          <a:ln/>
        </p:spPr>
      </p:sp>
      <p:sp>
        <p:nvSpPr>
          <p:cNvPr id="33" name="Text 30"/>
          <p:cNvSpPr/>
          <p:nvPr/>
        </p:nvSpPr>
        <p:spPr>
          <a:xfrm>
            <a:off x="2746858" y="5431536"/>
            <a:ext cx="1686154"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Manual correction</a:t>
            </a:r>
            <a:endParaRPr lang="en-US" sz="1150" dirty="0"/>
          </a:p>
        </p:txBody>
      </p:sp>
      <p:sp>
        <p:nvSpPr>
          <p:cNvPr id="34" name="Shape 31"/>
          <p:cNvSpPr/>
          <p:nvPr/>
        </p:nvSpPr>
        <p:spPr>
          <a:xfrm>
            <a:off x="6400800" y="5074920"/>
            <a:ext cx="5239512" cy="1188720"/>
          </a:xfrm>
          <a:prstGeom prst="roundRect">
            <a:avLst>
              <a:gd name="adj" fmla="val 6154"/>
            </a:avLst>
          </a:prstGeom>
          <a:solidFill>
            <a:srgbClr val="484B54"/>
          </a:solidFill>
          <a:ln/>
        </p:spPr>
      </p:sp>
      <p:sp>
        <p:nvSpPr>
          <p:cNvPr id="35" name="Text 32"/>
          <p:cNvSpPr/>
          <p:nvPr/>
        </p:nvSpPr>
        <p:spPr>
          <a:xfrm>
            <a:off x="6629400" y="5138928"/>
            <a:ext cx="2743200" cy="256032"/>
          </a:xfrm>
          <a:prstGeom prst="rect">
            <a:avLst/>
          </a:prstGeom>
          <a:noFill/>
          <a:ln/>
        </p:spPr>
        <p:txBody>
          <a:bodyPr wrap="square" lIns="0" tIns="0" rIns="0" bIns="0" rtlCol="0" anchor="ctr"/>
          <a:lstStyle/>
          <a:p>
            <a:pPr indent="0" marL="0">
              <a:buNone/>
            </a:pPr>
            <a:r>
              <a:rPr lang="en-US" sz="1100" b="1" spc="160" kern="0" dirty="0">
                <a:solidFill>
                  <a:srgbClr val="FFE600"/>
                </a:solidFill>
                <a:latin typeface="Calibri" pitchFamily="34" charset="0"/>
                <a:ea typeface="Calibri" pitchFamily="34" charset="-122"/>
                <a:cs typeface="Calibri" pitchFamily="34" charset="-120"/>
              </a:rPr>
              <a:t>RESULT</a:t>
            </a:r>
            <a:endParaRPr lang="en-US" sz="1100" dirty="0"/>
          </a:p>
        </p:txBody>
      </p:sp>
      <p:sp>
        <p:nvSpPr>
          <p:cNvPr id="36" name="Text 33"/>
          <p:cNvSpPr/>
          <p:nvPr/>
        </p:nvSpPr>
        <p:spPr>
          <a:xfrm>
            <a:off x="6629400" y="5394960"/>
            <a:ext cx="4846320" cy="80467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Nothing is silently changed: errors are flagged, and every correction is traced.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D. Exceptional cases</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Scanned PDFs  -</a:t>
            </a:r>
            <a:endParaRPr lang="en-US" sz="2200" dirty="0"/>
          </a:p>
        </p:txBody>
      </p:sp>
      <p:sp>
        <p:nvSpPr>
          <p:cNvPr id="7" name="Shape 4"/>
          <p:cNvSpPr/>
          <p:nvPr/>
        </p:nvSpPr>
        <p:spPr>
          <a:xfrm>
            <a:off x="548640" y="2194560"/>
            <a:ext cx="11091672" cy="658368"/>
          </a:xfrm>
          <a:prstGeom prst="roundRect">
            <a:avLst>
              <a:gd name="adj" fmla="val 11111"/>
            </a:avLst>
          </a:prstGeom>
          <a:solidFill>
            <a:srgbClr val="FFFFFF"/>
          </a:solidFill>
          <a:ln w="19050">
            <a:solidFill>
              <a:srgbClr val="484B54"/>
            </a:solidFill>
            <a:prstDash val="solid"/>
          </a:ln>
        </p:spPr>
      </p:sp>
      <p:sp>
        <p:nvSpPr>
          <p:cNvPr id="8" name="Text 5"/>
          <p:cNvSpPr/>
          <p:nvPr/>
        </p:nvSpPr>
        <p:spPr>
          <a:xfrm>
            <a:off x="777240" y="2194560"/>
            <a:ext cx="1737360" cy="658368"/>
          </a:xfrm>
          <a:prstGeom prst="rect">
            <a:avLst/>
          </a:prstGeom>
          <a:noFill/>
          <a:ln/>
        </p:spPr>
        <p:txBody>
          <a:bodyPr wrap="square" lIns="0" tIns="0" rIns="0" bIns="0" rtlCol="0" anchor="ctr"/>
          <a:lstStyle/>
          <a:p>
            <a:pPr indent="0" marL="0">
              <a:buNone/>
            </a:pPr>
            <a:r>
              <a:rPr lang="en-US" sz="1100" b="1" spc="160" kern="0" dirty="0">
                <a:solidFill>
                  <a:srgbClr val="8B8B90"/>
                </a:solidFill>
                <a:latin typeface="Calibri" pitchFamily="34" charset="0"/>
                <a:ea typeface="Calibri" pitchFamily="34" charset="-122"/>
                <a:cs typeface="Calibri" pitchFamily="34" charset="-120"/>
              </a:rPr>
              <a:t>THE PROBLEM</a:t>
            </a:r>
            <a:endParaRPr lang="en-US" sz="1100" dirty="0"/>
          </a:p>
        </p:txBody>
      </p:sp>
      <p:sp>
        <p:nvSpPr>
          <p:cNvPr id="9" name="Text 6"/>
          <p:cNvSpPr/>
          <p:nvPr/>
        </p:nvSpPr>
        <p:spPr>
          <a:xfrm>
            <a:off x="2514600" y="2194560"/>
            <a:ext cx="9006840" cy="658368"/>
          </a:xfrm>
          <a:prstGeom prst="rect">
            <a:avLst/>
          </a:prstGeom>
          <a:noFill/>
          <a:ln/>
        </p:spPr>
        <p:txBody>
          <a:bodyPr wrap="square" lIns="0" tIns="0" rIns="0" bIns="0" rtlCol="0" anchor="ctr"/>
          <a:lstStyle/>
          <a:p>
            <a:pPr indent="0" marL="0">
              <a:buNone/>
            </a:pPr>
            <a:r>
              <a:rPr lang="en-US" sz="1400" dirty="0">
                <a:solidFill>
                  <a:srgbClr val="2F3136"/>
                </a:solidFill>
                <a:latin typeface="Calibri" pitchFamily="34" charset="0"/>
                <a:ea typeface="Calibri" pitchFamily="34" charset="-122"/>
                <a:cs typeface="Calibri" pitchFamily="34" charset="-120"/>
              </a:rPr>
              <a:t>Some reports are pictures: the PDF has no text layer, so nothing can be read directly (e.g. AMI, COTUNACE).</a:t>
            </a:r>
            <a:endParaRPr lang="en-US" sz="1400" dirty="0"/>
          </a:p>
        </p:txBody>
      </p:sp>
      <p:sp>
        <p:nvSpPr>
          <p:cNvPr id="10" name="Shape 7"/>
          <p:cNvSpPr/>
          <p:nvPr/>
        </p:nvSpPr>
        <p:spPr>
          <a:xfrm>
            <a:off x="54864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11" name="Shape 8"/>
          <p:cNvSpPr/>
          <p:nvPr/>
        </p:nvSpPr>
        <p:spPr>
          <a:xfrm>
            <a:off x="685800" y="3264408"/>
            <a:ext cx="365760" cy="365760"/>
          </a:xfrm>
          <a:prstGeom prst="ellipse">
            <a:avLst/>
          </a:prstGeom>
          <a:solidFill>
            <a:srgbClr val="FFE600"/>
          </a:solidFill>
          <a:ln/>
        </p:spPr>
      </p:sp>
      <p:sp>
        <p:nvSpPr>
          <p:cNvPr id="12" name="Text 9"/>
          <p:cNvSpPr/>
          <p:nvPr/>
        </p:nvSpPr>
        <p:spPr>
          <a:xfrm>
            <a:off x="68580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1</a:t>
            </a:r>
            <a:endParaRPr lang="en-US" sz="1300" dirty="0"/>
          </a:p>
        </p:txBody>
      </p:sp>
      <p:sp>
        <p:nvSpPr>
          <p:cNvPr id="13" name="Text 10"/>
          <p:cNvSpPr/>
          <p:nvPr/>
        </p:nvSpPr>
        <p:spPr>
          <a:xfrm>
            <a:off x="114300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Detect</a:t>
            </a:r>
            <a:endParaRPr lang="en-US" sz="1500" dirty="0"/>
          </a:p>
        </p:txBody>
      </p:sp>
      <p:sp>
        <p:nvSpPr>
          <p:cNvPr id="14" name="Text 11"/>
          <p:cNvSpPr/>
          <p:nvPr/>
        </p:nvSpPr>
        <p:spPr>
          <a:xfrm>
            <a:off x="71323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A page with almost no text characters switches to OCR mode.</a:t>
            </a:r>
            <a:endParaRPr lang="en-US" sz="1250" dirty="0"/>
          </a:p>
        </p:txBody>
      </p:sp>
      <p:sp>
        <p:nvSpPr>
          <p:cNvPr id="15" name="Shape 12"/>
          <p:cNvSpPr/>
          <p:nvPr/>
        </p:nvSpPr>
        <p:spPr>
          <a:xfrm>
            <a:off x="3070098" y="4018788"/>
            <a:ext cx="310896" cy="0"/>
          </a:xfrm>
          <a:prstGeom prst="line">
            <a:avLst/>
          </a:prstGeom>
          <a:noFill/>
          <a:ln w="22225">
            <a:solidFill>
              <a:srgbClr val="9A9CA5"/>
            </a:solidFill>
            <a:prstDash val="solid"/>
            <a:tailEnd type="triangle"/>
          </a:ln>
        </p:spPr>
      </p:sp>
      <p:sp>
        <p:nvSpPr>
          <p:cNvPr id="16" name="Shape 13"/>
          <p:cNvSpPr/>
          <p:nvPr/>
        </p:nvSpPr>
        <p:spPr>
          <a:xfrm>
            <a:off x="341757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17" name="Shape 14"/>
          <p:cNvSpPr/>
          <p:nvPr/>
        </p:nvSpPr>
        <p:spPr>
          <a:xfrm>
            <a:off x="3554730" y="3264408"/>
            <a:ext cx="365760" cy="365760"/>
          </a:xfrm>
          <a:prstGeom prst="ellipse">
            <a:avLst/>
          </a:prstGeom>
          <a:solidFill>
            <a:srgbClr val="FFE600"/>
          </a:solidFill>
          <a:ln/>
        </p:spPr>
      </p:sp>
      <p:sp>
        <p:nvSpPr>
          <p:cNvPr id="18" name="Text 15"/>
          <p:cNvSpPr/>
          <p:nvPr/>
        </p:nvSpPr>
        <p:spPr>
          <a:xfrm>
            <a:off x="355473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2</a:t>
            </a:r>
            <a:endParaRPr lang="en-US" sz="1300" dirty="0"/>
          </a:p>
        </p:txBody>
      </p:sp>
      <p:sp>
        <p:nvSpPr>
          <p:cNvPr id="19" name="Text 16"/>
          <p:cNvSpPr/>
          <p:nvPr/>
        </p:nvSpPr>
        <p:spPr>
          <a:xfrm>
            <a:off x="401193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Locate</a:t>
            </a:r>
            <a:endParaRPr lang="en-US" sz="1500" dirty="0"/>
          </a:p>
        </p:txBody>
      </p:sp>
      <p:sp>
        <p:nvSpPr>
          <p:cNvPr id="20" name="Text 17"/>
          <p:cNvSpPr/>
          <p:nvPr/>
        </p:nvSpPr>
        <p:spPr>
          <a:xfrm>
            <a:off x="358216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Fast low-resolution OCR + fuzzy title match keep only the best pages.</a:t>
            </a:r>
            <a:endParaRPr lang="en-US" sz="1250" dirty="0"/>
          </a:p>
        </p:txBody>
      </p:sp>
      <p:sp>
        <p:nvSpPr>
          <p:cNvPr id="21" name="Shape 18"/>
          <p:cNvSpPr/>
          <p:nvPr/>
        </p:nvSpPr>
        <p:spPr>
          <a:xfrm>
            <a:off x="5939028" y="4018788"/>
            <a:ext cx="310896" cy="0"/>
          </a:xfrm>
          <a:prstGeom prst="line">
            <a:avLst/>
          </a:prstGeom>
          <a:noFill/>
          <a:ln w="22225">
            <a:solidFill>
              <a:srgbClr val="9A9CA5"/>
            </a:solidFill>
            <a:prstDash val="solid"/>
            <a:tailEnd type="triangle"/>
          </a:ln>
        </p:spPr>
      </p:sp>
      <p:sp>
        <p:nvSpPr>
          <p:cNvPr id="22" name="Shape 19"/>
          <p:cNvSpPr/>
          <p:nvPr/>
        </p:nvSpPr>
        <p:spPr>
          <a:xfrm>
            <a:off x="628650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23" name="Shape 20"/>
          <p:cNvSpPr/>
          <p:nvPr/>
        </p:nvSpPr>
        <p:spPr>
          <a:xfrm>
            <a:off x="6423660" y="3264408"/>
            <a:ext cx="365760" cy="365760"/>
          </a:xfrm>
          <a:prstGeom prst="ellipse">
            <a:avLst/>
          </a:prstGeom>
          <a:solidFill>
            <a:srgbClr val="FFE600"/>
          </a:solidFill>
          <a:ln/>
        </p:spPr>
      </p:sp>
      <p:sp>
        <p:nvSpPr>
          <p:cNvPr id="24" name="Text 21"/>
          <p:cNvSpPr/>
          <p:nvPr/>
        </p:nvSpPr>
        <p:spPr>
          <a:xfrm>
            <a:off x="642366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3</a:t>
            </a:r>
            <a:endParaRPr lang="en-US" sz="1300" dirty="0"/>
          </a:p>
        </p:txBody>
      </p:sp>
      <p:sp>
        <p:nvSpPr>
          <p:cNvPr id="25" name="Text 22"/>
          <p:cNvSpPr/>
          <p:nvPr/>
        </p:nvSpPr>
        <p:spPr>
          <a:xfrm>
            <a:off x="688086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Read</a:t>
            </a:r>
            <a:endParaRPr lang="en-US" sz="1500" dirty="0"/>
          </a:p>
        </p:txBody>
      </p:sp>
      <p:sp>
        <p:nvSpPr>
          <p:cNvPr id="26" name="Text 23"/>
          <p:cNvSpPr/>
          <p:nvPr/>
        </p:nvSpPr>
        <p:spPr>
          <a:xfrm>
            <a:off x="645109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340 dpi render, grid lines removed, Tesseract returns each word with its position.</a:t>
            </a:r>
            <a:endParaRPr lang="en-US" sz="1250" dirty="0"/>
          </a:p>
        </p:txBody>
      </p:sp>
      <p:sp>
        <p:nvSpPr>
          <p:cNvPr id="27" name="Shape 24"/>
          <p:cNvSpPr/>
          <p:nvPr/>
        </p:nvSpPr>
        <p:spPr>
          <a:xfrm>
            <a:off x="8807958" y="4018788"/>
            <a:ext cx="310896" cy="0"/>
          </a:xfrm>
          <a:prstGeom prst="line">
            <a:avLst/>
          </a:prstGeom>
          <a:noFill/>
          <a:ln w="22225">
            <a:solidFill>
              <a:srgbClr val="9A9CA5"/>
            </a:solidFill>
            <a:prstDash val="solid"/>
            <a:tailEnd type="triangle"/>
          </a:ln>
        </p:spPr>
      </p:sp>
      <p:sp>
        <p:nvSpPr>
          <p:cNvPr id="28" name="Shape 25"/>
          <p:cNvSpPr/>
          <p:nvPr/>
        </p:nvSpPr>
        <p:spPr>
          <a:xfrm>
            <a:off x="915543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29" name="Shape 26"/>
          <p:cNvSpPr/>
          <p:nvPr/>
        </p:nvSpPr>
        <p:spPr>
          <a:xfrm>
            <a:off x="9292590" y="3264408"/>
            <a:ext cx="365760" cy="365760"/>
          </a:xfrm>
          <a:prstGeom prst="ellipse">
            <a:avLst/>
          </a:prstGeom>
          <a:solidFill>
            <a:srgbClr val="FFE600"/>
          </a:solidFill>
          <a:ln/>
        </p:spPr>
      </p:sp>
      <p:sp>
        <p:nvSpPr>
          <p:cNvPr id="30" name="Text 27"/>
          <p:cNvSpPr/>
          <p:nvPr/>
        </p:nvSpPr>
        <p:spPr>
          <a:xfrm>
            <a:off x="929259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4</a:t>
            </a:r>
            <a:endParaRPr lang="en-US" sz="1300" dirty="0"/>
          </a:p>
        </p:txBody>
      </p:sp>
      <p:sp>
        <p:nvSpPr>
          <p:cNvPr id="31" name="Text 28"/>
          <p:cNvSpPr/>
          <p:nvPr/>
        </p:nvSpPr>
        <p:spPr>
          <a:xfrm>
            <a:off x="974979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Rebuild</a:t>
            </a:r>
            <a:endParaRPr lang="en-US" sz="1500" dirty="0"/>
          </a:p>
        </p:txBody>
      </p:sp>
      <p:sp>
        <p:nvSpPr>
          <p:cNvPr id="32" name="Text 29"/>
          <p:cNvSpPr/>
          <p:nvPr/>
        </p:nvSpPr>
        <p:spPr>
          <a:xfrm>
            <a:off x="932002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Rows = OCR lines; columns from the x-position of the numbers.</a:t>
            </a:r>
            <a:endParaRPr lang="en-US" sz="1250" dirty="0"/>
          </a:p>
        </p:txBody>
      </p:sp>
      <p:sp>
        <p:nvSpPr>
          <p:cNvPr id="33" name="Text 30"/>
          <p:cNvSpPr/>
          <p:nvPr/>
        </p:nvSpPr>
        <p:spPr>
          <a:xfrm>
            <a:off x="548640" y="5074920"/>
            <a:ext cx="274320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TOOLS</a:t>
            </a:r>
            <a:endParaRPr lang="en-US" sz="1100" dirty="0"/>
          </a:p>
        </p:txBody>
      </p:sp>
      <p:sp>
        <p:nvSpPr>
          <p:cNvPr id="34" name="Shape 31"/>
          <p:cNvSpPr/>
          <p:nvPr/>
        </p:nvSpPr>
        <p:spPr>
          <a:xfrm>
            <a:off x="548640" y="5385816"/>
            <a:ext cx="844906" cy="365760"/>
          </a:xfrm>
          <a:prstGeom prst="roundRect">
            <a:avLst>
              <a:gd name="adj" fmla="val 50000"/>
            </a:avLst>
          </a:prstGeom>
          <a:solidFill>
            <a:srgbClr val="FFE600"/>
          </a:solidFill>
          <a:ln/>
        </p:spPr>
      </p:sp>
      <p:sp>
        <p:nvSpPr>
          <p:cNvPr id="35" name="Text 32"/>
          <p:cNvSpPr/>
          <p:nvPr/>
        </p:nvSpPr>
        <p:spPr>
          <a:xfrm>
            <a:off x="548640" y="5385816"/>
            <a:ext cx="844906"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PyMuPDF</a:t>
            </a:r>
            <a:endParaRPr lang="en-US" sz="1150" dirty="0"/>
          </a:p>
        </p:txBody>
      </p:sp>
      <p:sp>
        <p:nvSpPr>
          <p:cNvPr id="36" name="Shape 33"/>
          <p:cNvSpPr/>
          <p:nvPr/>
        </p:nvSpPr>
        <p:spPr>
          <a:xfrm>
            <a:off x="1521562" y="5385816"/>
            <a:ext cx="760781" cy="365760"/>
          </a:xfrm>
          <a:prstGeom prst="roundRect">
            <a:avLst>
              <a:gd name="adj" fmla="val 50000"/>
            </a:avLst>
          </a:prstGeom>
          <a:solidFill>
            <a:srgbClr val="FFE600"/>
          </a:solidFill>
          <a:ln/>
        </p:spPr>
      </p:sp>
      <p:sp>
        <p:nvSpPr>
          <p:cNvPr id="37" name="Text 34"/>
          <p:cNvSpPr/>
          <p:nvPr/>
        </p:nvSpPr>
        <p:spPr>
          <a:xfrm>
            <a:off x="1521562" y="5385816"/>
            <a:ext cx="760781"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OpenCV</a:t>
            </a:r>
            <a:endParaRPr lang="en-US" sz="1150" dirty="0"/>
          </a:p>
        </p:txBody>
      </p:sp>
      <p:sp>
        <p:nvSpPr>
          <p:cNvPr id="38" name="Shape 35"/>
          <p:cNvSpPr/>
          <p:nvPr/>
        </p:nvSpPr>
        <p:spPr>
          <a:xfrm>
            <a:off x="2410358" y="5385816"/>
            <a:ext cx="1517904" cy="365760"/>
          </a:xfrm>
          <a:prstGeom prst="roundRect">
            <a:avLst>
              <a:gd name="adj" fmla="val 50000"/>
            </a:avLst>
          </a:prstGeom>
          <a:solidFill>
            <a:srgbClr val="FFE600"/>
          </a:solidFill>
          <a:ln/>
        </p:spPr>
      </p:sp>
      <p:sp>
        <p:nvSpPr>
          <p:cNvPr id="39" name="Text 36"/>
          <p:cNvSpPr/>
          <p:nvPr/>
        </p:nvSpPr>
        <p:spPr>
          <a:xfrm>
            <a:off x="2410358" y="5385816"/>
            <a:ext cx="1517904"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Tesseract (fra)</a:t>
            </a:r>
            <a:endParaRPr lang="en-US" sz="1150" dirty="0"/>
          </a:p>
        </p:txBody>
      </p:sp>
      <p:sp>
        <p:nvSpPr>
          <p:cNvPr id="40" name="Shape 37"/>
          <p:cNvSpPr/>
          <p:nvPr/>
        </p:nvSpPr>
        <p:spPr>
          <a:xfrm>
            <a:off x="4056278" y="5385816"/>
            <a:ext cx="1433779" cy="365760"/>
          </a:xfrm>
          <a:prstGeom prst="roundRect">
            <a:avLst>
              <a:gd name="adj" fmla="val 50000"/>
            </a:avLst>
          </a:prstGeom>
          <a:solidFill>
            <a:srgbClr val="FFE600"/>
          </a:solidFill>
          <a:ln/>
        </p:spPr>
      </p:sp>
      <p:sp>
        <p:nvSpPr>
          <p:cNvPr id="41" name="Text 38"/>
          <p:cNvSpPr/>
          <p:nvPr/>
        </p:nvSpPr>
        <p:spPr>
          <a:xfrm>
            <a:off x="4056278" y="5385816"/>
            <a:ext cx="1433779"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Fuzzy matching</a:t>
            </a:r>
            <a:endParaRPr lang="en-US" sz="1150" dirty="0"/>
          </a:p>
        </p:txBody>
      </p:sp>
      <p:sp>
        <p:nvSpPr>
          <p:cNvPr id="42" name="Shape 39"/>
          <p:cNvSpPr/>
          <p:nvPr/>
        </p:nvSpPr>
        <p:spPr>
          <a:xfrm>
            <a:off x="6400800" y="5074920"/>
            <a:ext cx="5239512" cy="1051560"/>
          </a:xfrm>
          <a:prstGeom prst="roundRect">
            <a:avLst>
              <a:gd name="adj" fmla="val 6957"/>
            </a:avLst>
          </a:prstGeom>
          <a:solidFill>
            <a:srgbClr val="484B54"/>
          </a:solidFill>
          <a:ln/>
        </p:spPr>
      </p:sp>
      <p:sp>
        <p:nvSpPr>
          <p:cNvPr id="43" name="Text 40"/>
          <p:cNvSpPr/>
          <p:nvPr/>
        </p:nvSpPr>
        <p:spPr>
          <a:xfrm>
            <a:off x="6629400" y="5138928"/>
            <a:ext cx="2743200" cy="256032"/>
          </a:xfrm>
          <a:prstGeom prst="rect">
            <a:avLst/>
          </a:prstGeom>
          <a:noFill/>
          <a:ln/>
        </p:spPr>
        <p:txBody>
          <a:bodyPr wrap="square" lIns="0" tIns="0" rIns="0" bIns="0" rtlCol="0" anchor="ctr"/>
          <a:lstStyle/>
          <a:p>
            <a:pPr indent="0" marL="0">
              <a:buNone/>
            </a:pPr>
            <a:r>
              <a:rPr lang="en-US" sz="1100" b="1" spc="160" kern="0" dirty="0">
                <a:solidFill>
                  <a:srgbClr val="FFE600"/>
                </a:solidFill>
                <a:latin typeface="Calibri" pitchFamily="34" charset="0"/>
                <a:ea typeface="Calibri" pitchFamily="34" charset="-122"/>
                <a:cs typeface="Calibri" pitchFamily="34" charset="-120"/>
              </a:rPr>
              <a:t>RESULT</a:t>
            </a:r>
            <a:endParaRPr lang="en-US" sz="1100" dirty="0"/>
          </a:p>
        </p:txBody>
      </p:sp>
      <p:sp>
        <p:nvSpPr>
          <p:cNvPr id="44" name="Text 41"/>
          <p:cNvSpPr/>
          <p:nvPr/>
        </p:nvSpPr>
        <p:spPr>
          <a:xfrm>
            <a:off x="6629400" y="5394960"/>
            <a:ext cx="4846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Same table format as a normal PDF, so validation and KPIs run unchanged.</a:t>
            </a:r>
            <a:endParaRPr lang="en-US" sz="1300" dirty="0"/>
          </a:p>
        </p:txBody>
      </p:sp>
      <p:sp>
        <p:nvSpPr>
          <p:cNvPr id="45" name="Text 42"/>
          <p:cNvSpPr/>
          <p:nvPr/>
        </p:nvSpPr>
        <p:spPr>
          <a:xfrm>
            <a:off x="6629400" y="5742432"/>
            <a:ext cx="4846320" cy="329184"/>
          </a:xfrm>
          <a:prstGeom prst="rect">
            <a:avLst/>
          </a:prstGeom>
          <a:noFill/>
          <a:ln/>
        </p:spPr>
        <p:txBody>
          <a:bodyPr wrap="square" lIns="0" tIns="0" rIns="0" bIns="0" rtlCol="0" anchor="ctr"/>
          <a:lstStyle/>
          <a:p>
            <a:pPr indent="0" marL="0">
              <a:buNone/>
            </a:pPr>
            <a:r>
              <a:rPr lang="en-US" sz="1400" b="1" dirty="0">
                <a:solidFill>
                  <a:srgbClr val="FFE600"/>
                </a:solidFill>
                <a:latin typeface="Calibri" pitchFamily="34" charset="0"/>
                <a:ea typeface="Calibri" pitchFamily="34" charset="-122"/>
                <a:cs typeface="Calibri" pitchFamily="34" charset="-120"/>
              </a:rPr>
              <a:t>Example: AMI 2023 · Annexe 13 → 155 cells stored</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D. Exceptional cases</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Arabic PDFs  -</a:t>
            </a:r>
            <a:endParaRPr lang="en-US" sz="2200" dirty="0"/>
          </a:p>
        </p:txBody>
      </p:sp>
      <p:sp>
        <p:nvSpPr>
          <p:cNvPr id="7" name="Shape 4"/>
          <p:cNvSpPr/>
          <p:nvPr/>
        </p:nvSpPr>
        <p:spPr>
          <a:xfrm>
            <a:off x="548640" y="2194560"/>
            <a:ext cx="11091672" cy="658368"/>
          </a:xfrm>
          <a:prstGeom prst="roundRect">
            <a:avLst>
              <a:gd name="adj" fmla="val 11111"/>
            </a:avLst>
          </a:prstGeom>
          <a:solidFill>
            <a:srgbClr val="FFFFFF"/>
          </a:solidFill>
          <a:ln w="19050">
            <a:solidFill>
              <a:srgbClr val="484B54"/>
            </a:solidFill>
            <a:prstDash val="solid"/>
          </a:ln>
        </p:spPr>
      </p:sp>
      <p:sp>
        <p:nvSpPr>
          <p:cNvPr id="8" name="Text 5"/>
          <p:cNvSpPr/>
          <p:nvPr/>
        </p:nvSpPr>
        <p:spPr>
          <a:xfrm>
            <a:off x="777240" y="2194560"/>
            <a:ext cx="1737360" cy="658368"/>
          </a:xfrm>
          <a:prstGeom prst="rect">
            <a:avLst/>
          </a:prstGeom>
          <a:noFill/>
          <a:ln/>
        </p:spPr>
        <p:txBody>
          <a:bodyPr wrap="square" lIns="0" tIns="0" rIns="0" bIns="0" rtlCol="0" anchor="ctr"/>
          <a:lstStyle/>
          <a:p>
            <a:pPr indent="0" marL="0">
              <a:buNone/>
            </a:pPr>
            <a:r>
              <a:rPr lang="en-US" sz="1100" b="1" spc="160" kern="0" dirty="0">
                <a:solidFill>
                  <a:srgbClr val="8B8B90"/>
                </a:solidFill>
                <a:latin typeface="Calibri" pitchFamily="34" charset="0"/>
                <a:ea typeface="Calibri" pitchFamily="34" charset="-122"/>
                <a:cs typeface="Calibri" pitchFamily="34" charset="-120"/>
              </a:rPr>
              <a:t>THE PROBLEM</a:t>
            </a:r>
            <a:endParaRPr lang="en-US" sz="1100" dirty="0"/>
          </a:p>
        </p:txBody>
      </p:sp>
      <p:sp>
        <p:nvSpPr>
          <p:cNvPr id="9" name="Text 6"/>
          <p:cNvSpPr/>
          <p:nvPr/>
        </p:nvSpPr>
        <p:spPr>
          <a:xfrm>
            <a:off x="2514600" y="2194560"/>
            <a:ext cx="9006840" cy="658368"/>
          </a:xfrm>
          <a:prstGeom prst="rect">
            <a:avLst/>
          </a:prstGeom>
          <a:noFill/>
          <a:ln/>
        </p:spPr>
        <p:txBody>
          <a:bodyPr wrap="square" lIns="0" tIns="0" rIns="0" bIns="0" rtlCol="0" anchor="ctr"/>
          <a:lstStyle/>
          <a:p>
            <a:pPr indent="0" marL="0">
              <a:buNone/>
            </a:pPr>
            <a:r>
              <a:rPr lang="en-US" sz="1400" dirty="0">
                <a:solidFill>
                  <a:srgbClr val="2F3136"/>
                </a:solidFill>
                <a:latin typeface="Calibri" pitchFamily="34" charset="0"/>
                <a:ea typeface="Calibri" pitchFamily="34" charset="-122"/>
                <a:cs typeface="Calibri" pitchFamily="34" charset="-120"/>
              </a:rPr>
              <a:t>El Amana Takaful publishes scanned reports in Arabic (right to left), and Arabic OCR misreads digits.</a:t>
            </a:r>
            <a:endParaRPr lang="en-US" sz="1400" dirty="0"/>
          </a:p>
        </p:txBody>
      </p:sp>
      <p:sp>
        <p:nvSpPr>
          <p:cNvPr id="10" name="Shape 7"/>
          <p:cNvSpPr/>
          <p:nvPr/>
        </p:nvSpPr>
        <p:spPr>
          <a:xfrm>
            <a:off x="54864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11" name="Shape 8"/>
          <p:cNvSpPr/>
          <p:nvPr/>
        </p:nvSpPr>
        <p:spPr>
          <a:xfrm>
            <a:off x="685800" y="3264408"/>
            <a:ext cx="365760" cy="365760"/>
          </a:xfrm>
          <a:prstGeom prst="ellipse">
            <a:avLst/>
          </a:prstGeom>
          <a:solidFill>
            <a:srgbClr val="FFE600"/>
          </a:solidFill>
          <a:ln/>
        </p:spPr>
      </p:sp>
      <p:sp>
        <p:nvSpPr>
          <p:cNvPr id="12" name="Text 9"/>
          <p:cNvSpPr/>
          <p:nvPr/>
        </p:nvSpPr>
        <p:spPr>
          <a:xfrm>
            <a:off x="68580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1</a:t>
            </a:r>
            <a:endParaRPr lang="en-US" sz="1300" dirty="0"/>
          </a:p>
        </p:txBody>
      </p:sp>
      <p:sp>
        <p:nvSpPr>
          <p:cNvPr id="13" name="Text 10"/>
          <p:cNvSpPr/>
          <p:nvPr/>
        </p:nvSpPr>
        <p:spPr>
          <a:xfrm>
            <a:off x="114300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Find the row</a:t>
            </a:r>
            <a:endParaRPr lang="en-US" sz="1500" dirty="0"/>
          </a:p>
        </p:txBody>
      </p:sp>
      <p:sp>
        <p:nvSpPr>
          <p:cNvPr id="14" name="Text 11"/>
          <p:cNvSpPr/>
          <p:nvPr/>
        </p:nvSpPr>
        <p:spPr>
          <a:xfrm>
            <a:off x="71323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Arabic OCR + fuzzy match on the expected Arabic label.</a:t>
            </a:r>
            <a:endParaRPr lang="en-US" sz="1250" dirty="0"/>
          </a:p>
        </p:txBody>
      </p:sp>
      <p:sp>
        <p:nvSpPr>
          <p:cNvPr id="15" name="Shape 12"/>
          <p:cNvSpPr/>
          <p:nvPr/>
        </p:nvSpPr>
        <p:spPr>
          <a:xfrm>
            <a:off x="3070098" y="4018788"/>
            <a:ext cx="310896" cy="0"/>
          </a:xfrm>
          <a:prstGeom prst="line">
            <a:avLst/>
          </a:prstGeom>
          <a:noFill/>
          <a:ln w="22225">
            <a:solidFill>
              <a:srgbClr val="9A9CA5"/>
            </a:solidFill>
            <a:prstDash val="solid"/>
            <a:tailEnd type="triangle"/>
          </a:ln>
        </p:spPr>
      </p:sp>
      <p:sp>
        <p:nvSpPr>
          <p:cNvPr id="16" name="Shape 13"/>
          <p:cNvSpPr/>
          <p:nvPr/>
        </p:nvSpPr>
        <p:spPr>
          <a:xfrm>
            <a:off x="341757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17" name="Shape 14"/>
          <p:cNvSpPr/>
          <p:nvPr/>
        </p:nvSpPr>
        <p:spPr>
          <a:xfrm>
            <a:off x="3554730" y="3264408"/>
            <a:ext cx="365760" cy="365760"/>
          </a:xfrm>
          <a:prstGeom prst="ellipse">
            <a:avLst/>
          </a:prstGeom>
          <a:solidFill>
            <a:srgbClr val="FFE600"/>
          </a:solidFill>
          <a:ln/>
        </p:spPr>
      </p:sp>
      <p:sp>
        <p:nvSpPr>
          <p:cNvPr id="18" name="Text 15"/>
          <p:cNvSpPr/>
          <p:nvPr/>
        </p:nvSpPr>
        <p:spPr>
          <a:xfrm>
            <a:off x="355473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2</a:t>
            </a:r>
            <a:endParaRPr lang="en-US" sz="1300" dirty="0"/>
          </a:p>
        </p:txBody>
      </p:sp>
      <p:sp>
        <p:nvSpPr>
          <p:cNvPr id="19" name="Text 16"/>
          <p:cNvSpPr/>
          <p:nvPr/>
        </p:nvSpPr>
        <p:spPr>
          <a:xfrm>
            <a:off x="401193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Find the column</a:t>
            </a:r>
            <a:endParaRPr lang="en-US" sz="1500" dirty="0"/>
          </a:p>
        </p:txBody>
      </p:sp>
      <p:sp>
        <p:nvSpPr>
          <p:cNvPr id="20" name="Text 17"/>
          <p:cNvSpPr/>
          <p:nvPr/>
        </p:nvSpPr>
        <p:spPr>
          <a:xfrm>
            <a:off x="358216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Same method on the column header.</a:t>
            </a:r>
            <a:endParaRPr lang="en-US" sz="1250" dirty="0"/>
          </a:p>
        </p:txBody>
      </p:sp>
      <p:sp>
        <p:nvSpPr>
          <p:cNvPr id="21" name="Shape 18"/>
          <p:cNvSpPr/>
          <p:nvPr/>
        </p:nvSpPr>
        <p:spPr>
          <a:xfrm>
            <a:off x="5939028" y="4018788"/>
            <a:ext cx="310896" cy="0"/>
          </a:xfrm>
          <a:prstGeom prst="line">
            <a:avLst/>
          </a:prstGeom>
          <a:noFill/>
          <a:ln w="22225">
            <a:solidFill>
              <a:srgbClr val="9A9CA5"/>
            </a:solidFill>
            <a:prstDash val="solid"/>
            <a:tailEnd type="triangle"/>
          </a:ln>
        </p:spPr>
      </p:sp>
      <p:sp>
        <p:nvSpPr>
          <p:cNvPr id="22" name="Shape 19"/>
          <p:cNvSpPr/>
          <p:nvPr/>
        </p:nvSpPr>
        <p:spPr>
          <a:xfrm>
            <a:off x="628650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23" name="Shape 20"/>
          <p:cNvSpPr/>
          <p:nvPr/>
        </p:nvSpPr>
        <p:spPr>
          <a:xfrm>
            <a:off x="6423660" y="3264408"/>
            <a:ext cx="365760" cy="365760"/>
          </a:xfrm>
          <a:prstGeom prst="ellipse">
            <a:avLst/>
          </a:prstGeom>
          <a:solidFill>
            <a:srgbClr val="FFE600"/>
          </a:solidFill>
          <a:ln/>
        </p:spPr>
      </p:sp>
      <p:sp>
        <p:nvSpPr>
          <p:cNvPr id="24" name="Text 21"/>
          <p:cNvSpPr/>
          <p:nvPr/>
        </p:nvSpPr>
        <p:spPr>
          <a:xfrm>
            <a:off x="642366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3</a:t>
            </a:r>
            <a:endParaRPr lang="en-US" sz="1300" dirty="0"/>
          </a:p>
        </p:txBody>
      </p:sp>
      <p:sp>
        <p:nvSpPr>
          <p:cNvPr id="25" name="Text 22"/>
          <p:cNvSpPr/>
          <p:nvPr/>
        </p:nvSpPr>
        <p:spPr>
          <a:xfrm>
            <a:off x="688086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Crop the cell</a:t>
            </a:r>
            <a:endParaRPr lang="en-US" sz="1500" dirty="0"/>
          </a:p>
        </p:txBody>
      </p:sp>
      <p:sp>
        <p:nvSpPr>
          <p:cNvPr id="26" name="Text 23"/>
          <p:cNvSpPr/>
          <p:nvPr/>
        </p:nvSpPr>
        <p:spPr>
          <a:xfrm>
            <a:off x="645109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Cut the exact cell out of the page image.</a:t>
            </a:r>
            <a:endParaRPr lang="en-US" sz="1250" dirty="0"/>
          </a:p>
        </p:txBody>
      </p:sp>
      <p:sp>
        <p:nvSpPr>
          <p:cNvPr id="27" name="Shape 24"/>
          <p:cNvSpPr/>
          <p:nvPr/>
        </p:nvSpPr>
        <p:spPr>
          <a:xfrm>
            <a:off x="8807958" y="4018788"/>
            <a:ext cx="310896" cy="0"/>
          </a:xfrm>
          <a:prstGeom prst="line">
            <a:avLst/>
          </a:prstGeom>
          <a:noFill/>
          <a:ln w="22225">
            <a:solidFill>
              <a:srgbClr val="9A9CA5"/>
            </a:solidFill>
            <a:prstDash val="solid"/>
            <a:tailEnd type="triangle"/>
          </a:ln>
        </p:spPr>
      </p:sp>
      <p:sp>
        <p:nvSpPr>
          <p:cNvPr id="28" name="Shape 25"/>
          <p:cNvSpPr/>
          <p:nvPr/>
        </p:nvSpPr>
        <p:spPr>
          <a:xfrm>
            <a:off x="915543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29" name="Shape 26"/>
          <p:cNvSpPr/>
          <p:nvPr/>
        </p:nvSpPr>
        <p:spPr>
          <a:xfrm>
            <a:off x="9292590" y="3264408"/>
            <a:ext cx="365760" cy="365760"/>
          </a:xfrm>
          <a:prstGeom prst="ellipse">
            <a:avLst/>
          </a:prstGeom>
          <a:solidFill>
            <a:srgbClr val="FFE600"/>
          </a:solidFill>
          <a:ln/>
        </p:spPr>
      </p:sp>
      <p:sp>
        <p:nvSpPr>
          <p:cNvPr id="30" name="Text 27"/>
          <p:cNvSpPr/>
          <p:nvPr/>
        </p:nvSpPr>
        <p:spPr>
          <a:xfrm>
            <a:off x="929259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4</a:t>
            </a:r>
            <a:endParaRPr lang="en-US" sz="1300" dirty="0"/>
          </a:p>
        </p:txBody>
      </p:sp>
      <p:sp>
        <p:nvSpPr>
          <p:cNvPr id="31" name="Text 28"/>
          <p:cNvSpPr/>
          <p:nvPr/>
        </p:nvSpPr>
        <p:spPr>
          <a:xfrm>
            <a:off x="974979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Read the digits</a:t>
            </a:r>
            <a:endParaRPr lang="en-US" sz="1500" dirty="0"/>
          </a:p>
        </p:txBody>
      </p:sp>
      <p:sp>
        <p:nvSpPr>
          <p:cNvPr id="32" name="Text 29"/>
          <p:cNvSpPr/>
          <p:nvPr/>
        </p:nvSpPr>
        <p:spPr>
          <a:xfrm>
            <a:off x="932002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English OCR, digits only: Tunisian reports use Western digits.</a:t>
            </a:r>
            <a:endParaRPr lang="en-US" sz="1250" dirty="0"/>
          </a:p>
        </p:txBody>
      </p:sp>
      <p:sp>
        <p:nvSpPr>
          <p:cNvPr id="33" name="Text 30"/>
          <p:cNvSpPr/>
          <p:nvPr/>
        </p:nvSpPr>
        <p:spPr>
          <a:xfrm>
            <a:off x="548640" y="5074920"/>
            <a:ext cx="274320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TOOLS</a:t>
            </a:r>
            <a:endParaRPr lang="en-US" sz="1100" dirty="0"/>
          </a:p>
        </p:txBody>
      </p:sp>
      <p:sp>
        <p:nvSpPr>
          <p:cNvPr id="34" name="Shape 31"/>
          <p:cNvSpPr/>
          <p:nvPr/>
        </p:nvSpPr>
        <p:spPr>
          <a:xfrm>
            <a:off x="548640" y="5385816"/>
            <a:ext cx="2022653" cy="365760"/>
          </a:xfrm>
          <a:prstGeom prst="roundRect">
            <a:avLst>
              <a:gd name="adj" fmla="val 50000"/>
            </a:avLst>
          </a:prstGeom>
          <a:solidFill>
            <a:srgbClr val="FFE600"/>
          </a:solidFill>
          <a:ln/>
        </p:spPr>
      </p:sp>
      <p:sp>
        <p:nvSpPr>
          <p:cNvPr id="35" name="Text 32"/>
          <p:cNvSpPr/>
          <p:nvPr/>
        </p:nvSpPr>
        <p:spPr>
          <a:xfrm>
            <a:off x="548640" y="5385816"/>
            <a:ext cx="2022653"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Tesseract (ara + eng)</a:t>
            </a:r>
            <a:endParaRPr lang="en-US" sz="1150" dirty="0"/>
          </a:p>
        </p:txBody>
      </p:sp>
      <p:sp>
        <p:nvSpPr>
          <p:cNvPr id="36" name="Shape 33"/>
          <p:cNvSpPr/>
          <p:nvPr/>
        </p:nvSpPr>
        <p:spPr>
          <a:xfrm>
            <a:off x="2699309" y="5385816"/>
            <a:ext cx="1013155" cy="365760"/>
          </a:xfrm>
          <a:prstGeom prst="roundRect">
            <a:avLst>
              <a:gd name="adj" fmla="val 50000"/>
            </a:avLst>
          </a:prstGeom>
          <a:solidFill>
            <a:srgbClr val="FFE600"/>
          </a:solidFill>
          <a:ln/>
        </p:spPr>
      </p:sp>
      <p:sp>
        <p:nvSpPr>
          <p:cNvPr id="37" name="Text 34"/>
          <p:cNvSpPr/>
          <p:nvPr/>
        </p:nvSpPr>
        <p:spPr>
          <a:xfrm>
            <a:off x="2699309" y="5385816"/>
            <a:ext cx="1013155"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RapidFuzz</a:t>
            </a:r>
            <a:endParaRPr lang="en-US" sz="1150" dirty="0"/>
          </a:p>
        </p:txBody>
      </p:sp>
      <p:sp>
        <p:nvSpPr>
          <p:cNvPr id="38" name="Shape 35"/>
          <p:cNvSpPr/>
          <p:nvPr/>
        </p:nvSpPr>
        <p:spPr>
          <a:xfrm>
            <a:off x="3840480" y="5385816"/>
            <a:ext cx="760781" cy="365760"/>
          </a:xfrm>
          <a:prstGeom prst="roundRect">
            <a:avLst>
              <a:gd name="adj" fmla="val 50000"/>
            </a:avLst>
          </a:prstGeom>
          <a:solidFill>
            <a:srgbClr val="FFE600"/>
          </a:solidFill>
          <a:ln/>
        </p:spPr>
      </p:sp>
      <p:sp>
        <p:nvSpPr>
          <p:cNvPr id="39" name="Text 36"/>
          <p:cNvSpPr/>
          <p:nvPr/>
        </p:nvSpPr>
        <p:spPr>
          <a:xfrm>
            <a:off x="3840480" y="5385816"/>
            <a:ext cx="760781"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Pillow</a:t>
            </a:r>
            <a:endParaRPr lang="en-US" sz="1150" dirty="0"/>
          </a:p>
        </p:txBody>
      </p:sp>
      <p:sp>
        <p:nvSpPr>
          <p:cNvPr id="40" name="Shape 37"/>
          <p:cNvSpPr/>
          <p:nvPr/>
        </p:nvSpPr>
        <p:spPr>
          <a:xfrm>
            <a:off x="6400800" y="5074920"/>
            <a:ext cx="5239512" cy="1051560"/>
          </a:xfrm>
          <a:prstGeom prst="roundRect">
            <a:avLst>
              <a:gd name="adj" fmla="val 6957"/>
            </a:avLst>
          </a:prstGeom>
          <a:solidFill>
            <a:srgbClr val="484B54"/>
          </a:solidFill>
          <a:ln/>
        </p:spPr>
      </p:sp>
      <p:sp>
        <p:nvSpPr>
          <p:cNvPr id="41" name="Text 38"/>
          <p:cNvSpPr/>
          <p:nvPr/>
        </p:nvSpPr>
        <p:spPr>
          <a:xfrm>
            <a:off x="6629400" y="5138928"/>
            <a:ext cx="2743200" cy="256032"/>
          </a:xfrm>
          <a:prstGeom prst="rect">
            <a:avLst/>
          </a:prstGeom>
          <a:noFill/>
          <a:ln/>
        </p:spPr>
        <p:txBody>
          <a:bodyPr wrap="square" lIns="0" tIns="0" rIns="0" bIns="0" rtlCol="0" anchor="ctr"/>
          <a:lstStyle/>
          <a:p>
            <a:pPr indent="0" marL="0">
              <a:buNone/>
            </a:pPr>
            <a:r>
              <a:rPr lang="en-US" sz="1100" b="1" spc="160" kern="0" dirty="0">
                <a:solidFill>
                  <a:srgbClr val="FFE600"/>
                </a:solidFill>
                <a:latin typeface="Calibri" pitchFamily="34" charset="0"/>
                <a:ea typeface="Calibri" pitchFamily="34" charset="-122"/>
                <a:cs typeface="Calibri" pitchFamily="34" charset="-120"/>
              </a:rPr>
              <a:t>RESULT</a:t>
            </a:r>
            <a:endParaRPr lang="en-US" sz="1100" dirty="0"/>
          </a:p>
        </p:txBody>
      </p:sp>
      <p:sp>
        <p:nvSpPr>
          <p:cNvPr id="42" name="Text 39"/>
          <p:cNvSpPr/>
          <p:nvPr/>
        </p:nvSpPr>
        <p:spPr>
          <a:xfrm>
            <a:off x="6629400" y="5394960"/>
            <a:ext cx="4846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Arabic is used to find, English to read, and figures are cross-checked.</a:t>
            </a:r>
            <a:endParaRPr lang="en-US" sz="1300" dirty="0"/>
          </a:p>
        </p:txBody>
      </p:sp>
      <p:sp>
        <p:nvSpPr>
          <p:cNvPr id="43" name="Text 40"/>
          <p:cNvSpPr/>
          <p:nvPr/>
        </p:nvSpPr>
        <p:spPr>
          <a:xfrm>
            <a:off x="6629400" y="5742432"/>
            <a:ext cx="4846320" cy="329184"/>
          </a:xfrm>
          <a:prstGeom prst="rect">
            <a:avLst/>
          </a:prstGeom>
          <a:noFill/>
          <a:ln/>
        </p:spPr>
        <p:txBody>
          <a:bodyPr wrap="square" lIns="0" tIns="0" rIns="0" bIns="0" rtlCol="0" anchor="ctr"/>
          <a:lstStyle/>
          <a:p>
            <a:pPr indent="0" marL="0">
              <a:buNone/>
            </a:pPr>
            <a:r>
              <a:rPr lang="en-US" sz="1400" b="1" dirty="0">
                <a:solidFill>
                  <a:srgbClr val="FFE600"/>
                </a:solidFill>
                <a:latin typeface="Calibri" pitchFamily="34" charset="0"/>
                <a:ea typeface="Calibri" pitchFamily="34" charset="-122"/>
                <a:cs typeface="Calibri" pitchFamily="34" charset="-120"/>
              </a:rPr>
              <a:t>Example: Total actif 2024 = 38 089 744 TND</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E. AI layer</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The chatbot and RAG  -</a:t>
            </a:r>
            <a:endParaRPr lang="en-US" sz="2200" dirty="0"/>
          </a:p>
        </p:txBody>
      </p:sp>
      <p:sp>
        <p:nvSpPr>
          <p:cNvPr id="7" name="Shape 4"/>
          <p:cNvSpPr/>
          <p:nvPr/>
        </p:nvSpPr>
        <p:spPr>
          <a:xfrm>
            <a:off x="548640" y="2788920"/>
            <a:ext cx="1737360" cy="1005840"/>
          </a:xfrm>
          <a:prstGeom prst="roundRect">
            <a:avLst>
              <a:gd name="adj" fmla="val 7273"/>
            </a:avLst>
          </a:prstGeom>
          <a:solidFill>
            <a:srgbClr val="F2F2F2"/>
          </a:solidFill>
          <a:ln/>
          <a:effectLst>
            <a:outerShdw sx="100000" sy="100000" kx="0" ky="0" algn="bl" rotWithShape="0" blurRad="76200" dist="25400" dir="5400000">
              <a:srgbClr val="000000">
                <a:alpha val="14000"/>
              </a:srgbClr>
            </a:outerShdw>
          </a:effectLst>
        </p:spPr>
      </p:sp>
      <p:sp>
        <p:nvSpPr>
          <p:cNvPr id="8" name="Text 5"/>
          <p:cNvSpPr/>
          <p:nvPr/>
        </p:nvSpPr>
        <p:spPr>
          <a:xfrm>
            <a:off x="676656" y="2862072"/>
            <a:ext cx="1481328" cy="329184"/>
          </a:xfrm>
          <a:prstGeom prst="rect">
            <a:avLst/>
          </a:prstGeom>
          <a:noFill/>
          <a:ln/>
        </p:spPr>
        <p:txBody>
          <a:bodyPr wrap="square" lIns="0" tIns="0" rIns="0" bIns="0" rtlCol="0" anchor="ctr"/>
          <a:lstStyle/>
          <a:p>
            <a:pPr indent="0" marL="0">
              <a:buNone/>
            </a:pPr>
            <a:r>
              <a:rPr lang="en-US" sz="1400" b="1" dirty="0">
                <a:solidFill>
                  <a:srgbClr val="3A3A3A"/>
                </a:solidFill>
                <a:latin typeface="Calibri" pitchFamily="34" charset="0"/>
                <a:ea typeface="Calibri" pitchFamily="34" charset="-122"/>
                <a:cs typeface="Calibri" pitchFamily="34" charset="-120"/>
              </a:rPr>
              <a:t>Question</a:t>
            </a:r>
            <a:endParaRPr lang="en-US" sz="1400" dirty="0"/>
          </a:p>
        </p:txBody>
      </p:sp>
      <p:sp>
        <p:nvSpPr>
          <p:cNvPr id="9" name="Text 6"/>
          <p:cNvSpPr/>
          <p:nvPr/>
        </p:nvSpPr>
        <p:spPr>
          <a:xfrm>
            <a:off x="676656" y="3191256"/>
            <a:ext cx="1481328" cy="548640"/>
          </a:xfrm>
          <a:prstGeom prst="rect">
            <a:avLst/>
          </a:prstGeom>
          <a:noFill/>
          <a:ln/>
        </p:spPr>
        <p:txBody>
          <a:bodyPr wrap="square" lIns="0" tIns="0" rIns="0" bIns="0" rtlCol="0" anchor="t"/>
          <a:lstStyle/>
          <a:p>
            <a:pPr indent="0" marL="0">
              <a:buNone/>
            </a:pPr>
            <a:r>
              <a:rPr lang="en-US" sz="1150" dirty="0">
                <a:solidFill>
                  <a:srgbClr val="2F3136"/>
                </a:solidFill>
                <a:latin typeface="Calibri" pitchFamily="34" charset="0"/>
                <a:ea typeface="Calibri" pitchFamily="34" charset="-122"/>
                <a:cs typeface="Calibri" pitchFamily="34" charset="-120"/>
              </a:rPr>
              <a:t>in plain language</a:t>
            </a:r>
            <a:endParaRPr lang="en-US" sz="1150" dirty="0"/>
          </a:p>
        </p:txBody>
      </p:sp>
      <p:sp>
        <p:nvSpPr>
          <p:cNvPr id="10" name="Shape 7"/>
          <p:cNvSpPr/>
          <p:nvPr/>
        </p:nvSpPr>
        <p:spPr>
          <a:xfrm>
            <a:off x="2743200" y="2788920"/>
            <a:ext cx="1737360" cy="1005840"/>
          </a:xfrm>
          <a:prstGeom prst="roundRect">
            <a:avLst>
              <a:gd name="adj" fmla="val 7273"/>
            </a:avLst>
          </a:prstGeom>
          <a:solidFill>
            <a:srgbClr val="484B54"/>
          </a:solidFill>
          <a:ln/>
          <a:effectLst>
            <a:outerShdw sx="100000" sy="100000" kx="0" ky="0" algn="bl" rotWithShape="0" blurRad="76200" dist="25400" dir="5400000">
              <a:srgbClr val="000000">
                <a:alpha val="14000"/>
              </a:srgbClr>
            </a:outerShdw>
          </a:effectLst>
        </p:spPr>
      </p:sp>
      <p:sp>
        <p:nvSpPr>
          <p:cNvPr id="11" name="Text 8"/>
          <p:cNvSpPr/>
          <p:nvPr/>
        </p:nvSpPr>
        <p:spPr>
          <a:xfrm>
            <a:off x="2871216" y="2862072"/>
            <a:ext cx="1481328"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Router</a:t>
            </a:r>
            <a:endParaRPr lang="en-US" sz="1400" dirty="0"/>
          </a:p>
        </p:txBody>
      </p:sp>
      <p:sp>
        <p:nvSpPr>
          <p:cNvPr id="12" name="Text 9"/>
          <p:cNvSpPr/>
          <p:nvPr/>
        </p:nvSpPr>
        <p:spPr>
          <a:xfrm>
            <a:off x="2871216" y="3191256"/>
            <a:ext cx="1481328" cy="548640"/>
          </a:xfrm>
          <a:prstGeom prst="rect">
            <a:avLst/>
          </a:prstGeom>
          <a:noFill/>
          <a:ln/>
        </p:spPr>
        <p:txBody>
          <a:bodyPr wrap="square" lIns="0" tIns="0" rIns="0" bIns="0" rtlCol="0" anchor="t"/>
          <a:lstStyle/>
          <a:p>
            <a:pPr indent="0" marL="0">
              <a:buNone/>
            </a:pPr>
            <a:r>
              <a:rPr lang="en-US" sz="1150" dirty="0">
                <a:solidFill>
                  <a:srgbClr val="E6E6EA"/>
                </a:solidFill>
                <a:latin typeface="Calibri" pitchFamily="34" charset="0"/>
                <a:ea typeface="Calibri" pitchFamily="34" charset="-122"/>
                <a:cs typeface="Calibri" pitchFamily="34" charset="-120"/>
              </a:rPr>
              <a:t>reads KPI, company, year</a:t>
            </a:r>
            <a:endParaRPr lang="en-US" sz="1150" dirty="0"/>
          </a:p>
        </p:txBody>
      </p:sp>
      <p:sp>
        <p:nvSpPr>
          <p:cNvPr id="13" name="Shape 10"/>
          <p:cNvSpPr/>
          <p:nvPr/>
        </p:nvSpPr>
        <p:spPr>
          <a:xfrm>
            <a:off x="5029200" y="2194560"/>
            <a:ext cx="3931920" cy="868680"/>
          </a:xfrm>
          <a:prstGeom prst="roundRect">
            <a:avLst>
              <a:gd name="adj" fmla="val 8421"/>
            </a:avLst>
          </a:prstGeom>
          <a:solidFill>
            <a:srgbClr val="F2F2F2"/>
          </a:solidFill>
          <a:ln/>
          <a:effectLst>
            <a:outerShdw sx="100000" sy="100000" kx="0" ky="0" algn="bl" rotWithShape="0" blurRad="76200" dist="25400" dir="5400000">
              <a:srgbClr val="000000">
                <a:alpha val="14000"/>
              </a:srgbClr>
            </a:outerShdw>
          </a:effectLst>
        </p:spPr>
      </p:sp>
      <p:sp>
        <p:nvSpPr>
          <p:cNvPr id="14" name="Text 11"/>
          <p:cNvSpPr/>
          <p:nvPr/>
        </p:nvSpPr>
        <p:spPr>
          <a:xfrm>
            <a:off x="5157216" y="2267712"/>
            <a:ext cx="3675888" cy="329184"/>
          </a:xfrm>
          <a:prstGeom prst="rect">
            <a:avLst/>
          </a:prstGeom>
          <a:noFill/>
          <a:ln/>
        </p:spPr>
        <p:txBody>
          <a:bodyPr wrap="square" lIns="0" tIns="0" rIns="0" bIns="0" rtlCol="0" anchor="ctr"/>
          <a:lstStyle/>
          <a:p>
            <a:pPr indent="0" marL="0">
              <a:buNone/>
            </a:pPr>
            <a:r>
              <a:rPr lang="en-US" sz="1400" b="1" dirty="0">
                <a:solidFill>
                  <a:srgbClr val="3A3A3A"/>
                </a:solidFill>
                <a:latin typeface="Calibri" pitchFamily="34" charset="0"/>
                <a:ea typeface="Calibri" pitchFamily="34" charset="-122"/>
                <a:cs typeface="Calibri" pitchFamily="34" charset="-120"/>
              </a:rPr>
              <a:t>Figures</a:t>
            </a:r>
            <a:endParaRPr lang="en-US" sz="1400" dirty="0"/>
          </a:p>
        </p:txBody>
      </p:sp>
      <p:sp>
        <p:nvSpPr>
          <p:cNvPr id="15" name="Text 12"/>
          <p:cNvSpPr/>
          <p:nvPr/>
        </p:nvSpPr>
        <p:spPr>
          <a:xfrm>
            <a:off x="5157216" y="2596896"/>
            <a:ext cx="3675888" cy="411480"/>
          </a:xfrm>
          <a:prstGeom prst="rect">
            <a:avLst/>
          </a:prstGeom>
          <a:noFill/>
          <a:ln/>
        </p:spPr>
        <p:txBody>
          <a:bodyPr wrap="square" lIns="0" tIns="0" rIns="0" bIns="0" rtlCol="0" anchor="t"/>
          <a:lstStyle/>
          <a:p>
            <a:pPr indent="0" marL="0">
              <a:buNone/>
            </a:pPr>
            <a:r>
              <a:rPr lang="en-US" sz="1150" dirty="0">
                <a:solidFill>
                  <a:srgbClr val="2F3136"/>
                </a:solidFill>
                <a:latin typeface="Calibri" pitchFamily="34" charset="0"/>
                <a:ea typeface="Calibri" pitchFamily="34" charset="-122"/>
                <a:cs typeface="Calibri" pitchFamily="34" charset="-120"/>
              </a:rPr>
              <a:t>database query (SQL, read-only)</a:t>
            </a:r>
            <a:endParaRPr lang="en-US" sz="1150" dirty="0"/>
          </a:p>
        </p:txBody>
      </p:sp>
      <p:sp>
        <p:nvSpPr>
          <p:cNvPr id="16" name="Shape 13"/>
          <p:cNvSpPr/>
          <p:nvPr/>
        </p:nvSpPr>
        <p:spPr>
          <a:xfrm>
            <a:off x="5029200" y="3246120"/>
            <a:ext cx="3931920" cy="868680"/>
          </a:xfrm>
          <a:prstGeom prst="roundRect">
            <a:avLst>
              <a:gd name="adj" fmla="val 8421"/>
            </a:avLst>
          </a:prstGeom>
          <a:solidFill>
            <a:srgbClr val="F2F2F2"/>
          </a:solidFill>
          <a:ln/>
          <a:effectLst>
            <a:outerShdw sx="100000" sy="100000" kx="0" ky="0" algn="bl" rotWithShape="0" blurRad="76200" dist="25400" dir="5400000">
              <a:srgbClr val="000000">
                <a:alpha val="14000"/>
              </a:srgbClr>
            </a:outerShdw>
          </a:effectLst>
        </p:spPr>
      </p:sp>
      <p:sp>
        <p:nvSpPr>
          <p:cNvPr id="17" name="Text 14"/>
          <p:cNvSpPr/>
          <p:nvPr/>
        </p:nvSpPr>
        <p:spPr>
          <a:xfrm>
            <a:off x="5157216" y="3319272"/>
            <a:ext cx="3675888" cy="329184"/>
          </a:xfrm>
          <a:prstGeom prst="rect">
            <a:avLst/>
          </a:prstGeom>
          <a:noFill/>
          <a:ln/>
        </p:spPr>
        <p:txBody>
          <a:bodyPr wrap="square" lIns="0" tIns="0" rIns="0" bIns="0" rtlCol="0" anchor="ctr"/>
          <a:lstStyle/>
          <a:p>
            <a:pPr indent="0" marL="0">
              <a:buNone/>
            </a:pPr>
            <a:r>
              <a:rPr lang="en-US" sz="1400" b="1" dirty="0">
                <a:solidFill>
                  <a:srgbClr val="3A3A3A"/>
                </a:solidFill>
                <a:latin typeface="Calibri" pitchFamily="34" charset="0"/>
                <a:ea typeface="Calibri" pitchFamily="34" charset="-122"/>
                <a:cs typeface="Calibri" pitchFamily="34" charset="-120"/>
              </a:rPr>
              <a:t>Future</a:t>
            </a:r>
            <a:endParaRPr lang="en-US" sz="1400" dirty="0"/>
          </a:p>
        </p:txBody>
      </p:sp>
      <p:sp>
        <p:nvSpPr>
          <p:cNvPr id="18" name="Text 15"/>
          <p:cNvSpPr/>
          <p:nvPr/>
        </p:nvSpPr>
        <p:spPr>
          <a:xfrm>
            <a:off x="5157216" y="3648456"/>
            <a:ext cx="3675888" cy="411480"/>
          </a:xfrm>
          <a:prstGeom prst="rect">
            <a:avLst/>
          </a:prstGeom>
          <a:noFill/>
          <a:ln/>
        </p:spPr>
        <p:txBody>
          <a:bodyPr wrap="square" lIns="0" tIns="0" rIns="0" bIns="0" rtlCol="0" anchor="t"/>
          <a:lstStyle/>
          <a:p>
            <a:pPr indent="0" marL="0">
              <a:buNone/>
            </a:pPr>
            <a:r>
              <a:rPr lang="en-US" sz="1150" dirty="0">
                <a:solidFill>
                  <a:srgbClr val="2F3136"/>
                </a:solidFill>
                <a:latin typeface="Calibri" pitchFamily="34" charset="0"/>
                <a:ea typeface="Calibri" pitchFamily="34" charset="-122"/>
                <a:cs typeface="Calibri" pitchFamily="34" charset="-120"/>
              </a:rPr>
              <a:t>forecast: Prophet vs XGBoost</a:t>
            </a:r>
            <a:endParaRPr lang="en-US" sz="1150" dirty="0"/>
          </a:p>
        </p:txBody>
      </p:sp>
      <p:sp>
        <p:nvSpPr>
          <p:cNvPr id="19" name="Shape 16"/>
          <p:cNvSpPr/>
          <p:nvPr/>
        </p:nvSpPr>
        <p:spPr>
          <a:xfrm>
            <a:off x="5029200" y="4297680"/>
            <a:ext cx="3931920" cy="868680"/>
          </a:xfrm>
          <a:prstGeom prst="roundRect">
            <a:avLst>
              <a:gd name="adj" fmla="val 8421"/>
            </a:avLst>
          </a:prstGeom>
          <a:solidFill>
            <a:srgbClr val="FFE600"/>
          </a:solidFill>
          <a:ln/>
          <a:effectLst>
            <a:outerShdw sx="100000" sy="100000" kx="0" ky="0" algn="bl" rotWithShape="0" blurRad="76200" dist="25400" dir="5400000">
              <a:srgbClr val="000000">
                <a:alpha val="14000"/>
              </a:srgbClr>
            </a:outerShdw>
          </a:effectLst>
        </p:spPr>
      </p:sp>
      <p:sp>
        <p:nvSpPr>
          <p:cNvPr id="20" name="Text 17"/>
          <p:cNvSpPr/>
          <p:nvPr/>
        </p:nvSpPr>
        <p:spPr>
          <a:xfrm>
            <a:off x="5157216" y="4370832"/>
            <a:ext cx="3675888" cy="329184"/>
          </a:xfrm>
          <a:prstGeom prst="rect">
            <a:avLst/>
          </a:prstGeom>
          <a:noFill/>
          <a:ln/>
        </p:spPr>
        <p:txBody>
          <a:bodyPr wrap="square" lIns="0" tIns="0" rIns="0" bIns="0" rtlCol="0" anchor="ctr"/>
          <a:lstStyle/>
          <a:p>
            <a:pPr indent="0" marL="0">
              <a:buNone/>
            </a:pPr>
            <a:r>
              <a:rPr lang="en-US" sz="1400" b="1" dirty="0">
                <a:solidFill>
                  <a:srgbClr val="3A3A3A"/>
                </a:solidFill>
                <a:latin typeface="Calibri" pitchFamily="34" charset="0"/>
                <a:ea typeface="Calibri" pitchFamily="34" charset="-122"/>
                <a:cs typeface="Calibri" pitchFamily="34" charset="-120"/>
              </a:rPr>
              <a:t>Regulation</a:t>
            </a:r>
            <a:endParaRPr lang="en-US" sz="1400" dirty="0"/>
          </a:p>
        </p:txBody>
      </p:sp>
      <p:sp>
        <p:nvSpPr>
          <p:cNvPr id="21" name="Text 18"/>
          <p:cNvSpPr/>
          <p:nvPr/>
        </p:nvSpPr>
        <p:spPr>
          <a:xfrm>
            <a:off x="5157216" y="4700016"/>
            <a:ext cx="3675888" cy="411480"/>
          </a:xfrm>
          <a:prstGeom prst="rect">
            <a:avLst/>
          </a:prstGeom>
          <a:noFill/>
          <a:ln/>
        </p:spPr>
        <p:txBody>
          <a:bodyPr wrap="square" lIns="0" tIns="0" rIns="0" bIns="0" rtlCol="0" anchor="t"/>
          <a:lstStyle/>
          <a:p>
            <a:pPr indent="0" marL="0">
              <a:buNone/>
            </a:pPr>
            <a:r>
              <a:rPr lang="en-US" sz="1150" dirty="0">
                <a:solidFill>
                  <a:srgbClr val="2F3136"/>
                </a:solidFill>
                <a:latin typeface="Calibri" pitchFamily="34" charset="0"/>
                <a:ea typeface="Calibri" pitchFamily="34" charset="-122"/>
                <a:cs typeface="Calibri" pitchFamily="34" charset="-120"/>
              </a:rPr>
              <a:t>RAG on legal documents</a:t>
            </a:r>
            <a:endParaRPr lang="en-US" sz="1150" dirty="0"/>
          </a:p>
        </p:txBody>
      </p:sp>
      <p:sp>
        <p:nvSpPr>
          <p:cNvPr id="22" name="Shape 19"/>
          <p:cNvSpPr/>
          <p:nvPr/>
        </p:nvSpPr>
        <p:spPr>
          <a:xfrm>
            <a:off x="9509760" y="2788920"/>
            <a:ext cx="2130552" cy="1005840"/>
          </a:xfrm>
          <a:prstGeom prst="roundRect">
            <a:avLst>
              <a:gd name="adj" fmla="val 7273"/>
            </a:avLst>
          </a:prstGeom>
          <a:solidFill>
            <a:srgbClr val="484B54"/>
          </a:solidFill>
          <a:ln/>
          <a:effectLst>
            <a:outerShdw sx="100000" sy="100000" kx="0" ky="0" algn="bl" rotWithShape="0" blurRad="76200" dist="25400" dir="5400000">
              <a:srgbClr val="000000">
                <a:alpha val="14000"/>
              </a:srgbClr>
            </a:outerShdw>
          </a:effectLst>
        </p:spPr>
      </p:sp>
      <p:sp>
        <p:nvSpPr>
          <p:cNvPr id="23" name="Text 20"/>
          <p:cNvSpPr/>
          <p:nvPr/>
        </p:nvSpPr>
        <p:spPr>
          <a:xfrm>
            <a:off x="9637776" y="2862072"/>
            <a:ext cx="1874520"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Answer</a:t>
            </a:r>
            <a:endParaRPr lang="en-US" sz="1400" dirty="0"/>
          </a:p>
        </p:txBody>
      </p:sp>
      <p:sp>
        <p:nvSpPr>
          <p:cNvPr id="24" name="Text 21"/>
          <p:cNvSpPr/>
          <p:nvPr/>
        </p:nvSpPr>
        <p:spPr>
          <a:xfrm>
            <a:off x="9637776" y="3191256"/>
            <a:ext cx="1874520" cy="548640"/>
          </a:xfrm>
          <a:prstGeom prst="rect">
            <a:avLst/>
          </a:prstGeom>
          <a:noFill/>
          <a:ln/>
        </p:spPr>
        <p:txBody>
          <a:bodyPr wrap="square" lIns="0" tIns="0" rIns="0" bIns="0" rtlCol="0" anchor="t"/>
          <a:lstStyle/>
          <a:p>
            <a:pPr indent="0" marL="0">
              <a:buNone/>
            </a:pPr>
            <a:r>
              <a:rPr lang="en-US" sz="1150" dirty="0">
                <a:solidFill>
                  <a:srgbClr val="E6E6EA"/>
                </a:solidFill>
                <a:latin typeface="Calibri" pitchFamily="34" charset="0"/>
                <a:ea typeface="Calibri" pitchFamily="34" charset="-122"/>
                <a:cs typeface="Calibri" pitchFamily="34" charset="-120"/>
              </a:rPr>
              <a:t>with figures and sources</a:t>
            </a:r>
            <a:endParaRPr lang="en-US" sz="1150" dirty="0"/>
          </a:p>
        </p:txBody>
      </p:sp>
      <p:sp>
        <p:nvSpPr>
          <p:cNvPr id="25" name="Shape 22"/>
          <p:cNvSpPr/>
          <p:nvPr/>
        </p:nvSpPr>
        <p:spPr>
          <a:xfrm>
            <a:off x="2286000" y="3291840"/>
            <a:ext cx="457200" cy="0"/>
          </a:xfrm>
          <a:prstGeom prst="line">
            <a:avLst/>
          </a:prstGeom>
          <a:noFill/>
          <a:ln w="22225">
            <a:solidFill>
              <a:srgbClr val="9A9CA5"/>
            </a:solidFill>
            <a:prstDash val="solid"/>
            <a:tailEnd type="triangle"/>
          </a:ln>
        </p:spPr>
      </p:sp>
      <p:sp>
        <p:nvSpPr>
          <p:cNvPr id="26" name="Shape 23"/>
          <p:cNvSpPr/>
          <p:nvPr/>
        </p:nvSpPr>
        <p:spPr>
          <a:xfrm flipV="1">
            <a:off x="4480560" y="2633472"/>
            <a:ext cx="548640" cy="658368"/>
          </a:xfrm>
          <a:prstGeom prst="line">
            <a:avLst/>
          </a:prstGeom>
          <a:noFill/>
          <a:ln w="22225">
            <a:solidFill>
              <a:srgbClr val="9A9CA5"/>
            </a:solidFill>
            <a:prstDash val="solid"/>
            <a:tailEnd type="triangle"/>
          </a:ln>
        </p:spPr>
      </p:sp>
      <p:sp>
        <p:nvSpPr>
          <p:cNvPr id="27" name="Shape 24"/>
          <p:cNvSpPr/>
          <p:nvPr/>
        </p:nvSpPr>
        <p:spPr>
          <a:xfrm>
            <a:off x="4480560" y="3291840"/>
            <a:ext cx="548640" cy="384048"/>
          </a:xfrm>
          <a:prstGeom prst="line">
            <a:avLst/>
          </a:prstGeom>
          <a:noFill/>
          <a:ln w="22225">
            <a:solidFill>
              <a:srgbClr val="9A9CA5"/>
            </a:solidFill>
            <a:prstDash val="solid"/>
            <a:tailEnd type="triangle"/>
          </a:ln>
        </p:spPr>
      </p:sp>
      <p:sp>
        <p:nvSpPr>
          <p:cNvPr id="28" name="Shape 25"/>
          <p:cNvSpPr/>
          <p:nvPr/>
        </p:nvSpPr>
        <p:spPr>
          <a:xfrm>
            <a:off x="4480560" y="3291840"/>
            <a:ext cx="548640" cy="1435608"/>
          </a:xfrm>
          <a:prstGeom prst="line">
            <a:avLst/>
          </a:prstGeom>
          <a:noFill/>
          <a:ln w="22225">
            <a:solidFill>
              <a:srgbClr val="9A9CA5"/>
            </a:solidFill>
            <a:prstDash val="solid"/>
            <a:tailEnd type="triangle"/>
          </a:ln>
        </p:spPr>
      </p:sp>
      <p:sp>
        <p:nvSpPr>
          <p:cNvPr id="29" name="Shape 26"/>
          <p:cNvSpPr/>
          <p:nvPr/>
        </p:nvSpPr>
        <p:spPr>
          <a:xfrm>
            <a:off x="8961120" y="2633472"/>
            <a:ext cx="548640" cy="475488"/>
          </a:xfrm>
          <a:prstGeom prst="line">
            <a:avLst/>
          </a:prstGeom>
          <a:noFill/>
          <a:ln w="22225">
            <a:solidFill>
              <a:srgbClr val="9A9CA5"/>
            </a:solidFill>
            <a:prstDash val="solid"/>
            <a:tailEnd type="triangle"/>
          </a:ln>
        </p:spPr>
      </p:sp>
      <p:sp>
        <p:nvSpPr>
          <p:cNvPr id="30" name="Shape 27"/>
          <p:cNvSpPr/>
          <p:nvPr/>
        </p:nvSpPr>
        <p:spPr>
          <a:xfrm flipV="1">
            <a:off x="8961120" y="3291840"/>
            <a:ext cx="548640" cy="384048"/>
          </a:xfrm>
          <a:prstGeom prst="line">
            <a:avLst/>
          </a:prstGeom>
          <a:noFill/>
          <a:ln w="22225">
            <a:solidFill>
              <a:srgbClr val="9A9CA5"/>
            </a:solidFill>
            <a:prstDash val="solid"/>
            <a:tailEnd type="triangle"/>
          </a:ln>
        </p:spPr>
      </p:sp>
      <p:sp>
        <p:nvSpPr>
          <p:cNvPr id="31" name="Shape 28"/>
          <p:cNvSpPr/>
          <p:nvPr/>
        </p:nvSpPr>
        <p:spPr>
          <a:xfrm flipV="1">
            <a:off x="8961120" y="3474720"/>
            <a:ext cx="548640" cy="1252728"/>
          </a:xfrm>
          <a:prstGeom prst="line">
            <a:avLst/>
          </a:prstGeom>
          <a:noFill/>
          <a:ln w="22225">
            <a:solidFill>
              <a:srgbClr val="9A9CA5"/>
            </a:solidFill>
            <a:prstDash val="solid"/>
            <a:tailEnd type="triangle"/>
          </a:ln>
        </p:spPr>
      </p:sp>
      <p:sp>
        <p:nvSpPr>
          <p:cNvPr id="32" name="Text 29"/>
          <p:cNvSpPr/>
          <p:nvPr/>
        </p:nvSpPr>
        <p:spPr>
          <a:xfrm>
            <a:off x="548640" y="5303520"/>
            <a:ext cx="365760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RAG IN 3 STEPS</a:t>
            </a:r>
            <a:endParaRPr lang="en-US" sz="1100" dirty="0"/>
          </a:p>
        </p:txBody>
      </p:sp>
      <p:sp>
        <p:nvSpPr>
          <p:cNvPr id="33" name="Shape 30"/>
          <p:cNvSpPr/>
          <p:nvPr/>
        </p:nvSpPr>
        <p:spPr>
          <a:xfrm>
            <a:off x="548640" y="5577840"/>
            <a:ext cx="3520440" cy="914400"/>
          </a:xfrm>
          <a:prstGeom prst="roundRect">
            <a:avLst>
              <a:gd name="adj" fmla="val 8000"/>
            </a:avLst>
          </a:prstGeom>
          <a:solidFill>
            <a:srgbClr val="FFFFFF"/>
          </a:solidFill>
          <a:ln w="19050">
            <a:solidFill>
              <a:srgbClr val="484B54"/>
            </a:solidFill>
            <a:prstDash val="solid"/>
          </a:ln>
        </p:spPr>
      </p:sp>
      <p:sp>
        <p:nvSpPr>
          <p:cNvPr id="34" name="Text 31"/>
          <p:cNvSpPr/>
          <p:nvPr/>
        </p:nvSpPr>
        <p:spPr>
          <a:xfrm>
            <a:off x="685800" y="5614416"/>
            <a:ext cx="3246120" cy="292608"/>
          </a:xfrm>
          <a:prstGeom prst="rect">
            <a:avLst/>
          </a:prstGeom>
          <a:noFill/>
          <a:ln/>
        </p:spPr>
        <p:txBody>
          <a:bodyPr wrap="square" lIns="0" tIns="0" rIns="0" bIns="0" rtlCol="0" anchor="ctr"/>
          <a:lstStyle/>
          <a:p>
            <a:pPr indent="0" marL="0">
              <a:buNone/>
            </a:pPr>
            <a:r>
              <a:rPr lang="en-US" sz="1350" b="1" dirty="0">
                <a:solidFill>
                  <a:srgbClr val="3A3A3A"/>
                </a:solidFill>
                <a:latin typeface="Calibri" pitchFamily="34" charset="0"/>
                <a:ea typeface="Calibri" pitchFamily="34" charset="-122"/>
                <a:cs typeface="Calibri" pitchFamily="34" charset="-120"/>
              </a:rPr>
              <a:t>1  Retrieve</a:t>
            </a:r>
            <a:endParaRPr lang="en-US" sz="1350" dirty="0"/>
          </a:p>
        </p:txBody>
      </p:sp>
      <p:sp>
        <p:nvSpPr>
          <p:cNvPr id="35" name="Text 32"/>
          <p:cNvSpPr/>
          <p:nvPr/>
        </p:nvSpPr>
        <p:spPr>
          <a:xfrm>
            <a:off x="685800" y="5907024"/>
            <a:ext cx="3246120" cy="548640"/>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the 3 best passages among 11 legal texts and 106 CGA report extracts</a:t>
            </a:r>
            <a:endParaRPr lang="en-US" sz="1200" dirty="0"/>
          </a:p>
        </p:txBody>
      </p:sp>
      <p:sp>
        <p:nvSpPr>
          <p:cNvPr id="36" name="Shape 33"/>
          <p:cNvSpPr/>
          <p:nvPr/>
        </p:nvSpPr>
        <p:spPr>
          <a:xfrm>
            <a:off x="4096512" y="6035040"/>
            <a:ext cx="210312" cy="0"/>
          </a:xfrm>
          <a:prstGeom prst="line">
            <a:avLst/>
          </a:prstGeom>
          <a:noFill/>
          <a:ln w="22225">
            <a:solidFill>
              <a:srgbClr val="9A9CA5"/>
            </a:solidFill>
            <a:prstDash val="solid"/>
            <a:tailEnd type="triangle"/>
          </a:ln>
        </p:spPr>
      </p:sp>
      <p:sp>
        <p:nvSpPr>
          <p:cNvPr id="37" name="Shape 34"/>
          <p:cNvSpPr/>
          <p:nvPr/>
        </p:nvSpPr>
        <p:spPr>
          <a:xfrm>
            <a:off x="4334256" y="5577840"/>
            <a:ext cx="3520440" cy="914400"/>
          </a:xfrm>
          <a:prstGeom prst="roundRect">
            <a:avLst>
              <a:gd name="adj" fmla="val 8000"/>
            </a:avLst>
          </a:prstGeom>
          <a:solidFill>
            <a:srgbClr val="FFFFFF"/>
          </a:solidFill>
          <a:ln w="19050">
            <a:solidFill>
              <a:srgbClr val="484B54"/>
            </a:solidFill>
            <a:prstDash val="solid"/>
          </a:ln>
        </p:spPr>
      </p:sp>
      <p:sp>
        <p:nvSpPr>
          <p:cNvPr id="38" name="Text 35"/>
          <p:cNvSpPr/>
          <p:nvPr/>
        </p:nvSpPr>
        <p:spPr>
          <a:xfrm>
            <a:off x="4471416" y="5614416"/>
            <a:ext cx="3246120" cy="292608"/>
          </a:xfrm>
          <a:prstGeom prst="rect">
            <a:avLst/>
          </a:prstGeom>
          <a:noFill/>
          <a:ln/>
        </p:spPr>
        <p:txBody>
          <a:bodyPr wrap="square" lIns="0" tIns="0" rIns="0" bIns="0" rtlCol="0" anchor="ctr"/>
          <a:lstStyle/>
          <a:p>
            <a:pPr indent="0" marL="0">
              <a:buNone/>
            </a:pPr>
            <a:r>
              <a:rPr lang="en-US" sz="1350" b="1" dirty="0">
                <a:solidFill>
                  <a:srgbClr val="3A3A3A"/>
                </a:solidFill>
                <a:latin typeface="Calibri" pitchFamily="34" charset="0"/>
                <a:ea typeface="Calibri" pitchFamily="34" charset="-122"/>
                <a:cs typeface="Calibri" pitchFamily="34" charset="-120"/>
              </a:rPr>
              <a:t>2  Read</a:t>
            </a:r>
            <a:endParaRPr lang="en-US" sz="1350" dirty="0"/>
          </a:p>
        </p:txBody>
      </p:sp>
      <p:sp>
        <p:nvSpPr>
          <p:cNvPr id="39" name="Text 36"/>
          <p:cNvSpPr/>
          <p:nvPr/>
        </p:nvSpPr>
        <p:spPr>
          <a:xfrm>
            <a:off x="4471416" y="5907024"/>
            <a:ext cx="3246120" cy="548640"/>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the LLM receives only these passages</a:t>
            </a:r>
            <a:endParaRPr lang="en-US" sz="1200" dirty="0"/>
          </a:p>
        </p:txBody>
      </p:sp>
      <p:sp>
        <p:nvSpPr>
          <p:cNvPr id="40" name="Shape 37"/>
          <p:cNvSpPr/>
          <p:nvPr/>
        </p:nvSpPr>
        <p:spPr>
          <a:xfrm>
            <a:off x="7882128" y="6035040"/>
            <a:ext cx="210312" cy="0"/>
          </a:xfrm>
          <a:prstGeom prst="line">
            <a:avLst/>
          </a:prstGeom>
          <a:noFill/>
          <a:ln w="22225">
            <a:solidFill>
              <a:srgbClr val="9A9CA5"/>
            </a:solidFill>
            <a:prstDash val="solid"/>
            <a:tailEnd type="triangle"/>
          </a:ln>
        </p:spPr>
      </p:sp>
      <p:sp>
        <p:nvSpPr>
          <p:cNvPr id="41" name="Shape 38"/>
          <p:cNvSpPr/>
          <p:nvPr/>
        </p:nvSpPr>
        <p:spPr>
          <a:xfrm>
            <a:off x="8119872" y="5577840"/>
            <a:ext cx="3520440" cy="914400"/>
          </a:xfrm>
          <a:prstGeom prst="roundRect">
            <a:avLst>
              <a:gd name="adj" fmla="val 8000"/>
            </a:avLst>
          </a:prstGeom>
          <a:solidFill>
            <a:srgbClr val="FFFFFF"/>
          </a:solidFill>
          <a:ln w="19050">
            <a:solidFill>
              <a:srgbClr val="484B54"/>
            </a:solidFill>
            <a:prstDash val="solid"/>
          </a:ln>
        </p:spPr>
      </p:sp>
      <p:sp>
        <p:nvSpPr>
          <p:cNvPr id="42" name="Text 39"/>
          <p:cNvSpPr/>
          <p:nvPr/>
        </p:nvSpPr>
        <p:spPr>
          <a:xfrm>
            <a:off x="8257032" y="5614416"/>
            <a:ext cx="3246120" cy="292608"/>
          </a:xfrm>
          <a:prstGeom prst="rect">
            <a:avLst/>
          </a:prstGeom>
          <a:noFill/>
          <a:ln/>
        </p:spPr>
        <p:txBody>
          <a:bodyPr wrap="square" lIns="0" tIns="0" rIns="0" bIns="0" rtlCol="0" anchor="ctr"/>
          <a:lstStyle/>
          <a:p>
            <a:pPr indent="0" marL="0">
              <a:buNone/>
            </a:pPr>
            <a:r>
              <a:rPr lang="en-US" sz="1350" b="1" dirty="0">
                <a:solidFill>
                  <a:srgbClr val="3A3A3A"/>
                </a:solidFill>
                <a:latin typeface="Calibri" pitchFamily="34" charset="0"/>
                <a:ea typeface="Calibri" pitchFamily="34" charset="-122"/>
                <a:cs typeface="Calibri" pitchFamily="34" charset="-120"/>
              </a:rPr>
              <a:t>3  Answer</a:t>
            </a:r>
            <a:endParaRPr lang="en-US" sz="1350" dirty="0"/>
          </a:p>
        </p:txBody>
      </p:sp>
      <p:sp>
        <p:nvSpPr>
          <p:cNvPr id="43" name="Text 40"/>
          <p:cNvSpPr/>
          <p:nvPr/>
        </p:nvSpPr>
        <p:spPr>
          <a:xfrm>
            <a:off x="8257032" y="5907024"/>
            <a:ext cx="3246120" cy="548640"/>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with cited sources, or says the answer is not in the documents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E. AI layer</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Generative AI · Anomaly report  -</a:t>
            </a:r>
            <a:endParaRPr lang="en-US" sz="2200" dirty="0"/>
          </a:p>
        </p:txBody>
      </p:sp>
      <p:sp>
        <p:nvSpPr>
          <p:cNvPr id="7" name="Shape 4"/>
          <p:cNvSpPr/>
          <p:nvPr/>
        </p:nvSpPr>
        <p:spPr>
          <a:xfrm>
            <a:off x="548640" y="2194560"/>
            <a:ext cx="11091672" cy="658368"/>
          </a:xfrm>
          <a:prstGeom prst="roundRect">
            <a:avLst>
              <a:gd name="adj" fmla="val 11111"/>
            </a:avLst>
          </a:prstGeom>
          <a:solidFill>
            <a:srgbClr val="FFFFFF"/>
          </a:solidFill>
          <a:ln w="19050">
            <a:solidFill>
              <a:srgbClr val="484B54"/>
            </a:solidFill>
            <a:prstDash val="solid"/>
          </a:ln>
        </p:spPr>
      </p:sp>
      <p:sp>
        <p:nvSpPr>
          <p:cNvPr id="8" name="Text 5"/>
          <p:cNvSpPr/>
          <p:nvPr/>
        </p:nvSpPr>
        <p:spPr>
          <a:xfrm>
            <a:off x="777240" y="2194560"/>
            <a:ext cx="1737360" cy="658368"/>
          </a:xfrm>
          <a:prstGeom prst="rect">
            <a:avLst/>
          </a:prstGeom>
          <a:noFill/>
          <a:ln/>
        </p:spPr>
        <p:txBody>
          <a:bodyPr wrap="square" lIns="0" tIns="0" rIns="0" bIns="0" rtlCol="0" anchor="ctr"/>
          <a:lstStyle/>
          <a:p>
            <a:pPr indent="0" marL="0">
              <a:buNone/>
            </a:pPr>
            <a:r>
              <a:rPr lang="en-US" sz="1100" b="1" spc="160" kern="0" dirty="0">
                <a:solidFill>
                  <a:srgbClr val="8B8B90"/>
                </a:solidFill>
                <a:latin typeface="Calibri" pitchFamily="34" charset="0"/>
                <a:ea typeface="Calibri" pitchFamily="34" charset="-122"/>
                <a:cs typeface="Calibri" pitchFamily="34" charset="-120"/>
              </a:rPr>
              <a:t>THE PROBLEM</a:t>
            </a:r>
            <a:endParaRPr lang="en-US" sz="1100" dirty="0"/>
          </a:p>
        </p:txBody>
      </p:sp>
      <p:sp>
        <p:nvSpPr>
          <p:cNvPr id="9" name="Text 6"/>
          <p:cNvSpPr/>
          <p:nvPr/>
        </p:nvSpPr>
        <p:spPr>
          <a:xfrm>
            <a:off x="2514600" y="2194560"/>
            <a:ext cx="9006840" cy="658368"/>
          </a:xfrm>
          <a:prstGeom prst="rect">
            <a:avLst/>
          </a:prstGeom>
          <a:noFill/>
          <a:ln/>
        </p:spPr>
        <p:txBody>
          <a:bodyPr wrap="square" lIns="0" tIns="0" rIns="0" bIns="0" rtlCol="0" anchor="ctr"/>
          <a:lstStyle/>
          <a:p>
            <a:pPr indent="0" marL="0">
              <a:buNone/>
            </a:pPr>
            <a:r>
              <a:rPr lang="en-US" sz="1400" dirty="0">
                <a:solidFill>
                  <a:srgbClr val="2F3136"/>
                </a:solidFill>
                <a:latin typeface="Calibri" pitchFamily="34" charset="0"/>
                <a:ea typeface="Calibri" pitchFamily="34" charset="-122"/>
                <a:cs typeface="Calibri" pitchFamily="34" charset="-120"/>
              </a:rPr>
              <a:t>Dozens of anomalies are detected each year (37 to 84); a consultant needs a short, reliable report, not a list.</a:t>
            </a:r>
            <a:endParaRPr lang="en-US" sz="1400" dirty="0"/>
          </a:p>
        </p:txBody>
      </p:sp>
      <p:sp>
        <p:nvSpPr>
          <p:cNvPr id="10" name="Shape 7"/>
          <p:cNvSpPr/>
          <p:nvPr/>
        </p:nvSpPr>
        <p:spPr>
          <a:xfrm>
            <a:off x="548640" y="3127248"/>
            <a:ext cx="1911096"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11" name="Shape 8"/>
          <p:cNvSpPr/>
          <p:nvPr/>
        </p:nvSpPr>
        <p:spPr>
          <a:xfrm>
            <a:off x="685800" y="3264408"/>
            <a:ext cx="365760" cy="365760"/>
          </a:xfrm>
          <a:prstGeom prst="ellipse">
            <a:avLst/>
          </a:prstGeom>
          <a:solidFill>
            <a:srgbClr val="FFE600"/>
          </a:solidFill>
          <a:ln/>
        </p:spPr>
      </p:sp>
      <p:sp>
        <p:nvSpPr>
          <p:cNvPr id="12" name="Text 9"/>
          <p:cNvSpPr/>
          <p:nvPr/>
        </p:nvSpPr>
        <p:spPr>
          <a:xfrm>
            <a:off x="68580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1</a:t>
            </a:r>
            <a:endParaRPr lang="en-US" sz="1300" dirty="0"/>
          </a:p>
        </p:txBody>
      </p:sp>
      <p:sp>
        <p:nvSpPr>
          <p:cNvPr id="13" name="Text 10"/>
          <p:cNvSpPr/>
          <p:nvPr/>
        </p:nvSpPr>
        <p:spPr>
          <a:xfrm>
            <a:off x="1143000" y="3246120"/>
            <a:ext cx="1225296"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Detect</a:t>
            </a:r>
            <a:endParaRPr lang="en-US" sz="1500" dirty="0"/>
          </a:p>
        </p:txBody>
      </p:sp>
      <p:sp>
        <p:nvSpPr>
          <p:cNvPr id="14" name="Text 11"/>
          <p:cNvSpPr/>
          <p:nvPr/>
        </p:nvSpPr>
        <p:spPr>
          <a:xfrm>
            <a:off x="713232" y="3767328"/>
            <a:ext cx="1600200"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Rules audit the extracted data and list the anomalies.</a:t>
            </a:r>
            <a:endParaRPr lang="en-US" sz="1250" dirty="0"/>
          </a:p>
        </p:txBody>
      </p:sp>
      <p:sp>
        <p:nvSpPr>
          <p:cNvPr id="15" name="Shape 12"/>
          <p:cNvSpPr/>
          <p:nvPr/>
        </p:nvSpPr>
        <p:spPr>
          <a:xfrm>
            <a:off x="2496312" y="4018788"/>
            <a:ext cx="310896" cy="0"/>
          </a:xfrm>
          <a:prstGeom prst="line">
            <a:avLst/>
          </a:prstGeom>
          <a:noFill/>
          <a:ln w="22225">
            <a:solidFill>
              <a:srgbClr val="9A9CA5"/>
            </a:solidFill>
            <a:prstDash val="solid"/>
            <a:tailEnd type="triangle"/>
          </a:ln>
        </p:spPr>
      </p:sp>
      <p:sp>
        <p:nvSpPr>
          <p:cNvPr id="16" name="Shape 13"/>
          <p:cNvSpPr/>
          <p:nvPr/>
        </p:nvSpPr>
        <p:spPr>
          <a:xfrm>
            <a:off x="2843784" y="3127248"/>
            <a:ext cx="1911096"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17" name="Shape 14"/>
          <p:cNvSpPr/>
          <p:nvPr/>
        </p:nvSpPr>
        <p:spPr>
          <a:xfrm>
            <a:off x="2980944" y="3264408"/>
            <a:ext cx="365760" cy="365760"/>
          </a:xfrm>
          <a:prstGeom prst="ellipse">
            <a:avLst/>
          </a:prstGeom>
          <a:solidFill>
            <a:srgbClr val="FFE600"/>
          </a:solidFill>
          <a:ln/>
        </p:spPr>
      </p:sp>
      <p:sp>
        <p:nvSpPr>
          <p:cNvPr id="18" name="Text 15"/>
          <p:cNvSpPr/>
          <p:nvPr/>
        </p:nvSpPr>
        <p:spPr>
          <a:xfrm>
            <a:off x="2980944"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2</a:t>
            </a:r>
            <a:endParaRPr lang="en-US" sz="1300" dirty="0"/>
          </a:p>
        </p:txBody>
      </p:sp>
      <p:sp>
        <p:nvSpPr>
          <p:cNvPr id="19" name="Text 16"/>
          <p:cNvSpPr/>
          <p:nvPr/>
        </p:nvSpPr>
        <p:spPr>
          <a:xfrm>
            <a:off x="3438144" y="3246120"/>
            <a:ext cx="1225296"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Summarise</a:t>
            </a:r>
            <a:endParaRPr lang="en-US" sz="1500" dirty="0"/>
          </a:p>
        </p:txBody>
      </p:sp>
      <p:sp>
        <p:nvSpPr>
          <p:cNvPr id="20" name="Text 17"/>
          <p:cNvSpPr/>
          <p:nvPr/>
        </p:nvSpPr>
        <p:spPr>
          <a:xfrm>
            <a:off x="3008376" y="3767328"/>
            <a:ext cx="1600200"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Counts, severity, most affected KPIs and a sample of real causes.</a:t>
            </a:r>
            <a:endParaRPr lang="en-US" sz="1250" dirty="0"/>
          </a:p>
        </p:txBody>
      </p:sp>
      <p:sp>
        <p:nvSpPr>
          <p:cNvPr id="21" name="Shape 18"/>
          <p:cNvSpPr/>
          <p:nvPr/>
        </p:nvSpPr>
        <p:spPr>
          <a:xfrm>
            <a:off x="4791456" y="4018788"/>
            <a:ext cx="310896" cy="0"/>
          </a:xfrm>
          <a:prstGeom prst="line">
            <a:avLst/>
          </a:prstGeom>
          <a:noFill/>
          <a:ln w="22225">
            <a:solidFill>
              <a:srgbClr val="9A9CA5"/>
            </a:solidFill>
            <a:prstDash val="solid"/>
            <a:tailEnd type="triangle"/>
          </a:ln>
        </p:spPr>
      </p:sp>
      <p:sp>
        <p:nvSpPr>
          <p:cNvPr id="22" name="Shape 19"/>
          <p:cNvSpPr/>
          <p:nvPr/>
        </p:nvSpPr>
        <p:spPr>
          <a:xfrm>
            <a:off x="5138928" y="3127248"/>
            <a:ext cx="1911096"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23" name="Shape 20"/>
          <p:cNvSpPr/>
          <p:nvPr/>
        </p:nvSpPr>
        <p:spPr>
          <a:xfrm>
            <a:off x="5276088" y="3264408"/>
            <a:ext cx="365760" cy="365760"/>
          </a:xfrm>
          <a:prstGeom prst="ellipse">
            <a:avLst/>
          </a:prstGeom>
          <a:solidFill>
            <a:srgbClr val="FFE600"/>
          </a:solidFill>
          <a:ln/>
        </p:spPr>
      </p:sp>
      <p:sp>
        <p:nvSpPr>
          <p:cNvPr id="24" name="Text 21"/>
          <p:cNvSpPr/>
          <p:nvPr/>
        </p:nvSpPr>
        <p:spPr>
          <a:xfrm>
            <a:off x="5276088"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3</a:t>
            </a:r>
            <a:endParaRPr lang="en-US" sz="1300" dirty="0"/>
          </a:p>
        </p:txBody>
      </p:sp>
      <p:sp>
        <p:nvSpPr>
          <p:cNvPr id="25" name="Text 22"/>
          <p:cNvSpPr/>
          <p:nvPr/>
        </p:nvSpPr>
        <p:spPr>
          <a:xfrm>
            <a:off x="5733288" y="3246120"/>
            <a:ext cx="1225296"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Write</a:t>
            </a:r>
            <a:endParaRPr lang="en-US" sz="1500" dirty="0"/>
          </a:p>
        </p:txBody>
      </p:sp>
      <p:sp>
        <p:nvSpPr>
          <p:cNvPr id="26" name="Text 23"/>
          <p:cNvSpPr/>
          <p:nvPr/>
        </p:nvSpPr>
        <p:spPr>
          <a:xfrm>
            <a:off x="5303520" y="3767328"/>
            <a:ext cx="1600200"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The LLM drafts summary, trends and 3 recommendations (300 words max).</a:t>
            </a:r>
            <a:endParaRPr lang="en-US" sz="1250" dirty="0"/>
          </a:p>
        </p:txBody>
      </p:sp>
      <p:sp>
        <p:nvSpPr>
          <p:cNvPr id="27" name="Shape 24"/>
          <p:cNvSpPr/>
          <p:nvPr/>
        </p:nvSpPr>
        <p:spPr>
          <a:xfrm>
            <a:off x="7086600" y="4018788"/>
            <a:ext cx="310896" cy="0"/>
          </a:xfrm>
          <a:prstGeom prst="line">
            <a:avLst/>
          </a:prstGeom>
          <a:noFill/>
          <a:ln w="22225">
            <a:solidFill>
              <a:srgbClr val="9A9CA5"/>
            </a:solidFill>
            <a:prstDash val="solid"/>
            <a:tailEnd type="triangle"/>
          </a:ln>
        </p:spPr>
      </p:sp>
      <p:sp>
        <p:nvSpPr>
          <p:cNvPr id="28" name="Shape 25"/>
          <p:cNvSpPr/>
          <p:nvPr/>
        </p:nvSpPr>
        <p:spPr>
          <a:xfrm>
            <a:off x="7434072" y="3127248"/>
            <a:ext cx="1911096"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29" name="Shape 26"/>
          <p:cNvSpPr/>
          <p:nvPr/>
        </p:nvSpPr>
        <p:spPr>
          <a:xfrm>
            <a:off x="7571232" y="3264408"/>
            <a:ext cx="365760" cy="365760"/>
          </a:xfrm>
          <a:prstGeom prst="ellipse">
            <a:avLst/>
          </a:prstGeom>
          <a:solidFill>
            <a:srgbClr val="FFE600"/>
          </a:solidFill>
          <a:ln/>
        </p:spPr>
      </p:sp>
      <p:sp>
        <p:nvSpPr>
          <p:cNvPr id="30" name="Text 27"/>
          <p:cNvSpPr/>
          <p:nvPr/>
        </p:nvSpPr>
        <p:spPr>
          <a:xfrm>
            <a:off x="7571232"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4</a:t>
            </a:r>
            <a:endParaRPr lang="en-US" sz="1300" dirty="0"/>
          </a:p>
        </p:txBody>
      </p:sp>
      <p:sp>
        <p:nvSpPr>
          <p:cNvPr id="31" name="Text 28"/>
          <p:cNvSpPr/>
          <p:nvPr/>
        </p:nvSpPr>
        <p:spPr>
          <a:xfrm>
            <a:off x="8028432" y="3246120"/>
            <a:ext cx="1225296"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Check</a:t>
            </a:r>
            <a:endParaRPr lang="en-US" sz="1500" dirty="0"/>
          </a:p>
        </p:txBody>
      </p:sp>
      <p:sp>
        <p:nvSpPr>
          <p:cNvPr id="32" name="Text 29"/>
          <p:cNvSpPr/>
          <p:nvPr/>
        </p:nvSpPr>
        <p:spPr>
          <a:xfrm>
            <a:off x="7598664" y="3767328"/>
            <a:ext cx="1600200"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Any number that is not in the facts: the text is rejected.</a:t>
            </a:r>
            <a:endParaRPr lang="en-US" sz="1250" dirty="0"/>
          </a:p>
        </p:txBody>
      </p:sp>
      <p:sp>
        <p:nvSpPr>
          <p:cNvPr id="33" name="Shape 30"/>
          <p:cNvSpPr/>
          <p:nvPr/>
        </p:nvSpPr>
        <p:spPr>
          <a:xfrm>
            <a:off x="9381744" y="4018788"/>
            <a:ext cx="310896" cy="0"/>
          </a:xfrm>
          <a:prstGeom prst="line">
            <a:avLst/>
          </a:prstGeom>
          <a:noFill/>
          <a:ln w="22225">
            <a:solidFill>
              <a:srgbClr val="9A9CA5"/>
            </a:solidFill>
            <a:prstDash val="solid"/>
            <a:tailEnd type="triangle"/>
          </a:ln>
        </p:spPr>
      </p:sp>
      <p:sp>
        <p:nvSpPr>
          <p:cNvPr id="34" name="Shape 31"/>
          <p:cNvSpPr/>
          <p:nvPr/>
        </p:nvSpPr>
        <p:spPr>
          <a:xfrm>
            <a:off x="9729216" y="3127248"/>
            <a:ext cx="1911096"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35" name="Shape 32"/>
          <p:cNvSpPr/>
          <p:nvPr/>
        </p:nvSpPr>
        <p:spPr>
          <a:xfrm>
            <a:off x="9866376" y="3264408"/>
            <a:ext cx="365760" cy="365760"/>
          </a:xfrm>
          <a:prstGeom prst="ellipse">
            <a:avLst/>
          </a:prstGeom>
          <a:solidFill>
            <a:srgbClr val="FFE600"/>
          </a:solidFill>
          <a:ln/>
        </p:spPr>
      </p:sp>
      <p:sp>
        <p:nvSpPr>
          <p:cNvPr id="36" name="Text 33"/>
          <p:cNvSpPr/>
          <p:nvPr/>
        </p:nvSpPr>
        <p:spPr>
          <a:xfrm>
            <a:off x="9866376"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5</a:t>
            </a:r>
            <a:endParaRPr lang="en-US" sz="1300" dirty="0"/>
          </a:p>
        </p:txBody>
      </p:sp>
      <p:sp>
        <p:nvSpPr>
          <p:cNvPr id="37" name="Text 34"/>
          <p:cNvSpPr/>
          <p:nvPr/>
        </p:nvSpPr>
        <p:spPr>
          <a:xfrm>
            <a:off x="10323576" y="3246120"/>
            <a:ext cx="1225296"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Assemble</a:t>
            </a:r>
            <a:endParaRPr lang="en-US" sz="1500" dirty="0"/>
          </a:p>
        </p:txBody>
      </p:sp>
      <p:sp>
        <p:nvSpPr>
          <p:cNvPr id="38" name="Text 35"/>
          <p:cNvSpPr/>
          <p:nvPr/>
        </p:nvSpPr>
        <p:spPr>
          <a:xfrm>
            <a:off x="9893808" y="3767328"/>
            <a:ext cx="1600200"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Narrative + computed tables; a fixed template if rejected.</a:t>
            </a:r>
            <a:endParaRPr lang="en-US" sz="1250" dirty="0"/>
          </a:p>
        </p:txBody>
      </p:sp>
      <p:sp>
        <p:nvSpPr>
          <p:cNvPr id="39" name="Text 36"/>
          <p:cNvSpPr/>
          <p:nvPr/>
        </p:nvSpPr>
        <p:spPr>
          <a:xfrm>
            <a:off x="548640" y="5120640"/>
            <a:ext cx="274320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TOOLS</a:t>
            </a:r>
            <a:endParaRPr lang="en-US" sz="1100" dirty="0"/>
          </a:p>
        </p:txBody>
      </p:sp>
      <p:sp>
        <p:nvSpPr>
          <p:cNvPr id="40" name="Shape 37"/>
          <p:cNvSpPr/>
          <p:nvPr/>
        </p:nvSpPr>
        <p:spPr>
          <a:xfrm>
            <a:off x="548640" y="5431536"/>
            <a:ext cx="1854403" cy="365760"/>
          </a:xfrm>
          <a:prstGeom prst="roundRect">
            <a:avLst>
              <a:gd name="adj" fmla="val 50000"/>
            </a:avLst>
          </a:prstGeom>
          <a:solidFill>
            <a:srgbClr val="FFE600"/>
          </a:solidFill>
          <a:ln/>
        </p:spPr>
      </p:sp>
      <p:sp>
        <p:nvSpPr>
          <p:cNvPr id="41" name="Text 38"/>
          <p:cNvSpPr/>
          <p:nvPr/>
        </p:nvSpPr>
        <p:spPr>
          <a:xfrm>
            <a:off x="548640" y="5431536"/>
            <a:ext cx="1854403"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Groq · gpt-oss-120b</a:t>
            </a:r>
            <a:endParaRPr lang="en-US" sz="1150" dirty="0"/>
          </a:p>
        </p:txBody>
      </p:sp>
      <p:sp>
        <p:nvSpPr>
          <p:cNvPr id="42" name="Shape 39"/>
          <p:cNvSpPr/>
          <p:nvPr/>
        </p:nvSpPr>
        <p:spPr>
          <a:xfrm>
            <a:off x="2531059" y="5431536"/>
            <a:ext cx="1265530" cy="365760"/>
          </a:xfrm>
          <a:prstGeom prst="roundRect">
            <a:avLst>
              <a:gd name="adj" fmla="val 50000"/>
            </a:avLst>
          </a:prstGeom>
          <a:solidFill>
            <a:srgbClr val="FFE600"/>
          </a:solidFill>
          <a:ln/>
        </p:spPr>
      </p:sp>
      <p:sp>
        <p:nvSpPr>
          <p:cNvPr id="43" name="Text 40"/>
          <p:cNvSpPr/>
          <p:nvPr/>
        </p:nvSpPr>
        <p:spPr>
          <a:xfrm>
            <a:off x="2531059" y="5431536"/>
            <a:ext cx="1265530"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Python rules</a:t>
            </a:r>
            <a:endParaRPr lang="en-US" sz="1150" dirty="0"/>
          </a:p>
        </p:txBody>
      </p:sp>
      <p:sp>
        <p:nvSpPr>
          <p:cNvPr id="44" name="Shape 41"/>
          <p:cNvSpPr/>
          <p:nvPr/>
        </p:nvSpPr>
        <p:spPr>
          <a:xfrm>
            <a:off x="3924605" y="5431536"/>
            <a:ext cx="1265530" cy="365760"/>
          </a:xfrm>
          <a:prstGeom prst="roundRect">
            <a:avLst>
              <a:gd name="adj" fmla="val 50000"/>
            </a:avLst>
          </a:prstGeom>
          <a:solidFill>
            <a:srgbClr val="FFE600"/>
          </a:solidFill>
          <a:ln/>
        </p:spPr>
      </p:sp>
      <p:sp>
        <p:nvSpPr>
          <p:cNvPr id="45" name="Text 42"/>
          <p:cNvSpPr/>
          <p:nvPr/>
        </p:nvSpPr>
        <p:spPr>
          <a:xfrm>
            <a:off x="3924605" y="5431536"/>
            <a:ext cx="1265530"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Number check</a:t>
            </a:r>
            <a:endParaRPr lang="en-US" sz="1150" dirty="0"/>
          </a:p>
        </p:txBody>
      </p:sp>
      <p:sp>
        <p:nvSpPr>
          <p:cNvPr id="46" name="Shape 43"/>
          <p:cNvSpPr/>
          <p:nvPr/>
        </p:nvSpPr>
        <p:spPr>
          <a:xfrm>
            <a:off x="6400800" y="5074920"/>
            <a:ext cx="5239512" cy="1188720"/>
          </a:xfrm>
          <a:prstGeom prst="roundRect">
            <a:avLst>
              <a:gd name="adj" fmla="val 6154"/>
            </a:avLst>
          </a:prstGeom>
          <a:solidFill>
            <a:srgbClr val="484B54"/>
          </a:solidFill>
          <a:ln/>
        </p:spPr>
      </p:sp>
      <p:sp>
        <p:nvSpPr>
          <p:cNvPr id="47" name="Text 44"/>
          <p:cNvSpPr/>
          <p:nvPr/>
        </p:nvSpPr>
        <p:spPr>
          <a:xfrm>
            <a:off x="6629400" y="5138928"/>
            <a:ext cx="2743200" cy="256032"/>
          </a:xfrm>
          <a:prstGeom prst="rect">
            <a:avLst/>
          </a:prstGeom>
          <a:noFill/>
          <a:ln/>
        </p:spPr>
        <p:txBody>
          <a:bodyPr wrap="square" lIns="0" tIns="0" rIns="0" bIns="0" rtlCol="0" anchor="ctr"/>
          <a:lstStyle/>
          <a:p>
            <a:pPr indent="0" marL="0">
              <a:buNone/>
            </a:pPr>
            <a:r>
              <a:rPr lang="en-US" sz="1100" b="1" spc="160" kern="0" dirty="0">
                <a:solidFill>
                  <a:srgbClr val="FFE600"/>
                </a:solidFill>
                <a:latin typeface="Calibri" pitchFamily="34" charset="0"/>
                <a:ea typeface="Calibri" pitchFamily="34" charset="-122"/>
                <a:cs typeface="Calibri" pitchFamily="34" charset="-120"/>
              </a:rPr>
              <a:t>RESULT</a:t>
            </a:r>
            <a:endParaRPr lang="en-US" sz="1100" dirty="0"/>
          </a:p>
        </p:txBody>
      </p:sp>
      <p:sp>
        <p:nvSpPr>
          <p:cNvPr id="48" name="Text 45"/>
          <p:cNvSpPr/>
          <p:nvPr/>
        </p:nvSpPr>
        <p:spPr>
          <a:xfrm>
            <a:off x="6629400" y="5394960"/>
            <a:ext cx="4846320" cy="80467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The story is written by the LLM, but the tables are computed and every figure is verified: the report cannot invent numbers.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E. AI layer</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Generative AI · Explain a figure  -</a:t>
            </a:r>
            <a:endParaRPr lang="en-US" sz="2200" dirty="0"/>
          </a:p>
        </p:txBody>
      </p:sp>
      <p:sp>
        <p:nvSpPr>
          <p:cNvPr id="7" name="Shape 4"/>
          <p:cNvSpPr/>
          <p:nvPr/>
        </p:nvSpPr>
        <p:spPr>
          <a:xfrm>
            <a:off x="548640" y="2194560"/>
            <a:ext cx="11091672" cy="658368"/>
          </a:xfrm>
          <a:prstGeom prst="roundRect">
            <a:avLst>
              <a:gd name="adj" fmla="val 11111"/>
            </a:avLst>
          </a:prstGeom>
          <a:solidFill>
            <a:srgbClr val="FFFFFF"/>
          </a:solidFill>
          <a:ln w="19050">
            <a:solidFill>
              <a:srgbClr val="484B54"/>
            </a:solidFill>
            <a:prstDash val="solid"/>
          </a:ln>
        </p:spPr>
      </p:sp>
      <p:sp>
        <p:nvSpPr>
          <p:cNvPr id="8" name="Text 5"/>
          <p:cNvSpPr/>
          <p:nvPr/>
        </p:nvSpPr>
        <p:spPr>
          <a:xfrm>
            <a:off x="777240" y="2194560"/>
            <a:ext cx="1737360" cy="658368"/>
          </a:xfrm>
          <a:prstGeom prst="rect">
            <a:avLst/>
          </a:prstGeom>
          <a:noFill/>
          <a:ln/>
        </p:spPr>
        <p:txBody>
          <a:bodyPr wrap="square" lIns="0" tIns="0" rIns="0" bIns="0" rtlCol="0" anchor="ctr"/>
          <a:lstStyle/>
          <a:p>
            <a:pPr indent="0" marL="0">
              <a:buNone/>
            </a:pPr>
            <a:r>
              <a:rPr lang="en-US" sz="1100" b="1" spc="160" kern="0" dirty="0">
                <a:solidFill>
                  <a:srgbClr val="8B8B90"/>
                </a:solidFill>
                <a:latin typeface="Calibri" pitchFamily="34" charset="0"/>
                <a:ea typeface="Calibri" pitchFamily="34" charset="-122"/>
                <a:cs typeface="Calibri" pitchFamily="34" charset="-120"/>
              </a:rPr>
              <a:t>THE PROBLEM</a:t>
            </a:r>
            <a:endParaRPr lang="en-US" sz="1100" dirty="0"/>
          </a:p>
        </p:txBody>
      </p:sp>
      <p:sp>
        <p:nvSpPr>
          <p:cNvPr id="9" name="Text 6"/>
          <p:cNvSpPr/>
          <p:nvPr/>
        </p:nvSpPr>
        <p:spPr>
          <a:xfrm>
            <a:off x="2514600" y="2194560"/>
            <a:ext cx="9006840" cy="658368"/>
          </a:xfrm>
          <a:prstGeom prst="rect">
            <a:avLst/>
          </a:prstGeom>
          <a:noFill/>
          <a:ln/>
        </p:spPr>
        <p:txBody>
          <a:bodyPr wrap="square" lIns="0" tIns="0" rIns="0" bIns="0" rtlCol="0" anchor="ctr"/>
          <a:lstStyle/>
          <a:p>
            <a:pPr indent="0" marL="0">
              <a:buNone/>
            </a:pPr>
            <a:r>
              <a:rPr lang="en-US" sz="1400" dirty="0">
                <a:solidFill>
                  <a:srgbClr val="2F3136"/>
                </a:solidFill>
                <a:latin typeface="Calibri" pitchFamily="34" charset="0"/>
                <a:ea typeface="Calibri" pitchFamily="34" charset="-122"/>
                <a:cs typeface="Calibri" pitchFamily="34" charset="-120"/>
              </a:rPr>
              <a:t>A consultant sees a number and asks: is it good? compared to what? An answer must be explained and never invented.</a:t>
            </a:r>
            <a:endParaRPr lang="en-US" sz="1400" dirty="0"/>
          </a:p>
        </p:txBody>
      </p:sp>
      <p:sp>
        <p:nvSpPr>
          <p:cNvPr id="10" name="Shape 7"/>
          <p:cNvSpPr/>
          <p:nvPr/>
        </p:nvSpPr>
        <p:spPr>
          <a:xfrm>
            <a:off x="54864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11" name="Shape 8"/>
          <p:cNvSpPr/>
          <p:nvPr/>
        </p:nvSpPr>
        <p:spPr>
          <a:xfrm>
            <a:off x="685800" y="3264408"/>
            <a:ext cx="365760" cy="365760"/>
          </a:xfrm>
          <a:prstGeom prst="ellipse">
            <a:avLst/>
          </a:prstGeom>
          <a:solidFill>
            <a:srgbClr val="FFE600"/>
          </a:solidFill>
          <a:ln/>
        </p:spPr>
      </p:sp>
      <p:sp>
        <p:nvSpPr>
          <p:cNvPr id="12" name="Text 9"/>
          <p:cNvSpPr/>
          <p:nvPr/>
        </p:nvSpPr>
        <p:spPr>
          <a:xfrm>
            <a:off x="68580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1</a:t>
            </a:r>
            <a:endParaRPr lang="en-US" sz="1300" dirty="0"/>
          </a:p>
        </p:txBody>
      </p:sp>
      <p:sp>
        <p:nvSpPr>
          <p:cNvPr id="13" name="Text 10"/>
          <p:cNvSpPr/>
          <p:nvPr/>
        </p:nvSpPr>
        <p:spPr>
          <a:xfrm>
            <a:off x="114300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Ask</a:t>
            </a:r>
            <a:endParaRPr lang="en-US" sz="1500" dirty="0"/>
          </a:p>
        </p:txBody>
      </p:sp>
      <p:sp>
        <p:nvSpPr>
          <p:cNvPr id="14" name="Text 11"/>
          <p:cNvSpPr/>
          <p:nvPr/>
        </p:nvSpPr>
        <p:spPr>
          <a:xfrm>
            <a:off x="71323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In the KPI menu: “Expliquer ce chiffre”.</a:t>
            </a:r>
            <a:endParaRPr lang="en-US" sz="1250" dirty="0"/>
          </a:p>
        </p:txBody>
      </p:sp>
      <p:sp>
        <p:nvSpPr>
          <p:cNvPr id="15" name="Shape 12"/>
          <p:cNvSpPr/>
          <p:nvPr/>
        </p:nvSpPr>
        <p:spPr>
          <a:xfrm>
            <a:off x="3070098" y="4018788"/>
            <a:ext cx="310896" cy="0"/>
          </a:xfrm>
          <a:prstGeom prst="line">
            <a:avLst/>
          </a:prstGeom>
          <a:noFill/>
          <a:ln w="22225">
            <a:solidFill>
              <a:srgbClr val="9A9CA5"/>
            </a:solidFill>
            <a:prstDash val="solid"/>
            <a:tailEnd type="triangle"/>
          </a:ln>
        </p:spPr>
      </p:sp>
      <p:sp>
        <p:nvSpPr>
          <p:cNvPr id="16" name="Shape 13"/>
          <p:cNvSpPr/>
          <p:nvPr/>
        </p:nvSpPr>
        <p:spPr>
          <a:xfrm>
            <a:off x="341757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17" name="Shape 14"/>
          <p:cNvSpPr/>
          <p:nvPr/>
        </p:nvSpPr>
        <p:spPr>
          <a:xfrm>
            <a:off x="3554730" y="3264408"/>
            <a:ext cx="365760" cy="365760"/>
          </a:xfrm>
          <a:prstGeom prst="ellipse">
            <a:avLst/>
          </a:prstGeom>
          <a:solidFill>
            <a:srgbClr val="FFE600"/>
          </a:solidFill>
          <a:ln/>
        </p:spPr>
      </p:sp>
      <p:sp>
        <p:nvSpPr>
          <p:cNvPr id="18" name="Text 15"/>
          <p:cNvSpPr/>
          <p:nvPr/>
        </p:nvSpPr>
        <p:spPr>
          <a:xfrm>
            <a:off x="355473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2</a:t>
            </a:r>
            <a:endParaRPr lang="en-US" sz="1300" dirty="0"/>
          </a:p>
        </p:txBody>
      </p:sp>
      <p:sp>
        <p:nvSpPr>
          <p:cNvPr id="19" name="Text 16"/>
          <p:cNvSpPr/>
          <p:nvPr/>
        </p:nvSpPr>
        <p:spPr>
          <a:xfrm>
            <a:off x="401193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Compute the facts</a:t>
            </a:r>
            <a:endParaRPr lang="en-US" sz="1500" dirty="0"/>
          </a:p>
        </p:txBody>
      </p:sp>
      <p:sp>
        <p:nvSpPr>
          <p:cNvPr id="20" name="Text 17"/>
          <p:cNvSpPr/>
          <p:nvPr/>
        </p:nvSpPr>
        <p:spPr>
          <a:xfrm>
            <a:off x="358216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SQL gives value, change vs last year, sector average, rank.</a:t>
            </a:r>
            <a:endParaRPr lang="en-US" sz="1250" dirty="0"/>
          </a:p>
        </p:txBody>
      </p:sp>
      <p:sp>
        <p:nvSpPr>
          <p:cNvPr id="21" name="Shape 18"/>
          <p:cNvSpPr/>
          <p:nvPr/>
        </p:nvSpPr>
        <p:spPr>
          <a:xfrm>
            <a:off x="5939028" y="4018788"/>
            <a:ext cx="310896" cy="0"/>
          </a:xfrm>
          <a:prstGeom prst="line">
            <a:avLst/>
          </a:prstGeom>
          <a:noFill/>
          <a:ln w="22225">
            <a:solidFill>
              <a:srgbClr val="9A9CA5"/>
            </a:solidFill>
            <a:prstDash val="solid"/>
            <a:tailEnd type="triangle"/>
          </a:ln>
        </p:spPr>
      </p:sp>
      <p:sp>
        <p:nvSpPr>
          <p:cNvPr id="22" name="Shape 19"/>
          <p:cNvSpPr/>
          <p:nvPr/>
        </p:nvSpPr>
        <p:spPr>
          <a:xfrm>
            <a:off x="628650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23" name="Shape 20"/>
          <p:cNvSpPr/>
          <p:nvPr/>
        </p:nvSpPr>
        <p:spPr>
          <a:xfrm>
            <a:off x="6423660" y="3264408"/>
            <a:ext cx="365760" cy="365760"/>
          </a:xfrm>
          <a:prstGeom prst="ellipse">
            <a:avLst/>
          </a:prstGeom>
          <a:solidFill>
            <a:srgbClr val="FFE600"/>
          </a:solidFill>
          <a:ln/>
        </p:spPr>
      </p:sp>
      <p:sp>
        <p:nvSpPr>
          <p:cNvPr id="24" name="Text 21"/>
          <p:cNvSpPr/>
          <p:nvPr/>
        </p:nvSpPr>
        <p:spPr>
          <a:xfrm>
            <a:off x="642366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3</a:t>
            </a:r>
            <a:endParaRPr lang="en-US" sz="1300" dirty="0"/>
          </a:p>
        </p:txBody>
      </p:sp>
      <p:sp>
        <p:nvSpPr>
          <p:cNvPr id="25" name="Text 22"/>
          <p:cNvSpPr/>
          <p:nvPr/>
        </p:nvSpPr>
        <p:spPr>
          <a:xfrm>
            <a:off x="688086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Write</a:t>
            </a:r>
            <a:endParaRPr lang="en-US" sz="1500" dirty="0"/>
          </a:p>
        </p:txBody>
      </p:sp>
      <p:sp>
        <p:nvSpPr>
          <p:cNvPr id="26" name="Text 23"/>
          <p:cNvSpPr/>
          <p:nvPr/>
        </p:nvSpPr>
        <p:spPr>
          <a:xfrm>
            <a:off x="645109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The LLM writes 2 to 4 sentences from these facts only.</a:t>
            </a:r>
            <a:endParaRPr lang="en-US" sz="1250" dirty="0"/>
          </a:p>
        </p:txBody>
      </p:sp>
      <p:sp>
        <p:nvSpPr>
          <p:cNvPr id="27" name="Shape 24"/>
          <p:cNvSpPr/>
          <p:nvPr/>
        </p:nvSpPr>
        <p:spPr>
          <a:xfrm>
            <a:off x="8807958" y="4018788"/>
            <a:ext cx="310896" cy="0"/>
          </a:xfrm>
          <a:prstGeom prst="line">
            <a:avLst/>
          </a:prstGeom>
          <a:noFill/>
          <a:ln w="22225">
            <a:solidFill>
              <a:srgbClr val="9A9CA5"/>
            </a:solidFill>
            <a:prstDash val="solid"/>
            <a:tailEnd type="triangle"/>
          </a:ln>
        </p:spPr>
      </p:sp>
      <p:sp>
        <p:nvSpPr>
          <p:cNvPr id="28" name="Shape 25"/>
          <p:cNvSpPr/>
          <p:nvPr/>
        </p:nvSpPr>
        <p:spPr>
          <a:xfrm>
            <a:off x="915543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29" name="Shape 26"/>
          <p:cNvSpPr/>
          <p:nvPr/>
        </p:nvSpPr>
        <p:spPr>
          <a:xfrm>
            <a:off x="9292590" y="3264408"/>
            <a:ext cx="365760" cy="365760"/>
          </a:xfrm>
          <a:prstGeom prst="ellipse">
            <a:avLst/>
          </a:prstGeom>
          <a:solidFill>
            <a:srgbClr val="FFE600"/>
          </a:solidFill>
          <a:ln/>
        </p:spPr>
      </p:sp>
      <p:sp>
        <p:nvSpPr>
          <p:cNvPr id="30" name="Text 27"/>
          <p:cNvSpPr/>
          <p:nvPr/>
        </p:nvSpPr>
        <p:spPr>
          <a:xfrm>
            <a:off x="929259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4</a:t>
            </a:r>
            <a:endParaRPr lang="en-US" sz="1300" dirty="0"/>
          </a:p>
        </p:txBody>
      </p:sp>
      <p:sp>
        <p:nvSpPr>
          <p:cNvPr id="31" name="Text 28"/>
          <p:cNvSpPr/>
          <p:nvPr/>
        </p:nvSpPr>
        <p:spPr>
          <a:xfrm>
            <a:off x="974979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Check</a:t>
            </a:r>
            <a:endParaRPr lang="en-US" sz="1500" dirty="0"/>
          </a:p>
        </p:txBody>
      </p:sp>
      <p:sp>
        <p:nvSpPr>
          <p:cNvPr id="32" name="Text 29"/>
          <p:cNvSpPr/>
          <p:nvPr/>
        </p:nvSpPr>
        <p:spPr>
          <a:xfrm>
            <a:off x="932002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An unknown number: a fixed template replaces the text.</a:t>
            </a:r>
            <a:endParaRPr lang="en-US" sz="1250" dirty="0"/>
          </a:p>
        </p:txBody>
      </p:sp>
      <p:sp>
        <p:nvSpPr>
          <p:cNvPr id="33" name="Text 30"/>
          <p:cNvSpPr/>
          <p:nvPr/>
        </p:nvSpPr>
        <p:spPr>
          <a:xfrm>
            <a:off x="548640" y="5120640"/>
            <a:ext cx="274320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TOOLS</a:t>
            </a:r>
            <a:endParaRPr lang="en-US" sz="1100" dirty="0"/>
          </a:p>
        </p:txBody>
      </p:sp>
      <p:sp>
        <p:nvSpPr>
          <p:cNvPr id="34" name="Shape 31"/>
          <p:cNvSpPr/>
          <p:nvPr/>
        </p:nvSpPr>
        <p:spPr>
          <a:xfrm>
            <a:off x="548640" y="5431536"/>
            <a:ext cx="1854403" cy="365760"/>
          </a:xfrm>
          <a:prstGeom prst="roundRect">
            <a:avLst>
              <a:gd name="adj" fmla="val 50000"/>
            </a:avLst>
          </a:prstGeom>
          <a:solidFill>
            <a:srgbClr val="FFE600"/>
          </a:solidFill>
          <a:ln/>
        </p:spPr>
      </p:sp>
      <p:sp>
        <p:nvSpPr>
          <p:cNvPr id="35" name="Text 32"/>
          <p:cNvSpPr/>
          <p:nvPr/>
        </p:nvSpPr>
        <p:spPr>
          <a:xfrm>
            <a:off x="548640" y="5431536"/>
            <a:ext cx="1854403"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Groq · gpt-oss-120b</a:t>
            </a:r>
            <a:endParaRPr lang="en-US" sz="1150" dirty="0"/>
          </a:p>
        </p:txBody>
      </p:sp>
      <p:sp>
        <p:nvSpPr>
          <p:cNvPr id="36" name="Shape 33"/>
          <p:cNvSpPr/>
          <p:nvPr/>
        </p:nvSpPr>
        <p:spPr>
          <a:xfrm>
            <a:off x="2531059" y="5431536"/>
            <a:ext cx="508406" cy="365760"/>
          </a:xfrm>
          <a:prstGeom prst="roundRect">
            <a:avLst>
              <a:gd name="adj" fmla="val 50000"/>
            </a:avLst>
          </a:prstGeom>
          <a:solidFill>
            <a:srgbClr val="FFE600"/>
          </a:solidFill>
          <a:ln/>
        </p:spPr>
      </p:sp>
      <p:sp>
        <p:nvSpPr>
          <p:cNvPr id="37" name="Text 34"/>
          <p:cNvSpPr/>
          <p:nvPr/>
        </p:nvSpPr>
        <p:spPr>
          <a:xfrm>
            <a:off x="2531059" y="5431536"/>
            <a:ext cx="508406"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SQL</a:t>
            </a:r>
            <a:endParaRPr lang="en-US" sz="1150" dirty="0"/>
          </a:p>
        </p:txBody>
      </p:sp>
      <p:sp>
        <p:nvSpPr>
          <p:cNvPr id="38" name="Shape 35"/>
          <p:cNvSpPr/>
          <p:nvPr/>
        </p:nvSpPr>
        <p:spPr>
          <a:xfrm>
            <a:off x="3167482" y="5431536"/>
            <a:ext cx="1265530" cy="365760"/>
          </a:xfrm>
          <a:prstGeom prst="roundRect">
            <a:avLst>
              <a:gd name="adj" fmla="val 50000"/>
            </a:avLst>
          </a:prstGeom>
          <a:solidFill>
            <a:srgbClr val="FFE600"/>
          </a:solidFill>
          <a:ln/>
        </p:spPr>
      </p:sp>
      <p:sp>
        <p:nvSpPr>
          <p:cNvPr id="39" name="Text 36"/>
          <p:cNvSpPr/>
          <p:nvPr/>
        </p:nvSpPr>
        <p:spPr>
          <a:xfrm>
            <a:off x="3167482" y="5431536"/>
            <a:ext cx="1265530"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Number check</a:t>
            </a:r>
            <a:endParaRPr lang="en-US" sz="1150" dirty="0"/>
          </a:p>
        </p:txBody>
      </p:sp>
      <p:sp>
        <p:nvSpPr>
          <p:cNvPr id="40" name="Shape 37"/>
          <p:cNvSpPr/>
          <p:nvPr/>
        </p:nvSpPr>
        <p:spPr>
          <a:xfrm>
            <a:off x="6400800" y="5074920"/>
            <a:ext cx="5239512" cy="1188720"/>
          </a:xfrm>
          <a:prstGeom prst="roundRect">
            <a:avLst>
              <a:gd name="adj" fmla="val 6154"/>
            </a:avLst>
          </a:prstGeom>
          <a:solidFill>
            <a:srgbClr val="484B54"/>
          </a:solidFill>
          <a:ln/>
        </p:spPr>
      </p:sp>
      <p:sp>
        <p:nvSpPr>
          <p:cNvPr id="41" name="Text 38"/>
          <p:cNvSpPr/>
          <p:nvPr/>
        </p:nvSpPr>
        <p:spPr>
          <a:xfrm>
            <a:off x="6629400" y="5138928"/>
            <a:ext cx="2743200" cy="256032"/>
          </a:xfrm>
          <a:prstGeom prst="rect">
            <a:avLst/>
          </a:prstGeom>
          <a:noFill/>
          <a:ln/>
        </p:spPr>
        <p:txBody>
          <a:bodyPr wrap="square" lIns="0" tIns="0" rIns="0" bIns="0" rtlCol="0" anchor="ctr"/>
          <a:lstStyle/>
          <a:p>
            <a:pPr indent="0" marL="0">
              <a:buNone/>
            </a:pPr>
            <a:r>
              <a:rPr lang="en-US" sz="1100" b="1" spc="160" kern="0" dirty="0">
                <a:solidFill>
                  <a:srgbClr val="FFE600"/>
                </a:solidFill>
                <a:latin typeface="Calibri" pitchFamily="34" charset="0"/>
                <a:ea typeface="Calibri" pitchFamily="34" charset="-122"/>
                <a:cs typeface="Calibri" pitchFamily="34" charset="-120"/>
              </a:rPr>
              <a:t>EXAMPLE</a:t>
            </a:r>
            <a:endParaRPr lang="en-US" sz="1100" dirty="0"/>
          </a:p>
        </p:txBody>
      </p:sp>
      <p:sp>
        <p:nvSpPr>
          <p:cNvPr id="42" name="Text 39"/>
          <p:cNvSpPr/>
          <p:nvPr/>
        </p:nvSpPr>
        <p:spPr>
          <a:xfrm>
            <a:off x="6629400" y="5394960"/>
            <a:ext cx="4846320" cy="80467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Résultat technique · STAR 2024: 14,3 M TND, +212 % vs 2023 (from a negative base), sector average 16,4 M, rank 7 of 17.</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E. AI layer</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Predictive AI · Prophet vs XGBoost  -</a:t>
            </a:r>
            <a:endParaRPr lang="en-US" sz="2200" dirty="0"/>
          </a:p>
        </p:txBody>
      </p:sp>
      <p:sp>
        <p:nvSpPr>
          <p:cNvPr id="7" name="Shape 4"/>
          <p:cNvSpPr/>
          <p:nvPr/>
        </p:nvSpPr>
        <p:spPr>
          <a:xfrm>
            <a:off x="548640" y="2194560"/>
            <a:ext cx="11091672" cy="658368"/>
          </a:xfrm>
          <a:prstGeom prst="roundRect">
            <a:avLst>
              <a:gd name="adj" fmla="val 11111"/>
            </a:avLst>
          </a:prstGeom>
          <a:solidFill>
            <a:srgbClr val="FFFFFF"/>
          </a:solidFill>
          <a:ln w="19050">
            <a:solidFill>
              <a:srgbClr val="484B54"/>
            </a:solidFill>
            <a:prstDash val="solid"/>
          </a:ln>
        </p:spPr>
      </p:sp>
      <p:sp>
        <p:nvSpPr>
          <p:cNvPr id="8" name="Text 5"/>
          <p:cNvSpPr/>
          <p:nvPr/>
        </p:nvSpPr>
        <p:spPr>
          <a:xfrm>
            <a:off x="777240" y="2194560"/>
            <a:ext cx="1737360" cy="658368"/>
          </a:xfrm>
          <a:prstGeom prst="rect">
            <a:avLst/>
          </a:prstGeom>
          <a:noFill/>
          <a:ln/>
        </p:spPr>
        <p:txBody>
          <a:bodyPr wrap="square" lIns="0" tIns="0" rIns="0" bIns="0" rtlCol="0" anchor="ctr"/>
          <a:lstStyle/>
          <a:p>
            <a:pPr indent="0" marL="0">
              <a:buNone/>
            </a:pPr>
            <a:r>
              <a:rPr lang="en-US" sz="1100" b="1" spc="160" kern="0" dirty="0">
                <a:solidFill>
                  <a:srgbClr val="8B8B90"/>
                </a:solidFill>
                <a:latin typeface="Calibri" pitchFamily="34" charset="0"/>
                <a:ea typeface="Calibri" pitchFamily="34" charset="-122"/>
                <a:cs typeface="Calibri" pitchFamily="34" charset="-120"/>
              </a:rPr>
              <a:t>THE PROBLEM</a:t>
            </a:r>
            <a:endParaRPr lang="en-US" sz="1100" dirty="0"/>
          </a:p>
        </p:txBody>
      </p:sp>
      <p:sp>
        <p:nvSpPr>
          <p:cNvPr id="9" name="Text 6"/>
          <p:cNvSpPr/>
          <p:nvPr/>
        </p:nvSpPr>
        <p:spPr>
          <a:xfrm>
            <a:off x="2514600" y="2194560"/>
            <a:ext cx="9006840" cy="658368"/>
          </a:xfrm>
          <a:prstGeom prst="rect">
            <a:avLst/>
          </a:prstGeom>
          <a:noFill/>
          <a:ln/>
        </p:spPr>
        <p:txBody>
          <a:bodyPr wrap="square" lIns="0" tIns="0" rIns="0" bIns="0" rtlCol="0" anchor="ctr"/>
          <a:lstStyle/>
          <a:p>
            <a:pPr indent="0" marL="0">
              <a:buNone/>
            </a:pPr>
            <a:r>
              <a:rPr lang="en-US" sz="1400" dirty="0">
                <a:solidFill>
                  <a:srgbClr val="2F3136"/>
                </a:solidFill>
                <a:latin typeface="Calibri" pitchFamily="34" charset="0"/>
                <a:ea typeface="Calibri" pitchFamily="34" charset="-122"/>
                <a:cs typeface="Calibri" pitchFamily="34" charset="-120"/>
              </a:rPr>
              <a:t>Which model forecasts a KPI best? It depends on the KPI and the company, so the platform lets the models compete.</a:t>
            </a:r>
            <a:endParaRPr lang="en-US" sz="1400" dirty="0"/>
          </a:p>
        </p:txBody>
      </p:sp>
      <p:sp>
        <p:nvSpPr>
          <p:cNvPr id="10" name="Shape 7"/>
          <p:cNvSpPr/>
          <p:nvPr/>
        </p:nvSpPr>
        <p:spPr>
          <a:xfrm>
            <a:off x="54864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11" name="Shape 8"/>
          <p:cNvSpPr/>
          <p:nvPr/>
        </p:nvSpPr>
        <p:spPr>
          <a:xfrm>
            <a:off x="685800" y="3264408"/>
            <a:ext cx="365760" cy="365760"/>
          </a:xfrm>
          <a:prstGeom prst="ellipse">
            <a:avLst/>
          </a:prstGeom>
          <a:solidFill>
            <a:srgbClr val="FFE600"/>
          </a:solidFill>
          <a:ln/>
        </p:spPr>
      </p:sp>
      <p:sp>
        <p:nvSpPr>
          <p:cNvPr id="12" name="Text 9"/>
          <p:cNvSpPr/>
          <p:nvPr/>
        </p:nvSpPr>
        <p:spPr>
          <a:xfrm>
            <a:off x="68580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1</a:t>
            </a:r>
            <a:endParaRPr lang="en-US" sz="1300" dirty="0"/>
          </a:p>
        </p:txBody>
      </p:sp>
      <p:sp>
        <p:nvSpPr>
          <p:cNvPr id="13" name="Text 10"/>
          <p:cNvSpPr/>
          <p:nvPr/>
        </p:nvSpPr>
        <p:spPr>
          <a:xfrm>
            <a:off x="114300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Train</a:t>
            </a:r>
            <a:endParaRPr lang="en-US" sz="1500" dirty="0"/>
          </a:p>
        </p:txBody>
      </p:sp>
      <p:sp>
        <p:nvSpPr>
          <p:cNvPr id="14" name="Text 11"/>
          <p:cNvSpPr/>
          <p:nvPr/>
        </p:nvSpPr>
        <p:spPr>
          <a:xfrm>
            <a:off x="71323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Prophet and XGBoost learn from the yearly history of the KPI.</a:t>
            </a:r>
            <a:endParaRPr lang="en-US" sz="1250" dirty="0"/>
          </a:p>
        </p:txBody>
      </p:sp>
      <p:sp>
        <p:nvSpPr>
          <p:cNvPr id="15" name="Shape 12"/>
          <p:cNvSpPr/>
          <p:nvPr/>
        </p:nvSpPr>
        <p:spPr>
          <a:xfrm>
            <a:off x="3070098" y="4018788"/>
            <a:ext cx="310896" cy="0"/>
          </a:xfrm>
          <a:prstGeom prst="line">
            <a:avLst/>
          </a:prstGeom>
          <a:noFill/>
          <a:ln w="22225">
            <a:solidFill>
              <a:srgbClr val="9A9CA5"/>
            </a:solidFill>
            <a:prstDash val="solid"/>
            <a:tailEnd type="triangle"/>
          </a:ln>
        </p:spPr>
      </p:sp>
      <p:sp>
        <p:nvSpPr>
          <p:cNvPr id="16" name="Shape 13"/>
          <p:cNvSpPr/>
          <p:nvPr/>
        </p:nvSpPr>
        <p:spPr>
          <a:xfrm>
            <a:off x="341757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17" name="Shape 14"/>
          <p:cNvSpPr/>
          <p:nvPr/>
        </p:nvSpPr>
        <p:spPr>
          <a:xfrm>
            <a:off x="3554730" y="3264408"/>
            <a:ext cx="365760" cy="365760"/>
          </a:xfrm>
          <a:prstGeom prst="ellipse">
            <a:avLst/>
          </a:prstGeom>
          <a:solidFill>
            <a:srgbClr val="FFE600"/>
          </a:solidFill>
          <a:ln/>
        </p:spPr>
      </p:sp>
      <p:sp>
        <p:nvSpPr>
          <p:cNvPr id="18" name="Text 15"/>
          <p:cNvSpPr/>
          <p:nvPr/>
        </p:nvSpPr>
        <p:spPr>
          <a:xfrm>
            <a:off x="355473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2</a:t>
            </a:r>
            <a:endParaRPr lang="en-US" sz="1300" dirty="0"/>
          </a:p>
        </p:txBody>
      </p:sp>
      <p:sp>
        <p:nvSpPr>
          <p:cNvPr id="19" name="Text 16"/>
          <p:cNvSpPr/>
          <p:nvPr/>
        </p:nvSpPr>
        <p:spPr>
          <a:xfrm>
            <a:off x="401193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Test</a:t>
            </a:r>
            <a:endParaRPr lang="en-US" sz="1500" dirty="0"/>
          </a:p>
        </p:txBody>
      </p:sp>
      <p:sp>
        <p:nvSpPr>
          <p:cNvPr id="20" name="Text 17"/>
          <p:cNvSpPr/>
          <p:nvPr/>
        </p:nvSpPr>
        <p:spPr>
          <a:xfrm>
            <a:off x="358216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Time-series cross-validation: train on the past, predict the next year.</a:t>
            </a:r>
            <a:endParaRPr lang="en-US" sz="1250" dirty="0"/>
          </a:p>
        </p:txBody>
      </p:sp>
      <p:sp>
        <p:nvSpPr>
          <p:cNvPr id="21" name="Shape 18"/>
          <p:cNvSpPr/>
          <p:nvPr/>
        </p:nvSpPr>
        <p:spPr>
          <a:xfrm>
            <a:off x="5939028" y="4018788"/>
            <a:ext cx="310896" cy="0"/>
          </a:xfrm>
          <a:prstGeom prst="line">
            <a:avLst/>
          </a:prstGeom>
          <a:noFill/>
          <a:ln w="22225">
            <a:solidFill>
              <a:srgbClr val="9A9CA5"/>
            </a:solidFill>
            <a:prstDash val="solid"/>
            <a:tailEnd type="triangle"/>
          </a:ln>
        </p:spPr>
      </p:sp>
      <p:sp>
        <p:nvSpPr>
          <p:cNvPr id="22" name="Shape 19"/>
          <p:cNvSpPr/>
          <p:nvPr/>
        </p:nvSpPr>
        <p:spPr>
          <a:xfrm>
            <a:off x="628650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23" name="Shape 20"/>
          <p:cNvSpPr/>
          <p:nvPr/>
        </p:nvSpPr>
        <p:spPr>
          <a:xfrm>
            <a:off x="6423660" y="3264408"/>
            <a:ext cx="365760" cy="365760"/>
          </a:xfrm>
          <a:prstGeom prst="ellipse">
            <a:avLst/>
          </a:prstGeom>
          <a:solidFill>
            <a:srgbClr val="FFE600"/>
          </a:solidFill>
          <a:ln/>
        </p:spPr>
      </p:sp>
      <p:sp>
        <p:nvSpPr>
          <p:cNvPr id="24" name="Text 21"/>
          <p:cNvSpPr/>
          <p:nvPr/>
        </p:nvSpPr>
        <p:spPr>
          <a:xfrm>
            <a:off x="642366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3</a:t>
            </a:r>
            <a:endParaRPr lang="en-US" sz="1300" dirty="0"/>
          </a:p>
        </p:txBody>
      </p:sp>
      <p:sp>
        <p:nvSpPr>
          <p:cNvPr id="25" name="Text 22"/>
          <p:cNvSpPr/>
          <p:nvPr/>
        </p:nvSpPr>
        <p:spPr>
          <a:xfrm>
            <a:off x="688086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Select</a:t>
            </a:r>
            <a:endParaRPr lang="en-US" sz="1500" dirty="0"/>
          </a:p>
        </p:txBody>
      </p:sp>
      <p:sp>
        <p:nvSpPr>
          <p:cNvPr id="26" name="Text 23"/>
          <p:cNvSpPr/>
          <p:nvPr/>
        </p:nvSpPr>
        <p:spPr>
          <a:xfrm>
            <a:off x="645109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Lowest error score (MAPE, RMSE) wins.</a:t>
            </a:r>
            <a:endParaRPr lang="en-US" sz="1250" dirty="0"/>
          </a:p>
        </p:txBody>
      </p:sp>
      <p:sp>
        <p:nvSpPr>
          <p:cNvPr id="27" name="Shape 24"/>
          <p:cNvSpPr/>
          <p:nvPr/>
        </p:nvSpPr>
        <p:spPr>
          <a:xfrm>
            <a:off x="8807958" y="4018788"/>
            <a:ext cx="310896" cy="0"/>
          </a:xfrm>
          <a:prstGeom prst="line">
            <a:avLst/>
          </a:prstGeom>
          <a:noFill/>
          <a:ln w="22225">
            <a:solidFill>
              <a:srgbClr val="9A9CA5"/>
            </a:solidFill>
            <a:prstDash val="solid"/>
            <a:tailEnd type="triangle"/>
          </a:ln>
        </p:spPr>
      </p:sp>
      <p:sp>
        <p:nvSpPr>
          <p:cNvPr id="28" name="Shape 25"/>
          <p:cNvSpPr/>
          <p:nvPr/>
        </p:nvSpPr>
        <p:spPr>
          <a:xfrm>
            <a:off x="915543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29" name="Shape 26"/>
          <p:cNvSpPr/>
          <p:nvPr/>
        </p:nvSpPr>
        <p:spPr>
          <a:xfrm>
            <a:off x="9292590" y="3264408"/>
            <a:ext cx="365760" cy="365760"/>
          </a:xfrm>
          <a:prstGeom prst="ellipse">
            <a:avLst/>
          </a:prstGeom>
          <a:solidFill>
            <a:srgbClr val="FFE600"/>
          </a:solidFill>
          <a:ln/>
        </p:spPr>
      </p:sp>
      <p:sp>
        <p:nvSpPr>
          <p:cNvPr id="30" name="Text 27"/>
          <p:cNvSpPr/>
          <p:nvPr/>
        </p:nvSpPr>
        <p:spPr>
          <a:xfrm>
            <a:off x="929259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4</a:t>
            </a:r>
            <a:endParaRPr lang="en-US" sz="1300" dirty="0"/>
          </a:p>
        </p:txBody>
      </p:sp>
      <p:sp>
        <p:nvSpPr>
          <p:cNvPr id="31" name="Text 28"/>
          <p:cNvSpPr/>
          <p:nvPr/>
        </p:nvSpPr>
        <p:spPr>
          <a:xfrm>
            <a:off x="974979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Explain</a:t>
            </a:r>
            <a:endParaRPr lang="en-US" sz="1500" dirty="0"/>
          </a:p>
        </p:txBody>
      </p:sp>
      <p:sp>
        <p:nvSpPr>
          <p:cNvPr id="32" name="Text 29"/>
          <p:cNvSpPr/>
          <p:nvPr/>
        </p:nvSpPr>
        <p:spPr>
          <a:xfrm>
            <a:off x="932002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Forecast + SHAP shows what drove it. If no history, linear regression.</a:t>
            </a:r>
            <a:endParaRPr lang="en-US" sz="1250" dirty="0"/>
          </a:p>
        </p:txBody>
      </p:sp>
      <p:sp>
        <p:nvSpPr>
          <p:cNvPr id="33" name="Text 30"/>
          <p:cNvSpPr/>
          <p:nvPr/>
        </p:nvSpPr>
        <p:spPr>
          <a:xfrm>
            <a:off x="548640" y="5074920"/>
            <a:ext cx="566928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EXAMPLE · NET RESULT · STAR (ERROR, MAPE)</a:t>
            </a:r>
            <a:endParaRPr lang="en-US" sz="1100" dirty="0"/>
          </a:p>
        </p:txBody>
      </p:sp>
      <p:sp>
        <p:nvSpPr>
          <p:cNvPr id="34" name="Text 31"/>
          <p:cNvSpPr/>
          <p:nvPr/>
        </p:nvSpPr>
        <p:spPr>
          <a:xfrm>
            <a:off x="548640" y="5413248"/>
            <a:ext cx="1005840" cy="329184"/>
          </a:xfrm>
          <a:prstGeom prst="rect">
            <a:avLst/>
          </a:prstGeom>
          <a:noFill/>
          <a:ln/>
        </p:spPr>
        <p:txBody>
          <a:bodyPr wrap="square" lIns="0" tIns="0" rIns="0" bIns="0" rtlCol="0" anchor="ctr"/>
          <a:lstStyle/>
          <a:p>
            <a:pPr indent="0" marL="0">
              <a:buNone/>
            </a:pPr>
            <a:r>
              <a:rPr lang="en-US" sz="1300" b="1" dirty="0">
                <a:solidFill>
                  <a:srgbClr val="3A3A3A"/>
                </a:solidFill>
                <a:latin typeface="Calibri" pitchFamily="34" charset="0"/>
                <a:ea typeface="Calibri" pitchFamily="34" charset="-122"/>
                <a:cs typeface="Calibri" pitchFamily="34" charset="-120"/>
              </a:rPr>
              <a:t>XGBoost</a:t>
            </a:r>
            <a:endParaRPr lang="en-US" sz="1300" dirty="0"/>
          </a:p>
        </p:txBody>
      </p:sp>
      <p:sp>
        <p:nvSpPr>
          <p:cNvPr id="35" name="Shape 32"/>
          <p:cNvSpPr/>
          <p:nvPr/>
        </p:nvSpPr>
        <p:spPr>
          <a:xfrm>
            <a:off x="1600200" y="5431536"/>
            <a:ext cx="548640" cy="292608"/>
          </a:xfrm>
          <a:prstGeom prst="rect">
            <a:avLst/>
          </a:prstGeom>
          <a:solidFill>
            <a:srgbClr val="484B54"/>
          </a:solidFill>
          <a:ln/>
        </p:spPr>
      </p:sp>
      <p:sp>
        <p:nvSpPr>
          <p:cNvPr id="36" name="Text 33"/>
          <p:cNvSpPr/>
          <p:nvPr/>
        </p:nvSpPr>
        <p:spPr>
          <a:xfrm>
            <a:off x="2240280" y="5413248"/>
            <a:ext cx="2286000" cy="329184"/>
          </a:xfrm>
          <a:prstGeom prst="rect">
            <a:avLst/>
          </a:prstGeom>
          <a:noFill/>
          <a:ln/>
        </p:spPr>
        <p:txBody>
          <a:bodyPr wrap="square" lIns="0" tIns="0" rIns="0" bIns="0" rtlCol="0" anchor="ctr"/>
          <a:lstStyle/>
          <a:p>
            <a:pPr indent="0" marL="0">
              <a:buNone/>
            </a:pPr>
            <a:r>
              <a:rPr lang="en-US" sz="1250" b="1" dirty="0">
                <a:solidFill>
                  <a:srgbClr val="3A3A3A"/>
                </a:solidFill>
                <a:latin typeface="Calibri" pitchFamily="34" charset="0"/>
                <a:ea typeface="Calibri" pitchFamily="34" charset="-122"/>
                <a:cs typeface="Calibri" pitchFamily="34" charset="-120"/>
              </a:rPr>
              <a:t>18,1 %  ✓ selected</a:t>
            </a:r>
            <a:endParaRPr lang="en-US" sz="1250" dirty="0"/>
          </a:p>
        </p:txBody>
      </p:sp>
      <p:sp>
        <p:nvSpPr>
          <p:cNvPr id="37" name="Text 34"/>
          <p:cNvSpPr/>
          <p:nvPr/>
        </p:nvSpPr>
        <p:spPr>
          <a:xfrm>
            <a:off x="548640" y="5852160"/>
            <a:ext cx="1005840" cy="329184"/>
          </a:xfrm>
          <a:prstGeom prst="rect">
            <a:avLst/>
          </a:prstGeom>
          <a:noFill/>
          <a:ln/>
        </p:spPr>
        <p:txBody>
          <a:bodyPr wrap="square" lIns="0" tIns="0" rIns="0" bIns="0" rtlCol="0" anchor="ctr"/>
          <a:lstStyle/>
          <a:p>
            <a:pPr indent="0" marL="0">
              <a:buNone/>
            </a:pPr>
            <a:r>
              <a:rPr lang="en-US" sz="1300" b="1" dirty="0">
                <a:solidFill>
                  <a:srgbClr val="3A3A3A"/>
                </a:solidFill>
                <a:latin typeface="Calibri" pitchFamily="34" charset="0"/>
                <a:ea typeface="Calibri" pitchFamily="34" charset="-122"/>
                <a:cs typeface="Calibri" pitchFamily="34" charset="-120"/>
              </a:rPr>
              <a:t>Prophet</a:t>
            </a:r>
            <a:endParaRPr lang="en-US" sz="1300" dirty="0"/>
          </a:p>
        </p:txBody>
      </p:sp>
      <p:sp>
        <p:nvSpPr>
          <p:cNvPr id="38" name="Shape 35"/>
          <p:cNvSpPr/>
          <p:nvPr/>
        </p:nvSpPr>
        <p:spPr>
          <a:xfrm>
            <a:off x="1600200" y="5870448"/>
            <a:ext cx="2926080" cy="292608"/>
          </a:xfrm>
          <a:prstGeom prst="rect">
            <a:avLst/>
          </a:prstGeom>
          <a:solidFill>
            <a:srgbClr val="B9B9C0"/>
          </a:solidFill>
          <a:ln/>
        </p:spPr>
      </p:sp>
      <p:sp>
        <p:nvSpPr>
          <p:cNvPr id="39" name="Text 36"/>
          <p:cNvSpPr/>
          <p:nvPr/>
        </p:nvSpPr>
        <p:spPr>
          <a:xfrm>
            <a:off x="4617720" y="5852160"/>
            <a:ext cx="1188720" cy="329184"/>
          </a:xfrm>
          <a:prstGeom prst="rect">
            <a:avLst/>
          </a:prstGeom>
          <a:noFill/>
          <a:ln/>
        </p:spPr>
        <p:txBody>
          <a:bodyPr wrap="square" lIns="0" tIns="0" rIns="0" bIns="0" rtlCol="0" anchor="ctr"/>
          <a:lstStyle/>
          <a:p>
            <a:pPr indent="0" marL="0">
              <a:buNone/>
            </a:pPr>
            <a:r>
              <a:rPr lang="en-US" sz="1250" b="1" dirty="0">
                <a:solidFill>
                  <a:srgbClr val="3A3A3A"/>
                </a:solidFill>
                <a:latin typeface="Calibri" pitchFamily="34" charset="0"/>
                <a:ea typeface="Calibri" pitchFamily="34" charset="-122"/>
                <a:cs typeface="Calibri" pitchFamily="34" charset="-120"/>
              </a:rPr>
              <a:t>96,5 %</a:t>
            </a:r>
            <a:endParaRPr lang="en-US" sz="1250" dirty="0"/>
          </a:p>
        </p:txBody>
      </p:sp>
      <p:sp>
        <p:nvSpPr>
          <p:cNvPr id="40" name="Shape 37"/>
          <p:cNvSpPr/>
          <p:nvPr/>
        </p:nvSpPr>
        <p:spPr>
          <a:xfrm>
            <a:off x="6400800" y="5074920"/>
            <a:ext cx="5239512" cy="1188720"/>
          </a:xfrm>
          <a:prstGeom prst="roundRect">
            <a:avLst>
              <a:gd name="adj" fmla="val 6154"/>
            </a:avLst>
          </a:prstGeom>
          <a:solidFill>
            <a:srgbClr val="484B54"/>
          </a:solidFill>
          <a:ln/>
        </p:spPr>
      </p:sp>
      <p:sp>
        <p:nvSpPr>
          <p:cNvPr id="41" name="Text 38"/>
          <p:cNvSpPr/>
          <p:nvPr/>
        </p:nvSpPr>
        <p:spPr>
          <a:xfrm>
            <a:off x="6629400" y="5138928"/>
            <a:ext cx="2743200" cy="256032"/>
          </a:xfrm>
          <a:prstGeom prst="rect">
            <a:avLst/>
          </a:prstGeom>
          <a:noFill/>
          <a:ln/>
        </p:spPr>
        <p:txBody>
          <a:bodyPr wrap="square" lIns="0" tIns="0" rIns="0" bIns="0" rtlCol="0" anchor="ctr"/>
          <a:lstStyle/>
          <a:p>
            <a:pPr indent="0" marL="0">
              <a:buNone/>
            </a:pPr>
            <a:r>
              <a:rPr lang="en-US" sz="1100" b="1" spc="160" kern="0" dirty="0">
                <a:solidFill>
                  <a:srgbClr val="FFE600"/>
                </a:solidFill>
                <a:latin typeface="Calibri" pitchFamily="34" charset="0"/>
                <a:ea typeface="Calibri" pitchFamily="34" charset="-122"/>
                <a:cs typeface="Calibri" pitchFamily="34" charset="-120"/>
              </a:rPr>
              <a:t>RESULT</a:t>
            </a:r>
            <a:endParaRPr lang="en-US" sz="1100" dirty="0"/>
          </a:p>
        </p:txBody>
      </p:sp>
      <p:sp>
        <p:nvSpPr>
          <p:cNvPr id="42" name="Text 39"/>
          <p:cNvSpPr/>
          <p:nvPr/>
        </p:nvSpPr>
        <p:spPr>
          <a:xfrm>
            <a:off x="6629400" y="5394960"/>
            <a:ext cx="4846320" cy="80467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XGBoost wins here and forecasts 31,59 MDT for 2026; SHAP shows the main drivers: last year's value and the time trend.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2026-09-21T22:39:56Z</dcterms:created>
  <dcterms:modified xsi:type="dcterms:W3CDTF">2026-09-21T22:39:56Z</dcterms:modified>
</cp:coreProperties>
</file>