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Extraction does not only read numbers: it normalizes them. Every insurer writes its tables in its own way, so we could not compare two companies directly. Each row label is matched to a canonical vocabulary, using fuzzy matching and a dictionary of known variants. For example, in the STAR 2024 annexe, the row Primes émises is stored as Primes, and Solde de Souscription becomes Solde de souscription; the label Participation aux résultats is completed into Participation aux résultats et intérêts techniques. For AMI and GAT, a long variant, produits alloués transférés à l'état de résultat non technique, is recognized as Produits nets de placements. The same is done for the column names: amortissements et provisions with a colon becomes Amortissements et provisions, and the column of the previous year, written au 31/12/2024 Net, is stored as Net (N-1). Thanks to this common vocabulary, the same KPI can be computed for every company.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values are cleaned in the same way. In the reports, the same number can be written with spaces as thousand separators, like minus 2 666 914 in STAR; with brackets for negative amounts, which is the accounting notation; with different kinds of minus signs; with a simple dash for an empty cell; or even in the American format, with commas for thousands and a point for decimals, as we found in the COTUNACE reports. Each of these cases is converted into one clean number: minus 8 787 121 in our example becomes the value minus 8,787,121, and an isolated dash, which means nothing to report, is counted as zero. This step is essential: without it, the checks and the ratios could not be computed, and a single misread sign would falsify a KPI.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Beyond reading and normalizing, there is a cleaning step after the extraction, inside the validation stage. The pipeline compares each value with three references. First, the accounting identities: for STAR 2025, the total assets did not equal the equity plus the liabilities, a gap of about 90 million dinars. Second, the history of the company: for BH Assurance, other assets jump from 22.6 million in 2024 to 611 million in 2025, plus 2,609 percent, which is implausible. Third, the sector: for UIB in 2024, a combined ratio of 24.5 percent, against an average of 74.94 percent for 20 companies. Each of these values is flagged with a probable cause and a recommendation, and none is corrected silently, because a real business change, like a merger, remains possible. The consultant decides, with the source PDF one click away.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HP/Desktop/SCRAPING/docs/scratch/star/crops/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3533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3464" y="393192"/>
            <a:ext cx="374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31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1627632" y="265176"/>
            <a:ext cx="4160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31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AI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8092440" y="52120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31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Pipeline stages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0" y="1481328"/>
            <a:ext cx="12191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 Data pipeline  -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521208" y="2286000"/>
            <a:ext cx="2395728" cy="548640"/>
          </a:xfrm>
          <a:prstGeom prst="chevron">
            <a:avLst/>
          </a:prstGeom>
          <a:solidFill>
            <a:srgbClr val="F2F2F2"/>
          </a:solidFill>
          <a:ln/>
          <a:effectLst>
            <a:outerShdw sx="100000" sy="100000" kx="0" ky="0" algn="bl" rotWithShape="0" blurRad="76200" dist="38100" dir="2700000">
              <a:srgbClr val="000000">
                <a:alpha val="2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41248" y="22860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2688336" y="2286000"/>
            <a:ext cx="2395728" cy="548640"/>
          </a:xfrm>
          <a:prstGeom prst="chevron">
            <a:avLst/>
          </a:prstGeom>
          <a:solidFill>
            <a:srgbClr val="FFE600"/>
          </a:solidFill>
          <a:ln/>
          <a:effectLst>
            <a:outerShdw sx="100000" sy="100000" kx="0" ky="0" algn="bl" rotWithShape="0" blurRad="76200" dist="38100" dir="2700000">
              <a:srgbClr val="000000">
                <a:alpha val="2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008376" y="22860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855464" y="2286000"/>
            <a:ext cx="2395728" cy="548640"/>
          </a:xfrm>
          <a:prstGeom prst="chevron">
            <a:avLst/>
          </a:prstGeom>
          <a:solidFill>
            <a:srgbClr val="F2F2F2"/>
          </a:solidFill>
          <a:ln/>
          <a:effectLst>
            <a:outerShdw sx="100000" sy="100000" kx="0" ky="0" algn="bl" rotWithShape="0" blurRad="76200" dist="38100" dir="2700000">
              <a:srgbClr val="000000">
                <a:alpha val="2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175504" y="22860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022592" y="2286000"/>
            <a:ext cx="2395728" cy="548640"/>
          </a:xfrm>
          <a:prstGeom prst="chevron">
            <a:avLst/>
          </a:prstGeom>
          <a:solidFill>
            <a:srgbClr val="F2F2F2"/>
          </a:solidFill>
          <a:ln/>
          <a:effectLst>
            <a:outerShdw sx="100000" sy="100000" kx="0" ky="0" algn="bl" rotWithShape="0" blurRad="76200" dist="38100" dir="2700000">
              <a:srgbClr val="000000">
                <a:alpha val="2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7342632" y="22860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9189720" y="2286000"/>
            <a:ext cx="2395728" cy="548640"/>
          </a:xfrm>
          <a:prstGeom prst="chevron">
            <a:avLst/>
          </a:prstGeom>
          <a:solidFill>
            <a:srgbClr val="F2F2F2"/>
          </a:solidFill>
          <a:ln/>
          <a:effectLst>
            <a:outerShdw sx="100000" sy="100000" kx="0" ky="0" algn="bl" rotWithShape="0" blurRad="76200" dist="38100" dir="2700000">
              <a:srgbClr val="000000">
                <a:alpha val="2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9509760" y="22860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548640" y="3127248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48640" y="3538728"/>
            <a:ext cx="137160" cy="137160"/>
          </a:xfrm>
          <a:prstGeom prst="ellipse">
            <a:avLst/>
          </a:prstGeom>
          <a:solidFill>
            <a:srgbClr val="FFE600"/>
          </a:solidFill>
          <a:ln/>
        </p:spPr>
      </p:sp>
      <p:sp>
        <p:nvSpPr>
          <p:cNvPr id="19" name="Text 16"/>
          <p:cNvSpPr/>
          <p:nvPr/>
        </p:nvSpPr>
        <p:spPr>
          <a:xfrm>
            <a:off x="841248" y="3456432"/>
            <a:ext cx="4114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F31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company writes its tables in its own way.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548640" y="4105656"/>
            <a:ext cx="137160" cy="137160"/>
          </a:xfrm>
          <a:prstGeom prst="ellipse">
            <a:avLst/>
          </a:prstGeom>
          <a:solidFill>
            <a:srgbClr val="FFE600"/>
          </a:solidFill>
          <a:ln/>
        </p:spPr>
      </p:sp>
      <p:sp>
        <p:nvSpPr>
          <p:cNvPr id="21" name="Text 18"/>
          <p:cNvSpPr/>
          <p:nvPr/>
        </p:nvSpPr>
        <p:spPr>
          <a:xfrm>
            <a:off x="841248" y="4023360"/>
            <a:ext cx="4114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F31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labels are matched to a canonical vocabulary (fuzzy matching + known variants).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548640" y="4672584"/>
            <a:ext cx="137160" cy="137160"/>
          </a:xfrm>
          <a:prstGeom prst="ellipse">
            <a:avLst/>
          </a:prstGeom>
          <a:solidFill>
            <a:srgbClr val="FFE600"/>
          </a:solidFill>
          <a:ln/>
        </p:spPr>
      </p:sp>
      <p:sp>
        <p:nvSpPr>
          <p:cNvPr id="23" name="Text 20"/>
          <p:cNvSpPr/>
          <p:nvPr/>
        </p:nvSpPr>
        <p:spPr>
          <a:xfrm>
            <a:off x="841248" y="4590288"/>
            <a:ext cx="4114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F31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names are unified too, so any two companies can be compared.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548640" y="5257800"/>
            <a:ext cx="4389120" cy="1143000"/>
          </a:xfrm>
          <a:prstGeom prst="roundRect">
            <a:avLst>
              <a:gd name="adj" fmla="val 6400"/>
            </a:avLst>
          </a:prstGeom>
          <a:solidFill>
            <a:srgbClr val="484B54"/>
          </a:solidFill>
          <a:ln/>
        </p:spPr>
      </p:sp>
      <p:sp>
        <p:nvSpPr>
          <p:cNvPr id="25" name="Text 22"/>
          <p:cNvSpPr/>
          <p:nvPr/>
        </p:nvSpPr>
        <p:spPr>
          <a:xfrm>
            <a:off x="777240" y="534924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· STAR 2024 · ANNEXE 12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777240" y="560527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“Primes émises”  →  “Primes”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777240" y="597103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vocabulary for all companies</a:t>
            </a:r>
            <a:endParaRPr lang="en-US" sz="16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12080" y="3154680"/>
          <a:ext cx="64008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697480"/>
                <a:gridCol w="365760"/>
                <a:gridCol w="260604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4B5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 WRITTEN IN THE PDF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4B5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4B5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STORED (CANONICAL)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4B5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8B8B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F31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Primes émises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B59F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F31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8B8B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F31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Solde de Souscription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B59F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F31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Solde de souscription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8B8B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F31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Participation aux résultats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B59F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F31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Participation aux résultats et intérêts techniques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8B8B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F31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produits alloués transférés à l'état de résultat non technique (AMI, GAT)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B59F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F31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Produits nets de placements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8B8B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F31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amortissements et provisions: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B59F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F31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Amortissements et provisions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8B8B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F31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 31/12/2024 · Net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B59F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F31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(N-1)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6"/>
                    </a:solidFill>
                  </a:tcPr>
                </a:tc>
              </a:tr>
            </a:tbl>
          </a:graphicData>
        </a:graphic>
      </p:graphicFrame>
      <p:sp>
        <p:nvSpPr>
          <p:cNvPr id="29" name="Text 25"/>
          <p:cNvSpPr/>
          <p:nvPr/>
        </p:nvSpPr>
        <p:spPr>
          <a:xfrm>
            <a:off x="5212080" y="606247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examples: STAR 2024 (Annexe 12), AMI and GAT (known variant), STAR 2025 (balance sheet)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HP/Desktop/SCRAPING/docs/scratch/star/crops/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3533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3464" y="393192"/>
            <a:ext cx="374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31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1627632" y="265176"/>
            <a:ext cx="4160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31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AI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8092440" y="52120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31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Pipeline stages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0" y="1481328"/>
            <a:ext cx="12191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 Data pipeline  -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521208" y="2286000"/>
            <a:ext cx="2395728" cy="548640"/>
          </a:xfrm>
          <a:prstGeom prst="chevron">
            <a:avLst/>
          </a:prstGeom>
          <a:solidFill>
            <a:srgbClr val="F2F2F2"/>
          </a:solidFill>
          <a:ln/>
          <a:effectLst>
            <a:outerShdw sx="100000" sy="100000" kx="0" ky="0" algn="bl" rotWithShape="0" blurRad="76200" dist="38100" dir="2700000">
              <a:srgbClr val="000000">
                <a:alpha val="2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41248" y="22860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2688336" y="2286000"/>
            <a:ext cx="2395728" cy="548640"/>
          </a:xfrm>
          <a:prstGeom prst="chevron">
            <a:avLst/>
          </a:prstGeom>
          <a:solidFill>
            <a:srgbClr val="FFE600"/>
          </a:solidFill>
          <a:ln/>
          <a:effectLst>
            <a:outerShdw sx="100000" sy="100000" kx="0" ky="0" algn="bl" rotWithShape="0" blurRad="76200" dist="38100" dir="2700000">
              <a:srgbClr val="000000">
                <a:alpha val="2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008376" y="22860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855464" y="2286000"/>
            <a:ext cx="2395728" cy="548640"/>
          </a:xfrm>
          <a:prstGeom prst="chevron">
            <a:avLst/>
          </a:prstGeom>
          <a:solidFill>
            <a:srgbClr val="F2F2F2"/>
          </a:solidFill>
          <a:ln/>
          <a:effectLst>
            <a:outerShdw sx="100000" sy="100000" kx="0" ky="0" algn="bl" rotWithShape="0" blurRad="76200" dist="38100" dir="2700000">
              <a:srgbClr val="000000">
                <a:alpha val="2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175504" y="22860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022592" y="2286000"/>
            <a:ext cx="2395728" cy="548640"/>
          </a:xfrm>
          <a:prstGeom prst="chevron">
            <a:avLst/>
          </a:prstGeom>
          <a:solidFill>
            <a:srgbClr val="F2F2F2"/>
          </a:solidFill>
          <a:ln/>
          <a:effectLst>
            <a:outerShdw sx="100000" sy="100000" kx="0" ky="0" algn="bl" rotWithShape="0" blurRad="76200" dist="38100" dir="2700000">
              <a:srgbClr val="000000">
                <a:alpha val="2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7342632" y="22860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9189720" y="2286000"/>
            <a:ext cx="2395728" cy="548640"/>
          </a:xfrm>
          <a:prstGeom prst="chevron">
            <a:avLst/>
          </a:prstGeom>
          <a:solidFill>
            <a:srgbClr val="F2F2F2"/>
          </a:solidFill>
          <a:ln/>
          <a:effectLst>
            <a:outerShdw sx="100000" sy="100000" kx="0" ky="0" algn="bl" rotWithShape="0" blurRad="76200" dist="38100" dir="2700000">
              <a:srgbClr val="000000">
                <a:alpha val="2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9509760" y="22860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548640" y="3127248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48640" y="3538728"/>
            <a:ext cx="137160" cy="137160"/>
          </a:xfrm>
          <a:prstGeom prst="ellipse">
            <a:avLst/>
          </a:prstGeom>
          <a:solidFill>
            <a:srgbClr val="FFE600"/>
          </a:solidFill>
          <a:ln/>
        </p:spPr>
      </p:sp>
      <p:sp>
        <p:nvSpPr>
          <p:cNvPr id="19" name="Text 16"/>
          <p:cNvSpPr/>
          <p:nvPr/>
        </p:nvSpPr>
        <p:spPr>
          <a:xfrm>
            <a:off x="841248" y="3456432"/>
            <a:ext cx="4114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F31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write numbers in many different ways.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548640" y="4105656"/>
            <a:ext cx="137160" cy="137160"/>
          </a:xfrm>
          <a:prstGeom prst="ellipse">
            <a:avLst/>
          </a:prstGeom>
          <a:solidFill>
            <a:srgbClr val="FFE600"/>
          </a:solidFill>
          <a:ln/>
        </p:spPr>
      </p:sp>
      <p:sp>
        <p:nvSpPr>
          <p:cNvPr id="21" name="Text 18"/>
          <p:cNvSpPr/>
          <p:nvPr/>
        </p:nvSpPr>
        <p:spPr>
          <a:xfrm>
            <a:off x="841248" y="4023360"/>
            <a:ext cx="4114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F31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value is converted to a clean number: thousand separators, minus signs, brackets, dashes and decimal formats.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548640" y="4672584"/>
            <a:ext cx="137160" cy="137160"/>
          </a:xfrm>
          <a:prstGeom prst="ellipse">
            <a:avLst/>
          </a:prstGeom>
          <a:solidFill>
            <a:srgbClr val="FFE600"/>
          </a:solidFill>
          <a:ln/>
        </p:spPr>
      </p:sp>
      <p:sp>
        <p:nvSpPr>
          <p:cNvPr id="23" name="Text 20"/>
          <p:cNvSpPr/>
          <p:nvPr/>
        </p:nvSpPr>
        <p:spPr>
          <a:xfrm>
            <a:off x="841248" y="4590288"/>
            <a:ext cx="4114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F31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what makes the checks and the ratios possible.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548640" y="5257800"/>
            <a:ext cx="4389120" cy="1143000"/>
          </a:xfrm>
          <a:prstGeom prst="roundRect">
            <a:avLst>
              <a:gd name="adj" fmla="val 6400"/>
            </a:avLst>
          </a:prstGeom>
          <a:solidFill>
            <a:srgbClr val="484B54"/>
          </a:solidFill>
          <a:ln/>
        </p:spPr>
      </p:sp>
      <p:sp>
        <p:nvSpPr>
          <p:cNvPr id="25" name="Text 22"/>
          <p:cNvSpPr/>
          <p:nvPr/>
        </p:nvSpPr>
        <p:spPr>
          <a:xfrm>
            <a:off x="777240" y="534924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· STAR 2024 · ANNEXE 12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777240" y="560527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“-8 787 121”  →  −8787121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777240" y="597103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number the system can compute with</a:t>
            </a:r>
            <a:endParaRPr lang="en-US" sz="1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12080" y="3154680"/>
          <a:ext cx="640080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3017520"/>
                <a:gridCol w="365760"/>
                <a:gridCol w="160020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 WRITTEN IN THE PDF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4B5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4B5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4B5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STORED VALUE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4B5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F31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-2 666 914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A5D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spaces are thousand separators (STAR 2024)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B59F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2F31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−2666914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F31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54 434 452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A5D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same, positive value (STAR 2024)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B59F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2F31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54434452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F31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(2 011 072)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A5D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brackets = negative, accounting notation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B59F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2F31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−2011072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F31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 / – / 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A5D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different minus signs are unified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B59F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2F31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F31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A5D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empty cell (“néant”) counts as zero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B59F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2F31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F31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13,531,056.575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A5D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 format: comma = thousands, point = decimal (COTUNACE)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B59F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2F31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13531056.575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6"/>
                    </a:solidFill>
                  </a:tcPr>
                </a:tc>
              </a:tr>
            </a:tbl>
          </a:graphicData>
        </a:graphic>
      </p:graphicFrame>
      <p:sp>
        <p:nvSpPr>
          <p:cNvPr id="29" name="Text 25"/>
          <p:cNvSpPr/>
          <p:nvPr/>
        </p:nvSpPr>
        <p:spPr>
          <a:xfrm>
            <a:off x="5212080" y="6099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applied by the extractor (extraction/full_table_extractor.py); examples from real reports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HP/Desktop/SCRAPING/docs/scratch/star/crops/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3533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3464" y="393192"/>
            <a:ext cx="374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31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1627632" y="265176"/>
            <a:ext cx="4160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31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AI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8092440" y="52120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31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Pipeline stages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0" y="1481328"/>
            <a:ext cx="12191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 Data pipeline  -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521208" y="2286000"/>
            <a:ext cx="2395728" cy="548640"/>
          </a:xfrm>
          <a:prstGeom prst="chevron">
            <a:avLst/>
          </a:prstGeom>
          <a:solidFill>
            <a:srgbClr val="F2F2F2"/>
          </a:solidFill>
          <a:ln/>
          <a:effectLst>
            <a:outerShdw sx="100000" sy="100000" kx="0" ky="0" algn="bl" rotWithShape="0" blurRad="76200" dist="38100" dir="2700000">
              <a:srgbClr val="000000">
                <a:alpha val="2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41248" y="22860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2688336" y="2286000"/>
            <a:ext cx="2395728" cy="548640"/>
          </a:xfrm>
          <a:prstGeom prst="chevron">
            <a:avLst/>
          </a:prstGeom>
          <a:solidFill>
            <a:srgbClr val="F2F2F2"/>
          </a:solidFill>
          <a:ln/>
          <a:effectLst>
            <a:outerShdw sx="100000" sy="100000" kx="0" ky="0" algn="bl" rotWithShape="0" blurRad="76200" dist="38100" dir="2700000">
              <a:srgbClr val="000000">
                <a:alpha val="2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008376" y="22860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855464" y="2286000"/>
            <a:ext cx="2395728" cy="548640"/>
          </a:xfrm>
          <a:prstGeom prst="chevron">
            <a:avLst/>
          </a:prstGeom>
          <a:solidFill>
            <a:srgbClr val="F2F2F2"/>
          </a:solidFill>
          <a:ln/>
          <a:effectLst>
            <a:outerShdw sx="100000" sy="100000" kx="0" ky="0" algn="bl" rotWithShape="0" blurRad="76200" dist="38100" dir="2700000">
              <a:srgbClr val="000000">
                <a:alpha val="2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175504" y="22860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022592" y="2286000"/>
            <a:ext cx="2395728" cy="548640"/>
          </a:xfrm>
          <a:prstGeom prst="chevron">
            <a:avLst/>
          </a:prstGeom>
          <a:solidFill>
            <a:srgbClr val="FFE600"/>
          </a:solidFill>
          <a:ln/>
          <a:effectLst>
            <a:outerShdw sx="100000" sy="100000" kx="0" ky="0" algn="bl" rotWithShape="0" blurRad="76200" dist="38100" dir="2700000">
              <a:srgbClr val="000000">
                <a:alpha val="2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7342632" y="22860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9189720" y="2286000"/>
            <a:ext cx="2395728" cy="548640"/>
          </a:xfrm>
          <a:prstGeom prst="chevron">
            <a:avLst/>
          </a:prstGeom>
          <a:solidFill>
            <a:srgbClr val="F2F2F2"/>
          </a:solidFill>
          <a:ln/>
          <a:effectLst>
            <a:outerShdw sx="100000" sy="100000" kx="0" ky="0" algn="bl" rotWithShape="0" blurRad="76200" dist="38100" dir="2700000">
              <a:srgbClr val="000000">
                <a:alpha val="2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9509760" y="22860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548640" y="3127248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48640" y="3538728"/>
            <a:ext cx="137160" cy="137160"/>
          </a:xfrm>
          <a:prstGeom prst="ellipse">
            <a:avLst/>
          </a:prstGeom>
          <a:solidFill>
            <a:srgbClr val="FFE600"/>
          </a:solidFill>
          <a:ln/>
        </p:spPr>
      </p:sp>
      <p:sp>
        <p:nvSpPr>
          <p:cNvPr id="19" name="Text 16"/>
          <p:cNvSpPr/>
          <p:nvPr/>
        </p:nvSpPr>
        <p:spPr>
          <a:xfrm>
            <a:off x="841248" y="3456432"/>
            <a:ext cx="4114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F31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extraction, each value is compared with the accounting identities, the company's own history and its peers.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548640" y="4105656"/>
            <a:ext cx="137160" cy="137160"/>
          </a:xfrm>
          <a:prstGeom prst="ellipse">
            <a:avLst/>
          </a:prstGeom>
          <a:solidFill>
            <a:srgbClr val="FFE600"/>
          </a:solidFill>
          <a:ln/>
        </p:spPr>
      </p:sp>
      <p:sp>
        <p:nvSpPr>
          <p:cNvPr id="21" name="Text 18"/>
          <p:cNvSpPr/>
          <p:nvPr/>
        </p:nvSpPr>
        <p:spPr>
          <a:xfrm>
            <a:off x="841248" y="4023360"/>
            <a:ext cx="4114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F31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suspect value is flagged with a probable cause and a recommendation.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548640" y="4672584"/>
            <a:ext cx="137160" cy="137160"/>
          </a:xfrm>
          <a:prstGeom prst="ellipse">
            <a:avLst/>
          </a:prstGeom>
          <a:solidFill>
            <a:srgbClr val="FFE600"/>
          </a:solidFill>
          <a:ln/>
        </p:spPr>
      </p:sp>
      <p:sp>
        <p:nvSpPr>
          <p:cNvPr id="23" name="Text 20"/>
          <p:cNvSpPr/>
          <p:nvPr/>
        </p:nvSpPr>
        <p:spPr>
          <a:xfrm>
            <a:off x="841248" y="4590288"/>
            <a:ext cx="4114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F31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corrected silently: a real business change stays possible.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548640" y="5257800"/>
            <a:ext cx="4389120" cy="1143000"/>
          </a:xfrm>
          <a:prstGeom prst="roundRect">
            <a:avLst>
              <a:gd name="adj" fmla="val 6400"/>
            </a:avLst>
          </a:prstGeom>
          <a:solidFill>
            <a:srgbClr val="484B54"/>
          </a:solidFill>
          <a:ln/>
        </p:spPr>
      </p:sp>
      <p:sp>
        <p:nvSpPr>
          <p:cNvPr id="25" name="Text 22"/>
          <p:cNvSpPr/>
          <p:nvPr/>
        </p:nvSpPr>
        <p:spPr>
          <a:xfrm>
            <a:off x="777240" y="534924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· AFTER EXTRACTION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777240" y="560527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Flagged, explained, never silently corrected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777240" y="597103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report · steps 7 and 9</a:t>
            </a:r>
            <a:endParaRPr lang="en-US" sz="1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12080" y="3154680"/>
          <a:ext cx="640080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2057400"/>
                <a:gridCol w="292608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4B5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4B5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EXAMPLE FLAGGED BY THE PLATFORM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4B5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F31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 identity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A5D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actif = Capitaux propres + Passif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F31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 2025 · gap of 89 777 403 TND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F31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Year-over-year variation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A5D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 &gt; 95 % or growth × 20 vs. last year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F31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BH Assurance · Autres éléments d'actifs 22 560 802 → 611 172 463 (+2 609 %)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F31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Sector deviation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A5D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very far from the sector average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F31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UIB 2024 · Ratio combiné 24,5 % vs 74,94 % (20 companies)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9" name="Shape 25"/>
          <p:cNvSpPr/>
          <p:nvPr/>
        </p:nvSpPr>
        <p:spPr>
          <a:xfrm>
            <a:off x="5212080" y="5376672"/>
            <a:ext cx="6400800" cy="761097"/>
          </a:xfrm>
          <a:prstGeom prst="rect">
            <a:avLst/>
          </a:prstGeom>
          <a:solidFill>
            <a:srgbClr val="FFFFFF"/>
          </a:solidFill>
          <a:ln w="12700">
            <a:solidFill>
              <a:srgbClr val="D3D5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pic>
        <p:nvPicPr>
          <p:cNvPr id="30" name="Image 1" descr="C:/Users/HP/Desktop/SCRAPING/docs/scratch/star/crops/c_cle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5376672"/>
            <a:ext cx="6400800" cy="761097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5212080" y="6192633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· Anomalies système — real list (2025), controls of the “Cleaning data” layer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2026-09-21T18:06:50Z</dcterms:created>
  <dcterms:modified xsi:type="dcterms:W3CDTF">2026-09-21T18:06:50Z</dcterms:modified>
</cp:coreProperties>
</file>