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follow one real data point through the whole pipeline: the total assets of STAR for 2025. It starts here, at the collection step. A browser automation opens the CMF portal, selects the company, and keeps only the annual reports. Duplicates are removed, the link is checked, and each report is registered with its link; if the portal is slow, the sequence is retried up to three times. On the right, the STAR report exactly as it was collected from the CMF website: the financial statements of 2025. At this point, our data point is still inside a PDF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Second step: extraction. The balance sheet of STAR, on page 2, is a scanned image, so there is no text to read directly: an OCR reads the table and identifies the rows and the columns. Our data point is the cell at the crossing of the row Total de l'actif and the column Net: 1,661,612,773 dinars. The column on its right is the previous year. From now on, this number is no longer a picture in a PDF: it is a cell stored in the database, identified by its table, its row and its column.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Third step: modeling. The stored cells become KPIs, and each KPI has one single definition. Here is the formula of the ROA of STAR for 2025, shown by the platform. The return on assets is the net result divided by the total assets, times one hundred: 39.89 million divided by 1,661.61 million gives 2.4 percent. So our data point is now the denominator of a KPI. Both components are values extracted from the report, and the platform lets you click on each of them to see its source.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Fourth step: validation. The platform checks accounting identities, and the first one is that the total assets must equal the equity plus the liabilities. For STAR 2025, the check finds a gap of about 90 million dinars and flags an anomaly, with a probable cause and a recommendation to check the source PDF. When we analyse it, the gap is exactly the difference between the two years: the total extracted on the liabilities side is the previous year's column. In fact, the equity, 450 million, plus the liabilities, 1,211 million, gives exactly our total assets. So the data point is correct, and the check has just caught an extraction error on the other side of the balance sheet. That is precisely the role of this step: nothing is corrected silently, and every inconsistency is flagged.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Last step: delivery. The verified KPIs are available in the dashboards, in an Excel export and through the chatbot. Here is the STAR profile, tab financial performance, for 2025: the structure of the assets shows our data point, total assets 1,661.6 million, and the net result, the ROA and the ROE that were computed from it. So we have followed one figure from a scanned page of a PDF to a screen a consultant can use, through extraction, computation and validation.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C:/Users/HP/Desktop/SCRAPING/docs/scratch/star/crops/header.png">    </p:cNvPr>
          <p:cNvPicPr>
            <a:picLocks noChangeAspect="1"/>
          </p:cNvPicPr>
          <p:nvPr/>
        </p:nvPicPr>
        <p:blipFill>
          <a:blip r:embed="rId1"/>
          <a:stretch>
            <a:fillRect/>
          </a:stretch>
        </p:blipFill>
        <p:spPr>
          <a:xfrm>
            <a:off x="0" y="0"/>
            <a:ext cx="12191695" cy="1353312"/>
          </a:xfrm>
          <a:prstGeom prst="rect">
            <a:avLst/>
          </a:prstGeom>
        </p:spPr>
      </p:pic>
      <p:sp>
        <p:nvSpPr>
          <p:cNvPr id="3" name="Text 0"/>
          <p:cNvSpPr/>
          <p:nvPr/>
        </p:nvSpPr>
        <p:spPr>
          <a:xfrm>
            <a:off x="283464" y="393192"/>
            <a:ext cx="374904" cy="347472"/>
          </a:xfrm>
          <a:prstGeom prst="rect">
            <a:avLst/>
          </a:prstGeom>
          <a:noFill/>
          <a:ln/>
        </p:spPr>
        <p:txBody>
          <a:bodyPr wrap="square" lIns="0" tIns="0" rIns="0" bIns="0" rtlCol="0" anchor="ctr"/>
          <a:lstStyle/>
          <a:p>
            <a:pPr algn="ctr" indent="0" marL="0">
              <a:buNone/>
            </a:pPr>
            <a:r>
              <a:rPr lang="en-US" sz="1200" b="1" dirty="0">
                <a:solidFill>
                  <a:srgbClr val="2F3136"/>
                </a:solidFill>
                <a:latin typeface="Arial" pitchFamily="34" charset="0"/>
                <a:ea typeface="Arial" pitchFamily="34" charset="-122"/>
                <a:cs typeface="Arial" pitchFamily="34" charset="-120"/>
              </a:rPr>
              <a:t>05</a:t>
            </a:r>
            <a:endParaRPr lang="en-US" sz="1200" dirty="0"/>
          </a:p>
        </p:txBody>
      </p:sp>
      <p:sp>
        <p:nvSpPr>
          <p:cNvPr id="4" name="Text 1"/>
          <p:cNvSpPr/>
          <p:nvPr/>
        </p:nvSpPr>
        <p:spPr>
          <a:xfrm>
            <a:off x="1627632" y="265176"/>
            <a:ext cx="4160520" cy="804672"/>
          </a:xfrm>
          <a:prstGeom prst="rect">
            <a:avLst/>
          </a:prstGeom>
          <a:noFill/>
          <a:ln/>
        </p:spPr>
        <p:txBody>
          <a:bodyPr wrap="square" lIns="0" tIns="0" rIns="0" bIns="0" rtlCol="0" anchor="ctr"/>
          <a:lstStyle/>
          <a:p>
            <a:pPr algn="ctr" indent="0" marL="0">
              <a:buNone/>
            </a:pPr>
            <a:r>
              <a:rPr lang="en-US" sz="1500" b="1" dirty="0">
                <a:solidFill>
                  <a:srgbClr val="2F3136"/>
                </a:solidFill>
                <a:latin typeface="Arial" pitchFamily="34" charset="0"/>
                <a:ea typeface="Arial" pitchFamily="34" charset="-122"/>
                <a:cs typeface="Arial" pitchFamily="34" charset="-120"/>
              </a:rPr>
              <a:t>Data &amp; AI</a:t>
            </a:r>
            <a:endParaRPr lang="en-US" sz="1500" dirty="0"/>
          </a:p>
        </p:txBody>
      </p:sp>
      <p:sp>
        <p:nvSpPr>
          <p:cNvPr id="5" name="Text 2"/>
          <p:cNvSpPr/>
          <p:nvPr/>
        </p:nvSpPr>
        <p:spPr>
          <a:xfrm>
            <a:off x="8092440" y="521208"/>
            <a:ext cx="3931920" cy="411480"/>
          </a:xfrm>
          <a:prstGeom prst="rect">
            <a:avLst/>
          </a:prstGeom>
          <a:noFill/>
          <a:ln/>
        </p:spPr>
        <p:txBody>
          <a:bodyPr wrap="square" lIns="0" tIns="0" rIns="0" bIns="0" rtlCol="0" anchor="ctr"/>
          <a:lstStyle/>
          <a:p>
            <a:pPr indent="0" marL="0">
              <a:buNone/>
            </a:pPr>
            <a:r>
              <a:rPr lang="en-US" sz="1400" b="1" dirty="0">
                <a:solidFill>
                  <a:srgbClr val="2F3136"/>
                </a:solidFill>
                <a:latin typeface="Arial" pitchFamily="34" charset="0"/>
                <a:ea typeface="Arial" pitchFamily="34" charset="-122"/>
                <a:cs typeface="Arial" pitchFamily="34" charset="-120"/>
              </a:rPr>
              <a:t>B. Pipeline stages</a:t>
            </a:r>
            <a:endParaRPr lang="en-US" sz="1400" dirty="0"/>
          </a:p>
        </p:txBody>
      </p:sp>
      <p:sp>
        <p:nvSpPr>
          <p:cNvPr id="6" name="Text 3"/>
          <p:cNvSpPr/>
          <p:nvPr/>
        </p:nvSpPr>
        <p:spPr>
          <a:xfrm>
            <a:off x="0" y="1481328"/>
            <a:ext cx="12191695" cy="502920"/>
          </a:xfrm>
          <a:prstGeom prst="rect">
            <a:avLst/>
          </a:prstGeom>
          <a:noFill/>
          <a:ln/>
        </p:spPr>
        <p:txBody>
          <a:bodyPr wrap="square" lIns="0" tIns="0" rIns="0" bIns="0" rtlCol="0" anchor="ctr"/>
          <a:lstStyle/>
          <a:p>
            <a:pPr algn="ctr" indent="0" marL="0">
              <a:buNone/>
            </a:pPr>
            <a:r>
              <a:rPr lang="en-US" sz="2200" b="1" dirty="0">
                <a:solidFill>
                  <a:srgbClr val="3A3A3A"/>
                </a:solidFill>
                <a:latin typeface="Arial" pitchFamily="34" charset="0"/>
                <a:ea typeface="Arial" pitchFamily="34" charset="-122"/>
                <a:cs typeface="Arial" pitchFamily="34" charset="-120"/>
              </a:rPr>
              <a:t>-  Data pipeline  -</a:t>
            </a:r>
            <a:endParaRPr lang="en-US" sz="2200" dirty="0"/>
          </a:p>
        </p:txBody>
      </p:sp>
      <p:sp>
        <p:nvSpPr>
          <p:cNvPr id="7" name="Shape 4"/>
          <p:cNvSpPr/>
          <p:nvPr/>
        </p:nvSpPr>
        <p:spPr>
          <a:xfrm>
            <a:off x="521208" y="2286000"/>
            <a:ext cx="2395728" cy="548640"/>
          </a:xfrm>
          <a:prstGeom prst="chevron">
            <a:avLst/>
          </a:prstGeom>
          <a:solidFill>
            <a:srgbClr val="FFE600"/>
          </a:solidFill>
          <a:ln/>
          <a:effectLst>
            <a:outerShdw sx="100000" sy="100000" kx="0" ky="0" algn="bl" rotWithShape="0" blurRad="76200" dist="38100" dir="2700000">
              <a:srgbClr val="000000">
                <a:alpha val="28000"/>
              </a:srgbClr>
            </a:outerShdw>
          </a:effectLst>
        </p:spPr>
      </p:sp>
      <p:sp>
        <p:nvSpPr>
          <p:cNvPr id="8" name="Text 5"/>
          <p:cNvSpPr/>
          <p:nvPr/>
        </p:nvSpPr>
        <p:spPr>
          <a:xfrm>
            <a:off x="841248"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COLLECT</a:t>
            </a:r>
            <a:endParaRPr lang="en-US" sz="1250" dirty="0"/>
          </a:p>
        </p:txBody>
      </p:sp>
      <p:sp>
        <p:nvSpPr>
          <p:cNvPr id="9" name="Shape 6"/>
          <p:cNvSpPr/>
          <p:nvPr/>
        </p:nvSpPr>
        <p:spPr>
          <a:xfrm>
            <a:off x="2688336" y="2286000"/>
            <a:ext cx="2395728" cy="548640"/>
          </a:xfrm>
          <a:prstGeom prst="chevron">
            <a:avLst/>
          </a:prstGeom>
          <a:solidFill>
            <a:srgbClr val="F2F2F2"/>
          </a:solidFill>
          <a:ln/>
          <a:effectLst>
            <a:outerShdw sx="100000" sy="100000" kx="0" ky="0" algn="bl" rotWithShape="0" blurRad="76200" dist="38100" dir="2700000">
              <a:srgbClr val="000000">
                <a:alpha val="20000"/>
              </a:srgbClr>
            </a:outerShdw>
          </a:effectLst>
        </p:spPr>
      </p:sp>
      <p:sp>
        <p:nvSpPr>
          <p:cNvPr id="10" name="Text 7"/>
          <p:cNvSpPr/>
          <p:nvPr/>
        </p:nvSpPr>
        <p:spPr>
          <a:xfrm>
            <a:off x="3008376"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EXTRACT</a:t>
            </a:r>
            <a:endParaRPr lang="en-US" sz="1250" dirty="0"/>
          </a:p>
        </p:txBody>
      </p:sp>
      <p:sp>
        <p:nvSpPr>
          <p:cNvPr id="11" name="Shape 8"/>
          <p:cNvSpPr/>
          <p:nvPr/>
        </p:nvSpPr>
        <p:spPr>
          <a:xfrm>
            <a:off x="4855464" y="2286000"/>
            <a:ext cx="2395728" cy="548640"/>
          </a:xfrm>
          <a:prstGeom prst="chevron">
            <a:avLst/>
          </a:prstGeom>
          <a:solidFill>
            <a:srgbClr val="F2F2F2"/>
          </a:solidFill>
          <a:ln/>
          <a:effectLst>
            <a:outerShdw sx="100000" sy="100000" kx="0" ky="0" algn="bl" rotWithShape="0" blurRad="76200" dist="38100" dir="2700000">
              <a:srgbClr val="000000">
                <a:alpha val="20000"/>
              </a:srgbClr>
            </a:outerShdw>
          </a:effectLst>
        </p:spPr>
      </p:sp>
      <p:sp>
        <p:nvSpPr>
          <p:cNvPr id="12" name="Text 9"/>
          <p:cNvSpPr/>
          <p:nvPr/>
        </p:nvSpPr>
        <p:spPr>
          <a:xfrm>
            <a:off x="5175504"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MODEL</a:t>
            </a:r>
            <a:endParaRPr lang="en-US" sz="1250" dirty="0"/>
          </a:p>
        </p:txBody>
      </p:sp>
      <p:sp>
        <p:nvSpPr>
          <p:cNvPr id="13" name="Shape 10"/>
          <p:cNvSpPr/>
          <p:nvPr/>
        </p:nvSpPr>
        <p:spPr>
          <a:xfrm>
            <a:off x="7022592" y="2286000"/>
            <a:ext cx="2395728" cy="548640"/>
          </a:xfrm>
          <a:prstGeom prst="chevron">
            <a:avLst/>
          </a:prstGeom>
          <a:solidFill>
            <a:srgbClr val="F2F2F2"/>
          </a:solidFill>
          <a:ln/>
          <a:effectLst>
            <a:outerShdw sx="100000" sy="100000" kx="0" ky="0" algn="bl" rotWithShape="0" blurRad="76200" dist="38100" dir="2700000">
              <a:srgbClr val="000000">
                <a:alpha val="20000"/>
              </a:srgbClr>
            </a:outerShdw>
          </a:effectLst>
        </p:spPr>
      </p:sp>
      <p:sp>
        <p:nvSpPr>
          <p:cNvPr id="14" name="Text 11"/>
          <p:cNvSpPr/>
          <p:nvPr/>
        </p:nvSpPr>
        <p:spPr>
          <a:xfrm>
            <a:off x="7342632"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VALIDATE</a:t>
            </a:r>
            <a:endParaRPr lang="en-US" sz="1250" dirty="0"/>
          </a:p>
        </p:txBody>
      </p:sp>
      <p:sp>
        <p:nvSpPr>
          <p:cNvPr id="15" name="Shape 12"/>
          <p:cNvSpPr/>
          <p:nvPr/>
        </p:nvSpPr>
        <p:spPr>
          <a:xfrm>
            <a:off x="9189720" y="2286000"/>
            <a:ext cx="2395728" cy="548640"/>
          </a:xfrm>
          <a:prstGeom prst="chevron">
            <a:avLst/>
          </a:prstGeom>
          <a:solidFill>
            <a:srgbClr val="F2F2F2"/>
          </a:solidFill>
          <a:ln/>
          <a:effectLst>
            <a:outerShdw sx="100000" sy="100000" kx="0" ky="0" algn="bl" rotWithShape="0" blurRad="76200" dist="38100" dir="2700000">
              <a:srgbClr val="000000">
                <a:alpha val="20000"/>
              </a:srgbClr>
            </a:outerShdw>
          </a:effectLst>
        </p:spPr>
      </p:sp>
      <p:sp>
        <p:nvSpPr>
          <p:cNvPr id="16" name="Text 13"/>
          <p:cNvSpPr/>
          <p:nvPr/>
        </p:nvSpPr>
        <p:spPr>
          <a:xfrm>
            <a:off x="9509760"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DELIVER</a:t>
            </a:r>
            <a:endParaRPr lang="en-US" sz="1250" dirty="0"/>
          </a:p>
        </p:txBody>
      </p:sp>
      <p:sp>
        <p:nvSpPr>
          <p:cNvPr id="17" name="Text 14"/>
          <p:cNvSpPr/>
          <p:nvPr/>
        </p:nvSpPr>
        <p:spPr>
          <a:xfrm>
            <a:off x="548640" y="3127248"/>
            <a:ext cx="4389120" cy="237744"/>
          </a:xfrm>
          <a:prstGeom prst="rect">
            <a:avLst/>
          </a:prstGeom>
          <a:noFill/>
          <a:ln/>
        </p:spPr>
        <p:txBody>
          <a:bodyPr wrap="square" lIns="0" tIns="0" rIns="0" bIns="0" rtlCol="0" anchor="ctr"/>
          <a:lstStyle/>
          <a:p>
            <a:pPr indent="0" marL="0">
              <a:buNone/>
            </a:pPr>
            <a:r>
              <a:rPr lang="en-US" sz="1100" b="1" spc="200" kern="0" dirty="0">
                <a:solidFill>
                  <a:srgbClr val="8B8B90"/>
                </a:solidFill>
                <a:latin typeface="Calibri" pitchFamily="34" charset="0"/>
                <a:ea typeface="Calibri" pitchFamily="34" charset="-122"/>
                <a:cs typeface="Calibri" pitchFamily="34" charset="-120"/>
              </a:rPr>
              <a:t>WHAT HAPPENS</a:t>
            </a:r>
            <a:endParaRPr lang="en-US" sz="1100" dirty="0"/>
          </a:p>
        </p:txBody>
      </p:sp>
      <p:sp>
        <p:nvSpPr>
          <p:cNvPr id="18" name="Shape 15"/>
          <p:cNvSpPr/>
          <p:nvPr/>
        </p:nvSpPr>
        <p:spPr>
          <a:xfrm>
            <a:off x="548640" y="3538728"/>
            <a:ext cx="137160" cy="137160"/>
          </a:xfrm>
          <a:prstGeom prst="ellipse">
            <a:avLst/>
          </a:prstGeom>
          <a:solidFill>
            <a:srgbClr val="FFE600"/>
          </a:solidFill>
          <a:ln/>
        </p:spPr>
      </p:sp>
      <p:sp>
        <p:nvSpPr>
          <p:cNvPr id="19" name="Text 16"/>
          <p:cNvSpPr/>
          <p:nvPr/>
        </p:nvSpPr>
        <p:spPr>
          <a:xfrm>
            <a:off x="841248" y="3456432"/>
            <a:ext cx="4114800" cy="512064"/>
          </a:xfrm>
          <a:prstGeom prst="rect">
            <a:avLst/>
          </a:prstGeom>
          <a:noFill/>
          <a:ln/>
        </p:spPr>
        <p:txBody>
          <a:bodyPr wrap="square" lIns="0" tIns="0" rIns="0" bIns="0" rtlCol="0" anchor="t"/>
          <a:lstStyle/>
          <a:p>
            <a:pPr indent="0" marL="0">
              <a:buNone/>
            </a:pPr>
            <a:r>
              <a:rPr lang="en-US" sz="1300" dirty="0">
                <a:solidFill>
                  <a:srgbClr val="2F3136"/>
                </a:solidFill>
                <a:latin typeface="Calibri" pitchFamily="34" charset="0"/>
                <a:ea typeface="Calibri" pitchFamily="34" charset="-122"/>
                <a:cs typeface="Calibri" pitchFamily="34" charset="-120"/>
              </a:rPr>
              <a:t>One scraper per source; the CMF portal is automated (Selenium).</a:t>
            </a:r>
            <a:endParaRPr lang="en-US" sz="1300" dirty="0"/>
          </a:p>
        </p:txBody>
      </p:sp>
      <p:sp>
        <p:nvSpPr>
          <p:cNvPr id="20" name="Shape 17"/>
          <p:cNvSpPr/>
          <p:nvPr/>
        </p:nvSpPr>
        <p:spPr>
          <a:xfrm>
            <a:off x="548640" y="4105656"/>
            <a:ext cx="137160" cy="137160"/>
          </a:xfrm>
          <a:prstGeom prst="ellipse">
            <a:avLst/>
          </a:prstGeom>
          <a:solidFill>
            <a:srgbClr val="FFE600"/>
          </a:solidFill>
          <a:ln/>
        </p:spPr>
      </p:sp>
      <p:sp>
        <p:nvSpPr>
          <p:cNvPr id="21" name="Text 18"/>
          <p:cNvSpPr/>
          <p:nvPr/>
        </p:nvSpPr>
        <p:spPr>
          <a:xfrm>
            <a:off x="841248" y="4023360"/>
            <a:ext cx="4114800" cy="512064"/>
          </a:xfrm>
          <a:prstGeom prst="rect">
            <a:avLst/>
          </a:prstGeom>
          <a:noFill/>
          <a:ln/>
        </p:spPr>
        <p:txBody>
          <a:bodyPr wrap="square" lIns="0" tIns="0" rIns="0" bIns="0" rtlCol="0" anchor="t"/>
          <a:lstStyle/>
          <a:p>
            <a:pPr indent="0" marL="0">
              <a:buNone/>
            </a:pPr>
            <a:r>
              <a:rPr lang="en-US" sz="1300" dirty="0">
                <a:solidFill>
                  <a:srgbClr val="2F3136"/>
                </a:solidFill>
                <a:latin typeface="Calibri" pitchFamily="34" charset="0"/>
                <a:ea typeface="Calibri" pitchFamily="34" charset="-122"/>
                <a:cs typeface="Calibri" pitchFamily="34" charset="-120"/>
              </a:rPr>
              <a:t>The company is selected, the annual reports are kept, duplicates are removed.</a:t>
            </a:r>
            <a:endParaRPr lang="en-US" sz="1300" dirty="0"/>
          </a:p>
        </p:txBody>
      </p:sp>
      <p:sp>
        <p:nvSpPr>
          <p:cNvPr id="22" name="Shape 19"/>
          <p:cNvSpPr/>
          <p:nvPr/>
        </p:nvSpPr>
        <p:spPr>
          <a:xfrm>
            <a:off x="548640" y="4672584"/>
            <a:ext cx="137160" cy="137160"/>
          </a:xfrm>
          <a:prstGeom prst="ellipse">
            <a:avLst/>
          </a:prstGeom>
          <a:solidFill>
            <a:srgbClr val="FFE600"/>
          </a:solidFill>
          <a:ln/>
        </p:spPr>
      </p:sp>
      <p:sp>
        <p:nvSpPr>
          <p:cNvPr id="23" name="Text 20"/>
          <p:cNvSpPr/>
          <p:nvPr/>
        </p:nvSpPr>
        <p:spPr>
          <a:xfrm>
            <a:off x="841248" y="4590288"/>
            <a:ext cx="4114800" cy="512064"/>
          </a:xfrm>
          <a:prstGeom prst="rect">
            <a:avLst/>
          </a:prstGeom>
          <a:noFill/>
          <a:ln/>
        </p:spPr>
        <p:txBody>
          <a:bodyPr wrap="square" lIns="0" tIns="0" rIns="0" bIns="0" rtlCol="0" anchor="t"/>
          <a:lstStyle/>
          <a:p>
            <a:pPr indent="0" marL="0">
              <a:buNone/>
            </a:pPr>
            <a:r>
              <a:rPr lang="en-US" sz="1300" dirty="0">
                <a:solidFill>
                  <a:srgbClr val="2F3136"/>
                </a:solidFill>
                <a:latin typeface="Calibri" pitchFamily="34" charset="0"/>
                <a:ea typeface="Calibri" pitchFamily="34" charset="-122"/>
                <a:cs typeface="Calibri" pitchFamily="34" charset="-120"/>
              </a:rPr>
              <a:t>Each report is registered with its link: 3 attempts if the portal is slow.</a:t>
            </a:r>
            <a:endParaRPr lang="en-US" sz="1300" dirty="0"/>
          </a:p>
        </p:txBody>
      </p:sp>
      <p:sp>
        <p:nvSpPr>
          <p:cNvPr id="24" name="Shape 21"/>
          <p:cNvSpPr/>
          <p:nvPr/>
        </p:nvSpPr>
        <p:spPr>
          <a:xfrm>
            <a:off x="548640" y="5257800"/>
            <a:ext cx="4389120" cy="1143000"/>
          </a:xfrm>
          <a:prstGeom prst="roundRect">
            <a:avLst>
              <a:gd name="adj" fmla="val 6400"/>
            </a:avLst>
          </a:prstGeom>
          <a:solidFill>
            <a:srgbClr val="484B54"/>
          </a:solidFill>
          <a:ln/>
        </p:spPr>
      </p:sp>
      <p:sp>
        <p:nvSpPr>
          <p:cNvPr id="25" name="Text 22"/>
          <p:cNvSpPr/>
          <p:nvPr/>
        </p:nvSpPr>
        <p:spPr>
          <a:xfrm>
            <a:off x="777240" y="5349240"/>
            <a:ext cx="4023360" cy="256032"/>
          </a:xfrm>
          <a:prstGeom prst="rect">
            <a:avLst/>
          </a:prstGeom>
          <a:noFill/>
          <a:ln/>
        </p:spPr>
        <p:txBody>
          <a:bodyPr wrap="square" lIns="0" tIns="0" rIns="0" bIns="0" rtlCol="0" anchor="ctr"/>
          <a:lstStyle/>
          <a:p>
            <a:pPr indent="0" marL="0">
              <a:buNone/>
            </a:pPr>
            <a:r>
              <a:rPr lang="en-US" sz="1050" b="1" spc="150" kern="0" dirty="0">
                <a:solidFill>
                  <a:srgbClr val="FFE600"/>
                </a:solidFill>
                <a:latin typeface="Calibri" pitchFamily="34" charset="0"/>
                <a:ea typeface="Calibri" pitchFamily="34" charset="-122"/>
                <a:cs typeface="Calibri" pitchFamily="34" charset="-120"/>
              </a:rPr>
              <a:t>THE DATA POINT · STAR · 2025</a:t>
            </a:r>
            <a:endParaRPr lang="en-US" sz="1050" dirty="0"/>
          </a:p>
        </p:txBody>
      </p:sp>
      <p:sp>
        <p:nvSpPr>
          <p:cNvPr id="26" name="Text 23"/>
          <p:cNvSpPr/>
          <p:nvPr/>
        </p:nvSpPr>
        <p:spPr>
          <a:xfrm>
            <a:off x="777240" y="5605272"/>
            <a:ext cx="4023360" cy="36576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The report published by the CMF</a:t>
            </a:r>
            <a:endParaRPr lang="en-US" sz="1600" dirty="0"/>
          </a:p>
        </p:txBody>
      </p:sp>
      <p:sp>
        <p:nvSpPr>
          <p:cNvPr id="27" name="Text 24"/>
          <p:cNvSpPr/>
          <p:nvPr/>
        </p:nvSpPr>
        <p:spPr>
          <a:xfrm>
            <a:off x="777240" y="5971032"/>
            <a:ext cx="4023360" cy="347472"/>
          </a:xfrm>
          <a:prstGeom prst="rect">
            <a:avLst/>
          </a:prstGeom>
          <a:noFill/>
          <a:ln/>
        </p:spPr>
        <p:txBody>
          <a:bodyPr wrap="square" lIns="0" tIns="0" rIns="0" bIns="0" rtlCol="0" anchor="ctr"/>
          <a:lstStyle/>
          <a:p>
            <a:pPr indent="0" marL="0">
              <a:buNone/>
            </a:pPr>
            <a:r>
              <a:rPr lang="en-US" sz="1600" b="1" dirty="0">
                <a:solidFill>
                  <a:srgbClr val="FFE600"/>
                </a:solidFill>
                <a:latin typeface="Calibri" pitchFamily="34" charset="0"/>
                <a:ea typeface="Calibri" pitchFamily="34" charset="-122"/>
                <a:cs typeface="Calibri" pitchFamily="34" charset="-120"/>
              </a:rPr>
              <a:t>star_efd311225.pdf</a:t>
            </a:r>
            <a:endParaRPr lang="en-US" sz="1600" dirty="0"/>
          </a:p>
        </p:txBody>
      </p:sp>
      <p:sp>
        <p:nvSpPr>
          <p:cNvPr id="28" name="Shape 25"/>
          <p:cNvSpPr/>
          <p:nvPr/>
        </p:nvSpPr>
        <p:spPr>
          <a:xfrm>
            <a:off x="5657850" y="3154680"/>
            <a:ext cx="5600700" cy="2880360"/>
          </a:xfrm>
          <a:prstGeom prst="rect">
            <a:avLst/>
          </a:prstGeom>
          <a:solidFill>
            <a:srgbClr val="FFFFFF"/>
          </a:solidFill>
          <a:ln w="12700">
            <a:solidFill>
              <a:srgbClr val="D3D5DB"/>
            </a:solidFill>
            <a:prstDash val="solid"/>
          </a:ln>
          <a:effectLst>
            <a:outerShdw sx="100000" sy="100000" kx="0" ky="0" algn="bl" rotWithShape="0" blurRad="76200" dist="25400" dir="5400000">
              <a:srgbClr val="000000">
                <a:alpha val="14000"/>
              </a:srgbClr>
            </a:outerShdw>
          </a:effectLst>
        </p:spPr>
      </p:sp>
      <p:pic>
        <p:nvPicPr>
          <p:cNvPr id="29" name="Image 1" descr="C:/Users/HP/Desktop/SCRAPING/docs/scratch/star/crops/s1_collect.png">    </p:cNvPr>
          <p:cNvPicPr>
            <a:picLocks noChangeAspect="1"/>
          </p:cNvPicPr>
          <p:nvPr/>
        </p:nvPicPr>
        <p:blipFill>
          <a:blip r:embed="rId2"/>
          <a:stretch>
            <a:fillRect/>
          </a:stretch>
        </p:blipFill>
        <p:spPr>
          <a:xfrm>
            <a:off x="5657850" y="3154680"/>
            <a:ext cx="5600700" cy="2880360"/>
          </a:xfrm>
          <a:prstGeom prst="rect">
            <a:avLst/>
          </a:prstGeom>
        </p:spPr>
      </p:pic>
      <p:sp>
        <p:nvSpPr>
          <p:cNvPr id="30" name="Text 26"/>
          <p:cNvSpPr/>
          <p:nvPr/>
        </p:nvSpPr>
        <p:spPr>
          <a:xfrm>
            <a:off x="5212080" y="6108192"/>
            <a:ext cx="6492240" cy="274320"/>
          </a:xfrm>
          <a:prstGeom prst="rect">
            <a:avLst/>
          </a:prstGeom>
          <a:noFill/>
          <a:ln/>
        </p:spPr>
        <p:txBody>
          <a:bodyPr wrap="square" lIns="0" tIns="0" rIns="0" bIns="0" rtlCol="0" anchor="ctr"/>
          <a:lstStyle/>
          <a:p>
            <a:pPr algn="ctr" indent="0" marL="0">
              <a:buNone/>
            </a:pPr>
            <a:r>
              <a:rPr lang="en-US" sz="1100" i="1" dirty="0">
                <a:solidFill>
                  <a:srgbClr val="8B8B90"/>
                </a:solidFill>
                <a:latin typeface="Calibri" pitchFamily="34" charset="0"/>
                <a:ea typeface="Calibri" pitchFamily="34" charset="-122"/>
                <a:cs typeface="Calibri" pitchFamily="34" charset="-120"/>
              </a:rPr>
              <a:t>The STAR report, as collected from the CMF (page 1)</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C:/Users/HP/Desktop/SCRAPING/docs/scratch/star/crops/header.png">    </p:cNvPr>
          <p:cNvPicPr>
            <a:picLocks noChangeAspect="1"/>
          </p:cNvPicPr>
          <p:nvPr/>
        </p:nvPicPr>
        <p:blipFill>
          <a:blip r:embed="rId1"/>
          <a:stretch>
            <a:fillRect/>
          </a:stretch>
        </p:blipFill>
        <p:spPr>
          <a:xfrm>
            <a:off x="0" y="0"/>
            <a:ext cx="12191695" cy="1353312"/>
          </a:xfrm>
          <a:prstGeom prst="rect">
            <a:avLst/>
          </a:prstGeom>
        </p:spPr>
      </p:pic>
      <p:sp>
        <p:nvSpPr>
          <p:cNvPr id="3" name="Text 0"/>
          <p:cNvSpPr/>
          <p:nvPr/>
        </p:nvSpPr>
        <p:spPr>
          <a:xfrm>
            <a:off x="283464" y="393192"/>
            <a:ext cx="374904" cy="347472"/>
          </a:xfrm>
          <a:prstGeom prst="rect">
            <a:avLst/>
          </a:prstGeom>
          <a:noFill/>
          <a:ln/>
        </p:spPr>
        <p:txBody>
          <a:bodyPr wrap="square" lIns="0" tIns="0" rIns="0" bIns="0" rtlCol="0" anchor="ctr"/>
          <a:lstStyle/>
          <a:p>
            <a:pPr algn="ctr" indent="0" marL="0">
              <a:buNone/>
            </a:pPr>
            <a:r>
              <a:rPr lang="en-US" sz="1200" b="1" dirty="0">
                <a:solidFill>
                  <a:srgbClr val="2F3136"/>
                </a:solidFill>
                <a:latin typeface="Arial" pitchFamily="34" charset="0"/>
                <a:ea typeface="Arial" pitchFamily="34" charset="-122"/>
                <a:cs typeface="Arial" pitchFamily="34" charset="-120"/>
              </a:rPr>
              <a:t>05</a:t>
            </a:r>
            <a:endParaRPr lang="en-US" sz="1200" dirty="0"/>
          </a:p>
        </p:txBody>
      </p:sp>
      <p:sp>
        <p:nvSpPr>
          <p:cNvPr id="4" name="Text 1"/>
          <p:cNvSpPr/>
          <p:nvPr/>
        </p:nvSpPr>
        <p:spPr>
          <a:xfrm>
            <a:off x="1627632" y="265176"/>
            <a:ext cx="4160520" cy="804672"/>
          </a:xfrm>
          <a:prstGeom prst="rect">
            <a:avLst/>
          </a:prstGeom>
          <a:noFill/>
          <a:ln/>
        </p:spPr>
        <p:txBody>
          <a:bodyPr wrap="square" lIns="0" tIns="0" rIns="0" bIns="0" rtlCol="0" anchor="ctr"/>
          <a:lstStyle/>
          <a:p>
            <a:pPr algn="ctr" indent="0" marL="0">
              <a:buNone/>
            </a:pPr>
            <a:r>
              <a:rPr lang="en-US" sz="1500" b="1" dirty="0">
                <a:solidFill>
                  <a:srgbClr val="2F3136"/>
                </a:solidFill>
                <a:latin typeface="Arial" pitchFamily="34" charset="0"/>
                <a:ea typeface="Arial" pitchFamily="34" charset="-122"/>
                <a:cs typeface="Arial" pitchFamily="34" charset="-120"/>
              </a:rPr>
              <a:t>Data &amp; AI</a:t>
            </a:r>
            <a:endParaRPr lang="en-US" sz="1500" dirty="0"/>
          </a:p>
        </p:txBody>
      </p:sp>
      <p:sp>
        <p:nvSpPr>
          <p:cNvPr id="5" name="Text 2"/>
          <p:cNvSpPr/>
          <p:nvPr/>
        </p:nvSpPr>
        <p:spPr>
          <a:xfrm>
            <a:off x="8092440" y="521208"/>
            <a:ext cx="3931920" cy="411480"/>
          </a:xfrm>
          <a:prstGeom prst="rect">
            <a:avLst/>
          </a:prstGeom>
          <a:noFill/>
          <a:ln/>
        </p:spPr>
        <p:txBody>
          <a:bodyPr wrap="square" lIns="0" tIns="0" rIns="0" bIns="0" rtlCol="0" anchor="ctr"/>
          <a:lstStyle/>
          <a:p>
            <a:pPr indent="0" marL="0">
              <a:buNone/>
            </a:pPr>
            <a:r>
              <a:rPr lang="en-US" sz="1400" b="1" dirty="0">
                <a:solidFill>
                  <a:srgbClr val="2F3136"/>
                </a:solidFill>
                <a:latin typeface="Arial" pitchFamily="34" charset="0"/>
                <a:ea typeface="Arial" pitchFamily="34" charset="-122"/>
                <a:cs typeface="Arial" pitchFamily="34" charset="-120"/>
              </a:rPr>
              <a:t>B. Pipeline stages</a:t>
            </a:r>
            <a:endParaRPr lang="en-US" sz="1400" dirty="0"/>
          </a:p>
        </p:txBody>
      </p:sp>
      <p:sp>
        <p:nvSpPr>
          <p:cNvPr id="6" name="Text 3"/>
          <p:cNvSpPr/>
          <p:nvPr/>
        </p:nvSpPr>
        <p:spPr>
          <a:xfrm>
            <a:off x="0" y="1481328"/>
            <a:ext cx="12191695" cy="502920"/>
          </a:xfrm>
          <a:prstGeom prst="rect">
            <a:avLst/>
          </a:prstGeom>
          <a:noFill/>
          <a:ln/>
        </p:spPr>
        <p:txBody>
          <a:bodyPr wrap="square" lIns="0" tIns="0" rIns="0" bIns="0" rtlCol="0" anchor="ctr"/>
          <a:lstStyle/>
          <a:p>
            <a:pPr algn="ctr" indent="0" marL="0">
              <a:buNone/>
            </a:pPr>
            <a:r>
              <a:rPr lang="en-US" sz="2200" b="1" dirty="0">
                <a:solidFill>
                  <a:srgbClr val="3A3A3A"/>
                </a:solidFill>
                <a:latin typeface="Arial" pitchFamily="34" charset="0"/>
                <a:ea typeface="Arial" pitchFamily="34" charset="-122"/>
                <a:cs typeface="Arial" pitchFamily="34" charset="-120"/>
              </a:rPr>
              <a:t>-  Data pipeline  -</a:t>
            </a:r>
            <a:endParaRPr lang="en-US" sz="2200" dirty="0"/>
          </a:p>
        </p:txBody>
      </p:sp>
      <p:sp>
        <p:nvSpPr>
          <p:cNvPr id="7" name="Shape 4"/>
          <p:cNvSpPr/>
          <p:nvPr/>
        </p:nvSpPr>
        <p:spPr>
          <a:xfrm>
            <a:off x="521208" y="2286000"/>
            <a:ext cx="2395728" cy="548640"/>
          </a:xfrm>
          <a:prstGeom prst="chevron">
            <a:avLst/>
          </a:prstGeom>
          <a:solidFill>
            <a:srgbClr val="F2F2F2"/>
          </a:solidFill>
          <a:ln/>
          <a:effectLst>
            <a:outerShdw sx="100000" sy="100000" kx="0" ky="0" algn="bl" rotWithShape="0" blurRad="76200" dist="38100" dir="2700000">
              <a:srgbClr val="000000">
                <a:alpha val="20000"/>
              </a:srgbClr>
            </a:outerShdw>
          </a:effectLst>
        </p:spPr>
      </p:sp>
      <p:sp>
        <p:nvSpPr>
          <p:cNvPr id="8" name="Text 5"/>
          <p:cNvSpPr/>
          <p:nvPr/>
        </p:nvSpPr>
        <p:spPr>
          <a:xfrm>
            <a:off x="841248"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COLLECT</a:t>
            </a:r>
            <a:endParaRPr lang="en-US" sz="1250" dirty="0"/>
          </a:p>
        </p:txBody>
      </p:sp>
      <p:sp>
        <p:nvSpPr>
          <p:cNvPr id="9" name="Shape 6"/>
          <p:cNvSpPr/>
          <p:nvPr/>
        </p:nvSpPr>
        <p:spPr>
          <a:xfrm>
            <a:off x="2688336" y="2286000"/>
            <a:ext cx="2395728" cy="548640"/>
          </a:xfrm>
          <a:prstGeom prst="chevron">
            <a:avLst/>
          </a:prstGeom>
          <a:solidFill>
            <a:srgbClr val="FFE600"/>
          </a:solidFill>
          <a:ln/>
          <a:effectLst>
            <a:outerShdw sx="100000" sy="100000" kx="0" ky="0" algn="bl" rotWithShape="0" blurRad="76200" dist="38100" dir="2700000">
              <a:srgbClr val="000000">
                <a:alpha val="28000"/>
              </a:srgbClr>
            </a:outerShdw>
          </a:effectLst>
        </p:spPr>
      </p:sp>
      <p:sp>
        <p:nvSpPr>
          <p:cNvPr id="10" name="Text 7"/>
          <p:cNvSpPr/>
          <p:nvPr/>
        </p:nvSpPr>
        <p:spPr>
          <a:xfrm>
            <a:off x="3008376"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EXTRACT</a:t>
            </a:r>
            <a:endParaRPr lang="en-US" sz="1250" dirty="0"/>
          </a:p>
        </p:txBody>
      </p:sp>
      <p:sp>
        <p:nvSpPr>
          <p:cNvPr id="11" name="Shape 8"/>
          <p:cNvSpPr/>
          <p:nvPr/>
        </p:nvSpPr>
        <p:spPr>
          <a:xfrm>
            <a:off x="4855464" y="2286000"/>
            <a:ext cx="2395728" cy="548640"/>
          </a:xfrm>
          <a:prstGeom prst="chevron">
            <a:avLst/>
          </a:prstGeom>
          <a:solidFill>
            <a:srgbClr val="F2F2F2"/>
          </a:solidFill>
          <a:ln/>
          <a:effectLst>
            <a:outerShdw sx="100000" sy="100000" kx="0" ky="0" algn="bl" rotWithShape="0" blurRad="76200" dist="38100" dir="2700000">
              <a:srgbClr val="000000">
                <a:alpha val="20000"/>
              </a:srgbClr>
            </a:outerShdw>
          </a:effectLst>
        </p:spPr>
      </p:sp>
      <p:sp>
        <p:nvSpPr>
          <p:cNvPr id="12" name="Text 9"/>
          <p:cNvSpPr/>
          <p:nvPr/>
        </p:nvSpPr>
        <p:spPr>
          <a:xfrm>
            <a:off x="5175504"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MODEL</a:t>
            </a:r>
            <a:endParaRPr lang="en-US" sz="1250" dirty="0"/>
          </a:p>
        </p:txBody>
      </p:sp>
      <p:sp>
        <p:nvSpPr>
          <p:cNvPr id="13" name="Shape 10"/>
          <p:cNvSpPr/>
          <p:nvPr/>
        </p:nvSpPr>
        <p:spPr>
          <a:xfrm>
            <a:off x="7022592" y="2286000"/>
            <a:ext cx="2395728" cy="548640"/>
          </a:xfrm>
          <a:prstGeom prst="chevron">
            <a:avLst/>
          </a:prstGeom>
          <a:solidFill>
            <a:srgbClr val="F2F2F2"/>
          </a:solidFill>
          <a:ln/>
          <a:effectLst>
            <a:outerShdw sx="100000" sy="100000" kx="0" ky="0" algn="bl" rotWithShape="0" blurRad="76200" dist="38100" dir="2700000">
              <a:srgbClr val="000000">
                <a:alpha val="20000"/>
              </a:srgbClr>
            </a:outerShdw>
          </a:effectLst>
        </p:spPr>
      </p:sp>
      <p:sp>
        <p:nvSpPr>
          <p:cNvPr id="14" name="Text 11"/>
          <p:cNvSpPr/>
          <p:nvPr/>
        </p:nvSpPr>
        <p:spPr>
          <a:xfrm>
            <a:off x="7342632"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VALIDATE</a:t>
            </a:r>
            <a:endParaRPr lang="en-US" sz="1250" dirty="0"/>
          </a:p>
        </p:txBody>
      </p:sp>
      <p:sp>
        <p:nvSpPr>
          <p:cNvPr id="15" name="Shape 12"/>
          <p:cNvSpPr/>
          <p:nvPr/>
        </p:nvSpPr>
        <p:spPr>
          <a:xfrm>
            <a:off x="9189720" y="2286000"/>
            <a:ext cx="2395728" cy="548640"/>
          </a:xfrm>
          <a:prstGeom prst="chevron">
            <a:avLst/>
          </a:prstGeom>
          <a:solidFill>
            <a:srgbClr val="F2F2F2"/>
          </a:solidFill>
          <a:ln/>
          <a:effectLst>
            <a:outerShdw sx="100000" sy="100000" kx="0" ky="0" algn="bl" rotWithShape="0" blurRad="76200" dist="38100" dir="2700000">
              <a:srgbClr val="000000">
                <a:alpha val="20000"/>
              </a:srgbClr>
            </a:outerShdw>
          </a:effectLst>
        </p:spPr>
      </p:sp>
      <p:sp>
        <p:nvSpPr>
          <p:cNvPr id="16" name="Text 13"/>
          <p:cNvSpPr/>
          <p:nvPr/>
        </p:nvSpPr>
        <p:spPr>
          <a:xfrm>
            <a:off x="9509760"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DELIVER</a:t>
            </a:r>
            <a:endParaRPr lang="en-US" sz="1250" dirty="0"/>
          </a:p>
        </p:txBody>
      </p:sp>
      <p:sp>
        <p:nvSpPr>
          <p:cNvPr id="17" name="Text 14"/>
          <p:cNvSpPr/>
          <p:nvPr/>
        </p:nvSpPr>
        <p:spPr>
          <a:xfrm>
            <a:off x="548640" y="3127248"/>
            <a:ext cx="4389120" cy="237744"/>
          </a:xfrm>
          <a:prstGeom prst="rect">
            <a:avLst/>
          </a:prstGeom>
          <a:noFill/>
          <a:ln/>
        </p:spPr>
        <p:txBody>
          <a:bodyPr wrap="square" lIns="0" tIns="0" rIns="0" bIns="0" rtlCol="0" anchor="ctr"/>
          <a:lstStyle/>
          <a:p>
            <a:pPr indent="0" marL="0">
              <a:buNone/>
            </a:pPr>
            <a:r>
              <a:rPr lang="en-US" sz="1100" b="1" spc="200" kern="0" dirty="0">
                <a:solidFill>
                  <a:srgbClr val="8B8B90"/>
                </a:solidFill>
                <a:latin typeface="Calibri" pitchFamily="34" charset="0"/>
                <a:ea typeface="Calibri" pitchFamily="34" charset="-122"/>
                <a:cs typeface="Calibri" pitchFamily="34" charset="-120"/>
              </a:rPr>
              <a:t>WHAT HAPPENS</a:t>
            </a:r>
            <a:endParaRPr lang="en-US" sz="1100" dirty="0"/>
          </a:p>
        </p:txBody>
      </p:sp>
      <p:sp>
        <p:nvSpPr>
          <p:cNvPr id="18" name="Shape 15"/>
          <p:cNvSpPr/>
          <p:nvPr/>
        </p:nvSpPr>
        <p:spPr>
          <a:xfrm>
            <a:off x="548640" y="3538728"/>
            <a:ext cx="137160" cy="137160"/>
          </a:xfrm>
          <a:prstGeom prst="ellipse">
            <a:avLst/>
          </a:prstGeom>
          <a:solidFill>
            <a:srgbClr val="FFE600"/>
          </a:solidFill>
          <a:ln/>
        </p:spPr>
      </p:sp>
      <p:sp>
        <p:nvSpPr>
          <p:cNvPr id="19" name="Text 16"/>
          <p:cNvSpPr/>
          <p:nvPr/>
        </p:nvSpPr>
        <p:spPr>
          <a:xfrm>
            <a:off x="841248" y="3456432"/>
            <a:ext cx="4114800" cy="512064"/>
          </a:xfrm>
          <a:prstGeom prst="rect">
            <a:avLst/>
          </a:prstGeom>
          <a:noFill/>
          <a:ln/>
        </p:spPr>
        <p:txBody>
          <a:bodyPr wrap="square" lIns="0" tIns="0" rIns="0" bIns="0" rtlCol="0" anchor="t"/>
          <a:lstStyle/>
          <a:p>
            <a:pPr indent="0" marL="0">
              <a:buNone/>
            </a:pPr>
            <a:r>
              <a:rPr lang="en-US" sz="1300" dirty="0">
                <a:solidFill>
                  <a:srgbClr val="2F3136"/>
                </a:solidFill>
                <a:latin typeface="Calibri" pitchFamily="34" charset="0"/>
                <a:ea typeface="Calibri" pitchFamily="34" charset="-122"/>
                <a:cs typeface="Calibri" pitchFamily="34" charset="-120"/>
              </a:rPr>
              <a:t>The balance sheet, on page 2, is a scanned image.</a:t>
            </a:r>
            <a:endParaRPr lang="en-US" sz="1300" dirty="0"/>
          </a:p>
        </p:txBody>
      </p:sp>
      <p:sp>
        <p:nvSpPr>
          <p:cNvPr id="20" name="Shape 17"/>
          <p:cNvSpPr/>
          <p:nvPr/>
        </p:nvSpPr>
        <p:spPr>
          <a:xfrm>
            <a:off x="548640" y="4105656"/>
            <a:ext cx="137160" cy="137160"/>
          </a:xfrm>
          <a:prstGeom prst="ellipse">
            <a:avLst/>
          </a:prstGeom>
          <a:solidFill>
            <a:srgbClr val="FFE600"/>
          </a:solidFill>
          <a:ln/>
        </p:spPr>
      </p:sp>
      <p:sp>
        <p:nvSpPr>
          <p:cNvPr id="21" name="Text 18"/>
          <p:cNvSpPr/>
          <p:nvPr/>
        </p:nvSpPr>
        <p:spPr>
          <a:xfrm>
            <a:off x="841248" y="4023360"/>
            <a:ext cx="4114800" cy="512064"/>
          </a:xfrm>
          <a:prstGeom prst="rect">
            <a:avLst/>
          </a:prstGeom>
          <a:noFill/>
          <a:ln/>
        </p:spPr>
        <p:txBody>
          <a:bodyPr wrap="square" lIns="0" tIns="0" rIns="0" bIns="0" rtlCol="0" anchor="t"/>
          <a:lstStyle/>
          <a:p>
            <a:pPr indent="0" marL="0">
              <a:buNone/>
            </a:pPr>
            <a:r>
              <a:rPr lang="en-US" sz="1300" dirty="0">
                <a:solidFill>
                  <a:srgbClr val="2F3136"/>
                </a:solidFill>
                <a:latin typeface="Calibri" pitchFamily="34" charset="0"/>
                <a:ea typeface="Calibri" pitchFamily="34" charset="-122"/>
                <a:cs typeface="Calibri" pitchFamily="34" charset="-120"/>
              </a:rPr>
              <a:t>OCR reads the table; its rows and columns are identified.</a:t>
            </a:r>
            <a:endParaRPr lang="en-US" sz="1300" dirty="0"/>
          </a:p>
        </p:txBody>
      </p:sp>
      <p:sp>
        <p:nvSpPr>
          <p:cNvPr id="22" name="Shape 19"/>
          <p:cNvSpPr/>
          <p:nvPr/>
        </p:nvSpPr>
        <p:spPr>
          <a:xfrm>
            <a:off x="548640" y="4672584"/>
            <a:ext cx="137160" cy="137160"/>
          </a:xfrm>
          <a:prstGeom prst="ellipse">
            <a:avLst/>
          </a:prstGeom>
          <a:solidFill>
            <a:srgbClr val="FFE600"/>
          </a:solidFill>
          <a:ln/>
        </p:spPr>
      </p:sp>
      <p:sp>
        <p:nvSpPr>
          <p:cNvPr id="23" name="Text 20"/>
          <p:cNvSpPr/>
          <p:nvPr/>
        </p:nvSpPr>
        <p:spPr>
          <a:xfrm>
            <a:off x="841248" y="4590288"/>
            <a:ext cx="4114800" cy="512064"/>
          </a:xfrm>
          <a:prstGeom prst="rect">
            <a:avLst/>
          </a:prstGeom>
          <a:noFill/>
          <a:ln/>
        </p:spPr>
        <p:txBody>
          <a:bodyPr wrap="square" lIns="0" tIns="0" rIns="0" bIns="0" rtlCol="0" anchor="t"/>
          <a:lstStyle/>
          <a:p>
            <a:pPr indent="0" marL="0">
              <a:buNone/>
            </a:pPr>
            <a:r>
              <a:rPr lang="en-US" sz="1300" dirty="0">
                <a:solidFill>
                  <a:srgbClr val="2F3136"/>
                </a:solidFill>
                <a:latin typeface="Calibri" pitchFamily="34" charset="0"/>
                <a:ea typeface="Calibri" pitchFamily="34" charset="-122"/>
                <a:cs typeface="Calibri" pitchFamily="34" charset="-120"/>
              </a:rPr>
              <a:t>Each value is stored as a cell: table · row · column.</a:t>
            </a:r>
            <a:endParaRPr lang="en-US" sz="1300" dirty="0"/>
          </a:p>
        </p:txBody>
      </p:sp>
      <p:sp>
        <p:nvSpPr>
          <p:cNvPr id="24" name="Shape 21"/>
          <p:cNvSpPr/>
          <p:nvPr/>
        </p:nvSpPr>
        <p:spPr>
          <a:xfrm>
            <a:off x="548640" y="5257800"/>
            <a:ext cx="4389120" cy="1143000"/>
          </a:xfrm>
          <a:prstGeom prst="roundRect">
            <a:avLst>
              <a:gd name="adj" fmla="val 6400"/>
            </a:avLst>
          </a:prstGeom>
          <a:solidFill>
            <a:srgbClr val="484B54"/>
          </a:solidFill>
          <a:ln/>
        </p:spPr>
      </p:sp>
      <p:sp>
        <p:nvSpPr>
          <p:cNvPr id="25" name="Text 22"/>
          <p:cNvSpPr/>
          <p:nvPr/>
        </p:nvSpPr>
        <p:spPr>
          <a:xfrm>
            <a:off x="777240" y="5349240"/>
            <a:ext cx="4023360" cy="256032"/>
          </a:xfrm>
          <a:prstGeom prst="rect">
            <a:avLst/>
          </a:prstGeom>
          <a:noFill/>
          <a:ln/>
        </p:spPr>
        <p:txBody>
          <a:bodyPr wrap="square" lIns="0" tIns="0" rIns="0" bIns="0" rtlCol="0" anchor="ctr"/>
          <a:lstStyle/>
          <a:p>
            <a:pPr indent="0" marL="0">
              <a:buNone/>
            </a:pPr>
            <a:r>
              <a:rPr lang="en-US" sz="1050" b="1" spc="150" kern="0" dirty="0">
                <a:solidFill>
                  <a:srgbClr val="FFE600"/>
                </a:solidFill>
                <a:latin typeface="Calibri" pitchFamily="34" charset="0"/>
                <a:ea typeface="Calibri" pitchFamily="34" charset="-122"/>
                <a:cs typeface="Calibri" pitchFamily="34" charset="-120"/>
              </a:rPr>
              <a:t>THE DATA POINT · STAR · 2025</a:t>
            </a:r>
            <a:endParaRPr lang="en-US" sz="1050" dirty="0"/>
          </a:p>
        </p:txBody>
      </p:sp>
      <p:sp>
        <p:nvSpPr>
          <p:cNvPr id="26" name="Text 23"/>
          <p:cNvSpPr/>
          <p:nvPr/>
        </p:nvSpPr>
        <p:spPr>
          <a:xfrm>
            <a:off x="777240" y="5605272"/>
            <a:ext cx="4023360" cy="36576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Cell: Total de l'actif · Net</a:t>
            </a:r>
            <a:endParaRPr lang="en-US" sz="1600" dirty="0"/>
          </a:p>
        </p:txBody>
      </p:sp>
      <p:sp>
        <p:nvSpPr>
          <p:cNvPr id="27" name="Text 24"/>
          <p:cNvSpPr/>
          <p:nvPr/>
        </p:nvSpPr>
        <p:spPr>
          <a:xfrm>
            <a:off x="777240" y="5971032"/>
            <a:ext cx="4023360" cy="347472"/>
          </a:xfrm>
          <a:prstGeom prst="rect">
            <a:avLst/>
          </a:prstGeom>
          <a:noFill/>
          <a:ln/>
        </p:spPr>
        <p:txBody>
          <a:bodyPr wrap="square" lIns="0" tIns="0" rIns="0" bIns="0" rtlCol="0" anchor="ctr"/>
          <a:lstStyle/>
          <a:p>
            <a:pPr indent="0" marL="0">
              <a:buNone/>
            </a:pPr>
            <a:r>
              <a:rPr lang="en-US" sz="1600" b="1" dirty="0">
                <a:solidFill>
                  <a:srgbClr val="FFE600"/>
                </a:solidFill>
                <a:latin typeface="Calibri" pitchFamily="34" charset="0"/>
                <a:ea typeface="Calibri" pitchFamily="34" charset="-122"/>
                <a:cs typeface="Calibri" pitchFamily="34" charset="-120"/>
              </a:rPr>
              <a:t>1 661 612 773</a:t>
            </a:r>
            <a:endParaRPr lang="en-US" sz="1600" dirty="0"/>
          </a:p>
        </p:txBody>
      </p:sp>
      <p:sp>
        <p:nvSpPr>
          <p:cNvPr id="28" name="Shape 25"/>
          <p:cNvSpPr/>
          <p:nvPr/>
        </p:nvSpPr>
        <p:spPr>
          <a:xfrm>
            <a:off x="5212080" y="3154680"/>
            <a:ext cx="6492240" cy="1827157"/>
          </a:xfrm>
          <a:prstGeom prst="rect">
            <a:avLst/>
          </a:prstGeom>
          <a:solidFill>
            <a:srgbClr val="FFFFFF"/>
          </a:solidFill>
          <a:ln w="12700">
            <a:solidFill>
              <a:srgbClr val="D3D5DB"/>
            </a:solidFill>
            <a:prstDash val="solid"/>
          </a:ln>
          <a:effectLst>
            <a:outerShdw sx="100000" sy="100000" kx="0" ky="0" algn="bl" rotWithShape="0" blurRad="76200" dist="25400" dir="5400000">
              <a:srgbClr val="000000">
                <a:alpha val="14000"/>
              </a:srgbClr>
            </a:outerShdw>
          </a:effectLst>
        </p:spPr>
      </p:sp>
      <p:pic>
        <p:nvPicPr>
          <p:cNvPr id="29" name="Image 1" descr="C:/Users/HP/Desktop/SCRAPING/docs/scratch/star/crops/s2_extract.png">    </p:cNvPr>
          <p:cNvPicPr>
            <a:picLocks noChangeAspect="1"/>
          </p:cNvPicPr>
          <p:nvPr/>
        </p:nvPicPr>
        <p:blipFill>
          <a:blip r:embed="rId2"/>
          <a:stretch>
            <a:fillRect/>
          </a:stretch>
        </p:blipFill>
        <p:spPr>
          <a:xfrm>
            <a:off x="5212080" y="3154680"/>
            <a:ext cx="6492240" cy="1827157"/>
          </a:xfrm>
          <a:prstGeom prst="rect">
            <a:avLst/>
          </a:prstGeom>
        </p:spPr>
      </p:pic>
      <p:sp>
        <p:nvSpPr>
          <p:cNvPr id="30" name="Text 26"/>
          <p:cNvSpPr/>
          <p:nvPr/>
        </p:nvSpPr>
        <p:spPr>
          <a:xfrm>
            <a:off x="5212080" y="5054989"/>
            <a:ext cx="6492240" cy="274320"/>
          </a:xfrm>
          <a:prstGeom prst="rect">
            <a:avLst/>
          </a:prstGeom>
          <a:noFill/>
          <a:ln/>
        </p:spPr>
        <p:txBody>
          <a:bodyPr wrap="square" lIns="0" tIns="0" rIns="0" bIns="0" rtlCol="0" anchor="ctr"/>
          <a:lstStyle/>
          <a:p>
            <a:pPr algn="ctr" indent="0" marL="0">
              <a:buNone/>
            </a:pPr>
            <a:r>
              <a:rPr lang="en-US" sz="1100" i="1" dirty="0">
                <a:solidFill>
                  <a:srgbClr val="8B8B90"/>
                </a:solidFill>
                <a:latin typeface="Calibri" pitchFamily="34" charset="0"/>
                <a:ea typeface="Calibri" pitchFamily="34" charset="-122"/>
                <a:cs typeface="Calibri" pitchFamily="34" charset="-120"/>
              </a:rPr>
              <a:t>Page 2 of the report · the “Net” cell of “Total de l'actif” (highlight added for this slide)</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C:/Users/HP/Desktop/SCRAPING/docs/scratch/star/crops/header.png">    </p:cNvPr>
          <p:cNvPicPr>
            <a:picLocks noChangeAspect="1"/>
          </p:cNvPicPr>
          <p:nvPr/>
        </p:nvPicPr>
        <p:blipFill>
          <a:blip r:embed="rId1"/>
          <a:stretch>
            <a:fillRect/>
          </a:stretch>
        </p:blipFill>
        <p:spPr>
          <a:xfrm>
            <a:off x="0" y="0"/>
            <a:ext cx="12191695" cy="1353312"/>
          </a:xfrm>
          <a:prstGeom prst="rect">
            <a:avLst/>
          </a:prstGeom>
        </p:spPr>
      </p:pic>
      <p:sp>
        <p:nvSpPr>
          <p:cNvPr id="3" name="Text 0"/>
          <p:cNvSpPr/>
          <p:nvPr/>
        </p:nvSpPr>
        <p:spPr>
          <a:xfrm>
            <a:off x="283464" y="393192"/>
            <a:ext cx="374904" cy="347472"/>
          </a:xfrm>
          <a:prstGeom prst="rect">
            <a:avLst/>
          </a:prstGeom>
          <a:noFill/>
          <a:ln/>
        </p:spPr>
        <p:txBody>
          <a:bodyPr wrap="square" lIns="0" tIns="0" rIns="0" bIns="0" rtlCol="0" anchor="ctr"/>
          <a:lstStyle/>
          <a:p>
            <a:pPr algn="ctr" indent="0" marL="0">
              <a:buNone/>
            </a:pPr>
            <a:r>
              <a:rPr lang="en-US" sz="1200" b="1" dirty="0">
                <a:solidFill>
                  <a:srgbClr val="2F3136"/>
                </a:solidFill>
                <a:latin typeface="Arial" pitchFamily="34" charset="0"/>
                <a:ea typeface="Arial" pitchFamily="34" charset="-122"/>
                <a:cs typeface="Arial" pitchFamily="34" charset="-120"/>
              </a:rPr>
              <a:t>05</a:t>
            </a:r>
            <a:endParaRPr lang="en-US" sz="1200" dirty="0"/>
          </a:p>
        </p:txBody>
      </p:sp>
      <p:sp>
        <p:nvSpPr>
          <p:cNvPr id="4" name="Text 1"/>
          <p:cNvSpPr/>
          <p:nvPr/>
        </p:nvSpPr>
        <p:spPr>
          <a:xfrm>
            <a:off x="1627632" y="265176"/>
            <a:ext cx="4160520" cy="804672"/>
          </a:xfrm>
          <a:prstGeom prst="rect">
            <a:avLst/>
          </a:prstGeom>
          <a:noFill/>
          <a:ln/>
        </p:spPr>
        <p:txBody>
          <a:bodyPr wrap="square" lIns="0" tIns="0" rIns="0" bIns="0" rtlCol="0" anchor="ctr"/>
          <a:lstStyle/>
          <a:p>
            <a:pPr algn="ctr" indent="0" marL="0">
              <a:buNone/>
            </a:pPr>
            <a:r>
              <a:rPr lang="en-US" sz="1500" b="1" dirty="0">
                <a:solidFill>
                  <a:srgbClr val="2F3136"/>
                </a:solidFill>
                <a:latin typeface="Arial" pitchFamily="34" charset="0"/>
                <a:ea typeface="Arial" pitchFamily="34" charset="-122"/>
                <a:cs typeface="Arial" pitchFamily="34" charset="-120"/>
              </a:rPr>
              <a:t>Data &amp; AI</a:t>
            </a:r>
            <a:endParaRPr lang="en-US" sz="1500" dirty="0"/>
          </a:p>
        </p:txBody>
      </p:sp>
      <p:sp>
        <p:nvSpPr>
          <p:cNvPr id="5" name="Text 2"/>
          <p:cNvSpPr/>
          <p:nvPr/>
        </p:nvSpPr>
        <p:spPr>
          <a:xfrm>
            <a:off x="8092440" y="521208"/>
            <a:ext cx="3931920" cy="411480"/>
          </a:xfrm>
          <a:prstGeom prst="rect">
            <a:avLst/>
          </a:prstGeom>
          <a:noFill/>
          <a:ln/>
        </p:spPr>
        <p:txBody>
          <a:bodyPr wrap="square" lIns="0" tIns="0" rIns="0" bIns="0" rtlCol="0" anchor="ctr"/>
          <a:lstStyle/>
          <a:p>
            <a:pPr indent="0" marL="0">
              <a:buNone/>
            </a:pPr>
            <a:r>
              <a:rPr lang="en-US" sz="1400" b="1" dirty="0">
                <a:solidFill>
                  <a:srgbClr val="2F3136"/>
                </a:solidFill>
                <a:latin typeface="Arial" pitchFamily="34" charset="0"/>
                <a:ea typeface="Arial" pitchFamily="34" charset="-122"/>
                <a:cs typeface="Arial" pitchFamily="34" charset="-120"/>
              </a:rPr>
              <a:t>B. Pipeline stages</a:t>
            </a:r>
            <a:endParaRPr lang="en-US" sz="1400" dirty="0"/>
          </a:p>
        </p:txBody>
      </p:sp>
      <p:sp>
        <p:nvSpPr>
          <p:cNvPr id="6" name="Text 3"/>
          <p:cNvSpPr/>
          <p:nvPr/>
        </p:nvSpPr>
        <p:spPr>
          <a:xfrm>
            <a:off x="0" y="1481328"/>
            <a:ext cx="12191695" cy="502920"/>
          </a:xfrm>
          <a:prstGeom prst="rect">
            <a:avLst/>
          </a:prstGeom>
          <a:noFill/>
          <a:ln/>
        </p:spPr>
        <p:txBody>
          <a:bodyPr wrap="square" lIns="0" tIns="0" rIns="0" bIns="0" rtlCol="0" anchor="ctr"/>
          <a:lstStyle/>
          <a:p>
            <a:pPr algn="ctr" indent="0" marL="0">
              <a:buNone/>
            </a:pPr>
            <a:r>
              <a:rPr lang="en-US" sz="2200" b="1" dirty="0">
                <a:solidFill>
                  <a:srgbClr val="3A3A3A"/>
                </a:solidFill>
                <a:latin typeface="Arial" pitchFamily="34" charset="0"/>
                <a:ea typeface="Arial" pitchFamily="34" charset="-122"/>
                <a:cs typeface="Arial" pitchFamily="34" charset="-120"/>
              </a:rPr>
              <a:t>-  Data pipeline  -</a:t>
            </a:r>
            <a:endParaRPr lang="en-US" sz="2200" dirty="0"/>
          </a:p>
        </p:txBody>
      </p:sp>
      <p:sp>
        <p:nvSpPr>
          <p:cNvPr id="7" name="Shape 4"/>
          <p:cNvSpPr/>
          <p:nvPr/>
        </p:nvSpPr>
        <p:spPr>
          <a:xfrm>
            <a:off x="521208" y="2286000"/>
            <a:ext cx="2395728" cy="548640"/>
          </a:xfrm>
          <a:prstGeom prst="chevron">
            <a:avLst/>
          </a:prstGeom>
          <a:solidFill>
            <a:srgbClr val="F2F2F2"/>
          </a:solidFill>
          <a:ln/>
          <a:effectLst>
            <a:outerShdw sx="100000" sy="100000" kx="0" ky="0" algn="bl" rotWithShape="0" blurRad="76200" dist="38100" dir="2700000">
              <a:srgbClr val="000000">
                <a:alpha val="20000"/>
              </a:srgbClr>
            </a:outerShdw>
          </a:effectLst>
        </p:spPr>
      </p:sp>
      <p:sp>
        <p:nvSpPr>
          <p:cNvPr id="8" name="Text 5"/>
          <p:cNvSpPr/>
          <p:nvPr/>
        </p:nvSpPr>
        <p:spPr>
          <a:xfrm>
            <a:off x="841248"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COLLECT</a:t>
            </a:r>
            <a:endParaRPr lang="en-US" sz="1250" dirty="0"/>
          </a:p>
        </p:txBody>
      </p:sp>
      <p:sp>
        <p:nvSpPr>
          <p:cNvPr id="9" name="Shape 6"/>
          <p:cNvSpPr/>
          <p:nvPr/>
        </p:nvSpPr>
        <p:spPr>
          <a:xfrm>
            <a:off x="2688336" y="2286000"/>
            <a:ext cx="2395728" cy="548640"/>
          </a:xfrm>
          <a:prstGeom prst="chevron">
            <a:avLst/>
          </a:prstGeom>
          <a:solidFill>
            <a:srgbClr val="F2F2F2"/>
          </a:solidFill>
          <a:ln/>
          <a:effectLst>
            <a:outerShdw sx="100000" sy="100000" kx="0" ky="0" algn="bl" rotWithShape="0" blurRad="76200" dist="38100" dir="2700000">
              <a:srgbClr val="000000">
                <a:alpha val="20000"/>
              </a:srgbClr>
            </a:outerShdw>
          </a:effectLst>
        </p:spPr>
      </p:sp>
      <p:sp>
        <p:nvSpPr>
          <p:cNvPr id="10" name="Text 7"/>
          <p:cNvSpPr/>
          <p:nvPr/>
        </p:nvSpPr>
        <p:spPr>
          <a:xfrm>
            <a:off x="3008376"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EXTRACT</a:t>
            </a:r>
            <a:endParaRPr lang="en-US" sz="1250" dirty="0"/>
          </a:p>
        </p:txBody>
      </p:sp>
      <p:sp>
        <p:nvSpPr>
          <p:cNvPr id="11" name="Shape 8"/>
          <p:cNvSpPr/>
          <p:nvPr/>
        </p:nvSpPr>
        <p:spPr>
          <a:xfrm>
            <a:off x="4855464" y="2286000"/>
            <a:ext cx="2395728" cy="548640"/>
          </a:xfrm>
          <a:prstGeom prst="chevron">
            <a:avLst/>
          </a:prstGeom>
          <a:solidFill>
            <a:srgbClr val="FFE600"/>
          </a:solidFill>
          <a:ln/>
          <a:effectLst>
            <a:outerShdw sx="100000" sy="100000" kx="0" ky="0" algn="bl" rotWithShape="0" blurRad="76200" dist="38100" dir="2700000">
              <a:srgbClr val="000000">
                <a:alpha val="28000"/>
              </a:srgbClr>
            </a:outerShdw>
          </a:effectLst>
        </p:spPr>
      </p:sp>
      <p:sp>
        <p:nvSpPr>
          <p:cNvPr id="12" name="Text 9"/>
          <p:cNvSpPr/>
          <p:nvPr/>
        </p:nvSpPr>
        <p:spPr>
          <a:xfrm>
            <a:off x="5175504"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MODEL</a:t>
            </a:r>
            <a:endParaRPr lang="en-US" sz="1250" dirty="0"/>
          </a:p>
        </p:txBody>
      </p:sp>
      <p:sp>
        <p:nvSpPr>
          <p:cNvPr id="13" name="Shape 10"/>
          <p:cNvSpPr/>
          <p:nvPr/>
        </p:nvSpPr>
        <p:spPr>
          <a:xfrm>
            <a:off x="7022592" y="2286000"/>
            <a:ext cx="2395728" cy="548640"/>
          </a:xfrm>
          <a:prstGeom prst="chevron">
            <a:avLst/>
          </a:prstGeom>
          <a:solidFill>
            <a:srgbClr val="F2F2F2"/>
          </a:solidFill>
          <a:ln/>
          <a:effectLst>
            <a:outerShdw sx="100000" sy="100000" kx="0" ky="0" algn="bl" rotWithShape="0" blurRad="76200" dist="38100" dir="2700000">
              <a:srgbClr val="000000">
                <a:alpha val="20000"/>
              </a:srgbClr>
            </a:outerShdw>
          </a:effectLst>
        </p:spPr>
      </p:sp>
      <p:sp>
        <p:nvSpPr>
          <p:cNvPr id="14" name="Text 11"/>
          <p:cNvSpPr/>
          <p:nvPr/>
        </p:nvSpPr>
        <p:spPr>
          <a:xfrm>
            <a:off x="7342632"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VALIDATE</a:t>
            </a:r>
            <a:endParaRPr lang="en-US" sz="1250" dirty="0"/>
          </a:p>
        </p:txBody>
      </p:sp>
      <p:sp>
        <p:nvSpPr>
          <p:cNvPr id="15" name="Shape 12"/>
          <p:cNvSpPr/>
          <p:nvPr/>
        </p:nvSpPr>
        <p:spPr>
          <a:xfrm>
            <a:off x="9189720" y="2286000"/>
            <a:ext cx="2395728" cy="548640"/>
          </a:xfrm>
          <a:prstGeom prst="chevron">
            <a:avLst/>
          </a:prstGeom>
          <a:solidFill>
            <a:srgbClr val="F2F2F2"/>
          </a:solidFill>
          <a:ln/>
          <a:effectLst>
            <a:outerShdw sx="100000" sy="100000" kx="0" ky="0" algn="bl" rotWithShape="0" blurRad="76200" dist="38100" dir="2700000">
              <a:srgbClr val="000000">
                <a:alpha val="20000"/>
              </a:srgbClr>
            </a:outerShdw>
          </a:effectLst>
        </p:spPr>
      </p:sp>
      <p:sp>
        <p:nvSpPr>
          <p:cNvPr id="16" name="Text 13"/>
          <p:cNvSpPr/>
          <p:nvPr/>
        </p:nvSpPr>
        <p:spPr>
          <a:xfrm>
            <a:off x="9509760"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DELIVER</a:t>
            </a:r>
            <a:endParaRPr lang="en-US" sz="1250" dirty="0"/>
          </a:p>
        </p:txBody>
      </p:sp>
      <p:sp>
        <p:nvSpPr>
          <p:cNvPr id="17" name="Text 14"/>
          <p:cNvSpPr/>
          <p:nvPr/>
        </p:nvSpPr>
        <p:spPr>
          <a:xfrm>
            <a:off x="548640" y="3127248"/>
            <a:ext cx="4389120" cy="237744"/>
          </a:xfrm>
          <a:prstGeom prst="rect">
            <a:avLst/>
          </a:prstGeom>
          <a:noFill/>
          <a:ln/>
        </p:spPr>
        <p:txBody>
          <a:bodyPr wrap="square" lIns="0" tIns="0" rIns="0" bIns="0" rtlCol="0" anchor="ctr"/>
          <a:lstStyle/>
          <a:p>
            <a:pPr indent="0" marL="0">
              <a:buNone/>
            </a:pPr>
            <a:r>
              <a:rPr lang="en-US" sz="1100" b="1" spc="200" kern="0" dirty="0">
                <a:solidFill>
                  <a:srgbClr val="8B8B90"/>
                </a:solidFill>
                <a:latin typeface="Calibri" pitchFamily="34" charset="0"/>
                <a:ea typeface="Calibri" pitchFamily="34" charset="-122"/>
                <a:cs typeface="Calibri" pitchFamily="34" charset="-120"/>
              </a:rPr>
              <a:t>WHAT HAPPENS</a:t>
            </a:r>
            <a:endParaRPr lang="en-US" sz="1100" dirty="0"/>
          </a:p>
        </p:txBody>
      </p:sp>
      <p:sp>
        <p:nvSpPr>
          <p:cNvPr id="18" name="Shape 15"/>
          <p:cNvSpPr/>
          <p:nvPr/>
        </p:nvSpPr>
        <p:spPr>
          <a:xfrm>
            <a:off x="548640" y="3538728"/>
            <a:ext cx="137160" cy="137160"/>
          </a:xfrm>
          <a:prstGeom prst="ellipse">
            <a:avLst/>
          </a:prstGeom>
          <a:solidFill>
            <a:srgbClr val="FFE600"/>
          </a:solidFill>
          <a:ln/>
        </p:spPr>
      </p:sp>
      <p:sp>
        <p:nvSpPr>
          <p:cNvPr id="19" name="Text 16"/>
          <p:cNvSpPr/>
          <p:nvPr/>
        </p:nvSpPr>
        <p:spPr>
          <a:xfrm>
            <a:off x="841248" y="3456432"/>
            <a:ext cx="4114800" cy="512064"/>
          </a:xfrm>
          <a:prstGeom prst="rect">
            <a:avLst/>
          </a:prstGeom>
          <a:noFill/>
          <a:ln/>
        </p:spPr>
        <p:txBody>
          <a:bodyPr wrap="square" lIns="0" tIns="0" rIns="0" bIns="0" rtlCol="0" anchor="t"/>
          <a:lstStyle/>
          <a:p>
            <a:pPr indent="0" marL="0">
              <a:buNone/>
            </a:pPr>
            <a:r>
              <a:rPr lang="en-US" sz="1300" dirty="0">
                <a:solidFill>
                  <a:srgbClr val="2F3136"/>
                </a:solidFill>
                <a:latin typeface="Calibri" pitchFamily="34" charset="0"/>
                <a:ea typeface="Calibri" pitchFamily="34" charset="-122"/>
                <a:cs typeface="Calibri" pitchFamily="34" charset="-120"/>
              </a:rPr>
              <a:t>KPIs are computed from the stored cells, with one formula each.</a:t>
            </a:r>
            <a:endParaRPr lang="en-US" sz="1300" dirty="0"/>
          </a:p>
        </p:txBody>
      </p:sp>
      <p:sp>
        <p:nvSpPr>
          <p:cNvPr id="20" name="Shape 17"/>
          <p:cNvSpPr/>
          <p:nvPr/>
        </p:nvSpPr>
        <p:spPr>
          <a:xfrm>
            <a:off x="548640" y="4105656"/>
            <a:ext cx="137160" cy="137160"/>
          </a:xfrm>
          <a:prstGeom prst="ellipse">
            <a:avLst/>
          </a:prstGeom>
          <a:solidFill>
            <a:srgbClr val="FFE600"/>
          </a:solidFill>
          <a:ln/>
        </p:spPr>
      </p:sp>
      <p:sp>
        <p:nvSpPr>
          <p:cNvPr id="21" name="Text 18"/>
          <p:cNvSpPr/>
          <p:nvPr/>
        </p:nvSpPr>
        <p:spPr>
          <a:xfrm>
            <a:off x="841248" y="4023360"/>
            <a:ext cx="4114800" cy="512064"/>
          </a:xfrm>
          <a:prstGeom prst="rect">
            <a:avLst/>
          </a:prstGeom>
          <a:noFill/>
          <a:ln/>
        </p:spPr>
        <p:txBody>
          <a:bodyPr wrap="square" lIns="0" tIns="0" rIns="0" bIns="0" rtlCol="0" anchor="t"/>
          <a:lstStyle/>
          <a:p>
            <a:pPr indent="0" marL="0">
              <a:buNone/>
            </a:pPr>
            <a:r>
              <a:rPr lang="en-US" sz="1300" dirty="0">
                <a:solidFill>
                  <a:srgbClr val="2F3136"/>
                </a:solidFill>
                <a:latin typeface="Calibri" pitchFamily="34" charset="0"/>
                <a:ea typeface="Calibri" pitchFamily="34" charset="-122"/>
                <a:cs typeface="Calibri" pitchFamily="34" charset="-120"/>
              </a:rPr>
              <a:t>Our data point, Total actif, is the denominator of the ROA.</a:t>
            </a:r>
            <a:endParaRPr lang="en-US" sz="1300" dirty="0"/>
          </a:p>
        </p:txBody>
      </p:sp>
      <p:sp>
        <p:nvSpPr>
          <p:cNvPr id="22" name="Shape 19"/>
          <p:cNvSpPr/>
          <p:nvPr/>
        </p:nvSpPr>
        <p:spPr>
          <a:xfrm>
            <a:off x="548640" y="4672584"/>
            <a:ext cx="137160" cy="137160"/>
          </a:xfrm>
          <a:prstGeom prst="ellipse">
            <a:avLst/>
          </a:prstGeom>
          <a:solidFill>
            <a:srgbClr val="FFE600"/>
          </a:solidFill>
          <a:ln/>
        </p:spPr>
      </p:sp>
      <p:sp>
        <p:nvSpPr>
          <p:cNvPr id="23" name="Text 20"/>
          <p:cNvSpPr/>
          <p:nvPr/>
        </p:nvSpPr>
        <p:spPr>
          <a:xfrm>
            <a:off x="841248" y="4590288"/>
            <a:ext cx="4114800" cy="512064"/>
          </a:xfrm>
          <a:prstGeom prst="rect">
            <a:avLst/>
          </a:prstGeom>
          <a:noFill/>
          <a:ln/>
        </p:spPr>
        <p:txBody>
          <a:bodyPr wrap="square" lIns="0" tIns="0" rIns="0" bIns="0" rtlCol="0" anchor="t"/>
          <a:lstStyle/>
          <a:p>
            <a:pPr indent="0" marL="0">
              <a:buNone/>
            </a:pPr>
            <a:r>
              <a:rPr lang="en-US" sz="1300" dirty="0">
                <a:solidFill>
                  <a:srgbClr val="2F3136"/>
                </a:solidFill>
                <a:latin typeface="Calibri" pitchFamily="34" charset="0"/>
                <a:ea typeface="Calibri" pitchFamily="34" charset="-122"/>
                <a:cs typeface="Calibri" pitchFamily="34" charset="-120"/>
              </a:rPr>
              <a:t>ROA = Résultat net ÷ Total actif × 100 = 39,89 M ÷ 1 661,61 M = 2,4 %.</a:t>
            </a:r>
            <a:endParaRPr lang="en-US" sz="1300" dirty="0"/>
          </a:p>
        </p:txBody>
      </p:sp>
      <p:sp>
        <p:nvSpPr>
          <p:cNvPr id="24" name="Shape 21"/>
          <p:cNvSpPr/>
          <p:nvPr/>
        </p:nvSpPr>
        <p:spPr>
          <a:xfrm>
            <a:off x="548640" y="5257800"/>
            <a:ext cx="4389120" cy="1143000"/>
          </a:xfrm>
          <a:prstGeom prst="roundRect">
            <a:avLst>
              <a:gd name="adj" fmla="val 6400"/>
            </a:avLst>
          </a:prstGeom>
          <a:solidFill>
            <a:srgbClr val="484B54"/>
          </a:solidFill>
          <a:ln/>
        </p:spPr>
      </p:sp>
      <p:sp>
        <p:nvSpPr>
          <p:cNvPr id="25" name="Text 22"/>
          <p:cNvSpPr/>
          <p:nvPr/>
        </p:nvSpPr>
        <p:spPr>
          <a:xfrm>
            <a:off x="777240" y="5349240"/>
            <a:ext cx="4023360" cy="256032"/>
          </a:xfrm>
          <a:prstGeom prst="rect">
            <a:avLst/>
          </a:prstGeom>
          <a:noFill/>
          <a:ln/>
        </p:spPr>
        <p:txBody>
          <a:bodyPr wrap="square" lIns="0" tIns="0" rIns="0" bIns="0" rtlCol="0" anchor="ctr"/>
          <a:lstStyle/>
          <a:p>
            <a:pPr indent="0" marL="0">
              <a:buNone/>
            </a:pPr>
            <a:r>
              <a:rPr lang="en-US" sz="1050" b="1" spc="150" kern="0" dirty="0">
                <a:solidFill>
                  <a:srgbClr val="FFE600"/>
                </a:solidFill>
                <a:latin typeface="Calibri" pitchFamily="34" charset="0"/>
                <a:ea typeface="Calibri" pitchFamily="34" charset="-122"/>
                <a:cs typeface="Calibri" pitchFamily="34" charset="-120"/>
              </a:rPr>
              <a:t>THE DATA POINT · STAR · 2025</a:t>
            </a:r>
            <a:endParaRPr lang="en-US" sz="1050" dirty="0"/>
          </a:p>
        </p:txBody>
      </p:sp>
      <p:sp>
        <p:nvSpPr>
          <p:cNvPr id="26" name="Text 23"/>
          <p:cNvSpPr/>
          <p:nvPr/>
        </p:nvSpPr>
        <p:spPr>
          <a:xfrm>
            <a:off x="777240" y="5605272"/>
            <a:ext cx="4023360" cy="36576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Input of the ROA</a:t>
            </a:r>
            <a:endParaRPr lang="en-US" sz="1600" dirty="0"/>
          </a:p>
        </p:txBody>
      </p:sp>
      <p:sp>
        <p:nvSpPr>
          <p:cNvPr id="27" name="Text 24"/>
          <p:cNvSpPr/>
          <p:nvPr/>
        </p:nvSpPr>
        <p:spPr>
          <a:xfrm>
            <a:off x="777240" y="5971032"/>
            <a:ext cx="4023360" cy="347472"/>
          </a:xfrm>
          <a:prstGeom prst="rect">
            <a:avLst/>
          </a:prstGeom>
          <a:noFill/>
          <a:ln/>
        </p:spPr>
        <p:txBody>
          <a:bodyPr wrap="square" lIns="0" tIns="0" rIns="0" bIns="0" rtlCol="0" anchor="ctr"/>
          <a:lstStyle/>
          <a:p>
            <a:pPr indent="0" marL="0">
              <a:buNone/>
            </a:pPr>
            <a:r>
              <a:rPr lang="en-US" sz="1600" b="1" dirty="0">
                <a:solidFill>
                  <a:srgbClr val="FFE600"/>
                </a:solidFill>
                <a:latin typeface="Calibri" pitchFamily="34" charset="0"/>
                <a:ea typeface="Calibri" pitchFamily="34" charset="-122"/>
                <a:cs typeface="Calibri" pitchFamily="34" charset="-120"/>
              </a:rPr>
              <a:t>Total actif 1 661,61 M → ROA 2,4 %</a:t>
            </a:r>
            <a:endParaRPr lang="en-US" sz="1600" dirty="0"/>
          </a:p>
        </p:txBody>
      </p:sp>
      <p:sp>
        <p:nvSpPr>
          <p:cNvPr id="28" name="Shape 25"/>
          <p:cNvSpPr/>
          <p:nvPr/>
        </p:nvSpPr>
        <p:spPr>
          <a:xfrm>
            <a:off x="5212080" y="3154680"/>
            <a:ext cx="6492240" cy="2472835"/>
          </a:xfrm>
          <a:prstGeom prst="rect">
            <a:avLst/>
          </a:prstGeom>
          <a:solidFill>
            <a:srgbClr val="FFFFFF"/>
          </a:solidFill>
          <a:ln w="12700">
            <a:solidFill>
              <a:srgbClr val="D3D5DB"/>
            </a:solidFill>
            <a:prstDash val="solid"/>
          </a:ln>
          <a:effectLst>
            <a:outerShdw sx="100000" sy="100000" kx="0" ky="0" algn="bl" rotWithShape="0" blurRad="76200" dist="25400" dir="5400000">
              <a:srgbClr val="000000">
                <a:alpha val="14000"/>
              </a:srgbClr>
            </a:outerShdw>
          </a:effectLst>
        </p:spPr>
      </p:sp>
      <p:pic>
        <p:nvPicPr>
          <p:cNvPr id="29" name="Image 1" descr="C:/Users/HP/Desktop/SCRAPING/docs/scratch/star/crops/p3_model.png">    </p:cNvPr>
          <p:cNvPicPr>
            <a:picLocks noChangeAspect="1"/>
          </p:cNvPicPr>
          <p:nvPr/>
        </p:nvPicPr>
        <p:blipFill>
          <a:blip r:embed="rId2"/>
          <a:stretch>
            <a:fillRect/>
          </a:stretch>
        </p:blipFill>
        <p:spPr>
          <a:xfrm>
            <a:off x="5212080" y="3154680"/>
            <a:ext cx="6492240" cy="2472835"/>
          </a:xfrm>
          <a:prstGeom prst="rect">
            <a:avLst/>
          </a:prstGeom>
        </p:spPr>
      </p:pic>
      <p:sp>
        <p:nvSpPr>
          <p:cNvPr id="30" name="Text 26"/>
          <p:cNvSpPr/>
          <p:nvPr/>
        </p:nvSpPr>
        <p:spPr>
          <a:xfrm>
            <a:off x="5212080" y="5700667"/>
            <a:ext cx="6492240" cy="274320"/>
          </a:xfrm>
          <a:prstGeom prst="rect">
            <a:avLst/>
          </a:prstGeom>
          <a:noFill/>
          <a:ln/>
        </p:spPr>
        <p:txBody>
          <a:bodyPr wrap="square" lIns="0" tIns="0" rIns="0" bIns="0" rtlCol="0" anchor="ctr"/>
          <a:lstStyle/>
          <a:p>
            <a:pPr algn="ctr" indent="0" marL="0">
              <a:buNone/>
            </a:pPr>
            <a:r>
              <a:rPr lang="en-US" sz="1100" i="1" dirty="0">
                <a:solidFill>
                  <a:srgbClr val="8B8B90"/>
                </a:solidFill>
                <a:latin typeface="Calibri" pitchFamily="34" charset="0"/>
                <a:ea typeface="Calibri" pitchFamily="34" charset="-122"/>
                <a:cs typeface="Calibri" pitchFamily="34" charset="-120"/>
              </a:rPr>
              <a:t>Platform · Formule de calcul — ROA, STAR 2025</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pic>
        <p:nvPicPr>
          <p:cNvPr id="2" name="Image 0" descr="C:/Users/HP/Desktop/SCRAPING/docs/scratch/star/crops/header.png">    </p:cNvPr>
          <p:cNvPicPr>
            <a:picLocks noChangeAspect="1"/>
          </p:cNvPicPr>
          <p:nvPr/>
        </p:nvPicPr>
        <p:blipFill>
          <a:blip r:embed="rId1"/>
          <a:stretch>
            <a:fillRect/>
          </a:stretch>
        </p:blipFill>
        <p:spPr>
          <a:xfrm>
            <a:off x="0" y="0"/>
            <a:ext cx="12191695" cy="1353312"/>
          </a:xfrm>
          <a:prstGeom prst="rect">
            <a:avLst/>
          </a:prstGeom>
        </p:spPr>
      </p:pic>
      <p:sp>
        <p:nvSpPr>
          <p:cNvPr id="3" name="Text 0"/>
          <p:cNvSpPr/>
          <p:nvPr/>
        </p:nvSpPr>
        <p:spPr>
          <a:xfrm>
            <a:off x="283464" y="393192"/>
            <a:ext cx="374904" cy="347472"/>
          </a:xfrm>
          <a:prstGeom prst="rect">
            <a:avLst/>
          </a:prstGeom>
          <a:noFill/>
          <a:ln/>
        </p:spPr>
        <p:txBody>
          <a:bodyPr wrap="square" lIns="0" tIns="0" rIns="0" bIns="0" rtlCol="0" anchor="ctr"/>
          <a:lstStyle/>
          <a:p>
            <a:pPr algn="ctr" indent="0" marL="0">
              <a:buNone/>
            </a:pPr>
            <a:r>
              <a:rPr lang="en-US" sz="1200" b="1" dirty="0">
                <a:solidFill>
                  <a:srgbClr val="2F3136"/>
                </a:solidFill>
                <a:latin typeface="Arial" pitchFamily="34" charset="0"/>
                <a:ea typeface="Arial" pitchFamily="34" charset="-122"/>
                <a:cs typeface="Arial" pitchFamily="34" charset="-120"/>
              </a:rPr>
              <a:t>05</a:t>
            </a:r>
            <a:endParaRPr lang="en-US" sz="1200" dirty="0"/>
          </a:p>
        </p:txBody>
      </p:sp>
      <p:sp>
        <p:nvSpPr>
          <p:cNvPr id="4" name="Text 1"/>
          <p:cNvSpPr/>
          <p:nvPr/>
        </p:nvSpPr>
        <p:spPr>
          <a:xfrm>
            <a:off x="1627632" y="265176"/>
            <a:ext cx="4160520" cy="804672"/>
          </a:xfrm>
          <a:prstGeom prst="rect">
            <a:avLst/>
          </a:prstGeom>
          <a:noFill/>
          <a:ln/>
        </p:spPr>
        <p:txBody>
          <a:bodyPr wrap="square" lIns="0" tIns="0" rIns="0" bIns="0" rtlCol="0" anchor="ctr"/>
          <a:lstStyle/>
          <a:p>
            <a:pPr algn="ctr" indent="0" marL="0">
              <a:buNone/>
            </a:pPr>
            <a:r>
              <a:rPr lang="en-US" sz="1500" b="1" dirty="0">
                <a:solidFill>
                  <a:srgbClr val="2F3136"/>
                </a:solidFill>
                <a:latin typeface="Arial" pitchFamily="34" charset="0"/>
                <a:ea typeface="Arial" pitchFamily="34" charset="-122"/>
                <a:cs typeface="Arial" pitchFamily="34" charset="-120"/>
              </a:rPr>
              <a:t>Data &amp; AI</a:t>
            </a:r>
            <a:endParaRPr lang="en-US" sz="1500" dirty="0"/>
          </a:p>
        </p:txBody>
      </p:sp>
      <p:sp>
        <p:nvSpPr>
          <p:cNvPr id="5" name="Text 2"/>
          <p:cNvSpPr/>
          <p:nvPr/>
        </p:nvSpPr>
        <p:spPr>
          <a:xfrm>
            <a:off x="8092440" y="521208"/>
            <a:ext cx="3931920" cy="411480"/>
          </a:xfrm>
          <a:prstGeom prst="rect">
            <a:avLst/>
          </a:prstGeom>
          <a:noFill/>
          <a:ln/>
        </p:spPr>
        <p:txBody>
          <a:bodyPr wrap="square" lIns="0" tIns="0" rIns="0" bIns="0" rtlCol="0" anchor="ctr"/>
          <a:lstStyle/>
          <a:p>
            <a:pPr indent="0" marL="0">
              <a:buNone/>
            </a:pPr>
            <a:r>
              <a:rPr lang="en-US" sz="1400" b="1" dirty="0">
                <a:solidFill>
                  <a:srgbClr val="2F3136"/>
                </a:solidFill>
                <a:latin typeface="Arial" pitchFamily="34" charset="0"/>
                <a:ea typeface="Arial" pitchFamily="34" charset="-122"/>
                <a:cs typeface="Arial" pitchFamily="34" charset="-120"/>
              </a:rPr>
              <a:t>B. Pipeline stages</a:t>
            </a:r>
            <a:endParaRPr lang="en-US" sz="1400" dirty="0"/>
          </a:p>
        </p:txBody>
      </p:sp>
      <p:sp>
        <p:nvSpPr>
          <p:cNvPr id="6" name="Text 3"/>
          <p:cNvSpPr/>
          <p:nvPr/>
        </p:nvSpPr>
        <p:spPr>
          <a:xfrm>
            <a:off x="0" y="1481328"/>
            <a:ext cx="12191695" cy="502920"/>
          </a:xfrm>
          <a:prstGeom prst="rect">
            <a:avLst/>
          </a:prstGeom>
          <a:noFill/>
          <a:ln/>
        </p:spPr>
        <p:txBody>
          <a:bodyPr wrap="square" lIns="0" tIns="0" rIns="0" bIns="0" rtlCol="0" anchor="ctr"/>
          <a:lstStyle/>
          <a:p>
            <a:pPr algn="ctr" indent="0" marL="0">
              <a:buNone/>
            </a:pPr>
            <a:r>
              <a:rPr lang="en-US" sz="2200" b="1" dirty="0">
                <a:solidFill>
                  <a:srgbClr val="3A3A3A"/>
                </a:solidFill>
                <a:latin typeface="Arial" pitchFamily="34" charset="0"/>
                <a:ea typeface="Arial" pitchFamily="34" charset="-122"/>
                <a:cs typeface="Arial" pitchFamily="34" charset="-120"/>
              </a:rPr>
              <a:t>-  Data pipeline  -</a:t>
            </a:r>
            <a:endParaRPr lang="en-US" sz="2200" dirty="0"/>
          </a:p>
        </p:txBody>
      </p:sp>
      <p:sp>
        <p:nvSpPr>
          <p:cNvPr id="7" name="Shape 4"/>
          <p:cNvSpPr/>
          <p:nvPr/>
        </p:nvSpPr>
        <p:spPr>
          <a:xfrm>
            <a:off x="521208" y="2286000"/>
            <a:ext cx="2395728" cy="548640"/>
          </a:xfrm>
          <a:prstGeom prst="chevron">
            <a:avLst/>
          </a:prstGeom>
          <a:solidFill>
            <a:srgbClr val="F2F2F2"/>
          </a:solidFill>
          <a:ln/>
          <a:effectLst>
            <a:outerShdw sx="100000" sy="100000" kx="0" ky="0" algn="bl" rotWithShape="0" blurRad="76200" dist="38100" dir="2700000">
              <a:srgbClr val="000000">
                <a:alpha val="20000"/>
              </a:srgbClr>
            </a:outerShdw>
          </a:effectLst>
        </p:spPr>
      </p:sp>
      <p:sp>
        <p:nvSpPr>
          <p:cNvPr id="8" name="Text 5"/>
          <p:cNvSpPr/>
          <p:nvPr/>
        </p:nvSpPr>
        <p:spPr>
          <a:xfrm>
            <a:off x="841248"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COLLECT</a:t>
            </a:r>
            <a:endParaRPr lang="en-US" sz="1250" dirty="0"/>
          </a:p>
        </p:txBody>
      </p:sp>
      <p:sp>
        <p:nvSpPr>
          <p:cNvPr id="9" name="Shape 6"/>
          <p:cNvSpPr/>
          <p:nvPr/>
        </p:nvSpPr>
        <p:spPr>
          <a:xfrm>
            <a:off x="2688336" y="2286000"/>
            <a:ext cx="2395728" cy="548640"/>
          </a:xfrm>
          <a:prstGeom prst="chevron">
            <a:avLst/>
          </a:prstGeom>
          <a:solidFill>
            <a:srgbClr val="F2F2F2"/>
          </a:solidFill>
          <a:ln/>
          <a:effectLst>
            <a:outerShdw sx="100000" sy="100000" kx="0" ky="0" algn="bl" rotWithShape="0" blurRad="76200" dist="38100" dir="2700000">
              <a:srgbClr val="000000">
                <a:alpha val="20000"/>
              </a:srgbClr>
            </a:outerShdw>
          </a:effectLst>
        </p:spPr>
      </p:sp>
      <p:sp>
        <p:nvSpPr>
          <p:cNvPr id="10" name="Text 7"/>
          <p:cNvSpPr/>
          <p:nvPr/>
        </p:nvSpPr>
        <p:spPr>
          <a:xfrm>
            <a:off x="3008376"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EXTRACT</a:t>
            </a:r>
            <a:endParaRPr lang="en-US" sz="1250" dirty="0"/>
          </a:p>
        </p:txBody>
      </p:sp>
      <p:sp>
        <p:nvSpPr>
          <p:cNvPr id="11" name="Shape 8"/>
          <p:cNvSpPr/>
          <p:nvPr/>
        </p:nvSpPr>
        <p:spPr>
          <a:xfrm>
            <a:off x="4855464" y="2286000"/>
            <a:ext cx="2395728" cy="548640"/>
          </a:xfrm>
          <a:prstGeom prst="chevron">
            <a:avLst/>
          </a:prstGeom>
          <a:solidFill>
            <a:srgbClr val="F2F2F2"/>
          </a:solidFill>
          <a:ln/>
          <a:effectLst>
            <a:outerShdw sx="100000" sy="100000" kx="0" ky="0" algn="bl" rotWithShape="0" blurRad="76200" dist="38100" dir="2700000">
              <a:srgbClr val="000000">
                <a:alpha val="20000"/>
              </a:srgbClr>
            </a:outerShdw>
          </a:effectLst>
        </p:spPr>
      </p:sp>
      <p:sp>
        <p:nvSpPr>
          <p:cNvPr id="12" name="Text 9"/>
          <p:cNvSpPr/>
          <p:nvPr/>
        </p:nvSpPr>
        <p:spPr>
          <a:xfrm>
            <a:off x="5175504"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MODEL</a:t>
            </a:r>
            <a:endParaRPr lang="en-US" sz="1250" dirty="0"/>
          </a:p>
        </p:txBody>
      </p:sp>
      <p:sp>
        <p:nvSpPr>
          <p:cNvPr id="13" name="Shape 10"/>
          <p:cNvSpPr/>
          <p:nvPr/>
        </p:nvSpPr>
        <p:spPr>
          <a:xfrm>
            <a:off x="7022592" y="2286000"/>
            <a:ext cx="2395728" cy="548640"/>
          </a:xfrm>
          <a:prstGeom prst="chevron">
            <a:avLst/>
          </a:prstGeom>
          <a:solidFill>
            <a:srgbClr val="FFE600"/>
          </a:solidFill>
          <a:ln/>
          <a:effectLst>
            <a:outerShdw sx="100000" sy="100000" kx="0" ky="0" algn="bl" rotWithShape="0" blurRad="76200" dist="38100" dir="2700000">
              <a:srgbClr val="000000">
                <a:alpha val="28000"/>
              </a:srgbClr>
            </a:outerShdw>
          </a:effectLst>
        </p:spPr>
      </p:sp>
      <p:sp>
        <p:nvSpPr>
          <p:cNvPr id="14" name="Text 11"/>
          <p:cNvSpPr/>
          <p:nvPr/>
        </p:nvSpPr>
        <p:spPr>
          <a:xfrm>
            <a:off x="7342632"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VALIDATE</a:t>
            </a:r>
            <a:endParaRPr lang="en-US" sz="1250" dirty="0"/>
          </a:p>
        </p:txBody>
      </p:sp>
      <p:sp>
        <p:nvSpPr>
          <p:cNvPr id="15" name="Shape 12"/>
          <p:cNvSpPr/>
          <p:nvPr/>
        </p:nvSpPr>
        <p:spPr>
          <a:xfrm>
            <a:off x="9189720" y="2286000"/>
            <a:ext cx="2395728" cy="548640"/>
          </a:xfrm>
          <a:prstGeom prst="chevron">
            <a:avLst/>
          </a:prstGeom>
          <a:solidFill>
            <a:srgbClr val="F2F2F2"/>
          </a:solidFill>
          <a:ln/>
          <a:effectLst>
            <a:outerShdw sx="100000" sy="100000" kx="0" ky="0" algn="bl" rotWithShape="0" blurRad="76200" dist="38100" dir="2700000">
              <a:srgbClr val="000000">
                <a:alpha val="20000"/>
              </a:srgbClr>
            </a:outerShdw>
          </a:effectLst>
        </p:spPr>
      </p:sp>
      <p:sp>
        <p:nvSpPr>
          <p:cNvPr id="16" name="Text 13"/>
          <p:cNvSpPr/>
          <p:nvPr/>
        </p:nvSpPr>
        <p:spPr>
          <a:xfrm>
            <a:off x="9509760"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DELIVER</a:t>
            </a:r>
            <a:endParaRPr lang="en-US" sz="1250" dirty="0"/>
          </a:p>
        </p:txBody>
      </p:sp>
      <p:sp>
        <p:nvSpPr>
          <p:cNvPr id="17" name="Text 14"/>
          <p:cNvSpPr/>
          <p:nvPr/>
        </p:nvSpPr>
        <p:spPr>
          <a:xfrm>
            <a:off x="548640" y="3127248"/>
            <a:ext cx="4389120" cy="237744"/>
          </a:xfrm>
          <a:prstGeom prst="rect">
            <a:avLst/>
          </a:prstGeom>
          <a:noFill/>
          <a:ln/>
        </p:spPr>
        <p:txBody>
          <a:bodyPr wrap="square" lIns="0" tIns="0" rIns="0" bIns="0" rtlCol="0" anchor="ctr"/>
          <a:lstStyle/>
          <a:p>
            <a:pPr indent="0" marL="0">
              <a:buNone/>
            </a:pPr>
            <a:r>
              <a:rPr lang="en-US" sz="1100" b="1" spc="200" kern="0" dirty="0">
                <a:solidFill>
                  <a:srgbClr val="8B8B90"/>
                </a:solidFill>
                <a:latin typeface="Calibri" pitchFamily="34" charset="0"/>
                <a:ea typeface="Calibri" pitchFamily="34" charset="-122"/>
                <a:cs typeface="Calibri" pitchFamily="34" charset="-120"/>
              </a:rPr>
              <a:t>WHAT HAPPENS</a:t>
            </a:r>
            <a:endParaRPr lang="en-US" sz="1100" dirty="0"/>
          </a:p>
        </p:txBody>
      </p:sp>
      <p:sp>
        <p:nvSpPr>
          <p:cNvPr id="18" name="Shape 15"/>
          <p:cNvSpPr/>
          <p:nvPr/>
        </p:nvSpPr>
        <p:spPr>
          <a:xfrm>
            <a:off x="548640" y="3538728"/>
            <a:ext cx="137160" cy="137160"/>
          </a:xfrm>
          <a:prstGeom prst="ellipse">
            <a:avLst/>
          </a:prstGeom>
          <a:solidFill>
            <a:srgbClr val="FFE600"/>
          </a:solidFill>
          <a:ln/>
        </p:spPr>
      </p:sp>
      <p:sp>
        <p:nvSpPr>
          <p:cNvPr id="19" name="Text 16"/>
          <p:cNvSpPr/>
          <p:nvPr/>
        </p:nvSpPr>
        <p:spPr>
          <a:xfrm>
            <a:off x="841248" y="3456432"/>
            <a:ext cx="4114800" cy="512064"/>
          </a:xfrm>
          <a:prstGeom prst="rect">
            <a:avLst/>
          </a:prstGeom>
          <a:noFill/>
          <a:ln/>
        </p:spPr>
        <p:txBody>
          <a:bodyPr wrap="square" lIns="0" tIns="0" rIns="0" bIns="0" rtlCol="0" anchor="t"/>
          <a:lstStyle/>
          <a:p>
            <a:pPr indent="0" marL="0">
              <a:buNone/>
            </a:pPr>
            <a:r>
              <a:rPr lang="en-US" sz="1300" dirty="0">
                <a:solidFill>
                  <a:srgbClr val="2F3136"/>
                </a:solidFill>
                <a:latin typeface="Calibri" pitchFamily="34" charset="0"/>
                <a:ea typeface="Calibri" pitchFamily="34" charset="-122"/>
                <a:cs typeface="Calibri" pitchFamily="34" charset="-120"/>
              </a:rPr>
              <a:t>Rule: Total actif must equal Capitaux propres + Passif.</a:t>
            </a:r>
            <a:endParaRPr lang="en-US" sz="1300" dirty="0"/>
          </a:p>
        </p:txBody>
      </p:sp>
      <p:sp>
        <p:nvSpPr>
          <p:cNvPr id="20" name="Shape 17"/>
          <p:cNvSpPr/>
          <p:nvPr/>
        </p:nvSpPr>
        <p:spPr>
          <a:xfrm>
            <a:off x="548640" y="4105656"/>
            <a:ext cx="137160" cy="137160"/>
          </a:xfrm>
          <a:prstGeom prst="ellipse">
            <a:avLst/>
          </a:prstGeom>
          <a:solidFill>
            <a:srgbClr val="FFE600"/>
          </a:solidFill>
          <a:ln/>
        </p:spPr>
      </p:sp>
      <p:sp>
        <p:nvSpPr>
          <p:cNvPr id="21" name="Text 18"/>
          <p:cNvSpPr/>
          <p:nvPr/>
        </p:nvSpPr>
        <p:spPr>
          <a:xfrm>
            <a:off x="841248" y="4023360"/>
            <a:ext cx="4114800" cy="512064"/>
          </a:xfrm>
          <a:prstGeom prst="rect">
            <a:avLst/>
          </a:prstGeom>
          <a:noFill/>
          <a:ln/>
        </p:spPr>
        <p:txBody>
          <a:bodyPr wrap="square" lIns="0" tIns="0" rIns="0" bIns="0" rtlCol="0" anchor="t"/>
          <a:lstStyle/>
          <a:p>
            <a:pPr indent="0" marL="0">
              <a:buNone/>
            </a:pPr>
            <a:r>
              <a:rPr lang="en-US" sz="1300" dirty="0">
                <a:solidFill>
                  <a:srgbClr val="2F3136"/>
                </a:solidFill>
                <a:latin typeface="Calibri" pitchFamily="34" charset="0"/>
                <a:ea typeface="Calibri" pitchFamily="34" charset="-122"/>
                <a:cs typeface="Calibri" pitchFamily="34" charset="-120"/>
              </a:rPr>
              <a:t>Found: 1 661 612 773 vs 1 571 835 370, a gap of 89 777 403 TND.</a:t>
            </a:r>
            <a:endParaRPr lang="en-US" sz="1300" dirty="0"/>
          </a:p>
        </p:txBody>
      </p:sp>
      <p:sp>
        <p:nvSpPr>
          <p:cNvPr id="22" name="Shape 19"/>
          <p:cNvSpPr/>
          <p:nvPr/>
        </p:nvSpPr>
        <p:spPr>
          <a:xfrm>
            <a:off x="548640" y="4672584"/>
            <a:ext cx="137160" cy="137160"/>
          </a:xfrm>
          <a:prstGeom prst="ellipse">
            <a:avLst/>
          </a:prstGeom>
          <a:solidFill>
            <a:srgbClr val="FFE600"/>
          </a:solidFill>
          <a:ln/>
        </p:spPr>
      </p:sp>
      <p:sp>
        <p:nvSpPr>
          <p:cNvPr id="23" name="Text 20"/>
          <p:cNvSpPr/>
          <p:nvPr/>
        </p:nvSpPr>
        <p:spPr>
          <a:xfrm>
            <a:off x="841248" y="4590288"/>
            <a:ext cx="4114800" cy="512064"/>
          </a:xfrm>
          <a:prstGeom prst="rect">
            <a:avLst/>
          </a:prstGeom>
          <a:noFill/>
          <a:ln/>
        </p:spPr>
        <p:txBody>
          <a:bodyPr wrap="square" lIns="0" tIns="0" rIns="0" bIns="0" rtlCol="0" anchor="t"/>
          <a:lstStyle/>
          <a:p>
            <a:pPr indent="0" marL="0">
              <a:buNone/>
            </a:pPr>
            <a:r>
              <a:rPr lang="en-US" sz="1300" dirty="0">
                <a:solidFill>
                  <a:srgbClr val="2F3136"/>
                </a:solidFill>
                <a:latin typeface="Calibri" pitchFamily="34" charset="0"/>
                <a:ea typeface="Calibri" pitchFamily="34" charset="-122"/>
                <a:cs typeface="Calibri" pitchFamily="34" charset="-120"/>
              </a:rPr>
              <a:t>Cause: the liabilities total is last year's column (N-1). Equity + liabilities = 1 661,6 M.</a:t>
            </a:r>
            <a:endParaRPr lang="en-US" sz="1300" dirty="0"/>
          </a:p>
        </p:txBody>
      </p:sp>
      <p:sp>
        <p:nvSpPr>
          <p:cNvPr id="24" name="Shape 21"/>
          <p:cNvSpPr/>
          <p:nvPr/>
        </p:nvSpPr>
        <p:spPr>
          <a:xfrm>
            <a:off x="548640" y="5257800"/>
            <a:ext cx="4389120" cy="1143000"/>
          </a:xfrm>
          <a:prstGeom prst="roundRect">
            <a:avLst>
              <a:gd name="adj" fmla="val 6400"/>
            </a:avLst>
          </a:prstGeom>
          <a:solidFill>
            <a:srgbClr val="484B54"/>
          </a:solidFill>
          <a:ln/>
        </p:spPr>
      </p:sp>
      <p:sp>
        <p:nvSpPr>
          <p:cNvPr id="25" name="Text 22"/>
          <p:cNvSpPr/>
          <p:nvPr/>
        </p:nvSpPr>
        <p:spPr>
          <a:xfrm>
            <a:off x="777240" y="5349240"/>
            <a:ext cx="4023360" cy="256032"/>
          </a:xfrm>
          <a:prstGeom prst="rect">
            <a:avLst/>
          </a:prstGeom>
          <a:noFill/>
          <a:ln/>
        </p:spPr>
        <p:txBody>
          <a:bodyPr wrap="square" lIns="0" tIns="0" rIns="0" bIns="0" rtlCol="0" anchor="ctr"/>
          <a:lstStyle/>
          <a:p>
            <a:pPr indent="0" marL="0">
              <a:buNone/>
            </a:pPr>
            <a:r>
              <a:rPr lang="en-US" sz="1050" b="1" spc="150" kern="0" dirty="0">
                <a:solidFill>
                  <a:srgbClr val="FFE600"/>
                </a:solidFill>
                <a:latin typeface="Calibri" pitchFamily="34" charset="0"/>
                <a:ea typeface="Calibri" pitchFamily="34" charset="-122"/>
                <a:cs typeface="Calibri" pitchFamily="34" charset="-120"/>
              </a:rPr>
              <a:t>THE DATA POINT · STAR · 2025</a:t>
            </a:r>
            <a:endParaRPr lang="en-US" sz="1050" dirty="0"/>
          </a:p>
        </p:txBody>
      </p:sp>
      <p:sp>
        <p:nvSpPr>
          <p:cNvPr id="26" name="Text 23"/>
          <p:cNvSpPr/>
          <p:nvPr/>
        </p:nvSpPr>
        <p:spPr>
          <a:xfrm>
            <a:off x="777240" y="5605272"/>
            <a:ext cx="4023360" cy="36576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Both sides of the balance sheet are compared</a:t>
            </a:r>
            <a:endParaRPr lang="en-US" sz="1600" dirty="0"/>
          </a:p>
        </p:txBody>
      </p:sp>
      <p:sp>
        <p:nvSpPr>
          <p:cNvPr id="27" name="Text 24"/>
          <p:cNvSpPr/>
          <p:nvPr/>
        </p:nvSpPr>
        <p:spPr>
          <a:xfrm>
            <a:off x="777240" y="5971032"/>
            <a:ext cx="4023360" cy="347472"/>
          </a:xfrm>
          <a:prstGeom prst="rect">
            <a:avLst/>
          </a:prstGeom>
          <a:noFill/>
          <a:ln/>
        </p:spPr>
        <p:txBody>
          <a:bodyPr wrap="square" lIns="0" tIns="0" rIns="0" bIns="0" rtlCol="0" anchor="ctr"/>
          <a:lstStyle/>
          <a:p>
            <a:pPr indent="0" marL="0">
              <a:buNone/>
            </a:pPr>
            <a:r>
              <a:rPr lang="en-US" sz="1600" b="1" dirty="0">
                <a:solidFill>
                  <a:srgbClr val="FFE600"/>
                </a:solidFill>
                <a:latin typeface="Calibri" pitchFamily="34" charset="0"/>
                <a:ea typeface="Calibri" pitchFamily="34" charset="-122"/>
                <a:cs typeface="Calibri" pitchFamily="34" charset="-120"/>
              </a:rPr>
              <a:t>gap of 89 777 403 TND → flagged</a:t>
            </a:r>
            <a:endParaRPr lang="en-US" sz="1600" dirty="0"/>
          </a:p>
        </p:txBody>
      </p:sp>
      <p:sp>
        <p:nvSpPr>
          <p:cNvPr id="28" name="Shape 25"/>
          <p:cNvSpPr/>
          <p:nvPr/>
        </p:nvSpPr>
        <p:spPr>
          <a:xfrm>
            <a:off x="5212080" y="3154680"/>
            <a:ext cx="6492240" cy="1768706"/>
          </a:xfrm>
          <a:prstGeom prst="rect">
            <a:avLst/>
          </a:prstGeom>
          <a:solidFill>
            <a:srgbClr val="FFFFFF"/>
          </a:solidFill>
          <a:ln w="12700">
            <a:solidFill>
              <a:srgbClr val="D3D5DB"/>
            </a:solidFill>
            <a:prstDash val="solid"/>
          </a:ln>
          <a:effectLst>
            <a:outerShdw sx="100000" sy="100000" kx="0" ky="0" algn="bl" rotWithShape="0" blurRad="76200" dist="25400" dir="5400000">
              <a:srgbClr val="000000">
                <a:alpha val="14000"/>
              </a:srgbClr>
            </a:outerShdw>
          </a:effectLst>
        </p:spPr>
      </p:sp>
      <p:pic>
        <p:nvPicPr>
          <p:cNvPr id="29" name="Image 1" descr="C:/Users/HP/Desktop/SCRAPING/docs/scratch/star/crops/p4_validate.png">    </p:cNvPr>
          <p:cNvPicPr>
            <a:picLocks noChangeAspect="1"/>
          </p:cNvPicPr>
          <p:nvPr/>
        </p:nvPicPr>
        <p:blipFill>
          <a:blip r:embed="rId2"/>
          <a:stretch>
            <a:fillRect/>
          </a:stretch>
        </p:blipFill>
        <p:spPr>
          <a:xfrm>
            <a:off x="5212080" y="3154680"/>
            <a:ext cx="6492240" cy="1768706"/>
          </a:xfrm>
          <a:prstGeom prst="rect">
            <a:avLst/>
          </a:prstGeom>
        </p:spPr>
      </p:pic>
      <p:sp>
        <p:nvSpPr>
          <p:cNvPr id="30" name="Text 26"/>
          <p:cNvSpPr/>
          <p:nvPr/>
        </p:nvSpPr>
        <p:spPr>
          <a:xfrm>
            <a:off x="5212080" y="4996538"/>
            <a:ext cx="6492240" cy="274320"/>
          </a:xfrm>
          <a:prstGeom prst="rect">
            <a:avLst/>
          </a:prstGeom>
          <a:noFill/>
          <a:ln/>
        </p:spPr>
        <p:txBody>
          <a:bodyPr wrap="square" lIns="0" tIns="0" rIns="0" bIns="0" rtlCol="0" anchor="ctr"/>
          <a:lstStyle/>
          <a:p>
            <a:pPr algn="ctr" indent="0" marL="0">
              <a:buNone/>
            </a:pPr>
            <a:r>
              <a:rPr lang="en-US" sz="1100" i="1" dirty="0">
                <a:solidFill>
                  <a:srgbClr val="8B8B90"/>
                </a:solidFill>
                <a:latin typeface="Calibri" pitchFamily="34" charset="0"/>
                <a:ea typeface="Calibri" pitchFamily="34" charset="-122"/>
                <a:cs typeface="Calibri" pitchFamily="34" charset="-120"/>
              </a:rPr>
              <a:t>Platform · Anomalie détectée — Total actif, STAR 2025</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pic>
        <p:nvPicPr>
          <p:cNvPr id="2" name="Image 0" descr="C:/Users/HP/Desktop/SCRAPING/docs/scratch/star/crops/header.png">    </p:cNvPr>
          <p:cNvPicPr>
            <a:picLocks noChangeAspect="1"/>
          </p:cNvPicPr>
          <p:nvPr/>
        </p:nvPicPr>
        <p:blipFill>
          <a:blip r:embed="rId1"/>
          <a:stretch>
            <a:fillRect/>
          </a:stretch>
        </p:blipFill>
        <p:spPr>
          <a:xfrm>
            <a:off x="0" y="0"/>
            <a:ext cx="12191695" cy="1353312"/>
          </a:xfrm>
          <a:prstGeom prst="rect">
            <a:avLst/>
          </a:prstGeom>
        </p:spPr>
      </p:pic>
      <p:sp>
        <p:nvSpPr>
          <p:cNvPr id="3" name="Text 0"/>
          <p:cNvSpPr/>
          <p:nvPr/>
        </p:nvSpPr>
        <p:spPr>
          <a:xfrm>
            <a:off x="283464" y="393192"/>
            <a:ext cx="374904" cy="347472"/>
          </a:xfrm>
          <a:prstGeom prst="rect">
            <a:avLst/>
          </a:prstGeom>
          <a:noFill/>
          <a:ln/>
        </p:spPr>
        <p:txBody>
          <a:bodyPr wrap="square" lIns="0" tIns="0" rIns="0" bIns="0" rtlCol="0" anchor="ctr"/>
          <a:lstStyle/>
          <a:p>
            <a:pPr algn="ctr" indent="0" marL="0">
              <a:buNone/>
            </a:pPr>
            <a:r>
              <a:rPr lang="en-US" sz="1200" b="1" dirty="0">
                <a:solidFill>
                  <a:srgbClr val="2F3136"/>
                </a:solidFill>
                <a:latin typeface="Arial" pitchFamily="34" charset="0"/>
                <a:ea typeface="Arial" pitchFamily="34" charset="-122"/>
                <a:cs typeface="Arial" pitchFamily="34" charset="-120"/>
              </a:rPr>
              <a:t>05</a:t>
            </a:r>
            <a:endParaRPr lang="en-US" sz="1200" dirty="0"/>
          </a:p>
        </p:txBody>
      </p:sp>
      <p:sp>
        <p:nvSpPr>
          <p:cNvPr id="4" name="Text 1"/>
          <p:cNvSpPr/>
          <p:nvPr/>
        </p:nvSpPr>
        <p:spPr>
          <a:xfrm>
            <a:off x="1627632" y="265176"/>
            <a:ext cx="4160520" cy="804672"/>
          </a:xfrm>
          <a:prstGeom prst="rect">
            <a:avLst/>
          </a:prstGeom>
          <a:noFill/>
          <a:ln/>
        </p:spPr>
        <p:txBody>
          <a:bodyPr wrap="square" lIns="0" tIns="0" rIns="0" bIns="0" rtlCol="0" anchor="ctr"/>
          <a:lstStyle/>
          <a:p>
            <a:pPr algn="ctr" indent="0" marL="0">
              <a:buNone/>
            </a:pPr>
            <a:r>
              <a:rPr lang="en-US" sz="1500" b="1" dirty="0">
                <a:solidFill>
                  <a:srgbClr val="2F3136"/>
                </a:solidFill>
                <a:latin typeface="Arial" pitchFamily="34" charset="0"/>
                <a:ea typeface="Arial" pitchFamily="34" charset="-122"/>
                <a:cs typeface="Arial" pitchFamily="34" charset="-120"/>
              </a:rPr>
              <a:t>Data &amp; AI</a:t>
            </a:r>
            <a:endParaRPr lang="en-US" sz="1500" dirty="0"/>
          </a:p>
        </p:txBody>
      </p:sp>
      <p:sp>
        <p:nvSpPr>
          <p:cNvPr id="5" name="Text 2"/>
          <p:cNvSpPr/>
          <p:nvPr/>
        </p:nvSpPr>
        <p:spPr>
          <a:xfrm>
            <a:off x="8092440" y="521208"/>
            <a:ext cx="3931920" cy="411480"/>
          </a:xfrm>
          <a:prstGeom prst="rect">
            <a:avLst/>
          </a:prstGeom>
          <a:noFill/>
          <a:ln/>
        </p:spPr>
        <p:txBody>
          <a:bodyPr wrap="square" lIns="0" tIns="0" rIns="0" bIns="0" rtlCol="0" anchor="ctr"/>
          <a:lstStyle/>
          <a:p>
            <a:pPr indent="0" marL="0">
              <a:buNone/>
            </a:pPr>
            <a:r>
              <a:rPr lang="en-US" sz="1400" b="1" dirty="0">
                <a:solidFill>
                  <a:srgbClr val="2F3136"/>
                </a:solidFill>
                <a:latin typeface="Arial" pitchFamily="34" charset="0"/>
                <a:ea typeface="Arial" pitchFamily="34" charset="-122"/>
                <a:cs typeface="Arial" pitchFamily="34" charset="-120"/>
              </a:rPr>
              <a:t>B. Pipeline stages</a:t>
            </a:r>
            <a:endParaRPr lang="en-US" sz="1400" dirty="0"/>
          </a:p>
        </p:txBody>
      </p:sp>
      <p:sp>
        <p:nvSpPr>
          <p:cNvPr id="6" name="Text 3"/>
          <p:cNvSpPr/>
          <p:nvPr/>
        </p:nvSpPr>
        <p:spPr>
          <a:xfrm>
            <a:off x="0" y="1481328"/>
            <a:ext cx="12191695" cy="502920"/>
          </a:xfrm>
          <a:prstGeom prst="rect">
            <a:avLst/>
          </a:prstGeom>
          <a:noFill/>
          <a:ln/>
        </p:spPr>
        <p:txBody>
          <a:bodyPr wrap="square" lIns="0" tIns="0" rIns="0" bIns="0" rtlCol="0" anchor="ctr"/>
          <a:lstStyle/>
          <a:p>
            <a:pPr algn="ctr" indent="0" marL="0">
              <a:buNone/>
            </a:pPr>
            <a:r>
              <a:rPr lang="en-US" sz="2200" b="1" dirty="0">
                <a:solidFill>
                  <a:srgbClr val="3A3A3A"/>
                </a:solidFill>
                <a:latin typeface="Arial" pitchFamily="34" charset="0"/>
                <a:ea typeface="Arial" pitchFamily="34" charset="-122"/>
                <a:cs typeface="Arial" pitchFamily="34" charset="-120"/>
              </a:rPr>
              <a:t>-  Data pipeline  -</a:t>
            </a:r>
            <a:endParaRPr lang="en-US" sz="2200" dirty="0"/>
          </a:p>
        </p:txBody>
      </p:sp>
      <p:sp>
        <p:nvSpPr>
          <p:cNvPr id="7" name="Shape 4"/>
          <p:cNvSpPr/>
          <p:nvPr/>
        </p:nvSpPr>
        <p:spPr>
          <a:xfrm>
            <a:off x="521208" y="2286000"/>
            <a:ext cx="2395728" cy="548640"/>
          </a:xfrm>
          <a:prstGeom prst="chevron">
            <a:avLst/>
          </a:prstGeom>
          <a:solidFill>
            <a:srgbClr val="F2F2F2"/>
          </a:solidFill>
          <a:ln/>
          <a:effectLst>
            <a:outerShdw sx="100000" sy="100000" kx="0" ky="0" algn="bl" rotWithShape="0" blurRad="76200" dist="38100" dir="2700000">
              <a:srgbClr val="000000">
                <a:alpha val="20000"/>
              </a:srgbClr>
            </a:outerShdw>
          </a:effectLst>
        </p:spPr>
      </p:sp>
      <p:sp>
        <p:nvSpPr>
          <p:cNvPr id="8" name="Text 5"/>
          <p:cNvSpPr/>
          <p:nvPr/>
        </p:nvSpPr>
        <p:spPr>
          <a:xfrm>
            <a:off x="841248"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COLLECT</a:t>
            </a:r>
            <a:endParaRPr lang="en-US" sz="1250" dirty="0"/>
          </a:p>
        </p:txBody>
      </p:sp>
      <p:sp>
        <p:nvSpPr>
          <p:cNvPr id="9" name="Shape 6"/>
          <p:cNvSpPr/>
          <p:nvPr/>
        </p:nvSpPr>
        <p:spPr>
          <a:xfrm>
            <a:off x="2688336" y="2286000"/>
            <a:ext cx="2395728" cy="548640"/>
          </a:xfrm>
          <a:prstGeom prst="chevron">
            <a:avLst/>
          </a:prstGeom>
          <a:solidFill>
            <a:srgbClr val="F2F2F2"/>
          </a:solidFill>
          <a:ln/>
          <a:effectLst>
            <a:outerShdw sx="100000" sy="100000" kx="0" ky="0" algn="bl" rotWithShape="0" blurRad="76200" dist="38100" dir="2700000">
              <a:srgbClr val="000000">
                <a:alpha val="20000"/>
              </a:srgbClr>
            </a:outerShdw>
          </a:effectLst>
        </p:spPr>
      </p:sp>
      <p:sp>
        <p:nvSpPr>
          <p:cNvPr id="10" name="Text 7"/>
          <p:cNvSpPr/>
          <p:nvPr/>
        </p:nvSpPr>
        <p:spPr>
          <a:xfrm>
            <a:off x="3008376"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EXTRACT</a:t>
            </a:r>
            <a:endParaRPr lang="en-US" sz="1250" dirty="0"/>
          </a:p>
        </p:txBody>
      </p:sp>
      <p:sp>
        <p:nvSpPr>
          <p:cNvPr id="11" name="Shape 8"/>
          <p:cNvSpPr/>
          <p:nvPr/>
        </p:nvSpPr>
        <p:spPr>
          <a:xfrm>
            <a:off x="4855464" y="2286000"/>
            <a:ext cx="2395728" cy="548640"/>
          </a:xfrm>
          <a:prstGeom prst="chevron">
            <a:avLst/>
          </a:prstGeom>
          <a:solidFill>
            <a:srgbClr val="F2F2F2"/>
          </a:solidFill>
          <a:ln/>
          <a:effectLst>
            <a:outerShdw sx="100000" sy="100000" kx="0" ky="0" algn="bl" rotWithShape="0" blurRad="76200" dist="38100" dir="2700000">
              <a:srgbClr val="000000">
                <a:alpha val="20000"/>
              </a:srgbClr>
            </a:outerShdw>
          </a:effectLst>
        </p:spPr>
      </p:sp>
      <p:sp>
        <p:nvSpPr>
          <p:cNvPr id="12" name="Text 9"/>
          <p:cNvSpPr/>
          <p:nvPr/>
        </p:nvSpPr>
        <p:spPr>
          <a:xfrm>
            <a:off x="5175504"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MODEL</a:t>
            </a:r>
            <a:endParaRPr lang="en-US" sz="1250" dirty="0"/>
          </a:p>
        </p:txBody>
      </p:sp>
      <p:sp>
        <p:nvSpPr>
          <p:cNvPr id="13" name="Shape 10"/>
          <p:cNvSpPr/>
          <p:nvPr/>
        </p:nvSpPr>
        <p:spPr>
          <a:xfrm>
            <a:off x="7022592" y="2286000"/>
            <a:ext cx="2395728" cy="548640"/>
          </a:xfrm>
          <a:prstGeom prst="chevron">
            <a:avLst/>
          </a:prstGeom>
          <a:solidFill>
            <a:srgbClr val="F2F2F2"/>
          </a:solidFill>
          <a:ln/>
          <a:effectLst>
            <a:outerShdw sx="100000" sy="100000" kx="0" ky="0" algn="bl" rotWithShape="0" blurRad="76200" dist="38100" dir="2700000">
              <a:srgbClr val="000000">
                <a:alpha val="20000"/>
              </a:srgbClr>
            </a:outerShdw>
          </a:effectLst>
        </p:spPr>
      </p:sp>
      <p:sp>
        <p:nvSpPr>
          <p:cNvPr id="14" name="Text 11"/>
          <p:cNvSpPr/>
          <p:nvPr/>
        </p:nvSpPr>
        <p:spPr>
          <a:xfrm>
            <a:off x="7342632"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VALIDATE</a:t>
            </a:r>
            <a:endParaRPr lang="en-US" sz="1250" dirty="0"/>
          </a:p>
        </p:txBody>
      </p:sp>
      <p:sp>
        <p:nvSpPr>
          <p:cNvPr id="15" name="Shape 12"/>
          <p:cNvSpPr/>
          <p:nvPr/>
        </p:nvSpPr>
        <p:spPr>
          <a:xfrm>
            <a:off x="9189720" y="2286000"/>
            <a:ext cx="2395728" cy="548640"/>
          </a:xfrm>
          <a:prstGeom prst="chevron">
            <a:avLst/>
          </a:prstGeom>
          <a:solidFill>
            <a:srgbClr val="FFE600"/>
          </a:solidFill>
          <a:ln/>
          <a:effectLst>
            <a:outerShdw sx="100000" sy="100000" kx="0" ky="0" algn="bl" rotWithShape="0" blurRad="76200" dist="38100" dir="2700000">
              <a:srgbClr val="000000">
                <a:alpha val="28000"/>
              </a:srgbClr>
            </a:outerShdw>
          </a:effectLst>
        </p:spPr>
      </p:sp>
      <p:sp>
        <p:nvSpPr>
          <p:cNvPr id="16" name="Text 13"/>
          <p:cNvSpPr/>
          <p:nvPr/>
        </p:nvSpPr>
        <p:spPr>
          <a:xfrm>
            <a:off x="9509760"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DELIVER</a:t>
            </a:r>
            <a:endParaRPr lang="en-US" sz="1250" dirty="0"/>
          </a:p>
        </p:txBody>
      </p:sp>
      <p:sp>
        <p:nvSpPr>
          <p:cNvPr id="17" name="Text 14"/>
          <p:cNvSpPr/>
          <p:nvPr/>
        </p:nvSpPr>
        <p:spPr>
          <a:xfrm>
            <a:off x="548640" y="3127248"/>
            <a:ext cx="4389120" cy="237744"/>
          </a:xfrm>
          <a:prstGeom prst="rect">
            <a:avLst/>
          </a:prstGeom>
          <a:noFill/>
          <a:ln/>
        </p:spPr>
        <p:txBody>
          <a:bodyPr wrap="square" lIns="0" tIns="0" rIns="0" bIns="0" rtlCol="0" anchor="ctr"/>
          <a:lstStyle/>
          <a:p>
            <a:pPr indent="0" marL="0">
              <a:buNone/>
            </a:pPr>
            <a:r>
              <a:rPr lang="en-US" sz="1100" b="1" spc="200" kern="0" dirty="0">
                <a:solidFill>
                  <a:srgbClr val="8B8B90"/>
                </a:solidFill>
                <a:latin typeface="Calibri" pitchFamily="34" charset="0"/>
                <a:ea typeface="Calibri" pitchFamily="34" charset="-122"/>
                <a:cs typeface="Calibri" pitchFamily="34" charset="-120"/>
              </a:rPr>
              <a:t>WHAT HAPPENS</a:t>
            </a:r>
            <a:endParaRPr lang="en-US" sz="1100" dirty="0"/>
          </a:p>
        </p:txBody>
      </p:sp>
      <p:sp>
        <p:nvSpPr>
          <p:cNvPr id="18" name="Shape 15"/>
          <p:cNvSpPr/>
          <p:nvPr/>
        </p:nvSpPr>
        <p:spPr>
          <a:xfrm>
            <a:off x="548640" y="3538728"/>
            <a:ext cx="137160" cy="137160"/>
          </a:xfrm>
          <a:prstGeom prst="ellipse">
            <a:avLst/>
          </a:prstGeom>
          <a:solidFill>
            <a:srgbClr val="FFE600"/>
          </a:solidFill>
          <a:ln/>
        </p:spPr>
      </p:sp>
      <p:sp>
        <p:nvSpPr>
          <p:cNvPr id="19" name="Text 16"/>
          <p:cNvSpPr/>
          <p:nvPr/>
        </p:nvSpPr>
        <p:spPr>
          <a:xfrm>
            <a:off x="841248" y="3456432"/>
            <a:ext cx="4114800" cy="512064"/>
          </a:xfrm>
          <a:prstGeom prst="rect">
            <a:avLst/>
          </a:prstGeom>
          <a:noFill/>
          <a:ln/>
        </p:spPr>
        <p:txBody>
          <a:bodyPr wrap="square" lIns="0" tIns="0" rIns="0" bIns="0" rtlCol="0" anchor="t"/>
          <a:lstStyle/>
          <a:p>
            <a:pPr indent="0" marL="0">
              <a:buNone/>
            </a:pPr>
            <a:r>
              <a:rPr lang="en-US" sz="1300" dirty="0">
                <a:solidFill>
                  <a:srgbClr val="2F3136"/>
                </a:solidFill>
                <a:latin typeface="Calibri" pitchFamily="34" charset="0"/>
                <a:ea typeface="Calibri" pitchFamily="34" charset="-122"/>
                <a:cs typeface="Calibri" pitchFamily="34" charset="-120"/>
              </a:rPr>
              <a:t>Verified KPIs feed the dashboards, the Excel exports and the chatbot.</a:t>
            </a:r>
            <a:endParaRPr lang="en-US" sz="1300" dirty="0"/>
          </a:p>
        </p:txBody>
      </p:sp>
      <p:sp>
        <p:nvSpPr>
          <p:cNvPr id="20" name="Shape 17"/>
          <p:cNvSpPr/>
          <p:nvPr/>
        </p:nvSpPr>
        <p:spPr>
          <a:xfrm>
            <a:off x="548640" y="4105656"/>
            <a:ext cx="137160" cy="137160"/>
          </a:xfrm>
          <a:prstGeom prst="ellipse">
            <a:avLst/>
          </a:prstGeom>
          <a:solidFill>
            <a:srgbClr val="FFE600"/>
          </a:solidFill>
          <a:ln/>
        </p:spPr>
      </p:sp>
      <p:sp>
        <p:nvSpPr>
          <p:cNvPr id="21" name="Text 18"/>
          <p:cNvSpPr/>
          <p:nvPr/>
        </p:nvSpPr>
        <p:spPr>
          <a:xfrm>
            <a:off x="841248" y="4023360"/>
            <a:ext cx="4114800" cy="512064"/>
          </a:xfrm>
          <a:prstGeom prst="rect">
            <a:avLst/>
          </a:prstGeom>
          <a:noFill/>
          <a:ln/>
        </p:spPr>
        <p:txBody>
          <a:bodyPr wrap="square" lIns="0" tIns="0" rIns="0" bIns="0" rtlCol="0" anchor="t"/>
          <a:lstStyle/>
          <a:p>
            <a:pPr indent="0" marL="0">
              <a:buNone/>
            </a:pPr>
            <a:r>
              <a:rPr lang="en-US" sz="1300" dirty="0">
                <a:solidFill>
                  <a:srgbClr val="2F3136"/>
                </a:solidFill>
                <a:latin typeface="Calibri" pitchFamily="34" charset="0"/>
                <a:ea typeface="Calibri" pitchFamily="34" charset="-122"/>
                <a:cs typeface="Calibri" pitchFamily="34" charset="-120"/>
              </a:rPr>
              <a:t>Consultants see each figure with its status and its source.</a:t>
            </a:r>
            <a:endParaRPr lang="en-US" sz="1300" dirty="0"/>
          </a:p>
        </p:txBody>
      </p:sp>
      <p:sp>
        <p:nvSpPr>
          <p:cNvPr id="22" name="Shape 19"/>
          <p:cNvSpPr/>
          <p:nvPr/>
        </p:nvSpPr>
        <p:spPr>
          <a:xfrm>
            <a:off x="548640" y="4672584"/>
            <a:ext cx="137160" cy="137160"/>
          </a:xfrm>
          <a:prstGeom prst="ellipse">
            <a:avLst/>
          </a:prstGeom>
          <a:solidFill>
            <a:srgbClr val="FFE600"/>
          </a:solidFill>
          <a:ln/>
        </p:spPr>
      </p:sp>
      <p:sp>
        <p:nvSpPr>
          <p:cNvPr id="23" name="Text 20"/>
          <p:cNvSpPr/>
          <p:nvPr/>
        </p:nvSpPr>
        <p:spPr>
          <a:xfrm>
            <a:off x="841248" y="4590288"/>
            <a:ext cx="4114800" cy="512064"/>
          </a:xfrm>
          <a:prstGeom prst="rect">
            <a:avLst/>
          </a:prstGeom>
          <a:noFill/>
          <a:ln/>
        </p:spPr>
        <p:txBody>
          <a:bodyPr wrap="square" lIns="0" tIns="0" rIns="0" bIns="0" rtlCol="0" anchor="t"/>
          <a:lstStyle/>
          <a:p>
            <a:pPr indent="0" marL="0">
              <a:buNone/>
            </a:pPr>
            <a:r>
              <a:rPr lang="en-US" sz="1300" dirty="0">
                <a:solidFill>
                  <a:srgbClr val="2F3136"/>
                </a:solidFill>
                <a:latin typeface="Calibri" pitchFamily="34" charset="0"/>
                <a:ea typeface="Calibri" pitchFamily="34" charset="-122"/>
                <a:cs typeface="Calibri" pitchFamily="34" charset="-120"/>
              </a:rPr>
              <a:t>Here: the STAR profile, tab Performance financière, year 2025.</a:t>
            </a:r>
            <a:endParaRPr lang="en-US" sz="1300" dirty="0"/>
          </a:p>
        </p:txBody>
      </p:sp>
      <p:sp>
        <p:nvSpPr>
          <p:cNvPr id="24" name="Shape 21"/>
          <p:cNvSpPr/>
          <p:nvPr/>
        </p:nvSpPr>
        <p:spPr>
          <a:xfrm>
            <a:off x="548640" y="5257800"/>
            <a:ext cx="4389120" cy="1143000"/>
          </a:xfrm>
          <a:prstGeom prst="roundRect">
            <a:avLst>
              <a:gd name="adj" fmla="val 6400"/>
            </a:avLst>
          </a:prstGeom>
          <a:solidFill>
            <a:srgbClr val="484B54"/>
          </a:solidFill>
          <a:ln/>
        </p:spPr>
      </p:sp>
      <p:sp>
        <p:nvSpPr>
          <p:cNvPr id="25" name="Text 22"/>
          <p:cNvSpPr/>
          <p:nvPr/>
        </p:nvSpPr>
        <p:spPr>
          <a:xfrm>
            <a:off x="777240" y="5349240"/>
            <a:ext cx="4023360" cy="256032"/>
          </a:xfrm>
          <a:prstGeom prst="rect">
            <a:avLst/>
          </a:prstGeom>
          <a:noFill/>
          <a:ln/>
        </p:spPr>
        <p:txBody>
          <a:bodyPr wrap="square" lIns="0" tIns="0" rIns="0" bIns="0" rtlCol="0" anchor="ctr"/>
          <a:lstStyle/>
          <a:p>
            <a:pPr indent="0" marL="0">
              <a:buNone/>
            </a:pPr>
            <a:r>
              <a:rPr lang="en-US" sz="1050" b="1" spc="150" kern="0" dirty="0">
                <a:solidFill>
                  <a:srgbClr val="FFE600"/>
                </a:solidFill>
                <a:latin typeface="Calibri" pitchFamily="34" charset="0"/>
                <a:ea typeface="Calibri" pitchFamily="34" charset="-122"/>
                <a:cs typeface="Calibri" pitchFamily="34" charset="-120"/>
              </a:rPr>
              <a:t>THE DATA POINT · STAR · 2025</a:t>
            </a:r>
            <a:endParaRPr lang="en-US" sz="1050" dirty="0"/>
          </a:p>
        </p:txBody>
      </p:sp>
      <p:sp>
        <p:nvSpPr>
          <p:cNvPr id="26" name="Text 23"/>
          <p:cNvSpPr/>
          <p:nvPr/>
        </p:nvSpPr>
        <p:spPr>
          <a:xfrm>
            <a:off x="777240" y="5605272"/>
            <a:ext cx="4023360" cy="36576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On screen: Total Actif 1661.6 M</a:t>
            </a:r>
            <a:endParaRPr lang="en-US" sz="1600" dirty="0"/>
          </a:p>
        </p:txBody>
      </p:sp>
      <p:sp>
        <p:nvSpPr>
          <p:cNvPr id="27" name="Text 24"/>
          <p:cNvSpPr/>
          <p:nvPr/>
        </p:nvSpPr>
        <p:spPr>
          <a:xfrm>
            <a:off x="777240" y="5971032"/>
            <a:ext cx="4023360" cy="347472"/>
          </a:xfrm>
          <a:prstGeom prst="rect">
            <a:avLst/>
          </a:prstGeom>
          <a:noFill/>
          <a:ln/>
        </p:spPr>
        <p:txBody>
          <a:bodyPr wrap="square" lIns="0" tIns="0" rIns="0" bIns="0" rtlCol="0" anchor="ctr"/>
          <a:lstStyle/>
          <a:p>
            <a:pPr indent="0" marL="0">
              <a:buNone/>
            </a:pPr>
            <a:r>
              <a:rPr lang="en-US" sz="1600" b="1" dirty="0">
                <a:solidFill>
                  <a:srgbClr val="FFE600"/>
                </a:solidFill>
                <a:latin typeface="Calibri" pitchFamily="34" charset="0"/>
                <a:ea typeface="Calibri" pitchFamily="34" charset="-122"/>
                <a:cs typeface="Calibri" pitchFamily="34" charset="-120"/>
              </a:rPr>
              <a:t>ROA 2.40 % · ROE 8.90 %</a:t>
            </a:r>
            <a:endParaRPr lang="en-US" sz="1600" dirty="0"/>
          </a:p>
        </p:txBody>
      </p:sp>
      <p:sp>
        <p:nvSpPr>
          <p:cNvPr id="28" name="Shape 25"/>
          <p:cNvSpPr/>
          <p:nvPr/>
        </p:nvSpPr>
        <p:spPr>
          <a:xfrm>
            <a:off x="5212080" y="3154680"/>
            <a:ext cx="6492240" cy="1698848"/>
          </a:xfrm>
          <a:prstGeom prst="rect">
            <a:avLst/>
          </a:prstGeom>
          <a:solidFill>
            <a:srgbClr val="FFFFFF"/>
          </a:solidFill>
          <a:ln w="12700">
            <a:solidFill>
              <a:srgbClr val="D3D5DB"/>
            </a:solidFill>
            <a:prstDash val="solid"/>
          </a:ln>
          <a:effectLst>
            <a:outerShdw sx="100000" sy="100000" kx="0" ky="0" algn="bl" rotWithShape="0" blurRad="76200" dist="25400" dir="5400000">
              <a:srgbClr val="000000">
                <a:alpha val="14000"/>
              </a:srgbClr>
            </a:outerShdw>
          </a:effectLst>
        </p:spPr>
      </p:sp>
      <p:pic>
        <p:nvPicPr>
          <p:cNvPr id="29" name="Image 1" descr="C:/Users/HP/Desktop/SCRAPING/docs/scratch/star/crops/p5_deliver.png">    </p:cNvPr>
          <p:cNvPicPr>
            <a:picLocks noChangeAspect="1"/>
          </p:cNvPicPr>
          <p:nvPr/>
        </p:nvPicPr>
        <p:blipFill>
          <a:blip r:embed="rId2"/>
          <a:stretch>
            <a:fillRect/>
          </a:stretch>
        </p:blipFill>
        <p:spPr>
          <a:xfrm>
            <a:off x="5212080" y="3154680"/>
            <a:ext cx="6492240" cy="1698848"/>
          </a:xfrm>
          <a:prstGeom prst="rect">
            <a:avLst/>
          </a:prstGeom>
        </p:spPr>
      </p:pic>
      <p:sp>
        <p:nvSpPr>
          <p:cNvPr id="30" name="Text 26"/>
          <p:cNvSpPr/>
          <p:nvPr/>
        </p:nvSpPr>
        <p:spPr>
          <a:xfrm>
            <a:off x="5212080" y="4926680"/>
            <a:ext cx="6492240" cy="274320"/>
          </a:xfrm>
          <a:prstGeom prst="rect">
            <a:avLst/>
          </a:prstGeom>
          <a:noFill/>
          <a:ln/>
        </p:spPr>
        <p:txBody>
          <a:bodyPr wrap="square" lIns="0" tIns="0" rIns="0" bIns="0" rtlCol="0" anchor="ctr"/>
          <a:lstStyle/>
          <a:p>
            <a:pPr algn="ctr" indent="0" marL="0">
              <a:buNone/>
            </a:pPr>
            <a:r>
              <a:rPr lang="en-US" sz="1100" i="1" dirty="0">
                <a:solidFill>
                  <a:srgbClr val="8B8B90"/>
                </a:solidFill>
                <a:latin typeface="Calibri" pitchFamily="34" charset="0"/>
                <a:ea typeface="Calibri" pitchFamily="34" charset="-122"/>
                <a:cs typeface="Calibri" pitchFamily="34" charset="-120"/>
              </a:rPr>
              <a:t>Platform · Vue par assurance — Performance financière, STAR 2025</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2026-09-21T17:21:36Z</dcterms:created>
  <dcterms:modified xsi:type="dcterms:W3CDTF">2026-09-21T17:21:36Z</dcterms:modified>
</cp:coreProperties>
</file>