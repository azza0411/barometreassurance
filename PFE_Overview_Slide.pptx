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five stages, each mapped to a CRISP-DM phase of our methodology: collect, extract, model, verify and deliver. The top row gives the real volume handled at each stage, from the live database: 212 documents collected, 49,849 cells extracted across ten table types, 10,057 KPI values computed, 7,674 accounting checks run, and three delivery channels. Under each figure you see what the stage produces: files and metadata, cells identified by table, row and column, KPIs with one single definition each, checks and an anomaly audit, and finally dashboards, Excel exports and a chatbot. The bottom row is the key idea of this section: I follow one single figure, the total assets of ASTREE for 2025, through the whole pipeline. It starts as a PDF file from the CMF, becomes a cell in the Net column, becomes the KPI total assets, stays linked to page 2 of the PDF, and finally appears as 881.1 million dinars on the Data Quality page. Every number of the platform can be followed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DATA PIPELINE &amp; AI</a:t>
            </a:r>
            <a:endParaRPr lang="en-US" sz="12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484B54"/>
                </a:solidFill>
                <a:latin typeface="Cambria" pitchFamily="34" charset="0"/>
                <a:ea typeface="Cambria" pitchFamily="34" charset="-122"/>
                <a:cs typeface="Cambria" pitchFamily="34" charset="-120"/>
              </a:rPr>
              <a:t>From Raw PDFs to Trusted KPIs</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00200"/>
            <a:ext cx="2148840" cy="731520"/>
          </a:xfrm>
          <a:prstGeom prst="homePlate">
            <a:avLst/>
          </a:prstGeom>
          <a:solidFill>
            <a:srgbClr val="484B54"/>
          </a:solidFill>
          <a:ln/>
        </p:spPr>
      </p:sp>
      <p:sp>
        <p:nvSpPr>
          <p:cNvPr id="6" name="Text 4"/>
          <p:cNvSpPr/>
          <p:nvPr/>
        </p:nvSpPr>
        <p:spPr>
          <a:xfrm>
            <a:off x="74980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Collect</a:t>
            </a:r>
            <a:endParaRPr lang="en-US" sz="1800" dirty="0"/>
          </a:p>
        </p:txBody>
      </p:sp>
      <p:sp>
        <p:nvSpPr>
          <p:cNvPr id="7" name="Text 5"/>
          <p:cNvSpPr/>
          <p:nvPr/>
        </p:nvSpPr>
        <p:spPr>
          <a:xfrm>
            <a:off x="54864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Understanding</a:t>
            </a:r>
            <a:endParaRPr lang="en-US" sz="1100" dirty="0"/>
          </a:p>
        </p:txBody>
      </p:sp>
      <p:sp>
        <p:nvSpPr>
          <p:cNvPr id="8" name="Shape 6"/>
          <p:cNvSpPr/>
          <p:nvPr/>
        </p:nvSpPr>
        <p:spPr>
          <a:xfrm>
            <a:off x="548640" y="2743200"/>
            <a:ext cx="2148840" cy="1645920"/>
          </a:xfrm>
          <a:prstGeom prst="roundRect">
            <a:avLst>
              <a:gd name="adj" fmla="val 4444"/>
            </a:avLst>
          </a:prstGeom>
          <a:solidFill>
            <a:srgbClr val="FFFFFF"/>
          </a:solidFill>
          <a:ln w="15875">
            <a:solidFill>
              <a:srgbClr val="D3D5DB"/>
            </a:solidFill>
            <a:prstDash val="solid"/>
          </a:ln>
        </p:spPr>
      </p:sp>
      <p:sp>
        <p:nvSpPr>
          <p:cNvPr id="9" name="Text 7"/>
          <p:cNvSpPr/>
          <p:nvPr/>
        </p:nvSpPr>
        <p:spPr>
          <a:xfrm>
            <a:off x="548640" y="2852928"/>
            <a:ext cx="2148840" cy="685800"/>
          </a:xfrm>
          <a:prstGeom prst="rect">
            <a:avLst/>
          </a:prstGeom>
          <a:noFill/>
          <a:ln/>
        </p:spPr>
        <p:txBody>
          <a:bodyPr wrap="square" lIns="0" tIns="0" rIns="0" bIns="0" rtlCol="0" anchor="ctr"/>
          <a:lstStyle/>
          <a:p>
            <a:pPr algn="ctr" indent="0" marL="0">
              <a:buNone/>
            </a:pPr>
            <a:r>
              <a:rPr lang="en-US" sz="3200" b="1" dirty="0">
                <a:solidFill>
                  <a:srgbClr val="484B54"/>
                </a:solidFill>
                <a:latin typeface="Cambria" pitchFamily="34" charset="0"/>
                <a:ea typeface="Cambria" pitchFamily="34" charset="-122"/>
                <a:cs typeface="Cambria" pitchFamily="34" charset="-120"/>
              </a:rPr>
              <a:t>212</a:t>
            </a:r>
            <a:endParaRPr lang="en-US" sz="3200" dirty="0"/>
          </a:p>
        </p:txBody>
      </p:sp>
      <p:sp>
        <p:nvSpPr>
          <p:cNvPr id="10" name="Text 8"/>
          <p:cNvSpPr/>
          <p:nvPr/>
        </p:nvSpPr>
        <p:spPr>
          <a:xfrm>
            <a:off x="640080" y="3547872"/>
            <a:ext cx="1965960" cy="274320"/>
          </a:xfrm>
          <a:prstGeom prst="rect">
            <a:avLst/>
          </a:prstGeom>
          <a:noFill/>
          <a:ln/>
        </p:spPr>
        <p:txBody>
          <a:bodyPr wrap="square" lIns="0" tIns="0" rIns="0" bIns="0" rtlCol="0" anchor="ctr"/>
          <a:lstStyle/>
          <a:p>
            <a:pPr algn="ctr" indent="0" marL="0">
              <a:buNone/>
            </a:pPr>
            <a:r>
              <a:rPr lang="en-US" sz="1250" b="1" dirty="0">
                <a:solidFill>
                  <a:srgbClr val="26282F"/>
                </a:solidFill>
                <a:latin typeface="Calibri" pitchFamily="34" charset="0"/>
                <a:ea typeface="Calibri" pitchFamily="34" charset="-122"/>
                <a:cs typeface="Calibri" pitchFamily="34" charset="-120"/>
              </a:rPr>
              <a:t>documents</a:t>
            </a:r>
            <a:endParaRPr lang="en-US" sz="1250" dirty="0"/>
          </a:p>
        </p:txBody>
      </p:sp>
      <p:sp>
        <p:nvSpPr>
          <p:cNvPr id="11" name="Shape 9"/>
          <p:cNvSpPr/>
          <p:nvPr/>
        </p:nvSpPr>
        <p:spPr>
          <a:xfrm>
            <a:off x="1421892" y="3886200"/>
            <a:ext cx="402336" cy="36576"/>
          </a:xfrm>
          <a:prstGeom prst="rect">
            <a:avLst/>
          </a:prstGeom>
          <a:solidFill>
            <a:srgbClr val="FFE600"/>
          </a:solidFill>
          <a:ln/>
        </p:spPr>
      </p:sp>
      <p:sp>
        <p:nvSpPr>
          <p:cNvPr id="12" name="Text 10"/>
          <p:cNvSpPr/>
          <p:nvPr/>
        </p:nvSpPr>
        <p:spPr>
          <a:xfrm>
            <a:off x="640080" y="3986784"/>
            <a:ext cx="1965960" cy="274320"/>
          </a:xfrm>
          <a:prstGeom prst="rect">
            <a:avLst/>
          </a:prstGeom>
          <a:noFill/>
          <a:ln/>
        </p:spPr>
        <p:txBody>
          <a:bodyPr wrap="square" lIns="0" tIns="0" rIns="0" bIns="0" rtlCol="0" anchor="ctr"/>
          <a:lstStyle/>
          <a:p>
            <a:pPr algn="ctr" indent="0" marL="0">
              <a:buNone/>
            </a:pPr>
            <a:r>
              <a:rPr lang="en-US" sz="1150" dirty="0">
                <a:solidFill>
                  <a:srgbClr val="5A5D66"/>
                </a:solidFill>
                <a:latin typeface="Calibri" pitchFamily="34" charset="0"/>
                <a:ea typeface="Calibri" pitchFamily="34" charset="-122"/>
                <a:cs typeface="Calibri" pitchFamily="34" charset="-120"/>
              </a:rPr>
              <a:t>PDF files and metadata</a:t>
            </a:r>
            <a:endParaRPr lang="en-US" sz="1150" dirty="0"/>
          </a:p>
        </p:txBody>
      </p:sp>
      <p:sp>
        <p:nvSpPr>
          <p:cNvPr id="13" name="Shape 11"/>
          <p:cNvSpPr/>
          <p:nvPr/>
        </p:nvSpPr>
        <p:spPr>
          <a:xfrm>
            <a:off x="2788920" y="1600200"/>
            <a:ext cx="2148840" cy="731520"/>
          </a:xfrm>
          <a:prstGeom prst="homePlate">
            <a:avLst/>
          </a:prstGeom>
          <a:solidFill>
            <a:srgbClr val="484B54"/>
          </a:solidFill>
          <a:ln/>
        </p:spPr>
      </p:sp>
      <p:sp>
        <p:nvSpPr>
          <p:cNvPr id="14" name="Text 12"/>
          <p:cNvSpPr/>
          <p:nvPr/>
        </p:nvSpPr>
        <p:spPr>
          <a:xfrm>
            <a:off x="299008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5" name="Text 13"/>
          <p:cNvSpPr/>
          <p:nvPr/>
        </p:nvSpPr>
        <p:spPr>
          <a:xfrm>
            <a:off x="278892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Data Preparation</a:t>
            </a:r>
            <a:endParaRPr lang="en-US" sz="1100" dirty="0"/>
          </a:p>
        </p:txBody>
      </p:sp>
      <p:sp>
        <p:nvSpPr>
          <p:cNvPr id="16" name="Shape 14"/>
          <p:cNvSpPr/>
          <p:nvPr/>
        </p:nvSpPr>
        <p:spPr>
          <a:xfrm>
            <a:off x="2788920" y="2743200"/>
            <a:ext cx="2148840" cy="1645920"/>
          </a:xfrm>
          <a:prstGeom prst="roundRect">
            <a:avLst>
              <a:gd name="adj" fmla="val 4444"/>
            </a:avLst>
          </a:prstGeom>
          <a:solidFill>
            <a:srgbClr val="FFFFFF"/>
          </a:solidFill>
          <a:ln w="15875">
            <a:solidFill>
              <a:srgbClr val="D3D5DB"/>
            </a:solidFill>
            <a:prstDash val="solid"/>
          </a:ln>
        </p:spPr>
      </p:sp>
      <p:sp>
        <p:nvSpPr>
          <p:cNvPr id="17" name="Text 15"/>
          <p:cNvSpPr/>
          <p:nvPr/>
        </p:nvSpPr>
        <p:spPr>
          <a:xfrm>
            <a:off x="2788920" y="2852928"/>
            <a:ext cx="2148840" cy="685800"/>
          </a:xfrm>
          <a:prstGeom prst="rect">
            <a:avLst/>
          </a:prstGeom>
          <a:noFill/>
          <a:ln/>
        </p:spPr>
        <p:txBody>
          <a:bodyPr wrap="square" lIns="0" tIns="0" rIns="0" bIns="0" rtlCol="0" anchor="ctr"/>
          <a:lstStyle/>
          <a:p>
            <a:pPr algn="ctr" indent="0" marL="0">
              <a:buNone/>
            </a:pPr>
            <a:r>
              <a:rPr lang="en-US" sz="3200" b="1" dirty="0">
                <a:solidFill>
                  <a:srgbClr val="484B54"/>
                </a:solidFill>
                <a:latin typeface="Cambria" pitchFamily="34" charset="0"/>
                <a:ea typeface="Cambria" pitchFamily="34" charset="-122"/>
                <a:cs typeface="Cambria" pitchFamily="34" charset="-120"/>
              </a:rPr>
              <a:t>49,849</a:t>
            </a:r>
            <a:endParaRPr lang="en-US" sz="3200" dirty="0"/>
          </a:p>
        </p:txBody>
      </p:sp>
      <p:sp>
        <p:nvSpPr>
          <p:cNvPr id="18" name="Text 16"/>
          <p:cNvSpPr/>
          <p:nvPr/>
        </p:nvSpPr>
        <p:spPr>
          <a:xfrm>
            <a:off x="2880360" y="3547872"/>
            <a:ext cx="1965960" cy="274320"/>
          </a:xfrm>
          <a:prstGeom prst="rect">
            <a:avLst/>
          </a:prstGeom>
          <a:noFill/>
          <a:ln/>
        </p:spPr>
        <p:txBody>
          <a:bodyPr wrap="square" lIns="0" tIns="0" rIns="0" bIns="0" rtlCol="0" anchor="ctr"/>
          <a:lstStyle/>
          <a:p>
            <a:pPr algn="ctr" indent="0" marL="0">
              <a:buNone/>
            </a:pPr>
            <a:r>
              <a:rPr lang="en-US" sz="1250" b="1" dirty="0">
                <a:solidFill>
                  <a:srgbClr val="26282F"/>
                </a:solidFill>
                <a:latin typeface="Calibri" pitchFamily="34" charset="0"/>
                <a:ea typeface="Calibri" pitchFamily="34" charset="-122"/>
                <a:cs typeface="Calibri" pitchFamily="34" charset="-120"/>
              </a:rPr>
              <a:t>cells · 10 table types</a:t>
            </a:r>
            <a:endParaRPr lang="en-US" sz="1250" dirty="0"/>
          </a:p>
        </p:txBody>
      </p:sp>
      <p:sp>
        <p:nvSpPr>
          <p:cNvPr id="19" name="Shape 17"/>
          <p:cNvSpPr/>
          <p:nvPr/>
        </p:nvSpPr>
        <p:spPr>
          <a:xfrm>
            <a:off x="3662172" y="3886200"/>
            <a:ext cx="402336" cy="36576"/>
          </a:xfrm>
          <a:prstGeom prst="rect">
            <a:avLst/>
          </a:prstGeom>
          <a:solidFill>
            <a:srgbClr val="FFE600"/>
          </a:solidFill>
          <a:ln/>
        </p:spPr>
      </p:sp>
      <p:sp>
        <p:nvSpPr>
          <p:cNvPr id="20" name="Text 18"/>
          <p:cNvSpPr/>
          <p:nvPr/>
        </p:nvSpPr>
        <p:spPr>
          <a:xfrm>
            <a:off x="2880360" y="3986784"/>
            <a:ext cx="1965960" cy="274320"/>
          </a:xfrm>
          <a:prstGeom prst="rect">
            <a:avLst/>
          </a:prstGeom>
          <a:noFill/>
          <a:ln/>
        </p:spPr>
        <p:txBody>
          <a:bodyPr wrap="square" lIns="0" tIns="0" rIns="0" bIns="0" rtlCol="0" anchor="ctr"/>
          <a:lstStyle/>
          <a:p>
            <a:pPr algn="ctr" indent="0" marL="0">
              <a:buNone/>
            </a:pPr>
            <a:r>
              <a:rPr lang="en-US" sz="1150" dirty="0">
                <a:solidFill>
                  <a:srgbClr val="5A5D66"/>
                </a:solidFill>
                <a:latin typeface="Calibri" pitchFamily="34" charset="0"/>
                <a:ea typeface="Calibri" pitchFamily="34" charset="-122"/>
                <a:cs typeface="Calibri" pitchFamily="34" charset="-120"/>
              </a:rPr>
              <a:t>table · row · column</a:t>
            </a:r>
            <a:endParaRPr lang="en-US" sz="1150" dirty="0"/>
          </a:p>
        </p:txBody>
      </p:sp>
      <p:sp>
        <p:nvSpPr>
          <p:cNvPr id="21" name="Shape 19"/>
          <p:cNvSpPr/>
          <p:nvPr/>
        </p:nvSpPr>
        <p:spPr>
          <a:xfrm>
            <a:off x="5029200" y="1600200"/>
            <a:ext cx="2148840" cy="731520"/>
          </a:xfrm>
          <a:prstGeom prst="homePlate">
            <a:avLst/>
          </a:prstGeom>
          <a:solidFill>
            <a:srgbClr val="484B54"/>
          </a:solidFill>
          <a:ln/>
        </p:spPr>
      </p:sp>
      <p:sp>
        <p:nvSpPr>
          <p:cNvPr id="22" name="Text 20"/>
          <p:cNvSpPr/>
          <p:nvPr/>
        </p:nvSpPr>
        <p:spPr>
          <a:xfrm>
            <a:off x="523036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Model</a:t>
            </a:r>
            <a:endParaRPr lang="en-US" sz="1800" dirty="0"/>
          </a:p>
        </p:txBody>
      </p:sp>
      <p:sp>
        <p:nvSpPr>
          <p:cNvPr id="23" name="Text 21"/>
          <p:cNvSpPr/>
          <p:nvPr/>
        </p:nvSpPr>
        <p:spPr>
          <a:xfrm>
            <a:off x="502920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Modeling</a:t>
            </a:r>
            <a:endParaRPr lang="en-US" sz="1100" dirty="0"/>
          </a:p>
        </p:txBody>
      </p:sp>
      <p:sp>
        <p:nvSpPr>
          <p:cNvPr id="24" name="Shape 22"/>
          <p:cNvSpPr/>
          <p:nvPr/>
        </p:nvSpPr>
        <p:spPr>
          <a:xfrm>
            <a:off x="5029200" y="2743200"/>
            <a:ext cx="2148840" cy="1645920"/>
          </a:xfrm>
          <a:prstGeom prst="roundRect">
            <a:avLst>
              <a:gd name="adj" fmla="val 4444"/>
            </a:avLst>
          </a:prstGeom>
          <a:solidFill>
            <a:srgbClr val="FFFFFF"/>
          </a:solidFill>
          <a:ln w="15875">
            <a:solidFill>
              <a:srgbClr val="D3D5DB"/>
            </a:solidFill>
            <a:prstDash val="solid"/>
          </a:ln>
        </p:spPr>
      </p:sp>
      <p:sp>
        <p:nvSpPr>
          <p:cNvPr id="25" name="Text 23"/>
          <p:cNvSpPr/>
          <p:nvPr/>
        </p:nvSpPr>
        <p:spPr>
          <a:xfrm>
            <a:off x="5029200" y="2852928"/>
            <a:ext cx="2148840" cy="685800"/>
          </a:xfrm>
          <a:prstGeom prst="rect">
            <a:avLst/>
          </a:prstGeom>
          <a:noFill/>
          <a:ln/>
        </p:spPr>
        <p:txBody>
          <a:bodyPr wrap="square" lIns="0" tIns="0" rIns="0" bIns="0" rtlCol="0" anchor="ctr"/>
          <a:lstStyle/>
          <a:p>
            <a:pPr algn="ctr" indent="0" marL="0">
              <a:buNone/>
            </a:pPr>
            <a:r>
              <a:rPr lang="en-US" sz="3200" b="1" dirty="0">
                <a:solidFill>
                  <a:srgbClr val="484B54"/>
                </a:solidFill>
                <a:latin typeface="Cambria" pitchFamily="34" charset="0"/>
                <a:ea typeface="Cambria" pitchFamily="34" charset="-122"/>
                <a:cs typeface="Cambria" pitchFamily="34" charset="-120"/>
              </a:rPr>
              <a:t>10,057</a:t>
            </a:r>
            <a:endParaRPr lang="en-US" sz="3200" dirty="0"/>
          </a:p>
        </p:txBody>
      </p:sp>
      <p:sp>
        <p:nvSpPr>
          <p:cNvPr id="26" name="Text 24"/>
          <p:cNvSpPr/>
          <p:nvPr/>
        </p:nvSpPr>
        <p:spPr>
          <a:xfrm>
            <a:off x="5120640" y="3547872"/>
            <a:ext cx="1965960" cy="274320"/>
          </a:xfrm>
          <a:prstGeom prst="rect">
            <a:avLst/>
          </a:prstGeom>
          <a:noFill/>
          <a:ln/>
        </p:spPr>
        <p:txBody>
          <a:bodyPr wrap="square" lIns="0" tIns="0" rIns="0" bIns="0" rtlCol="0" anchor="ctr"/>
          <a:lstStyle/>
          <a:p>
            <a:pPr algn="ctr" indent="0" marL="0">
              <a:buNone/>
            </a:pPr>
            <a:r>
              <a:rPr lang="en-US" sz="1250" b="1" dirty="0">
                <a:solidFill>
                  <a:srgbClr val="26282F"/>
                </a:solidFill>
                <a:latin typeface="Calibri" pitchFamily="34" charset="0"/>
                <a:ea typeface="Calibri" pitchFamily="34" charset="-122"/>
                <a:cs typeface="Calibri" pitchFamily="34" charset="-120"/>
              </a:rPr>
              <a:t>KPI values</a:t>
            </a:r>
            <a:endParaRPr lang="en-US" sz="1250" dirty="0"/>
          </a:p>
        </p:txBody>
      </p:sp>
      <p:sp>
        <p:nvSpPr>
          <p:cNvPr id="27" name="Shape 25"/>
          <p:cNvSpPr/>
          <p:nvPr/>
        </p:nvSpPr>
        <p:spPr>
          <a:xfrm>
            <a:off x="5902452" y="3886200"/>
            <a:ext cx="402336" cy="36576"/>
          </a:xfrm>
          <a:prstGeom prst="rect">
            <a:avLst/>
          </a:prstGeom>
          <a:solidFill>
            <a:srgbClr val="FFE600"/>
          </a:solidFill>
          <a:ln/>
        </p:spPr>
      </p:sp>
      <p:sp>
        <p:nvSpPr>
          <p:cNvPr id="28" name="Text 26"/>
          <p:cNvSpPr/>
          <p:nvPr/>
        </p:nvSpPr>
        <p:spPr>
          <a:xfrm>
            <a:off x="5120640" y="3986784"/>
            <a:ext cx="1965960" cy="274320"/>
          </a:xfrm>
          <a:prstGeom prst="rect">
            <a:avLst/>
          </a:prstGeom>
          <a:noFill/>
          <a:ln/>
        </p:spPr>
        <p:txBody>
          <a:bodyPr wrap="square" lIns="0" tIns="0" rIns="0" bIns="0" rtlCol="0" anchor="ctr"/>
          <a:lstStyle/>
          <a:p>
            <a:pPr algn="ctr" indent="0" marL="0">
              <a:buNone/>
            </a:pPr>
            <a:r>
              <a:rPr lang="en-US" sz="1150" dirty="0">
                <a:solidFill>
                  <a:srgbClr val="5A5D66"/>
                </a:solidFill>
                <a:latin typeface="Calibri" pitchFamily="34" charset="0"/>
                <a:ea typeface="Calibri" pitchFamily="34" charset="-122"/>
                <a:cs typeface="Calibri" pitchFamily="34" charset="-120"/>
              </a:rPr>
              <a:t>one definition per KPI</a:t>
            </a:r>
            <a:endParaRPr lang="en-US" sz="1150" dirty="0"/>
          </a:p>
        </p:txBody>
      </p:sp>
      <p:sp>
        <p:nvSpPr>
          <p:cNvPr id="29" name="Shape 27"/>
          <p:cNvSpPr/>
          <p:nvPr/>
        </p:nvSpPr>
        <p:spPr>
          <a:xfrm>
            <a:off x="7269480" y="1600200"/>
            <a:ext cx="2148840" cy="731520"/>
          </a:xfrm>
          <a:prstGeom prst="homePlate">
            <a:avLst/>
          </a:prstGeom>
          <a:solidFill>
            <a:srgbClr val="484B54"/>
          </a:solidFill>
          <a:ln/>
        </p:spPr>
      </p:sp>
      <p:sp>
        <p:nvSpPr>
          <p:cNvPr id="30" name="Text 28"/>
          <p:cNvSpPr/>
          <p:nvPr/>
        </p:nvSpPr>
        <p:spPr>
          <a:xfrm>
            <a:off x="7470648" y="1600200"/>
            <a:ext cx="1645920" cy="7315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31" name="Text 29"/>
          <p:cNvSpPr/>
          <p:nvPr/>
        </p:nvSpPr>
        <p:spPr>
          <a:xfrm>
            <a:off x="726948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Evaluation</a:t>
            </a:r>
            <a:endParaRPr lang="en-US" sz="1100" dirty="0"/>
          </a:p>
        </p:txBody>
      </p:sp>
      <p:sp>
        <p:nvSpPr>
          <p:cNvPr id="32" name="Shape 30"/>
          <p:cNvSpPr/>
          <p:nvPr/>
        </p:nvSpPr>
        <p:spPr>
          <a:xfrm>
            <a:off x="7269480" y="2743200"/>
            <a:ext cx="2148840" cy="1645920"/>
          </a:xfrm>
          <a:prstGeom prst="roundRect">
            <a:avLst>
              <a:gd name="adj" fmla="val 4444"/>
            </a:avLst>
          </a:prstGeom>
          <a:solidFill>
            <a:srgbClr val="FFFFFF"/>
          </a:solidFill>
          <a:ln w="15875">
            <a:solidFill>
              <a:srgbClr val="D3D5DB"/>
            </a:solidFill>
            <a:prstDash val="solid"/>
          </a:ln>
        </p:spPr>
      </p:sp>
      <p:sp>
        <p:nvSpPr>
          <p:cNvPr id="33" name="Text 31"/>
          <p:cNvSpPr/>
          <p:nvPr/>
        </p:nvSpPr>
        <p:spPr>
          <a:xfrm>
            <a:off x="7269480" y="2852928"/>
            <a:ext cx="2148840" cy="685800"/>
          </a:xfrm>
          <a:prstGeom prst="rect">
            <a:avLst/>
          </a:prstGeom>
          <a:noFill/>
          <a:ln/>
        </p:spPr>
        <p:txBody>
          <a:bodyPr wrap="square" lIns="0" tIns="0" rIns="0" bIns="0" rtlCol="0" anchor="ctr"/>
          <a:lstStyle/>
          <a:p>
            <a:pPr algn="ctr" indent="0" marL="0">
              <a:buNone/>
            </a:pPr>
            <a:r>
              <a:rPr lang="en-US" sz="3200" b="1" dirty="0">
                <a:solidFill>
                  <a:srgbClr val="484B54"/>
                </a:solidFill>
                <a:latin typeface="Cambria" pitchFamily="34" charset="0"/>
                <a:ea typeface="Cambria" pitchFamily="34" charset="-122"/>
                <a:cs typeface="Cambria" pitchFamily="34" charset="-120"/>
              </a:rPr>
              <a:t>7,674</a:t>
            </a:r>
            <a:endParaRPr lang="en-US" sz="3200" dirty="0"/>
          </a:p>
        </p:txBody>
      </p:sp>
      <p:sp>
        <p:nvSpPr>
          <p:cNvPr id="34" name="Text 32"/>
          <p:cNvSpPr/>
          <p:nvPr/>
        </p:nvSpPr>
        <p:spPr>
          <a:xfrm>
            <a:off x="7360920" y="3547872"/>
            <a:ext cx="1965960" cy="274320"/>
          </a:xfrm>
          <a:prstGeom prst="rect">
            <a:avLst/>
          </a:prstGeom>
          <a:noFill/>
          <a:ln/>
        </p:spPr>
        <p:txBody>
          <a:bodyPr wrap="square" lIns="0" tIns="0" rIns="0" bIns="0" rtlCol="0" anchor="ctr"/>
          <a:lstStyle/>
          <a:p>
            <a:pPr algn="ctr" indent="0" marL="0">
              <a:buNone/>
            </a:pPr>
            <a:r>
              <a:rPr lang="en-US" sz="1250" b="1" dirty="0">
                <a:solidFill>
                  <a:srgbClr val="26282F"/>
                </a:solidFill>
                <a:latin typeface="Calibri" pitchFamily="34" charset="0"/>
                <a:ea typeface="Calibri" pitchFamily="34" charset="-122"/>
                <a:cs typeface="Calibri" pitchFamily="34" charset="-120"/>
              </a:rPr>
              <a:t>accounting checks</a:t>
            </a:r>
            <a:endParaRPr lang="en-US" sz="1250" dirty="0"/>
          </a:p>
        </p:txBody>
      </p:sp>
      <p:sp>
        <p:nvSpPr>
          <p:cNvPr id="35" name="Shape 33"/>
          <p:cNvSpPr/>
          <p:nvPr/>
        </p:nvSpPr>
        <p:spPr>
          <a:xfrm>
            <a:off x="8142732" y="3886200"/>
            <a:ext cx="402336" cy="36576"/>
          </a:xfrm>
          <a:prstGeom prst="rect">
            <a:avLst/>
          </a:prstGeom>
          <a:solidFill>
            <a:srgbClr val="FFE600"/>
          </a:solidFill>
          <a:ln/>
        </p:spPr>
      </p:sp>
      <p:sp>
        <p:nvSpPr>
          <p:cNvPr id="36" name="Text 34"/>
          <p:cNvSpPr/>
          <p:nvPr/>
        </p:nvSpPr>
        <p:spPr>
          <a:xfrm>
            <a:off x="7360920" y="3986784"/>
            <a:ext cx="1965960" cy="274320"/>
          </a:xfrm>
          <a:prstGeom prst="rect">
            <a:avLst/>
          </a:prstGeom>
          <a:noFill/>
          <a:ln/>
        </p:spPr>
        <p:txBody>
          <a:bodyPr wrap="square" lIns="0" tIns="0" rIns="0" bIns="0" rtlCol="0" anchor="ctr"/>
          <a:lstStyle/>
          <a:p>
            <a:pPr algn="ctr" indent="0" marL="0">
              <a:buNone/>
            </a:pPr>
            <a:r>
              <a:rPr lang="en-US" sz="1150" dirty="0">
                <a:solidFill>
                  <a:srgbClr val="5A5D66"/>
                </a:solidFill>
                <a:latin typeface="Calibri" pitchFamily="34" charset="0"/>
                <a:ea typeface="Calibri" pitchFamily="34" charset="-122"/>
                <a:cs typeface="Calibri" pitchFamily="34" charset="-120"/>
              </a:rPr>
              <a:t>+ anomaly audit</a:t>
            </a:r>
            <a:endParaRPr lang="en-US" sz="1150" dirty="0"/>
          </a:p>
        </p:txBody>
      </p:sp>
      <p:sp>
        <p:nvSpPr>
          <p:cNvPr id="37" name="Shape 35"/>
          <p:cNvSpPr/>
          <p:nvPr/>
        </p:nvSpPr>
        <p:spPr>
          <a:xfrm>
            <a:off x="9509760" y="1600200"/>
            <a:ext cx="2148840" cy="731520"/>
          </a:xfrm>
          <a:prstGeom prst="homePlate">
            <a:avLst/>
          </a:prstGeom>
          <a:solidFill>
            <a:srgbClr val="FFE600"/>
          </a:solidFill>
          <a:ln/>
        </p:spPr>
      </p:sp>
      <p:sp>
        <p:nvSpPr>
          <p:cNvPr id="38" name="Text 36"/>
          <p:cNvSpPr/>
          <p:nvPr/>
        </p:nvSpPr>
        <p:spPr>
          <a:xfrm>
            <a:off x="9710928" y="1600200"/>
            <a:ext cx="1645920" cy="731520"/>
          </a:xfrm>
          <a:prstGeom prst="rect">
            <a:avLst/>
          </a:prstGeom>
          <a:noFill/>
          <a:ln/>
        </p:spPr>
        <p:txBody>
          <a:bodyPr wrap="square" lIns="0" tIns="0" rIns="0" bIns="0" rtlCol="0" anchor="ctr"/>
          <a:lstStyle/>
          <a:p>
            <a:pPr indent="0" marL="0">
              <a:buNone/>
            </a:pPr>
            <a:r>
              <a:rPr lang="en-US" sz="1800" b="1" dirty="0">
                <a:solidFill>
                  <a:srgbClr val="484B54"/>
                </a:solidFill>
                <a:latin typeface="Cambria" pitchFamily="34" charset="0"/>
                <a:ea typeface="Cambria" pitchFamily="34" charset="-122"/>
                <a:cs typeface="Cambria" pitchFamily="34" charset="-120"/>
              </a:rPr>
              <a:t>Deliver</a:t>
            </a:r>
            <a:endParaRPr lang="en-US" sz="1800" dirty="0"/>
          </a:p>
        </p:txBody>
      </p:sp>
      <p:sp>
        <p:nvSpPr>
          <p:cNvPr id="39" name="Text 37"/>
          <p:cNvSpPr/>
          <p:nvPr/>
        </p:nvSpPr>
        <p:spPr>
          <a:xfrm>
            <a:off x="9509760" y="2395728"/>
            <a:ext cx="2148840" cy="237744"/>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Deployment</a:t>
            </a:r>
            <a:endParaRPr lang="en-US" sz="1100" dirty="0"/>
          </a:p>
        </p:txBody>
      </p:sp>
      <p:sp>
        <p:nvSpPr>
          <p:cNvPr id="40" name="Shape 38"/>
          <p:cNvSpPr/>
          <p:nvPr/>
        </p:nvSpPr>
        <p:spPr>
          <a:xfrm>
            <a:off x="9509760" y="2743200"/>
            <a:ext cx="2148840" cy="1645920"/>
          </a:xfrm>
          <a:prstGeom prst="roundRect">
            <a:avLst>
              <a:gd name="adj" fmla="val 4444"/>
            </a:avLst>
          </a:prstGeom>
          <a:solidFill>
            <a:srgbClr val="FFFFFF"/>
          </a:solidFill>
          <a:ln w="15875">
            <a:solidFill>
              <a:srgbClr val="D3D5DB"/>
            </a:solidFill>
            <a:prstDash val="solid"/>
          </a:ln>
        </p:spPr>
      </p:sp>
      <p:sp>
        <p:nvSpPr>
          <p:cNvPr id="41" name="Text 39"/>
          <p:cNvSpPr/>
          <p:nvPr/>
        </p:nvSpPr>
        <p:spPr>
          <a:xfrm>
            <a:off x="9509760" y="2852928"/>
            <a:ext cx="2148840" cy="685800"/>
          </a:xfrm>
          <a:prstGeom prst="rect">
            <a:avLst/>
          </a:prstGeom>
          <a:noFill/>
          <a:ln/>
        </p:spPr>
        <p:txBody>
          <a:bodyPr wrap="square" lIns="0" tIns="0" rIns="0" bIns="0" rtlCol="0" anchor="ctr"/>
          <a:lstStyle/>
          <a:p>
            <a:pPr algn="ctr" indent="0" marL="0">
              <a:buNone/>
            </a:pPr>
            <a:r>
              <a:rPr lang="en-US" sz="3200" b="1" dirty="0">
                <a:solidFill>
                  <a:srgbClr val="484B54"/>
                </a:solidFill>
                <a:latin typeface="Cambria" pitchFamily="34" charset="0"/>
                <a:ea typeface="Cambria" pitchFamily="34" charset="-122"/>
                <a:cs typeface="Cambria" pitchFamily="34" charset="-120"/>
              </a:rPr>
              <a:t>3</a:t>
            </a:r>
            <a:endParaRPr lang="en-US" sz="3200" dirty="0"/>
          </a:p>
        </p:txBody>
      </p:sp>
      <p:sp>
        <p:nvSpPr>
          <p:cNvPr id="42" name="Text 40"/>
          <p:cNvSpPr/>
          <p:nvPr/>
        </p:nvSpPr>
        <p:spPr>
          <a:xfrm>
            <a:off x="9601200" y="3547872"/>
            <a:ext cx="1965960" cy="274320"/>
          </a:xfrm>
          <a:prstGeom prst="rect">
            <a:avLst/>
          </a:prstGeom>
          <a:noFill/>
          <a:ln/>
        </p:spPr>
        <p:txBody>
          <a:bodyPr wrap="square" lIns="0" tIns="0" rIns="0" bIns="0" rtlCol="0" anchor="ctr"/>
          <a:lstStyle/>
          <a:p>
            <a:pPr algn="ctr" indent="0" marL="0">
              <a:buNone/>
            </a:pPr>
            <a:r>
              <a:rPr lang="en-US" sz="1250" b="1" dirty="0">
                <a:solidFill>
                  <a:srgbClr val="26282F"/>
                </a:solidFill>
                <a:latin typeface="Calibri" pitchFamily="34" charset="0"/>
                <a:ea typeface="Calibri" pitchFamily="34" charset="-122"/>
                <a:cs typeface="Calibri" pitchFamily="34" charset="-120"/>
              </a:rPr>
              <a:t>channels</a:t>
            </a:r>
            <a:endParaRPr lang="en-US" sz="1250" dirty="0"/>
          </a:p>
        </p:txBody>
      </p:sp>
      <p:sp>
        <p:nvSpPr>
          <p:cNvPr id="43" name="Shape 41"/>
          <p:cNvSpPr/>
          <p:nvPr/>
        </p:nvSpPr>
        <p:spPr>
          <a:xfrm>
            <a:off x="10383012" y="3886200"/>
            <a:ext cx="402336" cy="36576"/>
          </a:xfrm>
          <a:prstGeom prst="rect">
            <a:avLst/>
          </a:prstGeom>
          <a:solidFill>
            <a:srgbClr val="FFE600"/>
          </a:solidFill>
          <a:ln/>
        </p:spPr>
      </p:sp>
      <p:sp>
        <p:nvSpPr>
          <p:cNvPr id="44" name="Text 42"/>
          <p:cNvSpPr/>
          <p:nvPr/>
        </p:nvSpPr>
        <p:spPr>
          <a:xfrm>
            <a:off x="9601200" y="3986784"/>
            <a:ext cx="1965960" cy="274320"/>
          </a:xfrm>
          <a:prstGeom prst="rect">
            <a:avLst/>
          </a:prstGeom>
          <a:noFill/>
          <a:ln/>
        </p:spPr>
        <p:txBody>
          <a:bodyPr wrap="square" lIns="0" tIns="0" rIns="0" bIns="0" rtlCol="0" anchor="ctr"/>
          <a:lstStyle/>
          <a:p>
            <a:pPr algn="ctr" indent="0" marL="0">
              <a:buNone/>
            </a:pPr>
            <a:r>
              <a:rPr lang="en-US" sz="1150" dirty="0">
                <a:solidFill>
                  <a:srgbClr val="5A5D66"/>
                </a:solidFill>
                <a:latin typeface="Calibri" pitchFamily="34" charset="0"/>
                <a:ea typeface="Calibri" pitchFamily="34" charset="-122"/>
                <a:cs typeface="Calibri" pitchFamily="34" charset="-120"/>
              </a:rPr>
              <a:t>dashboards · Excel · chatbot</a:t>
            </a:r>
            <a:endParaRPr lang="en-US" sz="1150" dirty="0"/>
          </a:p>
        </p:txBody>
      </p:sp>
      <p:sp>
        <p:nvSpPr>
          <p:cNvPr id="45" name="Text 43"/>
          <p:cNvSpPr/>
          <p:nvPr/>
        </p:nvSpPr>
        <p:spPr>
          <a:xfrm>
            <a:off x="548640" y="4681728"/>
            <a:ext cx="11064240" cy="256032"/>
          </a:xfrm>
          <a:prstGeom prst="rect">
            <a:avLst/>
          </a:prstGeom>
          <a:noFill/>
          <a:ln/>
        </p:spPr>
        <p:txBody>
          <a:bodyPr wrap="square" lIns="0" tIns="0" rIns="0" bIns="0" rtlCol="0" anchor="ctr"/>
          <a:lstStyle/>
          <a:p>
            <a:pPr indent="0" marL="0">
              <a:buNone/>
            </a:pPr>
            <a:r>
              <a:rPr lang="en-US" sz="1100" b="1" spc="150" kern="0" dirty="0">
                <a:solidFill>
                  <a:srgbClr val="484B54"/>
                </a:solidFill>
                <a:latin typeface="Calibri" pitchFamily="34" charset="0"/>
                <a:ea typeface="Calibri" pitchFamily="34" charset="-122"/>
                <a:cs typeface="Calibri" pitchFamily="34" charset="-120"/>
              </a:rPr>
              <a:t>ONE FIGURE, FOLLOWED END TO END  ·  ASTREE · TOTAL ASSETS · 2025</a:t>
            </a:r>
            <a:endParaRPr lang="en-US" sz="1100" dirty="0"/>
          </a:p>
        </p:txBody>
      </p:sp>
      <p:sp>
        <p:nvSpPr>
          <p:cNvPr id="46" name="Shape 44"/>
          <p:cNvSpPr/>
          <p:nvPr/>
        </p:nvSpPr>
        <p:spPr>
          <a:xfrm>
            <a:off x="548640" y="5029200"/>
            <a:ext cx="2148840" cy="868680"/>
          </a:xfrm>
          <a:prstGeom prst="roundRect">
            <a:avLst>
              <a:gd name="adj" fmla="val 8421"/>
            </a:avLst>
          </a:prstGeom>
          <a:solidFill>
            <a:srgbClr val="484B54"/>
          </a:solidFill>
          <a:ln/>
        </p:spPr>
      </p:sp>
      <p:sp>
        <p:nvSpPr>
          <p:cNvPr id="47" name="Text 45"/>
          <p:cNvSpPr/>
          <p:nvPr/>
        </p:nvSpPr>
        <p:spPr>
          <a:xfrm>
            <a:off x="640080" y="5029200"/>
            <a:ext cx="196596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astree_efd311225.pdf</a:t>
            </a:r>
            <a:endParaRPr lang="en-US" sz="1400" dirty="0"/>
          </a:p>
          <a:p>
            <a:pPr algn="ctr" indent="0" marL="0">
              <a:buNone/>
            </a:pPr>
            <a:r>
              <a:rPr lang="en-US" sz="1100" dirty="0">
                <a:solidFill>
                  <a:srgbClr val="D5D7DC"/>
                </a:solidFill>
                <a:latin typeface="Calibri" pitchFamily="34" charset="0"/>
                <a:ea typeface="Calibri" pitchFamily="34" charset="-122"/>
                <a:cs typeface="Calibri" pitchFamily="34" charset="-120"/>
              </a:rPr>
              <a:t>CMF report · document #62</a:t>
            </a:r>
            <a:endParaRPr lang="en-US" sz="1400" dirty="0"/>
          </a:p>
        </p:txBody>
      </p:sp>
      <p:sp>
        <p:nvSpPr>
          <p:cNvPr id="48" name="Shape 46"/>
          <p:cNvSpPr/>
          <p:nvPr/>
        </p:nvSpPr>
        <p:spPr>
          <a:xfrm>
            <a:off x="2706624" y="5463540"/>
            <a:ext cx="73152" cy="9144"/>
          </a:xfrm>
          <a:prstGeom prst="line">
            <a:avLst/>
          </a:prstGeom>
          <a:noFill/>
          <a:ln w="28575">
            <a:solidFill>
              <a:srgbClr val="FFE600"/>
            </a:solidFill>
            <a:prstDash val="solid"/>
            <a:tailEnd type="triangle"/>
          </a:ln>
        </p:spPr>
      </p:sp>
      <p:sp>
        <p:nvSpPr>
          <p:cNvPr id="49" name="Shape 47"/>
          <p:cNvSpPr/>
          <p:nvPr/>
        </p:nvSpPr>
        <p:spPr>
          <a:xfrm>
            <a:off x="2788920" y="5029200"/>
            <a:ext cx="2148840" cy="868680"/>
          </a:xfrm>
          <a:prstGeom prst="roundRect">
            <a:avLst>
              <a:gd name="adj" fmla="val 8421"/>
            </a:avLst>
          </a:prstGeom>
          <a:solidFill>
            <a:srgbClr val="484B54"/>
          </a:solidFill>
          <a:ln/>
        </p:spPr>
      </p:sp>
      <p:sp>
        <p:nvSpPr>
          <p:cNvPr id="50" name="Text 48"/>
          <p:cNvSpPr/>
          <p:nvPr/>
        </p:nvSpPr>
        <p:spPr>
          <a:xfrm>
            <a:off x="2880360" y="5029200"/>
            <a:ext cx="1965960" cy="868680"/>
          </a:xfrm>
          <a:prstGeom prst="rect">
            <a:avLst/>
          </a:prstGeom>
          <a:noFill/>
          <a:ln/>
        </p:spPr>
        <p:txBody>
          <a:bodyPr wrap="square" lIns="0" tIns="0" rIns="0" bIns="0" rtlCol="0" anchor="ctr"/>
          <a:lstStyle/>
          <a:p>
            <a:pPr algn="ctr" indent="0" marL="0">
              <a:buNone/>
            </a:pPr>
            <a:r>
              <a:rPr lang="en-US" sz="1400" b="1" dirty="0">
                <a:solidFill>
                  <a:srgbClr val="FFE600"/>
                </a:solidFill>
                <a:latin typeface="Calibri" pitchFamily="34" charset="0"/>
                <a:ea typeface="Calibri" pitchFamily="34" charset="-122"/>
                <a:cs typeface="Calibri" pitchFamily="34" charset="-120"/>
              </a:rPr>
              <a:t>881,075,424</a:t>
            </a:r>
            <a:endParaRPr lang="en-US" sz="1400" dirty="0"/>
          </a:p>
          <a:p>
            <a:pPr algn="ctr" indent="0" marL="0">
              <a:buNone/>
            </a:pPr>
            <a:r>
              <a:rPr lang="en-US" sz="1100" dirty="0">
                <a:solidFill>
                  <a:srgbClr val="D5D7DC"/>
                </a:solidFill>
                <a:latin typeface="Calibri" pitchFamily="34" charset="0"/>
                <a:ea typeface="Calibri" pitchFamily="34" charset="-122"/>
                <a:cs typeface="Calibri" pitchFamily="34" charset="-120"/>
              </a:rPr>
              <a:t>cell · column Net</a:t>
            </a:r>
            <a:endParaRPr lang="en-US" sz="1400" dirty="0"/>
          </a:p>
        </p:txBody>
      </p:sp>
      <p:sp>
        <p:nvSpPr>
          <p:cNvPr id="51" name="Shape 49"/>
          <p:cNvSpPr/>
          <p:nvPr/>
        </p:nvSpPr>
        <p:spPr>
          <a:xfrm>
            <a:off x="4946904" y="5463540"/>
            <a:ext cx="73152" cy="9144"/>
          </a:xfrm>
          <a:prstGeom prst="line">
            <a:avLst/>
          </a:prstGeom>
          <a:noFill/>
          <a:ln w="28575">
            <a:solidFill>
              <a:srgbClr val="FFE600"/>
            </a:solidFill>
            <a:prstDash val="solid"/>
            <a:tailEnd type="triangle"/>
          </a:ln>
        </p:spPr>
      </p:sp>
      <p:sp>
        <p:nvSpPr>
          <p:cNvPr id="52" name="Shape 50"/>
          <p:cNvSpPr/>
          <p:nvPr/>
        </p:nvSpPr>
        <p:spPr>
          <a:xfrm>
            <a:off x="5029200" y="5029200"/>
            <a:ext cx="2148840" cy="868680"/>
          </a:xfrm>
          <a:prstGeom prst="roundRect">
            <a:avLst>
              <a:gd name="adj" fmla="val 8421"/>
            </a:avLst>
          </a:prstGeom>
          <a:solidFill>
            <a:srgbClr val="484B54"/>
          </a:solidFill>
          <a:ln/>
        </p:spPr>
      </p:sp>
      <p:sp>
        <p:nvSpPr>
          <p:cNvPr id="53" name="Text 51"/>
          <p:cNvSpPr/>
          <p:nvPr/>
        </p:nvSpPr>
        <p:spPr>
          <a:xfrm>
            <a:off x="5120640" y="5029200"/>
            <a:ext cx="1965960" cy="868680"/>
          </a:xfrm>
          <a:prstGeom prst="rect">
            <a:avLst/>
          </a:prstGeom>
          <a:noFill/>
          <a:ln/>
        </p:spPr>
        <p:txBody>
          <a:bodyPr wrap="square" lIns="0" tIns="0" rIns="0" bIns="0" rtlCol="0" anchor="ctr"/>
          <a:lstStyle/>
          <a:p>
            <a:pPr algn="ctr" indent="0" marL="0">
              <a:buNone/>
            </a:pPr>
            <a:r>
              <a:rPr lang="en-US" sz="1400" b="1" dirty="0">
                <a:solidFill>
                  <a:srgbClr val="FFE600"/>
                </a:solidFill>
                <a:latin typeface="Calibri" pitchFamily="34" charset="0"/>
                <a:ea typeface="Calibri" pitchFamily="34" charset="-122"/>
                <a:cs typeface="Calibri" pitchFamily="34" charset="-120"/>
              </a:rPr>
              <a:t>Total assets</a:t>
            </a:r>
            <a:endParaRPr lang="en-US" sz="1400" dirty="0"/>
          </a:p>
          <a:p>
            <a:pPr algn="ctr" indent="0" marL="0">
              <a:buNone/>
            </a:pPr>
            <a:r>
              <a:rPr lang="en-US" sz="1100" dirty="0">
                <a:solidFill>
                  <a:srgbClr val="D5D7DC"/>
                </a:solidFill>
                <a:latin typeface="Calibri" pitchFamily="34" charset="0"/>
                <a:ea typeface="Calibri" pitchFamily="34" charset="-122"/>
                <a:cs typeface="Calibri" pitchFamily="34" charset="-120"/>
              </a:rPr>
              <a:t>881,075,424 TND</a:t>
            </a:r>
            <a:endParaRPr lang="en-US" sz="1400" dirty="0"/>
          </a:p>
        </p:txBody>
      </p:sp>
      <p:sp>
        <p:nvSpPr>
          <p:cNvPr id="54" name="Shape 52"/>
          <p:cNvSpPr/>
          <p:nvPr/>
        </p:nvSpPr>
        <p:spPr>
          <a:xfrm>
            <a:off x="7187184" y="5463540"/>
            <a:ext cx="73152" cy="9144"/>
          </a:xfrm>
          <a:prstGeom prst="line">
            <a:avLst/>
          </a:prstGeom>
          <a:noFill/>
          <a:ln w="28575">
            <a:solidFill>
              <a:srgbClr val="FFE600"/>
            </a:solidFill>
            <a:prstDash val="solid"/>
            <a:tailEnd type="triangle"/>
          </a:ln>
        </p:spPr>
      </p:sp>
      <p:sp>
        <p:nvSpPr>
          <p:cNvPr id="55" name="Shape 53"/>
          <p:cNvSpPr/>
          <p:nvPr/>
        </p:nvSpPr>
        <p:spPr>
          <a:xfrm>
            <a:off x="7269480" y="5029200"/>
            <a:ext cx="2148840" cy="868680"/>
          </a:xfrm>
          <a:prstGeom prst="roundRect">
            <a:avLst>
              <a:gd name="adj" fmla="val 8421"/>
            </a:avLst>
          </a:prstGeom>
          <a:solidFill>
            <a:srgbClr val="484B54"/>
          </a:solidFill>
          <a:ln/>
        </p:spPr>
      </p:sp>
      <p:sp>
        <p:nvSpPr>
          <p:cNvPr id="56" name="Text 54"/>
          <p:cNvSpPr/>
          <p:nvPr/>
        </p:nvSpPr>
        <p:spPr>
          <a:xfrm>
            <a:off x="7360920" y="5029200"/>
            <a:ext cx="196596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Page 2 of the PDF</a:t>
            </a:r>
            <a:endParaRPr lang="en-US" sz="1400" dirty="0"/>
          </a:p>
          <a:p>
            <a:pPr algn="ctr" indent="0" marL="0">
              <a:buNone/>
            </a:pPr>
            <a:r>
              <a:rPr lang="en-US" sz="1100" dirty="0">
                <a:solidFill>
                  <a:srgbClr val="D5D7DC"/>
                </a:solidFill>
                <a:latin typeface="Calibri" pitchFamily="34" charset="0"/>
                <a:ea typeface="Calibri" pitchFamily="34" charset="-122"/>
                <a:cs typeface="Calibri" pitchFamily="34" charset="-120"/>
              </a:rPr>
              <a:t>source cell highlighted</a:t>
            </a:r>
            <a:endParaRPr lang="en-US" sz="1400" dirty="0"/>
          </a:p>
        </p:txBody>
      </p:sp>
      <p:sp>
        <p:nvSpPr>
          <p:cNvPr id="57" name="Shape 55"/>
          <p:cNvSpPr/>
          <p:nvPr/>
        </p:nvSpPr>
        <p:spPr>
          <a:xfrm>
            <a:off x="9427464" y="5463540"/>
            <a:ext cx="73152" cy="9144"/>
          </a:xfrm>
          <a:prstGeom prst="line">
            <a:avLst/>
          </a:prstGeom>
          <a:noFill/>
          <a:ln w="28575">
            <a:solidFill>
              <a:srgbClr val="FFE600"/>
            </a:solidFill>
            <a:prstDash val="solid"/>
            <a:tailEnd type="triangle"/>
          </a:ln>
        </p:spPr>
      </p:sp>
      <p:sp>
        <p:nvSpPr>
          <p:cNvPr id="58" name="Shape 56"/>
          <p:cNvSpPr/>
          <p:nvPr/>
        </p:nvSpPr>
        <p:spPr>
          <a:xfrm>
            <a:off x="9509760" y="5029200"/>
            <a:ext cx="2148840" cy="868680"/>
          </a:xfrm>
          <a:prstGeom prst="roundRect">
            <a:avLst>
              <a:gd name="adj" fmla="val 8421"/>
            </a:avLst>
          </a:prstGeom>
          <a:solidFill>
            <a:srgbClr val="484B54"/>
          </a:solidFill>
          <a:ln/>
        </p:spPr>
      </p:sp>
      <p:sp>
        <p:nvSpPr>
          <p:cNvPr id="59" name="Text 57"/>
          <p:cNvSpPr/>
          <p:nvPr/>
        </p:nvSpPr>
        <p:spPr>
          <a:xfrm>
            <a:off x="9601200" y="5029200"/>
            <a:ext cx="196596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881.1 M TND</a:t>
            </a:r>
            <a:endParaRPr lang="en-US" sz="1400" dirty="0"/>
          </a:p>
          <a:p>
            <a:pPr algn="ctr" indent="0" marL="0">
              <a:buNone/>
            </a:pPr>
            <a:r>
              <a:rPr lang="en-US" sz="1100" dirty="0">
                <a:solidFill>
                  <a:srgbClr val="D5D7DC"/>
                </a:solidFill>
                <a:latin typeface="Calibri" pitchFamily="34" charset="0"/>
                <a:ea typeface="Calibri" pitchFamily="34" charset="-122"/>
                <a:cs typeface="Calibri" pitchFamily="34" charset="-120"/>
              </a:rPr>
              <a:t>Data Quality page</a:t>
            </a:r>
            <a:endParaRPr lang="en-US" sz="1400" dirty="0"/>
          </a:p>
        </p:txBody>
      </p:sp>
      <p:sp>
        <p:nvSpPr>
          <p:cNvPr id="60" name="Text 58"/>
          <p:cNvSpPr/>
          <p:nvPr/>
        </p:nvSpPr>
        <p:spPr>
          <a:xfrm>
            <a:off x="548640" y="6172200"/>
            <a:ext cx="7315200" cy="256032"/>
          </a:xfrm>
          <a:prstGeom prst="rect">
            <a:avLst/>
          </a:prstGeom>
          <a:noFill/>
          <a:ln/>
        </p:spPr>
        <p:txBody>
          <a:bodyPr wrap="square" lIns="0" tIns="0" rIns="0" bIns="0" rtlCol="0" anchor="ctr"/>
          <a:lstStyle/>
          <a:p>
            <a:pPr indent="0" marL="0">
              <a:buNone/>
            </a:pPr>
            <a:r>
              <a:rPr lang="en-US" sz="1050" i="1" dirty="0">
                <a:solidFill>
                  <a:srgbClr val="8B8B90"/>
                </a:solidFill>
                <a:latin typeface="Calibri" pitchFamily="34" charset="0"/>
                <a:ea typeface="Calibri" pitchFamily="34" charset="-122"/>
                <a:cs typeface="Calibri" pitchFamily="34" charset="-120"/>
              </a:rPr>
              <a:t>Figures from the live database, September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2026-09-21T14:50:22Z</dcterms:created>
  <dcterms:modified xsi:type="dcterms:W3CDTF">2026-09-21T14:50:22Z</dcterms:modified>
</cp:coreProperties>
</file>