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follow one real data point through the whole pipeline. We take the Annexe 12 of STAR for 2024, the technical account of the life insurance, and one cell of this table: the net acquisition and management charges, total column, minus 8,787,121 dinars. It starts here, at the collection step. A browser automation opens the CMF portal, selects the company and keeps only the annual reports; duplicates are removed, the link is checked, and the report is registered. What we collect is the report itself: on the right, the page 31 of the STAR 2024 report, with our cell highlighted. At this point, our data point is still a number inside a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step: extraction. The table of the PDF is read, row by row and column by column, with an OCR when the page is scanned, and every label is normalized so that all companies share the same vocabulary. The result is stored as cells in the database and it can be exported to Excel: this is the real export generated by the platform for the Annexe 12 of STAR 2024. You can recognize the same table as in the PDF, and our data point, highlighted: minus 8,787,121 in the total column. The number is no longer a picture in a PDF, it is a structured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step: modeling. The stored cells become KPIs, and each KPI has one single definition. Here is the formula of the expense ratio of STAR for 2024, shown by the platform: the net acquisition and management charges, minus 110.2 million, divided by the written premiums, 428.16 million, gives 25.74 percent. Our data point, minus 8.79 million, is the life part of the numerator; the non-life part, minus 101.41 million, comes from the Annexe 13. So our cell is now an ingredient of a KPI.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Fourth step: validation. The pipeline checks accounting identities on every table. For our data point, the rule is that the net acquisition and management charges must equal the acquisition costs plus the other management charges. Minus 6,699,527 plus minus 2,087,594 gives exactly minus 8,787,121: the gap is zero and the status is OK, in each of the five columns. If the numbers did not match, the platform would flag an anomaly with a probable cause, instead of silently accepting the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step: delivery. The validated KPIs are available in the dashboards, in an Excel export and through the chatbot. Here is the STAR profile for 2024: the expense ratio, 25.7 percent, is the KPI we computed in the previous step, next to the premiums, 428.2 million, the combined ratio and the loss ratio. So we have followed one figure from a page of a PDF report to a screen that a consultant can use, through extraction, computation and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One scraper per source; the CMF portal is automated (Selenium).</a:t>
            </a:r>
            <a:endParaRPr lang="en-US" sz="125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The company is selected, the annual reports are kept, duplicates are removed.</a:t>
            </a:r>
            <a:endParaRPr lang="en-US" sz="125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The result is the report itself: here, Annexe 12 of STAR 2024, on page 31.</a:t>
            </a:r>
            <a:endParaRPr lang="en-US" sz="125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DATA POINT · STAR · 2024 · ANNEXE 12</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 cell of a table in the report</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Annexe 12 · page 31 · −8 787 121</a:t>
            </a:r>
            <a:endParaRPr lang="en-US" sz="1600" dirty="0"/>
          </a:p>
        </p:txBody>
      </p:sp>
      <p:sp>
        <p:nvSpPr>
          <p:cNvPr id="28" name="Shape 25"/>
          <p:cNvSpPr/>
          <p:nvPr/>
        </p:nvSpPr>
        <p:spPr>
          <a:xfrm>
            <a:off x="5753062" y="3154680"/>
            <a:ext cx="5410276" cy="2880360"/>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q1_collect.png">    </p:cNvPr>
          <p:cNvPicPr>
            <a:picLocks noChangeAspect="1"/>
          </p:cNvPicPr>
          <p:nvPr/>
        </p:nvPicPr>
        <p:blipFill>
          <a:blip r:embed="rId2"/>
          <a:stretch>
            <a:fillRect/>
          </a:stretch>
        </p:blipFill>
        <p:spPr>
          <a:xfrm>
            <a:off x="5753062" y="3154680"/>
            <a:ext cx="5410276" cy="2880360"/>
          </a:xfrm>
          <a:prstGeom prst="rect">
            <a:avLst/>
          </a:prstGeom>
        </p:spPr>
      </p:pic>
      <p:sp>
        <p:nvSpPr>
          <p:cNvPr id="30" name="Text 26"/>
          <p:cNvSpPr/>
          <p:nvPr/>
        </p:nvSpPr>
        <p:spPr>
          <a:xfrm>
            <a:off x="5212080" y="6108192"/>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Annexe 12 of the STAR 2024 report (CMF), page 31 · the followed cell is highlighted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The table is read from the PDF page (with OCR when the page is scanned).</a:t>
            </a:r>
            <a:endParaRPr lang="en-US" sz="125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Rows and columns are identified and named the same way for every company.</a:t>
            </a:r>
            <a:endParaRPr lang="en-US" sz="125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Each value is stored as a cell and can be exported to Excel.</a:t>
            </a:r>
            <a:endParaRPr lang="en-US" sz="125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DATA POINT · STAR · 2024 · ANNEXE 12</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Charges d'acquisition et de gestion nettes</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Total = −8 787 121</a:t>
            </a:r>
            <a:endParaRPr lang="en-US" sz="1600" dirty="0"/>
          </a:p>
        </p:txBody>
      </p:sp>
      <p:sp>
        <p:nvSpPr>
          <p:cNvPr id="28" name="Shape 25"/>
          <p:cNvSpPr/>
          <p:nvPr/>
        </p:nvSpPr>
        <p:spPr>
          <a:xfrm>
            <a:off x="5212080" y="3154680"/>
            <a:ext cx="6492240" cy="2478855"/>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p2_excel.png">    </p:cNvPr>
          <p:cNvPicPr>
            <a:picLocks noChangeAspect="1"/>
          </p:cNvPicPr>
          <p:nvPr/>
        </p:nvPicPr>
        <p:blipFill>
          <a:blip r:embed="rId2"/>
          <a:stretch>
            <a:fillRect/>
          </a:stretch>
        </p:blipFill>
        <p:spPr>
          <a:xfrm>
            <a:off x="5212080" y="3154680"/>
            <a:ext cx="6492240" cy="2478855"/>
          </a:xfrm>
          <a:prstGeom prst="rect">
            <a:avLst/>
          </a:prstGeom>
        </p:spPr>
      </p:pic>
      <p:sp>
        <p:nvSpPr>
          <p:cNvPr id="30" name="Text 26"/>
          <p:cNvSpPr/>
          <p:nvPr/>
        </p:nvSpPr>
        <p:spPr>
          <a:xfrm>
            <a:off x="5212080" y="5706687"/>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Excel export of the extracted table (Gestion des données → Générer l'Excel) · highlight added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KPIs are computed from the stored cells, with one formula each.</a:t>
            </a:r>
            <a:endParaRPr lang="en-US" sz="125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Our data point (−8,79 M for life) is a component of the Ratio de frais de gestion.</a:t>
            </a:r>
            <a:endParaRPr lang="en-US" sz="125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(−8,79 M Vie + −101,41 M Non-Vie) = −110,2 M ÷ Primes émises 428,16 M = 25,74 %.</a:t>
            </a:r>
            <a:endParaRPr lang="en-US" sz="125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DATA POINT · STAR · 2024 · ANNEXE 12</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Component of the Ratio de frais de gestion</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 25,74 %</a:t>
            </a:r>
            <a:endParaRPr lang="en-US" sz="1600" dirty="0"/>
          </a:p>
        </p:txBody>
      </p:sp>
      <p:sp>
        <p:nvSpPr>
          <p:cNvPr id="28" name="Shape 25"/>
          <p:cNvSpPr/>
          <p:nvPr/>
        </p:nvSpPr>
        <p:spPr>
          <a:xfrm>
            <a:off x="5212080" y="3154680"/>
            <a:ext cx="6492240" cy="2472835"/>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q3_model.png">    </p:cNvPr>
          <p:cNvPicPr>
            <a:picLocks noChangeAspect="1"/>
          </p:cNvPicPr>
          <p:nvPr/>
        </p:nvPicPr>
        <p:blipFill>
          <a:blip r:embed="rId2"/>
          <a:stretch>
            <a:fillRect/>
          </a:stretch>
        </p:blipFill>
        <p:spPr>
          <a:xfrm>
            <a:off x="5212080" y="3154680"/>
            <a:ext cx="6492240" cy="2472835"/>
          </a:xfrm>
          <a:prstGeom prst="rect">
            <a:avLst/>
          </a:prstGeom>
        </p:spPr>
      </p:pic>
      <p:sp>
        <p:nvSpPr>
          <p:cNvPr id="30" name="Text 26"/>
          <p:cNvSpPr/>
          <p:nvPr/>
        </p:nvSpPr>
        <p:spPr>
          <a:xfrm>
            <a:off x="5212080" y="5700667"/>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Formule de calcul — Ratio de frais de gestion, STAR 2024</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Rule: Charges d'acquisition et de gestion nettes = Frais d'acquisition + Autres charges de gestion nettes.</a:t>
            </a:r>
            <a:endParaRPr lang="en-US" sz="125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Check: −6 699 527 + −2 087 594 = −8 787 121.</a:t>
            </a:r>
            <a:endParaRPr lang="en-US" sz="125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Result: gap of 0, status OK on all five columns.</a:t>
            </a:r>
            <a:endParaRPr lang="en-US" sz="125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DATA POINT · STAR · 2024 · ANNEXE 12</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Checked by an accounting identity</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gap 0 → OK</a:t>
            </a:r>
            <a:endParaRPr lang="en-US" sz="1600" dirty="0"/>
          </a:p>
        </p:txBody>
      </p:sp>
      <p:sp>
        <p:nvSpPr>
          <p:cNvPr id="28" name="Shape 25"/>
          <p:cNvSpPr/>
          <p:nvPr/>
        </p:nvSpPr>
        <p:spPr>
          <a:xfrm>
            <a:off x="5212080" y="3154680"/>
            <a:ext cx="6492240" cy="2575255"/>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q4_validate.png">    </p:cNvPr>
          <p:cNvPicPr>
            <a:picLocks noChangeAspect="1"/>
          </p:cNvPicPr>
          <p:nvPr/>
        </p:nvPicPr>
        <p:blipFill>
          <a:blip r:embed="rId2"/>
          <a:stretch>
            <a:fillRect/>
          </a:stretch>
        </p:blipFill>
        <p:spPr>
          <a:xfrm>
            <a:off x="5212080" y="3154680"/>
            <a:ext cx="6492240" cy="2575255"/>
          </a:xfrm>
          <a:prstGeom prst="rect">
            <a:avLst/>
          </a:prstGeom>
        </p:spPr>
      </p:pic>
      <p:sp>
        <p:nvSpPr>
          <p:cNvPr id="30" name="Text 26"/>
          <p:cNvSpPr/>
          <p:nvPr/>
        </p:nvSpPr>
        <p:spPr>
          <a:xfrm>
            <a:off x="5212080" y="5803087"/>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Validation results stored by the pipeline (tableau_validations)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sers/HP/Desktop/SCRAPING/docs/scratch/star/crops/header.png">    </p:cNvPr>
          <p:cNvPicPr>
            <a:picLocks noChangeAspect="1"/>
          </p:cNvPicPr>
          <p:nvPr/>
        </p:nvPicPr>
        <p:blipFill>
          <a:blip r:embed="rId1"/>
          <a:stretch>
            <a:fillRect/>
          </a:stretch>
        </p:blipFill>
        <p:spPr>
          <a:xfrm>
            <a:off x="0" y="0"/>
            <a:ext cx="12191695" cy="1353312"/>
          </a:xfrm>
          <a:prstGeom prst="rect">
            <a:avLst/>
          </a:prstGeom>
        </p:spPr>
      </p:pic>
      <p:sp>
        <p:nvSpPr>
          <p:cNvPr id="3" name="Text 0"/>
          <p:cNvSpPr/>
          <p:nvPr/>
        </p:nvSpPr>
        <p:spPr>
          <a:xfrm>
            <a:off x="283464" y="393192"/>
            <a:ext cx="374904" cy="347472"/>
          </a:xfrm>
          <a:prstGeom prst="rect">
            <a:avLst/>
          </a:prstGeom>
          <a:noFill/>
          <a:ln/>
        </p:spPr>
        <p:txBody>
          <a:bodyPr wrap="square" lIns="0" tIns="0" rIns="0" bIns="0" rtlCol="0" anchor="ctr"/>
          <a:lstStyle/>
          <a:p>
            <a:pPr algn="ctr" indent="0" marL="0">
              <a:buNone/>
            </a:pPr>
            <a:r>
              <a:rPr lang="en-US" sz="1200" b="1" dirty="0">
                <a:solidFill>
                  <a:srgbClr val="2F3136"/>
                </a:solidFill>
                <a:latin typeface="Arial" pitchFamily="34" charset="0"/>
                <a:ea typeface="Arial" pitchFamily="34" charset="-122"/>
                <a:cs typeface="Arial" pitchFamily="34" charset="-120"/>
              </a:rPr>
              <a:t>05</a:t>
            </a:r>
            <a:endParaRPr lang="en-US" sz="1200" dirty="0"/>
          </a:p>
        </p:txBody>
      </p:sp>
      <p:sp>
        <p:nvSpPr>
          <p:cNvPr id="4" name="Text 1"/>
          <p:cNvSpPr/>
          <p:nvPr/>
        </p:nvSpPr>
        <p:spPr>
          <a:xfrm>
            <a:off x="1627632" y="265176"/>
            <a:ext cx="4160520" cy="804672"/>
          </a:xfrm>
          <a:prstGeom prst="rect">
            <a:avLst/>
          </a:prstGeom>
          <a:noFill/>
          <a:ln/>
        </p:spPr>
        <p:txBody>
          <a:bodyPr wrap="square" lIns="0" tIns="0" rIns="0" bIns="0" rtlCol="0" anchor="ctr"/>
          <a:lstStyle/>
          <a:p>
            <a:pPr algn="ctr" indent="0" marL="0">
              <a:buNone/>
            </a:pPr>
            <a:r>
              <a:rPr lang="en-US" sz="1500" b="1" dirty="0">
                <a:solidFill>
                  <a:srgbClr val="2F3136"/>
                </a:solidFill>
                <a:latin typeface="Arial" pitchFamily="34" charset="0"/>
                <a:ea typeface="Arial" pitchFamily="34" charset="-122"/>
                <a:cs typeface="Arial" pitchFamily="34" charset="-120"/>
              </a:rPr>
              <a:t>Data &amp; AI</a:t>
            </a:r>
            <a:endParaRPr lang="en-US" sz="1500" dirty="0"/>
          </a:p>
        </p:txBody>
      </p:sp>
      <p:sp>
        <p:nvSpPr>
          <p:cNvPr id="5" name="Text 2"/>
          <p:cNvSpPr/>
          <p:nvPr/>
        </p:nvSpPr>
        <p:spPr>
          <a:xfrm>
            <a:off x="8092440" y="521208"/>
            <a:ext cx="3931920" cy="411480"/>
          </a:xfrm>
          <a:prstGeom prst="rect">
            <a:avLst/>
          </a:prstGeom>
          <a:noFill/>
          <a:ln/>
        </p:spPr>
        <p:txBody>
          <a:bodyPr wrap="square" lIns="0" tIns="0" rIns="0" bIns="0" rtlCol="0" anchor="ctr"/>
          <a:lstStyle/>
          <a:p>
            <a:pPr indent="0" marL="0">
              <a:buNone/>
            </a:pPr>
            <a:r>
              <a:rPr lang="en-US" sz="1400" b="1" dirty="0">
                <a:solidFill>
                  <a:srgbClr val="2F3136"/>
                </a:solidFill>
                <a:latin typeface="Arial" pitchFamily="34" charset="0"/>
                <a:ea typeface="Arial" pitchFamily="34" charset="-122"/>
                <a:cs typeface="Arial" pitchFamily="34" charset="-120"/>
              </a:rPr>
              <a:t>B. Pipeline stages</a:t>
            </a:r>
            <a:endParaRPr lang="en-US" sz="1400" dirty="0"/>
          </a:p>
        </p:txBody>
      </p:sp>
      <p:sp>
        <p:nvSpPr>
          <p:cNvPr id="6" name="Text 3"/>
          <p:cNvSpPr/>
          <p:nvPr/>
        </p:nvSpPr>
        <p:spPr>
          <a:xfrm>
            <a:off x="0" y="1481328"/>
            <a:ext cx="12191695" cy="502920"/>
          </a:xfrm>
          <a:prstGeom prst="rect">
            <a:avLst/>
          </a:prstGeom>
          <a:noFill/>
          <a:ln/>
        </p:spPr>
        <p:txBody>
          <a:bodyPr wrap="square" lIns="0" tIns="0" rIns="0" bIns="0" rtlCol="0" anchor="ctr"/>
          <a:lstStyle/>
          <a:p>
            <a:pPr algn="ctr" indent="0" marL="0">
              <a:buNone/>
            </a:pPr>
            <a:r>
              <a:rPr lang="en-US" sz="2200" b="1" dirty="0">
                <a:solidFill>
                  <a:srgbClr val="3A3A3A"/>
                </a:solidFill>
                <a:latin typeface="Arial" pitchFamily="34" charset="0"/>
                <a:ea typeface="Arial" pitchFamily="34" charset="-122"/>
                <a:cs typeface="Arial" pitchFamily="34" charset="-120"/>
              </a:rPr>
              <a:t>-  Data pipeline  -</a:t>
            </a:r>
            <a:endParaRPr lang="en-US" sz="2200" dirty="0"/>
          </a:p>
        </p:txBody>
      </p:sp>
      <p:sp>
        <p:nvSpPr>
          <p:cNvPr id="7" name="Shape 4"/>
          <p:cNvSpPr/>
          <p:nvPr/>
        </p:nvSpPr>
        <p:spPr>
          <a:xfrm>
            <a:off x="521208"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8" name="Text 5"/>
          <p:cNvSpPr/>
          <p:nvPr/>
        </p:nvSpPr>
        <p:spPr>
          <a:xfrm>
            <a:off x="841248"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COLLECT</a:t>
            </a:r>
            <a:endParaRPr lang="en-US" sz="1250" dirty="0"/>
          </a:p>
        </p:txBody>
      </p:sp>
      <p:sp>
        <p:nvSpPr>
          <p:cNvPr id="9" name="Shape 6"/>
          <p:cNvSpPr/>
          <p:nvPr/>
        </p:nvSpPr>
        <p:spPr>
          <a:xfrm>
            <a:off x="2688336"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0" name="Text 7"/>
          <p:cNvSpPr/>
          <p:nvPr/>
        </p:nvSpPr>
        <p:spPr>
          <a:xfrm>
            <a:off x="3008376"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EXTRACT</a:t>
            </a:r>
            <a:endParaRPr lang="en-US" sz="1250" dirty="0"/>
          </a:p>
        </p:txBody>
      </p:sp>
      <p:sp>
        <p:nvSpPr>
          <p:cNvPr id="11" name="Shape 8"/>
          <p:cNvSpPr/>
          <p:nvPr/>
        </p:nvSpPr>
        <p:spPr>
          <a:xfrm>
            <a:off x="4855464"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2" name="Text 9"/>
          <p:cNvSpPr/>
          <p:nvPr/>
        </p:nvSpPr>
        <p:spPr>
          <a:xfrm>
            <a:off x="5175504"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MODEL</a:t>
            </a:r>
            <a:endParaRPr lang="en-US" sz="1250" dirty="0"/>
          </a:p>
        </p:txBody>
      </p:sp>
      <p:sp>
        <p:nvSpPr>
          <p:cNvPr id="13" name="Shape 10"/>
          <p:cNvSpPr/>
          <p:nvPr/>
        </p:nvSpPr>
        <p:spPr>
          <a:xfrm>
            <a:off x="7022592" y="2286000"/>
            <a:ext cx="2395728" cy="548640"/>
          </a:xfrm>
          <a:prstGeom prst="chevron">
            <a:avLst/>
          </a:prstGeom>
          <a:solidFill>
            <a:srgbClr val="F2F2F2"/>
          </a:solidFill>
          <a:ln/>
          <a:effectLst>
            <a:outerShdw sx="100000" sy="100000" kx="0" ky="0" algn="bl" rotWithShape="0" blurRad="76200" dist="38100" dir="2700000">
              <a:srgbClr val="000000">
                <a:alpha val="20000"/>
              </a:srgbClr>
            </a:outerShdw>
          </a:effectLst>
        </p:spPr>
      </p:sp>
      <p:sp>
        <p:nvSpPr>
          <p:cNvPr id="14" name="Text 11"/>
          <p:cNvSpPr/>
          <p:nvPr/>
        </p:nvSpPr>
        <p:spPr>
          <a:xfrm>
            <a:off x="7342632"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VALIDATE</a:t>
            </a:r>
            <a:endParaRPr lang="en-US" sz="1250" dirty="0"/>
          </a:p>
        </p:txBody>
      </p:sp>
      <p:sp>
        <p:nvSpPr>
          <p:cNvPr id="15" name="Shape 12"/>
          <p:cNvSpPr/>
          <p:nvPr/>
        </p:nvSpPr>
        <p:spPr>
          <a:xfrm>
            <a:off x="9189720" y="2286000"/>
            <a:ext cx="2395728" cy="548640"/>
          </a:xfrm>
          <a:prstGeom prst="chevron">
            <a:avLst/>
          </a:prstGeom>
          <a:solidFill>
            <a:srgbClr val="FFE600"/>
          </a:solidFill>
          <a:ln/>
          <a:effectLst>
            <a:outerShdw sx="100000" sy="100000" kx="0" ky="0" algn="bl" rotWithShape="0" blurRad="76200" dist="38100" dir="2700000">
              <a:srgbClr val="000000">
                <a:alpha val="28000"/>
              </a:srgbClr>
            </a:outerShdw>
          </a:effectLst>
        </p:spPr>
      </p:sp>
      <p:sp>
        <p:nvSpPr>
          <p:cNvPr id="16" name="Text 13"/>
          <p:cNvSpPr/>
          <p:nvPr/>
        </p:nvSpPr>
        <p:spPr>
          <a:xfrm>
            <a:off x="9509760" y="2286000"/>
            <a:ext cx="1783080" cy="548640"/>
          </a:xfrm>
          <a:prstGeom prst="rect">
            <a:avLst/>
          </a:prstGeom>
          <a:noFill/>
          <a:ln/>
        </p:spPr>
        <p:txBody>
          <a:bodyPr wrap="square" lIns="0" tIns="0" rIns="0" bIns="0" rtlCol="0" anchor="ctr"/>
          <a:lstStyle/>
          <a:p>
            <a:pPr algn="ctr" indent="0" marL="0">
              <a:buNone/>
            </a:pPr>
            <a:r>
              <a:rPr lang="en-US" sz="1250" b="1" dirty="0">
                <a:solidFill>
                  <a:srgbClr val="3A3A3A"/>
                </a:solidFill>
                <a:latin typeface="Arial" pitchFamily="34" charset="0"/>
                <a:ea typeface="Arial" pitchFamily="34" charset="-122"/>
                <a:cs typeface="Arial" pitchFamily="34" charset="-120"/>
              </a:rPr>
              <a:t>DELIVER</a:t>
            </a:r>
            <a:endParaRPr lang="en-US" sz="1250" dirty="0"/>
          </a:p>
        </p:txBody>
      </p:sp>
      <p:sp>
        <p:nvSpPr>
          <p:cNvPr id="17" name="Text 14"/>
          <p:cNvSpPr/>
          <p:nvPr/>
        </p:nvSpPr>
        <p:spPr>
          <a:xfrm>
            <a:off x="548640" y="3127248"/>
            <a:ext cx="4389120" cy="237744"/>
          </a:xfrm>
          <a:prstGeom prst="rect">
            <a:avLst/>
          </a:prstGeom>
          <a:noFill/>
          <a:ln/>
        </p:spPr>
        <p:txBody>
          <a:bodyPr wrap="square" lIns="0" tIns="0" rIns="0" bIns="0" rtlCol="0" anchor="ctr"/>
          <a:lstStyle/>
          <a:p>
            <a:pPr indent="0" marL="0">
              <a:buNone/>
            </a:pPr>
            <a:r>
              <a:rPr lang="en-US" sz="1100" b="1" spc="200" kern="0" dirty="0">
                <a:solidFill>
                  <a:srgbClr val="8B8B90"/>
                </a:solidFill>
                <a:latin typeface="Calibri" pitchFamily="34" charset="0"/>
                <a:ea typeface="Calibri" pitchFamily="34" charset="-122"/>
                <a:cs typeface="Calibri" pitchFamily="34" charset="-120"/>
              </a:rPr>
              <a:t>WHAT HAPPENS</a:t>
            </a:r>
            <a:endParaRPr lang="en-US" sz="1100" dirty="0"/>
          </a:p>
        </p:txBody>
      </p:sp>
      <p:sp>
        <p:nvSpPr>
          <p:cNvPr id="18" name="Shape 15"/>
          <p:cNvSpPr/>
          <p:nvPr/>
        </p:nvSpPr>
        <p:spPr>
          <a:xfrm>
            <a:off x="548640" y="3538728"/>
            <a:ext cx="137160" cy="137160"/>
          </a:xfrm>
          <a:prstGeom prst="ellipse">
            <a:avLst/>
          </a:prstGeom>
          <a:solidFill>
            <a:srgbClr val="FFE600"/>
          </a:solidFill>
          <a:ln/>
        </p:spPr>
      </p:sp>
      <p:sp>
        <p:nvSpPr>
          <p:cNvPr id="19" name="Text 16"/>
          <p:cNvSpPr/>
          <p:nvPr/>
        </p:nvSpPr>
        <p:spPr>
          <a:xfrm>
            <a:off x="841248" y="3456432"/>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Verified KPIs feed the dashboards, the Excel exports and the chatbot.</a:t>
            </a:r>
            <a:endParaRPr lang="en-US" sz="1250" dirty="0"/>
          </a:p>
        </p:txBody>
      </p:sp>
      <p:sp>
        <p:nvSpPr>
          <p:cNvPr id="20" name="Shape 17"/>
          <p:cNvSpPr/>
          <p:nvPr/>
        </p:nvSpPr>
        <p:spPr>
          <a:xfrm>
            <a:off x="548640" y="4105656"/>
            <a:ext cx="137160" cy="137160"/>
          </a:xfrm>
          <a:prstGeom prst="ellipse">
            <a:avLst/>
          </a:prstGeom>
          <a:solidFill>
            <a:srgbClr val="FFE600"/>
          </a:solidFill>
          <a:ln/>
        </p:spPr>
      </p:sp>
      <p:sp>
        <p:nvSpPr>
          <p:cNvPr id="21" name="Text 18"/>
          <p:cNvSpPr/>
          <p:nvPr/>
        </p:nvSpPr>
        <p:spPr>
          <a:xfrm>
            <a:off x="841248" y="4023360"/>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Consultants read each ratio in the company profile.</a:t>
            </a:r>
            <a:endParaRPr lang="en-US" sz="1250" dirty="0"/>
          </a:p>
        </p:txBody>
      </p:sp>
      <p:sp>
        <p:nvSpPr>
          <p:cNvPr id="22" name="Shape 19"/>
          <p:cNvSpPr/>
          <p:nvPr/>
        </p:nvSpPr>
        <p:spPr>
          <a:xfrm>
            <a:off x="548640" y="4672584"/>
            <a:ext cx="137160" cy="137160"/>
          </a:xfrm>
          <a:prstGeom prst="ellipse">
            <a:avLst/>
          </a:prstGeom>
          <a:solidFill>
            <a:srgbClr val="FFE600"/>
          </a:solidFill>
          <a:ln/>
        </p:spPr>
      </p:sp>
      <p:sp>
        <p:nvSpPr>
          <p:cNvPr id="23" name="Text 20"/>
          <p:cNvSpPr/>
          <p:nvPr/>
        </p:nvSpPr>
        <p:spPr>
          <a:xfrm>
            <a:off x="841248" y="4590288"/>
            <a:ext cx="4114800" cy="512064"/>
          </a:xfrm>
          <a:prstGeom prst="rect">
            <a:avLst/>
          </a:prstGeom>
          <a:noFill/>
          <a:ln/>
        </p:spPr>
        <p:txBody>
          <a:bodyPr wrap="square" lIns="0" tIns="0" rIns="0" bIns="0" rtlCol="0" anchor="t"/>
          <a:lstStyle/>
          <a:p>
            <a:pPr indent="0" marL="0">
              <a:buNone/>
            </a:pPr>
            <a:r>
              <a:rPr lang="en-US" sz="1250" dirty="0">
                <a:solidFill>
                  <a:srgbClr val="2F3136"/>
                </a:solidFill>
                <a:latin typeface="Calibri" pitchFamily="34" charset="0"/>
                <a:ea typeface="Calibri" pitchFamily="34" charset="-122"/>
                <a:cs typeface="Calibri" pitchFamily="34" charset="-120"/>
              </a:rPr>
              <a:t>Here: the STAR profile, Indicateurs financiers 2024: Ratio de frais 25.7 %.</a:t>
            </a:r>
            <a:endParaRPr lang="en-US" sz="1250" dirty="0"/>
          </a:p>
        </p:txBody>
      </p:sp>
      <p:sp>
        <p:nvSpPr>
          <p:cNvPr id="24" name="Shape 21"/>
          <p:cNvSpPr/>
          <p:nvPr/>
        </p:nvSpPr>
        <p:spPr>
          <a:xfrm>
            <a:off x="548640" y="5257800"/>
            <a:ext cx="4389120" cy="1143000"/>
          </a:xfrm>
          <a:prstGeom prst="roundRect">
            <a:avLst>
              <a:gd name="adj" fmla="val 6400"/>
            </a:avLst>
          </a:prstGeom>
          <a:solidFill>
            <a:srgbClr val="484B54"/>
          </a:solidFill>
          <a:ln/>
        </p:spPr>
      </p:sp>
      <p:sp>
        <p:nvSpPr>
          <p:cNvPr id="25" name="Text 22"/>
          <p:cNvSpPr/>
          <p:nvPr/>
        </p:nvSpPr>
        <p:spPr>
          <a:xfrm>
            <a:off x="777240" y="5349240"/>
            <a:ext cx="4023360" cy="256032"/>
          </a:xfrm>
          <a:prstGeom prst="rect">
            <a:avLst/>
          </a:prstGeom>
          <a:noFill/>
          <a:ln/>
        </p:spPr>
        <p:txBody>
          <a:bodyPr wrap="square" lIns="0" tIns="0" rIns="0" bIns="0" rtlCol="0" anchor="ctr"/>
          <a:lstStyle/>
          <a:p>
            <a:pPr indent="0" marL="0">
              <a:buNone/>
            </a:pPr>
            <a:r>
              <a:rPr lang="en-US" sz="1050" b="1" spc="120" kern="0" dirty="0">
                <a:solidFill>
                  <a:srgbClr val="FFE600"/>
                </a:solidFill>
                <a:latin typeface="Calibri" pitchFamily="34" charset="0"/>
                <a:ea typeface="Calibri" pitchFamily="34" charset="-122"/>
                <a:cs typeface="Calibri" pitchFamily="34" charset="-120"/>
              </a:rPr>
              <a:t>THE DATA POINT · STAR · 2024 · ANNEXE 12</a:t>
            </a:r>
            <a:endParaRPr lang="en-US" sz="1050" dirty="0"/>
          </a:p>
        </p:txBody>
      </p:sp>
      <p:sp>
        <p:nvSpPr>
          <p:cNvPr id="26" name="Text 23"/>
          <p:cNvSpPr/>
          <p:nvPr/>
        </p:nvSpPr>
        <p:spPr>
          <a:xfrm>
            <a:off x="777240" y="5605272"/>
            <a:ext cx="40233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On screen: Ratio de frais 25.7 %</a:t>
            </a:r>
            <a:endParaRPr lang="en-US" sz="1500" dirty="0"/>
          </a:p>
        </p:txBody>
      </p:sp>
      <p:sp>
        <p:nvSpPr>
          <p:cNvPr id="27" name="Text 24"/>
          <p:cNvSpPr/>
          <p:nvPr/>
        </p:nvSpPr>
        <p:spPr>
          <a:xfrm>
            <a:off x="777240" y="5971032"/>
            <a:ext cx="4023360" cy="347472"/>
          </a:xfrm>
          <a:prstGeom prst="rect">
            <a:avLst/>
          </a:prstGeom>
          <a:noFill/>
          <a:ln/>
        </p:spPr>
        <p:txBody>
          <a:bodyPr wrap="square" lIns="0" tIns="0" rIns="0" bIns="0" rtlCol="0" anchor="ctr"/>
          <a:lstStyle/>
          <a:p>
            <a:pPr indent="0" marL="0">
              <a:buNone/>
            </a:pPr>
            <a:r>
              <a:rPr lang="en-US" sz="1600" b="1" dirty="0">
                <a:solidFill>
                  <a:srgbClr val="FFE600"/>
                </a:solidFill>
                <a:latin typeface="Calibri" pitchFamily="34" charset="0"/>
                <a:ea typeface="Calibri" pitchFamily="34" charset="-122"/>
                <a:cs typeface="Calibri" pitchFamily="34" charset="-120"/>
              </a:rPr>
              <a:t>Primes émises 428.2 M</a:t>
            </a:r>
            <a:endParaRPr lang="en-US" sz="1600" dirty="0"/>
          </a:p>
        </p:txBody>
      </p:sp>
      <p:sp>
        <p:nvSpPr>
          <p:cNvPr id="28" name="Shape 25"/>
          <p:cNvSpPr/>
          <p:nvPr/>
        </p:nvSpPr>
        <p:spPr>
          <a:xfrm>
            <a:off x="5212080" y="3154680"/>
            <a:ext cx="6492240" cy="1731755"/>
          </a:xfrm>
          <a:prstGeom prst="rect">
            <a:avLst/>
          </a:prstGeom>
          <a:solidFill>
            <a:srgbClr val="FFFFFF"/>
          </a:solidFill>
          <a:ln w="12700">
            <a:solidFill>
              <a:srgbClr val="D3D5DB"/>
            </a:solidFill>
            <a:prstDash val="solid"/>
          </a:ln>
          <a:effectLst>
            <a:outerShdw sx="100000" sy="100000" kx="0" ky="0" algn="bl" rotWithShape="0" blurRad="76200" dist="25400" dir="5400000">
              <a:srgbClr val="000000">
                <a:alpha val="14000"/>
              </a:srgbClr>
            </a:outerShdw>
          </a:effectLst>
        </p:spPr>
      </p:sp>
      <p:pic>
        <p:nvPicPr>
          <p:cNvPr id="29" name="Image 1" descr="C:/Users/HP/Desktop/SCRAPING/docs/scratch/star/crops/q5_deliver.png">    </p:cNvPr>
          <p:cNvPicPr>
            <a:picLocks noChangeAspect="1"/>
          </p:cNvPicPr>
          <p:nvPr/>
        </p:nvPicPr>
        <p:blipFill>
          <a:blip r:embed="rId2"/>
          <a:stretch>
            <a:fillRect/>
          </a:stretch>
        </p:blipFill>
        <p:spPr>
          <a:xfrm>
            <a:off x="5212080" y="3154680"/>
            <a:ext cx="6492240" cy="1731755"/>
          </a:xfrm>
          <a:prstGeom prst="rect">
            <a:avLst/>
          </a:prstGeom>
        </p:spPr>
      </p:pic>
      <p:sp>
        <p:nvSpPr>
          <p:cNvPr id="30" name="Text 26"/>
          <p:cNvSpPr/>
          <p:nvPr/>
        </p:nvSpPr>
        <p:spPr>
          <a:xfrm>
            <a:off x="5212080" y="4959587"/>
            <a:ext cx="6492240" cy="274320"/>
          </a:xfrm>
          <a:prstGeom prst="rect">
            <a:avLst/>
          </a:prstGeom>
          <a:noFill/>
          <a:ln/>
        </p:spPr>
        <p:txBody>
          <a:bodyPr wrap="square" lIns="0" tIns="0" rIns="0" bIns="0" rtlCol="0" anchor="ctr"/>
          <a:lstStyle/>
          <a:p>
            <a:pPr algn="ctr" indent="0" marL="0">
              <a:buNone/>
            </a:pPr>
            <a:r>
              <a:rPr lang="en-US" sz="1100" i="1" dirty="0">
                <a:solidFill>
                  <a:srgbClr val="8B8B90"/>
                </a:solidFill>
                <a:latin typeface="Calibri" pitchFamily="34" charset="0"/>
                <a:ea typeface="Calibri" pitchFamily="34" charset="-122"/>
                <a:cs typeface="Calibri" pitchFamily="34" charset="-120"/>
              </a:rPr>
              <a:t>Platform · Vue par assurance — Indicateurs financiers 2024, STAR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2026-09-21T17:44:26Z</dcterms:created>
  <dcterms:modified xsi:type="dcterms:W3CDTF">2026-09-21T17:44:26Z</dcterms:modified>
</cp:coreProperties>
</file>