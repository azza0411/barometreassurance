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exceptional case: scanned PDFs. Most reports have a text layer, so we can read the tables directly. But some companies, like AMI or COTUNACE, publish a scan: the page is only a picture. The pipeline detects it automatically, because such a page has almost no text characters, and it switches to OCR. Step two: it locates the right pages with a fast, low-resolution OCR and a fuzzy match on the title, so it does not process the whole document. Step three: the selected pages are rendered at 340 dpi, the grid lines of the table are removed with OpenCV, otherwise the OCR reads them as text, and Tesseract returns every word with its position. Step four: rows come from the OCR lines and columns from the horizontal position of the numbers. The output has exactly the same format as a normal table, so everything after that, validation and KPIs, does not change. For example, the Annexe 13 of AMI 2023 gives 155 stored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exceptional case: Arabic PDFs, for El Amana Takaful. The reports are scanned, written right to left, and the Arabic OCR model is good at recognizing words but not reliable on digits: in our tests it read 38,089,744 as 35,089,4. So we split the job in two. First, we use the Arabic OCR only to find things: the row, by a fuzzy match on the expected Arabic label, for instance the label of the total assets, and the column, in the same way with its header. Then we crop this exact cell and read it again with the English model, restricted to digits, because Tunisian financial reports use Western digits even in Arabic. Arabic is used to find, English to read. And we cross-check the result: the total assets of 2024, 38,089,744 dinars, is also the N-1 column of the following year's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chatbot, in its simplest form. A question in plain language goes first to a router, which recognizes the KPI, the company and the year. Then there are three paths. For figures, the chatbot queries the KPI database with read-only SQL. For the future, it calls the forecasting module, where Prophet and XGBoost compete, which I detail later. And for regulation, it uses RAG, retrieval-augmented generation, which works in three steps. One, retrieve: the three most relevant passages are selected among eleven legal texts, such as the insurance code and CGA circulars, and one hundred and six extracts of the CGA annual reports. Two, read: the language model receives only these passages. Three, answer: it answers from them and cites its sources, or says clearly that the answer is not in the documents. So the model never answers from memory on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use of generative AI: the anomaly report. The pipeline detects anomalies with rules: a missing component, a suspicious variation, a gap with the sector. But a list of hundreds of lines is not usable. So we first compute the facts: the number of anomalies, their severity, the most affected KPIs and a sample of the real causes. Then a language model, gpt-oss-120b served by Groq, writes a short report: an executive summary, the trends and three recommendations, in less than three hundred words, with the strict instruction to use only these facts. Then comes a check: every number in the text must exist in the facts, otherwise the text is rejected and replaced by a fixed template. Finally the tables are assembled, and they are computed directly, never rewritten by the model. The result is a readable report that cannot contain an invented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use of generative AI: explaining a figure. In the menu of a KPI, the consultant clicks Expliquer ce chiffre. The platform first computes the facts with SQL: the value, the change compared to the previous year, the sector average and the rank. The language model then writes two to four sentences using only these facts, and a check verifies that every number in the text is one of the facts, otherwise a fixed template is used. For the technical result of STAR in 2024, the answer says 14.3 million dinars, an increase of 212 percent compared to 2023, but 2023 was negative, so the percentage must be read with care; the sector average is 16.4 million and STAR ranks seventh out of seventeen. The model phrases and puts the number in context, but it does not calculate or invent.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predictive part, in the chatbot. We did not choose one model in advance: Prophet, a time-series model, and XGBoost, a gradient boosting model, compete for every question about the future. Step one, both are trained on the yearly history of the KPI. Step two, they are tested with a time-series cross-validation: always training on the past and predicting the following year, so the test is honest. Step three, the error scores, MAPE and RMSE, are compared and the best model is selected automatically. Step four, the forecast is produced and explained with SHAP, which shows which inputs pushed it up or down. If there is no usable history, a simple linear regression takes over, with its method stated. On the example of the net result of STAR, XGBoost has an error of 18 percent against 96 percent for Prophet, so it is selected and forecasts 31.59 million dinars for 2026. With about ten annual points per series, the forecasts remain indicative, and I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D. Exceptional cases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Scanned PDFs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Some reports are pictures: the PDF has no text layer, so nothing can be read directly (e.g. AMI, COTUNACE).</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Detect</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 page with almost no text characters switches to OCR mode.</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967740000" dist="322580000" dir="324000000000">
              <a:srgbClr val="000000">
                <a:alpha val="1400000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Locate</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Fast low-resolution OCR + fuzzy title match keep only the best pages.</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12290298000000" dist="4096766000000" dir="19440000000000000">
              <a:srgbClr val="000000">
                <a:alpha val="140000000000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Read</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340 dpi render, grid lines removed, Tesseract returns each word with its position.</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156086784600000000" dist="52028928200000000" dir="1.1664e+21">
              <a:srgbClr val="000000">
                <a:alpha val="14000000000000000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Rebuild</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Rows = OCR lines; columns from the x-position of the numbers.</a:t>
            </a:r>
            <a:endParaRPr lang="en-US" sz="1250" dirty="0"/>
          </a:p>
        </p:txBody>
      </p:sp>
      <p:sp>
        <p:nvSpPr>
          <p:cNvPr id="33" name="Text 30"/>
          <p:cNvSpPr/>
          <p:nvPr/>
        </p:nvSpPr>
        <p:spPr>
          <a:xfrm>
            <a:off x="548640" y="507492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385816"/>
            <a:ext cx="844906" cy="365760"/>
          </a:xfrm>
          <a:prstGeom prst="roundRect">
            <a:avLst>
              <a:gd name="adj" fmla="val 50000"/>
            </a:avLst>
          </a:prstGeom>
          <a:solidFill>
            <a:srgbClr val="FFE600"/>
          </a:solidFill>
          <a:ln/>
        </p:spPr>
      </p:sp>
      <p:sp>
        <p:nvSpPr>
          <p:cNvPr id="35" name="Text 32"/>
          <p:cNvSpPr/>
          <p:nvPr/>
        </p:nvSpPr>
        <p:spPr>
          <a:xfrm>
            <a:off x="548640" y="5385816"/>
            <a:ext cx="844906"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PyMuPDF</a:t>
            </a:r>
            <a:endParaRPr lang="en-US" sz="1150" dirty="0"/>
          </a:p>
        </p:txBody>
      </p:sp>
      <p:sp>
        <p:nvSpPr>
          <p:cNvPr id="36" name="Shape 33"/>
          <p:cNvSpPr/>
          <p:nvPr/>
        </p:nvSpPr>
        <p:spPr>
          <a:xfrm>
            <a:off x="1521562" y="5385816"/>
            <a:ext cx="760781" cy="365760"/>
          </a:xfrm>
          <a:prstGeom prst="roundRect">
            <a:avLst>
              <a:gd name="adj" fmla="val 50000"/>
            </a:avLst>
          </a:prstGeom>
          <a:solidFill>
            <a:srgbClr val="FFE600"/>
          </a:solidFill>
          <a:ln/>
        </p:spPr>
      </p:sp>
      <p:sp>
        <p:nvSpPr>
          <p:cNvPr id="37" name="Text 34"/>
          <p:cNvSpPr/>
          <p:nvPr/>
        </p:nvSpPr>
        <p:spPr>
          <a:xfrm>
            <a:off x="1521562" y="5385816"/>
            <a:ext cx="760781"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OpenCV</a:t>
            </a:r>
            <a:endParaRPr lang="en-US" sz="1150" dirty="0"/>
          </a:p>
        </p:txBody>
      </p:sp>
      <p:sp>
        <p:nvSpPr>
          <p:cNvPr id="38" name="Shape 35"/>
          <p:cNvSpPr/>
          <p:nvPr/>
        </p:nvSpPr>
        <p:spPr>
          <a:xfrm>
            <a:off x="2410358" y="5385816"/>
            <a:ext cx="1517904" cy="365760"/>
          </a:xfrm>
          <a:prstGeom prst="roundRect">
            <a:avLst>
              <a:gd name="adj" fmla="val 50000"/>
            </a:avLst>
          </a:prstGeom>
          <a:solidFill>
            <a:srgbClr val="FFE600"/>
          </a:solidFill>
          <a:ln/>
        </p:spPr>
      </p:sp>
      <p:sp>
        <p:nvSpPr>
          <p:cNvPr id="39" name="Text 36"/>
          <p:cNvSpPr/>
          <p:nvPr/>
        </p:nvSpPr>
        <p:spPr>
          <a:xfrm>
            <a:off x="2410358" y="5385816"/>
            <a:ext cx="1517904"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Tesseract (fra)</a:t>
            </a:r>
            <a:endParaRPr lang="en-US" sz="1150" dirty="0"/>
          </a:p>
        </p:txBody>
      </p:sp>
      <p:sp>
        <p:nvSpPr>
          <p:cNvPr id="40" name="Shape 37"/>
          <p:cNvSpPr/>
          <p:nvPr/>
        </p:nvSpPr>
        <p:spPr>
          <a:xfrm>
            <a:off x="4056278" y="5385816"/>
            <a:ext cx="1433779" cy="365760"/>
          </a:xfrm>
          <a:prstGeom prst="roundRect">
            <a:avLst>
              <a:gd name="adj" fmla="val 50000"/>
            </a:avLst>
          </a:prstGeom>
          <a:solidFill>
            <a:srgbClr val="FFE600"/>
          </a:solidFill>
          <a:ln/>
        </p:spPr>
      </p:sp>
      <p:sp>
        <p:nvSpPr>
          <p:cNvPr id="41" name="Text 38"/>
          <p:cNvSpPr/>
          <p:nvPr/>
        </p:nvSpPr>
        <p:spPr>
          <a:xfrm>
            <a:off x="4056278" y="5385816"/>
            <a:ext cx="1433779"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Fuzzy matching</a:t>
            </a:r>
            <a:endParaRPr lang="en-US" sz="1150" dirty="0"/>
          </a:p>
        </p:txBody>
      </p:sp>
      <p:sp>
        <p:nvSpPr>
          <p:cNvPr id="42" name="Shape 39"/>
          <p:cNvSpPr/>
          <p:nvPr/>
        </p:nvSpPr>
        <p:spPr>
          <a:xfrm>
            <a:off x="6400800" y="5074920"/>
            <a:ext cx="5239512" cy="1051560"/>
          </a:xfrm>
          <a:prstGeom prst="roundRect">
            <a:avLst>
              <a:gd name="adj" fmla="val 6957"/>
            </a:avLst>
          </a:prstGeom>
          <a:solidFill>
            <a:srgbClr val="484B54"/>
          </a:solidFill>
          <a:ln/>
        </p:spPr>
      </p:sp>
      <p:sp>
        <p:nvSpPr>
          <p:cNvPr id="43" name="Text 40"/>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4" name="Text 41"/>
          <p:cNvSpPr/>
          <p:nvPr/>
        </p:nvSpPr>
        <p:spPr>
          <a:xfrm>
            <a:off x="6629400" y="5394960"/>
            <a:ext cx="4846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Same table format as a normal PDF, so validation and KPIs run unchanged.</a:t>
            </a:r>
            <a:endParaRPr lang="en-US" sz="1300" dirty="0"/>
          </a:p>
        </p:txBody>
      </p:sp>
      <p:sp>
        <p:nvSpPr>
          <p:cNvPr id="45" name="Text 42"/>
          <p:cNvSpPr/>
          <p:nvPr/>
        </p:nvSpPr>
        <p:spPr>
          <a:xfrm>
            <a:off x="6629400" y="5742432"/>
            <a:ext cx="4846320" cy="329184"/>
          </a:xfrm>
          <a:prstGeom prst="rect">
            <a:avLst/>
          </a:prstGeom>
          <a:noFill/>
          <a:ln/>
        </p:spPr>
        <p:txBody>
          <a:bodyPr wrap="square" lIns="0" tIns="0" rIns="0" bIns="0" rtlCol="0" anchor="ctr"/>
          <a:lstStyle/>
          <a:p>
            <a:pPr indent="0" marL="0">
              <a:buNone/>
            </a:pPr>
            <a:r>
              <a:rPr lang="en-US" sz="1400" b="1" dirty="0">
                <a:solidFill>
                  <a:srgbClr val="FFE600"/>
                </a:solidFill>
                <a:latin typeface="Calibri" pitchFamily="34" charset="0"/>
                <a:ea typeface="Calibri" pitchFamily="34" charset="-122"/>
                <a:cs typeface="Calibri" pitchFamily="34" charset="-120"/>
              </a:rPr>
              <a:t>Example: AMI 2023 · Annexe 13 → 155 cells stored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D. Exceptional cases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Arabic PDFs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El Amana Takaful publishes scanned reports in Arabic (right to left), and Arabic OCR misreads digits.</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1.98230216442e+21" dist="660767388140000000000" dir="6.9984e+25">
              <a:srgbClr val="000000">
                <a:alpha val="1.4e+24"/>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Find the row</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Arabic OCR + fuzzy match on the expected Arabic label.</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2.5175237488134e+25" dist="8.391745829378e+24" dir="4.19904e+30">
              <a:srgbClr val="000000">
                <a:alpha val="1.4000000000000002e+29"/>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Find the column</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Same method on the column header.</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3.197255160993018e+29" dist="1.0657517203310059e+29" dir="2.519424e+35">
              <a:srgbClr val="000000">
                <a:alpha val="1.4000000000000003e+34"/>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Crop the cell</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Cut the exact cell out of the page image.</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4.0605140544611325e+33" dist="1.3535046848203775e+33" dir="1.5116544e+40">
              <a:srgbClr val="000000">
                <a:alpha val="1.4000000000000003e+39"/>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Read the digits</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English OCR, digits only: Tunisian reports use Western digits.</a:t>
            </a:r>
            <a:endParaRPr lang="en-US" sz="1250" dirty="0"/>
          </a:p>
        </p:txBody>
      </p:sp>
      <p:sp>
        <p:nvSpPr>
          <p:cNvPr id="33" name="Text 30"/>
          <p:cNvSpPr/>
          <p:nvPr/>
        </p:nvSpPr>
        <p:spPr>
          <a:xfrm>
            <a:off x="548640" y="507492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385816"/>
            <a:ext cx="2022653" cy="365760"/>
          </a:xfrm>
          <a:prstGeom prst="roundRect">
            <a:avLst>
              <a:gd name="adj" fmla="val 50000"/>
            </a:avLst>
          </a:prstGeom>
          <a:solidFill>
            <a:srgbClr val="FFE600"/>
          </a:solidFill>
          <a:ln/>
        </p:spPr>
      </p:sp>
      <p:sp>
        <p:nvSpPr>
          <p:cNvPr id="35" name="Text 32"/>
          <p:cNvSpPr/>
          <p:nvPr/>
        </p:nvSpPr>
        <p:spPr>
          <a:xfrm>
            <a:off x="548640" y="5385816"/>
            <a:ext cx="202265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Tesseract (ara + eng)</a:t>
            </a:r>
            <a:endParaRPr lang="en-US" sz="1150" dirty="0"/>
          </a:p>
        </p:txBody>
      </p:sp>
      <p:sp>
        <p:nvSpPr>
          <p:cNvPr id="36" name="Shape 33"/>
          <p:cNvSpPr/>
          <p:nvPr/>
        </p:nvSpPr>
        <p:spPr>
          <a:xfrm>
            <a:off x="2699309" y="5385816"/>
            <a:ext cx="1013155" cy="365760"/>
          </a:xfrm>
          <a:prstGeom prst="roundRect">
            <a:avLst>
              <a:gd name="adj" fmla="val 50000"/>
            </a:avLst>
          </a:prstGeom>
          <a:solidFill>
            <a:srgbClr val="FFE600"/>
          </a:solidFill>
          <a:ln/>
        </p:spPr>
      </p:sp>
      <p:sp>
        <p:nvSpPr>
          <p:cNvPr id="37" name="Text 34"/>
          <p:cNvSpPr/>
          <p:nvPr/>
        </p:nvSpPr>
        <p:spPr>
          <a:xfrm>
            <a:off x="2699309" y="5385816"/>
            <a:ext cx="1013155"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RapidFuzz</a:t>
            </a:r>
            <a:endParaRPr lang="en-US" sz="1150" dirty="0"/>
          </a:p>
        </p:txBody>
      </p:sp>
      <p:sp>
        <p:nvSpPr>
          <p:cNvPr id="38" name="Shape 35"/>
          <p:cNvSpPr/>
          <p:nvPr/>
        </p:nvSpPr>
        <p:spPr>
          <a:xfrm>
            <a:off x="3840480" y="5385816"/>
            <a:ext cx="760781" cy="365760"/>
          </a:xfrm>
          <a:prstGeom prst="roundRect">
            <a:avLst>
              <a:gd name="adj" fmla="val 50000"/>
            </a:avLst>
          </a:prstGeom>
          <a:solidFill>
            <a:srgbClr val="FFE600"/>
          </a:solidFill>
          <a:ln/>
        </p:spPr>
      </p:sp>
      <p:sp>
        <p:nvSpPr>
          <p:cNvPr id="39" name="Text 36"/>
          <p:cNvSpPr/>
          <p:nvPr/>
        </p:nvSpPr>
        <p:spPr>
          <a:xfrm>
            <a:off x="3840480" y="5385816"/>
            <a:ext cx="760781"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Pillow</a:t>
            </a:r>
            <a:endParaRPr lang="en-US" sz="1150" dirty="0"/>
          </a:p>
        </p:txBody>
      </p:sp>
      <p:sp>
        <p:nvSpPr>
          <p:cNvPr id="40" name="Shape 37"/>
          <p:cNvSpPr/>
          <p:nvPr/>
        </p:nvSpPr>
        <p:spPr>
          <a:xfrm>
            <a:off x="6400800" y="5074920"/>
            <a:ext cx="5239512" cy="1051560"/>
          </a:xfrm>
          <a:prstGeom prst="roundRect">
            <a:avLst>
              <a:gd name="adj" fmla="val 6957"/>
            </a:avLst>
          </a:prstGeom>
          <a:solidFill>
            <a:srgbClr val="484B54"/>
          </a:solidFill>
          <a:ln/>
        </p:spPr>
      </p:sp>
      <p:sp>
        <p:nvSpPr>
          <p:cNvPr id="41" name="Text 38"/>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2" name="Text 39"/>
          <p:cNvSpPr/>
          <p:nvPr/>
        </p:nvSpPr>
        <p:spPr>
          <a:xfrm>
            <a:off x="6629400" y="5394960"/>
            <a:ext cx="4846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Arabic is used to find, English to read, and figures are cross-checked.</a:t>
            </a:r>
            <a:endParaRPr lang="en-US" sz="1300" dirty="0"/>
          </a:p>
        </p:txBody>
      </p:sp>
      <p:sp>
        <p:nvSpPr>
          <p:cNvPr id="43" name="Text 40"/>
          <p:cNvSpPr/>
          <p:nvPr/>
        </p:nvSpPr>
        <p:spPr>
          <a:xfrm>
            <a:off x="6629400" y="5742432"/>
            <a:ext cx="4846320" cy="329184"/>
          </a:xfrm>
          <a:prstGeom prst="rect">
            <a:avLst/>
          </a:prstGeom>
          <a:noFill/>
          <a:ln/>
        </p:spPr>
        <p:txBody>
          <a:bodyPr wrap="square" lIns="0" tIns="0" rIns="0" bIns="0" rtlCol="0" anchor="ctr"/>
          <a:lstStyle/>
          <a:p>
            <a:pPr indent="0" marL="0">
              <a:buNone/>
            </a:pPr>
            <a:r>
              <a:rPr lang="en-US" sz="1400" b="1" dirty="0">
                <a:solidFill>
                  <a:srgbClr val="FFE600"/>
                </a:solidFill>
                <a:latin typeface="Calibri" pitchFamily="34" charset="0"/>
                <a:ea typeface="Calibri" pitchFamily="34" charset="-122"/>
                <a:cs typeface="Calibri" pitchFamily="34" charset="-120"/>
              </a:rPr>
              <a:t>Example: Total actif 2024 = 38 089 744 TND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The chatbot and RAG  -</a:t>
            </a:r>
            <a:endParaRPr lang="en-US" sz="2200" dirty="0"/>
          </a:p>
        </p:txBody>
      </p:sp>
      <p:sp>
        <p:nvSpPr>
          <p:cNvPr id="7" name="Shape 4"/>
          <p:cNvSpPr/>
          <p:nvPr/>
        </p:nvSpPr>
        <p:spPr>
          <a:xfrm>
            <a:off x="548640" y="2788920"/>
            <a:ext cx="1737360" cy="1005840"/>
          </a:xfrm>
          <a:prstGeom prst="roundRect">
            <a:avLst>
              <a:gd name="adj" fmla="val 7273"/>
            </a:avLst>
          </a:prstGeom>
          <a:solidFill>
            <a:srgbClr val="F2F2F2"/>
          </a:solidFill>
          <a:ln/>
          <a:effectLst>
            <a:outerShdw sx="100000" sy="100000" kx="0" ky="0" algn="bl" rotWithShape="0" blurRad="5.156852849165638e+37" dist="1.7189509497218795e+37" dir="9.069926400000001e+44">
              <a:srgbClr val="000000">
                <a:alpha val="1.4000000000000002e+44"/>
              </a:srgbClr>
            </a:outerShdw>
          </a:effectLst>
        </p:spPr>
      </p:sp>
      <p:sp>
        <p:nvSpPr>
          <p:cNvPr id="8" name="Text 5"/>
          <p:cNvSpPr/>
          <p:nvPr/>
        </p:nvSpPr>
        <p:spPr>
          <a:xfrm>
            <a:off x="676656" y="2862072"/>
            <a:ext cx="148132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Question</a:t>
            </a:r>
            <a:endParaRPr lang="en-US" sz="1400" dirty="0"/>
          </a:p>
        </p:txBody>
      </p:sp>
      <p:sp>
        <p:nvSpPr>
          <p:cNvPr id="9" name="Text 6"/>
          <p:cNvSpPr/>
          <p:nvPr/>
        </p:nvSpPr>
        <p:spPr>
          <a:xfrm>
            <a:off x="676656" y="3191256"/>
            <a:ext cx="1481328" cy="54864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in plain language</a:t>
            </a:r>
            <a:endParaRPr lang="en-US" sz="1150" dirty="0"/>
          </a:p>
        </p:txBody>
      </p:sp>
      <p:sp>
        <p:nvSpPr>
          <p:cNvPr id="10" name="Shape 7"/>
          <p:cNvSpPr/>
          <p:nvPr/>
        </p:nvSpPr>
        <p:spPr>
          <a:xfrm>
            <a:off x="2743200" y="2788920"/>
            <a:ext cx="1737360" cy="1005840"/>
          </a:xfrm>
          <a:prstGeom prst="roundRect">
            <a:avLst>
              <a:gd name="adj" fmla="val 7273"/>
            </a:avLst>
          </a:prstGeom>
          <a:solidFill>
            <a:srgbClr val="484B54"/>
          </a:solidFill>
          <a:ln/>
          <a:effectLst>
            <a:outerShdw sx="100000" sy="100000" kx="0" ky="0" algn="bl" rotWithShape="0" blurRad="6.549203118440361e+41" dist="2.183067706146787e+41" dir="5.44195584e+49">
              <a:srgbClr val="000000">
                <a:alpha val="1.4000000000000002e+49"/>
              </a:srgbClr>
            </a:outerShdw>
          </a:effectLst>
        </p:spPr>
      </p:sp>
      <p:sp>
        <p:nvSpPr>
          <p:cNvPr id="11" name="Text 8"/>
          <p:cNvSpPr/>
          <p:nvPr/>
        </p:nvSpPr>
        <p:spPr>
          <a:xfrm>
            <a:off x="2871216" y="2862072"/>
            <a:ext cx="1481328"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Router</a:t>
            </a:r>
            <a:endParaRPr lang="en-US" sz="1400" dirty="0"/>
          </a:p>
        </p:txBody>
      </p:sp>
      <p:sp>
        <p:nvSpPr>
          <p:cNvPr id="12" name="Text 9"/>
          <p:cNvSpPr/>
          <p:nvPr/>
        </p:nvSpPr>
        <p:spPr>
          <a:xfrm>
            <a:off x="2871216" y="3191256"/>
            <a:ext cx="1481328" cy="54864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reads KPI, company, year</a:t>
            </a:r>
            <a:endParaRPr lang="en-US" sz="1150" dirty="0"/>
          </a:p>
        </p:txBody>
      </p:sp>
      <p:sp>
        <p:nvSpPr>
          <p:cNvPr id="13" name="Shape 10"/>
          <p:cNvSpPr/>
          <p:nvPr/>
        </p:nvSpPr>
        <p:spPr>
          <a:xfrm>
            <a:off x="5029200" y="2194560"/>
            <a:ext cx="3931920" cy="868680"/>
          </a:xfrm>
          <a:prstGeom prst="roundRect">
            <a:avLst>
              <a:gd name="adj" fmla="val 8421"/>
            </a:avLst>
          </a:prstGeom>
          <a:solidFill>
            <a:srgbClr val="F2F2F2"/>
          </a:solidFill>
          <a:ln/>
          <a:effectLst>
            <a:outerShdw sx="100000" sy="100000" kx="0" ky="0" algn="bl" rotWithShape="0" blurRad="8.317487960419258e+45" dist="2.7724959868064195e+45" dir="3.2651735040000005e+54">
              <a:srgbClr val="000000">
                <a:alpha val="1.4e+54"/>
              </a:srgbClr>
            </a:outerShdw>
          </a:effectLst>
        </p:spPr>
      </p:sp>
      <p:sp>
        <p:nvSpPr>
          <p:cNvPr id="14" name="Text 11"/>
          <p:cNvSpPr/>
          <p:nvPr/>
        </p:nvSpPr>
        <p:spPr>
          <a:xfrm>
            <a:off x="5157216" y="226771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Figures</a:t>
            </a:r>
            <a:endParaRPr lang="en-US" sz="1400" dirty="0"/>
          </a:p>
        </p:txBody>
      </p:sp>
      <p:sp>
        <p:nvSpPr>
          <p:cNvPr id="15" name="Text 12"/>
          <p:cNvSpPr/>
          <p:nvPr/>
        </p:nvSpPr>
        <p:spPr>
          <a:xfrm>
            <a:off x="5157216" y="259689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database query (SQL, read-only)</a:t>
            </a:r>
            <a:endParaRPr lang="en-US" sz="1150" dirty="0"/>
          </a:p>
        </p:txBody>
      </p:sp>
      <p:sp>
        <p:nvSpPr>
          <p:cNvPr id="16" name="Shape 13"/>
          <p:cNvSpPr/>
          <p:nvPr/>
        </p:nvSpPr>
        <p:spPr>
          <a:xfrm>
            <a:off x="5029200" y="3246120"/>
            <a:ext cx="3931920" cy="868680"/>
          </a:xfrm>
          <a:prstGeom prst="roundRect">
            <a:avLst>
              <a:gd name="adj" fmla="val 8421"/>
            </a:avLst>
          </a:prstGeom>
          <a:solidFill>
            <a:srgbClr val="F2F2F2"/>
          </a:solidFill>
          <a:ln/>
          <a:effectLst>
            <a:outerShdw sx="100000" sy="100000" kx="0" ky="0" algn="bl" rotWithShape="0" blurRad="1.0563209709732457e+50" dist="3.5210699032441527e+49" dir="1.9591041024000004e+59">
              <a:srgbClr val="000000">
                <a:alpha val="1.4000000000000001e+59"/>
              </a:srgbClr>
            </a:outerShdw>
          </a:effectLst>
        </p:spPr>
      </p:sp>
      <p:sp>
        <p:nvSpPr>
          <p:cNvPr id="17" name="Text 14"/>
          <p:cNvSpPr/>
          <p:nvPr/>
        </p:nvSpPr>
        <p:spPr>
          <a:xfrm>
            <a:off x="5157216" y="331927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Future</a:t>
            </a:r>
            <a:endParaRPr lang="en-US" sz="1400" dirty="0"/>
          </a:p>
        </p:txBody>
      </p:sp>
      <p:sp>
        <p:nvSpPr>
          <p:cNvPr id="18" name="Text 15"/>
          <p:cNvSpPr/>
          <p:nvPr/>
        </p:nvSpPr>
        <p:spPr>
          <a:xfrm>
            <a:off x="5157216" y="364845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forecast: Prophet vs XGBoost</a:t>
            </a:r>
            <a:endParaRPr lang="en-US" sz="1150" dirty="0"/>
          </a:p>
        </p:txBody>
      </p:sp>
      <p:sp>
        <p:nvSpPr>
          <p:cNvPr id="19" name="Shape 16"/>
          <p:cNvSpPr/>
          <p:nvPr/>
        </p:nvSpPr>
        <p:spPr>
          <a:xfrm>
            <a:off x="5029200" y="4297680"/>
            <a:ext cx="3931920" cy="868680"/>
          </a:xfrm>
          <a:prstGeom prst="roundRect">
            <a:avLst>
              <a:gd name="adj" fmla="val 8421"/>
            </a:avLst>
          </a:prstGeom>
          <a:solidFill>
            <a:srgbClr val="FFE600"/>
          </a:solidFill>
          <a:ln/>
          <a:effectLst>
            <a:outerShdw sx="100000" sy="100000" kx="0" ky="0" algn="bl" rotWithShape="0" blurRad="1.341527633136022e+54" dist="4.471758777120074e+53" dir="1.1754624614400003e+64">
              <a:srgbClr val="000000">
                <a:alpha val="1.4e+64"/>
              </a:srgbClr>
            </a:outerShdw>
          </a:effectLst>
        </p:spPr>
      </p:sp>
      <p:sp>
        <p:nvSpPr>
          <p:cNvPr id="20" name="Text 17"/>
          <p:cNvSpPr/>
          <p:nvPr/>
        </p:nvSpPr>
        <p:spPr>
          <a:xfrm>
            <a:off x="5157216" y="437083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Regulation</a:t>
            </a:r>
            <a:endParaRPr lang="en-US" sz="1400" dirty="0"/>
          </a:p>
        </p:txBody>
      </p:sp>
      <p:sp>
        <p:nvSpPr>
          <p:cNvPr id="21" name="Text 18"/>
          <p:cNvSpPr/>
          <p:nvPr/>
        </p:nvSpPr>
        <p:spPr>
          <a:xfrm>
            <a:off x="5157216" y="470001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RAG on legal documents</a:t>
            </a:r>
            <a:endParaRPr lang="en-US" sz="1150" dirty="0"/>
          </a:p>
        </p:txBody>
      </p:sp>
      <p:sp>
        <p:nvSpPr>
          <p:cNvPr id="22" name="Shape 19"/>
          <p:cNvSpPr/>
          <p:nvPr/>
        </p:nvSpPr>
        <p:spPr>
          <a:xfrm>
            <a:off x="9509760" y="2788920"/>
            <a:ext cx="2130552" cy="1005840"/>
          </a:xfrm>
          <a:prstGeom prst="roundRect">
            <a:avLst>
              <a:gd name="adj" fmla="val 7273"/>
            </a:avLst>
          </a:prstGeom>
          <a:solidFill>
            <a:srgbClr val="484B54"/>
          </a:solidFill>
          <a:ln/>
          <a:effectLst>
            <a:outerShdw sx="100000" sy="100000" kx="0" ky="0" algn="bl" rotWithShape="0" blurRad="1.7037400940827478e+58" dist="5.679133646942494e+57" dir="7.052774768640002e+68">
              <a:srgbClr val="000000">
                <a:alpha val="1.4000000000000001e+69"/>
              </a:srgbClr>
            </a:outerShdw>
          </a:effectLst>
        </p:spPr>
      </p:sp>
      <p:sp>
        <p:nvSpPr>
          <p:cNvPr id="23" name="Text 20"/>
          <p:cNvSpPr/>
          <p:nvPr/>
        </p:nvSpPr>
        <p:spPr>
          <a:xfrm>
            <a:off x="9637776" y="2862072"/>
            <a:ext cx="187452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24" name="Text 21"/>
          <p:cNvSpPr/>
          <p:nvPr/>
        </p:nvSpPr>
        <p:spPr>
          <a:xfrm>
            <a:off x="9637776" y="3191256"/>
            <a:ext cx="1874520" cy="54864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with figures and sources</a:t>
            </a:r>
            <a:endParaRPr lang="en-US" sz="1150" dirty="0"/>
          </a:p>
        </p:txBody>
      </p:sp>
      <p:sp>
        <p:nvSpPr>
          <p:cNvPr id="25" name="Shape 22"/>
          <p:cNvSpPr/>
          <p:nvPr/>
        </p:nvSpPr>
        <p:spPr>
          <a:xfrm>
            <a:off x="2286000" y="3291840"/>
            <a:ext cx="457200" cy="0"/>
          </a:xfrm>
          <a:prstGeom prst="line">
            <a:avLst/>
          </a:prstGeom>
          <a:noFill/>
          <a:ln w="22225">
            <a:solidFill>
              <a:srgbClr val="9A9CA5"/>
            </a:solidFill>
            <a:prstDash val="solid"/>
            <a:tailEnd type="triangle"/>
          </a:ln>
        </p:spPr>
      </p:sp>
      <p:sp>
        <p:nvSpPr>
          <p:cNvPr id="26" name="Shape 23"/>
          <p:cNvSpPr/>
          <p:nvPr/>
        </p:nvSpPr>
        <p:spPr>
          <a:xfrm flipV="1">
            <a:off x="4480560" y="2633472"/>
            <a:ext cx="548640" cy="658368"/>
          </a:xfrm>
          <a:prstGeom prst="line">
            <a:avLst/>
          </a:prstGeom>
          <a:noFill/>
          <a:ln w="22225">
            <a:solidFill>
              <a:srgbClr val="9A9CA5"/>
            </a:solidFill>
            <a:prstDash val="solid"/>
            <a:tailEnd type="triangle"/>
          </a:ln>
        </p:spPr>
      </p:sp>
      <p:sp>
        <p:nvSpPr>
          <p:cNvPr id="27" name="Shape 24"/>
          <p:cNvSpPr/>
          <p:nvPr/>
        </p:nvSpPr>
        <p:spPr>
          <a:xfrm>
            <a:off x="4480560" y="3291840"/>
            <a:ext cx="548640" cy="384048"/>
          </a:xfrm>
          <a:prstGeom prst="line">
            <a:avLst/>
          </a:prstGeom>
          <a:noFill/>
          <a:ln w="22225">
            <a:solidFill>
              <a:srgbClr val="9A9CA5"/>
            </a:solidFill>
            <a:prstDash val="solid"/>
            <a:tailEnd type="triangle"/>
          </a:ln>
        </p:spPr>
      </p:sp>
      <p:sp>
        <p:nvSpPr>
          <p:cNvPr id="28" name="Shape 25"/>
          <p:cNvSpPr/>
          <p:nvPr/>
        </p:nvSpPr>
        <p:spPr>
          <a:xfrm>
            <a:off x="4480560" y="3291840"/>
            <a:ext cx="548640" cy="1435608"/>
          </a:xfrm>
          <a:prstGeom prst="line">
            <a:avLst/>
          </a:prstGeom>
          <a:noFill/>
          <a:ln w="22225">
            <a:solidFill>
              <a:srgbClr val="9A9CA5"/>
            </a:solidFill>
            <a:prstDash val="solid"/>
            <a:tailEnd type="triangle"/>
          </a:ln>
        </p:spPr>
      </p:sp>
      <p:sp>
        <p:nvSpPr>
          <p:cNvPr id="29" name="Shape 26"/>
          <p:cNvSpPr/>
          <p:nvPr/>
        </p:nvSpPr>
        <p:spPr>
          <a:xfrm>
            <a:off x="8961120" y="2633472"/>
            <a:ext cx="548640" cy="475488"/>
          </a:xfrm>
          <a:prstGeom prst="line">
            <a:avLst/>
          </a:prstGeom>
          <a:noFill/>
          <a:ln w="22225">
            <a:solidFill>
              <a:srgbClr val="9A9CA5"/>
            </a:solidFill>
            <a:prstDash val="solid"/>
            <a:tailEnd type="triangle"/>
          </a:ln>
        </p:spPr>
      </p:sp>
      <p:sp>
        <p:nvSpPr>
          <p:cNvPr id="30" name="Shape 27"/>
          <p:cNvSpPr/>
          <p:nvPr/>
        </p:nvSpPr>
        <p:spPr>
          <a:xfrm flipV="1">
            <a:off x="8961120" y="3291840"/>
            <a:ext cx="548640" cy="384048"/>
          </a:xfrm>
          <a:prstGeom prst="line">
            <a:avLst/>
          </a:prstGeom>
          <a:noFill/>
          <a:ln w="22225">
            <a:solidFill>
              <a:srgbClr val="9A9CA5"/>
            </a:solidFill>
            <a:prstDash val="solid"/>
            <a:tailEnd type="triangle"/>
          </a:ln>
        </p:spPr>
      </p:sp>
      <p:sp>
        <p:nvSpPr>
          <p:cNvPr id="31" name="Shape 28"/>
          <p:cNvSpPr/>
          <p:nvPr/>
        </p:nvSpPr>
        <p:spPr>
          <a:xfrm flipV="1">
            <a:off x="8961120" y="3474720"/>
            <a:ext cx="548640" cy="1252728"/>
          </a:xfrm>
          <a:prstGeom prst="line">
            <a:avLst/>
          </a:prstGeom>
          <a:noFill/>
          <a:ln w="22225">
            <a:solidFill>
              <a:srgbClr val="9A9CA5"/>
            </a:solidFill>
            <a:prstDash val="solid"/>
            <a:tailEnd type="triangle"/>
          </a:ln>
        </p:spPr>
      </p:sp>
      <p:sp>
        <p:nvSpPr>
          <p:cNvPr id="32" name="Text 29"/>
          <p:cNvSpPr/>
          <p:nvPr/>
        </p:nvSpPr>
        <p:spPr>
          <a:xfrm>
            <a:off x="548640" y="5303520"/>
            <a:ext cx="36576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RAG IN 3 STEPS</a:t>
            </a:r>
            <a:endParaRPr lang="en-US" sz="1100" dirty="0"/>
          </a:p>
        </p:txBody>
      </p:sp>
      <p:sp>
        <p:nvSpPr>
          <p:cNvPr id="33" name="Shape 30"/>
          <p:cNvSpPr/>
          <p:nvPr/>
        </p:nvSpPr>
        <p:spPr>
          <a:xfrm>
            <a:off x="548640" y="5577840"/>
            <a:ext cx="3520440" cy="914400"/>
          </a:xfrm>
          <a:prstGeom prst="roundRect">
            <a:avLst>
              <a:gd name="adj" fmla="val 8000"/>
            </a:avLst>
          </a:prstGeom>
          <a:solidFill>
            <a:srgbClr val="FFFFFF"/>
          </a:solidFill>
          <a:ln w="19050">
            <a:solidFill>
              <a:srgbClr val="484B54"/>
            </a:solidFill>
            <a:prstDash val="solid"/>
          </a:ln>
        </p:spPr>
      </p:sp>
      <p:sp>
        <p:nvSpPr>
          <p:cNvPr id="34" name="Text 31"/>
          <p:cNvSpPr/>
          <p:nvPr/>
        </p:nvSpPr>
        <p:spPr>
          <a:xfrm>
            <a:off x="685800"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1  Retrieve</a:t>
            </a:r>
            <a:endParaRPr lang="en-US" sz="1350" dirty="0"/>
          </a:p>
        </p:txBody>
      </p:sp>
      <p:sp>
        <p:nvSpPr>
          <p:cNvPr id="35" name="Text 32"/>
          <p:cNvSpPr/>
          <p:nvPr/>
        </p:nvSpPr>
        <p:spPr>
          <a:xfrm>
            <a:off x="685800"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3 best passages among 11 legal texts and 106 CGA report extracts</a:t>
            </a:r>
            <a:endParaRPr lang="en-US" sz="1200" dirty="0"/>
          </a:p>
        </p:txBody>
      </p:sp>
      <p:sp>
        <p:nvSpPr>
          <p:cNvPr id="36" name="Shape 33"/>
          <p:cNvSpPr/>
          <p:nvPr/>
        </p:nvSpPr>
        <p:spPr>
          <a:xfrm>
            <a:off x="4096512" y="6035040"/>
            <a:ext cx="210312" cy="0"/>
          </a:xfrm>
          <a:prstGeom prst="line">
            <a:avLst/>
          </a:prstGeom>
          <a:noFill/>
          <a:ln w="22225">
            <a:solidFill>
              <a:srgbClr val="9A9CA5"/>
            </a:solidFill>
            <a:prstDash val="solid"/>
            <a:tailEnd type="triangle"/>
          </a:ln>
        </p:spPr>
      </p:sp>
      <p:sp>
        <p:nvSpPr>
          <p:cNvPr id="37" name="Shape 34"/>
          <p:cNvSpPr/>
          <p:nvPr/>
        </p:nvSpPr>
        <p:spPr>
          <a:xfrm>
            <a:off x="4334256" y="5577840"/>
            <a:ext cx="3520440" cy="914400"/>
          </a:xfrm>
          <a:prstGeom prst="roundRect">
            <a:avLst>
              <a:gd name="adj" fmla="val 8000"/>
            </a:avLst>
          </a:prstGeom>
          <a:solidFill>
            <a:srgbClr val="FFFFFF"/>
          </a:solidFill>
          <a:ln w="19050">
            <a:solidFill>
              <a:srgbClr val="484B54"/>
            </a:solidFill>
            <a:prstDash val="solid"/>
          </a:ln>
        </p:spPr>
      </p:sp>
      <p:sp>
        <p:nvSpPr>
          <p:cNvPr id="38" name="Text 35"/>
          <p:cNvSpPr/>
          <p:nvPr/>
        </p:nvSpPr>
        <p:spPr>
          <a:xfrm>
            <a:off x="4471416"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2  Read</a:t>
            </a:r>
            <a:endParaRPr lang="en-US" sz="1350" dirty="0"/>
          </a:p>
        </p:txBody>
      </p:sp>
      <p:sp>
        <p:nvSpPr>
          <p:cNvPr id="39" name="Text 36"/>
          <p:cNvSpPr/>
          <p:nvPr/>
        </p:nvSpPr>
        <p:spPr>
          <a:xfrm>
            <a:off x="4471416"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LLM receives only these passages</a:t>
            </a:r>
            <a:endParaRPr lang="en-US" sz="1200" dirty="0"/>
          </a:p>
        </p:txBody>
      </p:sp>
      <p:sp>
        <p:nvSpPr>
          <p:cNvPr id="40" name="Shape 37"/>
          <p:cNvSpPr/>
          <p:nvPr/>
        </p:nvSpPr>
        <p:spPr>
          <a:xfrm>
            <a:off x="7882128" y="6035040"/>
            <a:ext cx="210312" cy="0"/>
          </a:xfrm>
          <a:prstGeom prst="line">
            <a:avLst/>
          </a:prstGeom>
          <a:noFill/>
          <a:ln w="22225">
            <a:solidFill>
              <a:srgbClr val="9A9CA5"/>
            </a:solidFill>
            <a:prstDash val="solid"/>
            <a:tailEnd type="triangle"/>
          </a:ln>
        </p:spPr>
      </p:sp>
      <p:sp>
        <p:nvSpPr>
          <p:cNvPr id="41" name="Shape 38"/>
          <p:cNvSpPr/>
          <p:nvPr/>
        </p:nvSpPr>
        <p:spPr>
          <a:xfrm>
            <a:off x="8119872" y="5577840"/>
            <a:ext cx="3520440" cy="914400"/>
          </a:xfrm>
          <a:prstGeom prst="roundRect">
            <a:avLst>
              <a:gd name="adj" fmla="val 8000"/>
            </a:avLst>
          </a:prstGeom>
          <a:solidFill>
            <a:srgbClr val="FFFFFF"/>
          </a:solidFill>
          <a:ln w="19050">
            <a:solidFill>
              <a:srgbClr val="484B54"/>
            </a:solidFill>
            <a:prstDash val="solid"/>
          </a:ln>
        </p:spPr>
      </p:sp>
      <p:sp>
        <p:nvSpPr>
          <p:cNvPr id="42" name="Text 39"/>
          <p:cNvSpPr/>
          <p:nvPr/>
        </p:nvSpPr>
        <p:spPr>
          <a:xfrm>
            <a:off x="8257032"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3  Answer</a:t>
            </a:r>
            <a:endParaRPr lang="en-US" sz="1350" dirty="0"/>
          </a:p>
        </p:txBody>
      </p:sp>
      <p:sp>
        <p:nvSpPr>
          <p:cNvPr id="43" name="Text 40"/>
          <p:cNvSpPr/>
          <p:nvPr/>
        </p:nvSpPr>
        <p:spPr>
          <a:xfrm>
            <a:off x="8257032"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with cited sources, or says the answer is not in the documents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Generative AI · Anomaly report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Hundreds of anomalies are detected in the extracted data; a consultant needs a short, reliable report, not a list.</a:t>
            </a:r>
            <a:endParaRPr lang="en-US" sz="1400" dirty="0"/>
          </a:p>
        </p:txBody>
      </p:sp>
      <p:sp>
        <p:nvSpPr>
          <p:cNvPr id="10" name="Shape 7"/>
          <p:cNvSpPr/>
          <p:nvPr/>
        </p:nvSpPr>
        <p:spPr>
          <a:xfrm>
            <a:off x="548640"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2.16374991948509e+62" dist="7.212499731616968e+61" dir="4.2316648611840007e+73">
              <a:srgbClr val="000000">
                <a:alpha val="1.4e+74"/>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Detect</a:t>
            </a:r>
            <a:endParaRPr lang="en-US" sz="1500" dirty="0"/>
          </a:p>
        </p:txBody>
      </p:sp>
      <p:sp>
        <p:nvSpPr>
          <p:cNvPr id="14" name="Text 11"/>
          <p:cNvSpPr/>
          <p:nvPr/>
        </p:nvSpPr>
        <p:spPr>
          <a:xfrm>
            <a:off x="713232"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Rules audit the extracted data and list the anomalies.</a:t>
            </a:r>
            <a:endParaRPr lang="en-US" sz="1250" dirty="0"/>
          </a:p>
        </p:txBody>
      </p:sp>
      <p:sp>
        <p:nvSpPr>
          <p:cNvPr id="15" name="Shape 12"/>
          <p:cNvSpPr/>
          <p:nvPr/>
        </p:nvSpPr>
        <p:spPr>
          <a:xfrm>
            <a:off x="2496312" y="4018788"/>
            <a:ext cx="310896" cy="0"/>
          </a:xfrm>
          <a:prstGeom prst="line">
            <a:avLst/>
          </a:prstGeom>
          <a:noFill/>
          <a:ln w="22225">
            <a:solidFill>
              <a:srgbClr val="9A9CA5"/>
            </a:solidFill>
            <a:prstDash val="solid"/>
            <a:tailEnd type="triangle"/>
          </a:ln>
        </p:spPr>
      </p:sp>
      <p:sp>
        <p:nvSpPr>
          <p:cNvPr id="16" name="Shape 13"/>
          <p:cNvSpPr/>
          <p:nvPr/>
        </p:nvSpPr>
        <p:spPr>
          <a:xfrm>
            <a:off x="2843784"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2.747962397746064e+66" dist="9.15987465915355e+65" dir="2.5389989167104004e+78">
              <a:srgbClr val="000000">
                <a:alpha val="1.4e+79"/>
              </a:srgbClr>
            </a:outerShdw>
          </a:effectLst>
        </p:spPr>
      </p:sp>
      <p:sp>
        <p:nvSpPr>
          <p:cNvPr id="17" name="Shape 14"/>
          <p:cNvSpPr/>
          <p:nvPr/>
        </p:nvSpPr>
        <p:spPr>
          <a:xfrm>
            <a:off x="2980944" y="3264408"/>
            <a:ext cx="365760" cy="365760"/>
          </a:xfrm>
          <a:prstGeom prst="ellipse">
            <a:avLst/>
          </a:prstGeom>
          <a:solidFill>
            <a:srgbClr val="FFE600"/>
          </a:solidFill>
          <a:ln/>
        </p:spPr>
      </p:sp>
      <p:sp>
        <p:nvSpPr>
          <p:cNvPr id="18" name="Text 15"/>
          <p:cNvSpPr/>
          <p:nvPr/>
        </p:nvSpPr>
        <p:spPr>
          <a:xfrm>
            <a:off x="2980944"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3438144"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Summarise</a:t>
            </a:r>
            <a:endParaRPr lang="en-US" sz="1500" dirty="0"/>
          </a:p>
        </p:txBody>
      </p:sp>
      <p:sp>
        <p:nvSpPr>
          <p:cNvPr id="20" name="Text 17"/>
          <p:cNvSpPr/>
          <p:nvPr/>
        </p:nvSpPr>
        <p:spPr>
          <a:xfrm>
            <a:off x="3008376"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Counts, severity, most affected KPIs and a sample of real causes.</a:t>
            </a:r>
            <a:endParaRPr lang="en-US" sz="1250" dirty="0"/>
          </a:p>
        </p:txBody>
      </p:sp>
      <p:sp>
        <p:nvSpPr>
          <p:cNvPr id="21" name="Shape 18"/>
          <p:cNvSpPr/>
          <p:nvPr/>
        </p:nvSpPr>
        <p:spPr>
          <a:xfrm>
            <a:off x="4791456" y="4018788"/>
            <a:ext cx="310896" cy="0"/>
          </a:xfrm>
          <a:prstGeom prst="line">
            <a:avLst/>
          </a:prstGeom>
          <a:noFill/>
          <a:ln w="22225">
            <a:solidFill>
              <a:srgbClr val="9A9CA5"/>
            </a:solidFill>
            <a:prstDash val="solid"/>
            <a:tailEnd type="triangle"/>
          </a:ln>
        </p:spPr>
      </p:sp>
      <p:sp>
        <p:nvSpPr>
          <p:cNvPr id="22" name="Shape 19"/>
          <p:cNvSpPr/>
          <p:nvPr/>
        </p:nvSpPr>
        <p:spPr>
          <a:xfrm>
            <a:off x="5138928"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3.4899122451375014e+70" dist="1.1633040817125008e+70" dir="1.5233993500262402e+83">
              <a:srgbClr val="000000">
                <a:alpha val="1.4000000000000001e+84"/>
              </a:srgbClr>
            </a:outerShdw>
          </a:effectLst>
        </p:spPr>
      </p:sp>
      <p:sp>
        <p:nvSpPr>
          <p:cNvPr id="23" name="Shape 20"/>
          <p:cNvSpPr/>
          <p:nvPr/>
        </p:nvSpPr>
        <p:spPr>
          <a:xfrm>
            <a:off x="5276088" y="3264408"/>
            <a:ext cx="365760" cy="365760"/>
          </a:xfrm>
          <a:prstGeom prst="ellipse">
            <a:avLst/>
          </a:prstGeom>
          <a:solidFill>
            <a:srgbClr val="FFE600"/>
          </a:solidFill>
          <a:ln/>
        </p:spPr>
      </p:sp>
      <p:sp>
        <p:nvSpPr>
          <p:cNvPr id="24" name="Text 21"/>
          <p:cNvSpPr/>
          <p:nvPr/>
        </p:nvSpPr>
        <p:spPr>
          <a:xfrm>
            <a:off x="5276088"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5733288"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Write</a:t>
            </a:r>
            <a:endParaRPr lang="en-US" sz="1500" dirty="0"/>
          </a:p>
        </p:txBody>
      </p:sp>
      <p:sp>
        <p:nvSpPr>
          <p:cNvPr id="26" name="Text 23"/>
          <p:cNvSpPr/>
          <p:nvPr/>
        </p:nvSpPr>
        <p:spPr>
          <a:xfrm>
            <a:off x="5303520"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LLM drafts summary, trends and 3 recommendations (300 words max).</a:t>
            </a:r>
            <a:endParaRPr lang="en-US" sz="1250" dirty="0"/>
          </a:p>
        </p:txBody>
      </p:sp>
      <p:sp>
        <p:nvSpPr>
          <p:cNvPr id="27" name="Shape 24"/>
          <p:cNvSpPr/>
          <p:nvPr/>
        </p:nvSpPr>
        <p:spPr>
          <a:xfrm>
            <a:off x="7086600" y="4018788"/>
            <a:ext cx="310896" cy="0"/>
          </a:xfrm>
          <a:prstGeom prst="line">
            <a:avLst/>
          </a:prstGeom>
          <a:noFill/>
          <a:ln w="22225">
            <a:solidFill>
              <a:srgbClr val="9A9CA5"/>
            </a:solidFill>
            <a:prstDash val="solid"/>
            <a:tailEnd type="triangle"/>
          </a:ln>
        </p:spPr>
      </p:sp>
      <p:sp>
        <p:nvSpPr>
          <p:cNvPr id="28" name="Shape 25"/>
          <p:cNvSpPr/>
          <p:nvPr/>
        </p:nvSpPr>
        <p:spPr>
          <a:xfrm>
            <a:off x="7434072"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4.432188551324627e+74" dist="1.477396183774876e+74" dir="9.14039610015744e+87">
              <a:srgbClr val="000000">
                <a:alpha val="1.4000000000000002e+89"/>
              </a:srgbClr>
            </a:outerShdw>
          </a:effectLst>
        </p:spPr>
      </p:sp>
      <p:sp>
        <p:nvSpPr>
          <p:cNvPr id="29" name="Shape 26"/>
          <p:cNvSpPr/>
          <p:nvPr/>
        </p:nvSpPr>
        <p:spPr>
          <a:xfrm>
            <a:off x="7571232" y="3264408"/>
            <a:ext cx="365760" cy="365760"/>
          </a:xfrm>
          <a:prstGeom prst="ellipse">
            <a:avLst/>
          </a:prstGeom>
          <a:solidFill>
            <a:srgbClr val="FFE600"/>
          </a:solidFill>
          <a:ln/>
        </p:spPr>
      </p:sp>
      <p:sp>
        <p:nvSpPr>
          <p:cNvPr id="30" name="Text 27"/>
          <p:cNvSpPr/>
          <p:nvPr/>
        </p:nvSpPr>
        <p:spPr>
          <a:xfrm>
            <a:off x="7571232"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8028432"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Check</a:t>
            </a:r>
            <a:endParaRPr lang="en-US" sz="1500" dirty="0"/>
          </a:p>
        </p:txBody>
      </p:sp>
      <p:sp>
        <p:nvSpPr>
          <p:cNvPr id="32" name="Text 29"/>
          <p:cNvSpPr/>
          <p:nvPr/>
        </p:nvSpPr>
        <p:spPr>
          <a:xfrm>
            <a:off x="7598664"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Any number that is not in the facts: the text is rejected.</a:t>
            </a:r>
            <a:endParaRPr lang="en-US" sz="1250" dirty="0"/>
          </a:p>
        </p:txBody>
      </p:sp>
      <p:sp>
        <p:nvSpPr>
          <p:cNvPr id="33" name="Shape 30"/>
          <p:cNvSpPr/>
          <p:nvPr/>
        </p:nvSpPr>
        <p:spPr>
          <a:xfrm>
            <a:off x="9381744" y="4018788"/>
            <a:ext cx="310896" cy="0"/>
          </a:xfrm>
          <a:prstGeom prst="line">
            <a:avLst/>
          </a:prstGeom>
          <a:noFill/>
          <a:ln w="22225">
            <a:solidFill>
              <a:srgbClr val="9A9CA5"/>
            </a:solidFill>
            <a:prstDash val="solid"/>
            <a:tailEnd type="triangle"/>
          </a:ln>
        </p:spPr>
      </p:sp>
      <p:sp>
        <p:nvSpPr>
          <p:cNvPr id="34" name="Shape 31"/>
          <p:cNvSpPr/>
          <p:nvPr/>
        </p:nvSpPr>
        <p:spPr>
          <a:xfrm>
            <a:off x="9729216"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5.628879460182276e+78" dist="1.8762931533940924e+78" dir="5.484237660094465e+92">
              <a:srgbClr val="000000">
                <a:alpha val="1.4000000000000002e+94"/>
              </a:srgbClr>
            </a:outerShdw>
          </a:effectLst>
        </p:spPr>
      </p:sp>
      <p:sp>
        <p:nvSpPr>
          <p:cNvPr id="35" name="Shape 32"/>
          <p:cNvSpPr/>
          <p:nvPr/>
        </p:nvSpPr>
        <p:spPr>
          <a:xfrm>
            <a:off x="9866376" y="3264408"/>
            <a:ext cx="365760" cy="365760"/>
          </a:xfrm>
          <a:prstGeom prst="ellipse">
            <a:avLst/>
          </a:prstGeom>
          <a:solidFill>
            <a:srgbClr val="FFE600"/>
          </a:solidFill>
          <a:ln/>
        </p:spPr>
      </p:sp>
      <p:sp>
        <p:nvSpPr>
          <p:cNvPr id="36" name="Text 33"/>
          <p:cNvSpPr/>
          <p:nvPr/>
        </p:nvSpPr>
        <p:spPr>
          <a:xfrm>
            <a:off x="9866376"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5</a:t>
            </a:r>
            <a:endParaRPr lang="en-US" sz="1300" dirty="0"/>
          </a:p>
        </p:txBody>
      </p:sp>
      <p:sp>
        <p:nvSpPr>
          <p:cNvPr id="37" name="Text 34"/>
          <p:cNvSpPr/>
          <p:nvPr/>
        </p:nvSpPr>
        <p:spPr>
          <a:xfrm>
            <a:off x="10323576"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Assemble</a:t>
            </a:r>
            <a:endParaRPr lang="en-US" sz="1500" dirty="0"/>
          </a:p>
        </p:txBody>
      </p:sp>
      <p:sp>
        <p:nvSpPr>
          <p:cNvPr id="38" name="Text 35"/>
          <p:cNvSpPr/>
          <p:nvPr/>
        </p:nvSpPr>
        <p:spPr>
          <a:xfrm>
            <a:off x="9893808"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Narrative + computed tables; a fixed template if rejected.</a:t>
            </a:r>
            <a:endParaRPr lang="en-US" sz="1250" dirty="0"/>
          </a:p>
        </p:txBody>
      </p:sp>
      <p:sp>
        <p:nvSpPr>
          <p:cNvPr id="39" name="Text 36"/>
          <p:cNvSpPr/>
          <p:nvPr/>
        </p:nvSpPr>
        <p:spPr>
          <a:xfrm>
            <a:off x="548640" y="512064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40" name="Shape 37"/>
          <p:cNvSpPr/>
          <p:nvPr/>
        </p:nvSpPr>
        <p:spPr>
          <a:xfrm>
            <a:off x="548640" y="5431536"/>
            <a:ext cx="1854403" cy="365760"/>
          </a:xfrm>
          <a:prstGeom prst="roundRect">
            <a:avLst>
              <a:gd name="adj" fmla="val 50000"/>
            </a:avLst>
          </a:prstGeom>
          <a:solidFill>
            <a:srgbClr val="FFE600"/>
          </a:solidFill>
          <a:ln/>
        </p:spPr>
      </p:sp>
      <p:sp>
        <p:nvSpPr>
          <p:cNvPr id="41" name="Text 38"/>
          <p:cNvSpPr/>
          <p:nvPr/>
        </p:nvSpPr>
        <p:spPr>
          <a:xfrm>
            <a:off x="548640" y="5431536"/>
            <a:ext cx="185440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Groq · gpt-oss-120b</a:t>
            </a:r>
            <a:endParaRPr lang="en-US" sz="1150" dirty="0"/>
          </a:p>
        </p:txBody>
      </p:sp>
      <p:sp>
        <p:nvSpPr>
          <p:cNvPr id="42" name="Shape 39"/>
          <p:cNvSpPr/>
          <p:nvPr/>
        </p:nvSpPr>
        <p:spPr>
          <a:xfrm>
            <a:off x="2531059" y="5431536"/>
            <a:ext cx="1265530" cy="365760"/>
          </a:xfrm>
          <a:prstGeom prst="roundRect">
            <a:avLst>
              <a:gd name="adj" fmla="val 50000"/>
            </a:avLst>
          </a:prstGeom>
          <a:solidFill>
            <a:srgbClr val="FFE600"/>
          </a:solidFill>
          <a:ln/>
        </p:spPr>
      </p:sp>
      <p:sp>
        <p:nvSpPr>
          <p:cNvPr id="43" name="Text 40"/>
          <p:cNvSpPr/>
          <p:nvPr/>
        </p:nvSpPr>
        <p:spPr>
          <a:xfrm>
            <a:off x="2531059"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Python rules</a:t>
            </a:r>
            <a:endParaRPr lang="en-US" sz="1150" dirty="0"/>
          </a:p>
        </p:txBody>
      </p:sp>
      <p:sp>
        <p:nvSpPr>
          <p:cNvPr id="44" name="Shape 41"/>
          <p:cNvSpPr/>
          <p:nvPr/>
        </p:nvSpPr>
        <p:spPr>
          <a:xfrm>
            <a:off x="3924605" y="5431536"/>
            <a:ext cx="1265530" cy="365760"/>
          </a:xfrm>
          <a:prstGeom prst="roundRect">
            <a:avLst>
              <a:gd name="adj" fmla="val 50000"/>
            </a:avLst>
          </a:prstGeom>
          <a:solidFill>
            <a:srgbClr val="FFE600"/>
          </a:solidFill>
          <a:ln/>
        </p:spPr>
      </p:sp>
      <p:sp>
        <p:nvSpPr>
          <p:cNvPr id="45" name="Text 42"/>
          <p:cNvSpPr/>
          <p:nvPr/>
        </p:nvSpPr>
        <p:spPr>
          <a:xfrm>
            <a:off x="3924605"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Number check</a:t>
            </a:r>
            <a:endParaRPr lang="en-US" sz="1150" dirty="0"/>
          </a:p>
        </p:txBody>
      </p:sp>
      <p:sp>
        <p:nvSpPr>
          <p:cNvPr id="46" name="Shape 43"/>
          <p:cNvSpPr/>
          <p:nvPr/>
        </p:nvSpPr>
        <p:spPr>
          <a:xfrm>
            <a:off x="6400800" y="5074920"/>
            <a:ext cx="5239512" cy="1188720"/>
          </a:xfrm>
          <a:prstGeom prst="roundRect">
            <a:avLst>
              <a:gd name="adj" fmla="val 6154"/>
            </a:avLst>
          </a:prstGeom>
          <a:solidFill>
            <a:srgbClr val="484B54"/>
          </a:solidFill>
          <a:ln/>
        </p:spPr>
      </p:sp>
      <p:sp>
        <p:nvSpPr>
          <p:cNvPr id="47" name="Text 44"/>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8" name="Text 45"/>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story is written by the LLM, but the tables are computed and every figure is verified: the report cannot invent numbers.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Generative AI · Explain a figure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A consultant sees a number and asks: is it good? compared to what? An answer must be explained and never invented.</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14867691443149e+82" dist="2.3828923048104974e+82" dir="3.2905425960566786e+97">
              <a:srgbClr val="000000">
                <a:alpha val="1.4000000000000001e+99"/>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Ask</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In the KPI menu: “Expliquer ce chiffre”.</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9.078819681327992e+86" dist="3.0262732271093317e+86" dir="1.9743255576340073e+102">
              <a:srgbClr val="000000">
                <a:alpha val="1.4000000000000002e+104"/>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Compute the facts</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SQL gives value, change vs last year, sector average, rank.</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1.153010099528655e+91" dist="3.8433669984288512e+90" dir="1.1845953345804043e+107">
              <a:srgbClr val="000000">
                <a:alpha val="1.4e+109"/>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Write</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LLM writes 2 to 4 sentences from these facts only.</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1.4643228264013918e+95" dist="4.8810760880046414e+94" dir="7.107572007482426e+111">
              <a:srgbClr val="000000">
                <a:alpha val="1.4e+114"/>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Check</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An unknown number: a fixed template replaces the text.</a:t>
            </a:r>
            <a:endParaRPr lang="en-US" sz="1250" dirty="0"/>
          </a:p>
        </p:txBody>
      </p:sp>
      <p:sp>
        <p:nvSpPr>
          <p:cNvPr id="33" name="Text 30"/>
          <p:cNvSpPr/>
          <p:nvPr/>
        </p:nvSpPr>
        <p:spPr>
          <a:xfrm>
            <a:off x="548640" y="512064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431536"/>
            <a:ext cx="1854403" cy="365760"/>
          </a:xfrm>
          <a:prstGeom prst="roundRect">
            <a:avLst>
              <a:gd name="adj" fmla="val 50000"/>
            </a:avLst>
          </a:prstGeom>
          <a:solidFill>
            <a:srgbClr val="FFE600"/>
          </a:solidFill>
          <a:ln/>
        </p:spPr>
      </p:sp>
      <p:sp>
        <p:nvSpPr>
          <p:cNvPr id="35" name="Text 32"/>
          <p:cNvSpPr/>
          <p:nvPr/>
        </p:nvSpPr>
        <p:spPr>
          <a:xfrm>
            <a:off x="548640" y="5431536"/>
            <a:ext cx="185440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Groq · gpt-oss-120b</a:t>
            </a:r>
            <a:endParaRPr lang="en-US" sz="1150" dirty="0"/>
          </a:p>
        </p:txBody>
      </p:sp>
      <p:sp>
        <p:nvSpPr>
          <p:cNvPr id="36" name="Shape 33"/>
          <p:cNvSpPr/>
          <p:nvPr/>
        </p:nvSpPr>
        <p:spPr>
          <a:xfrm>
            <a:off x="2531059" y="5431536"/>
            <a:ext cx="508406" cy="365760"/>
          </a:xfrm>
          <a:prstGeom prst="roundRect">
            <a:avLst>
              <a:gd name="adj" fmla="val 50000"/>
            </a:avLst>
          </a:prstGeom>
          <a:solidFill>
            <a:srgbClr val="FFE600"/>
          </a:solidFill>
          <a:ln/>
        </p:spPr>
      </p:sp>
      <p:sp>
        <p:nvSpPr>
          <p:cNvPr id="37" name="Text 34"/>
          <p:cNvSpPr/>
          <p:nvPr/>
        </p:nvSpPr>
        <p:spPr>
          <a:xfrm>
            <a:off x="2531059" y="5431536"/>
            <a:ext cx="508406"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SQL</a:t>
            </a:r>
            <a:endParaRPr lang="en-US" sz="1150" dirty="0"/>
          </a:p>
        </p:txBody>
      </p:sp>
      <p:sp>
        <p:nvSpPr>
          <p:cNvPr id="38" name="Shape 35"/>
          <p:cNvSpPr/>
          <p:nvPr/>
        </p:nvSpPr>
        <p:spPr>
          <a:xfrm>
            <a:off x="3167482" y="5431536"/>
            <a:ext cx="1265530" cy="365760"/>
          </a:xfrm>
          <a:prstGeom prst="roundRect">
            <a:avLst>
              <a:gd name="adj" fmla="val 50000"/>
            </a:avLst>
          </a:prstGeom>
          <a:solidFill>
            <a:srgbClr val="FFE600"/>
          </a:solidFill>
          <a:ln/>
        </p:spPr>
      </p:sp>
      <p:sp>
        <p:nvSpPr>
          <p:cNvPr id="39" name="Text 36"/>
          <p:cNvSpPr/>
          <p:nvPr/>
        </p:nvSpPr>
        <p:spPr>
          <a:xfrm>
            <a:off x="3167482"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Number check</a:t>
            </a:r>
            <a:endParaRPr lang="en-US" sz="1150" dirty="0"/>
          </a:p>
        </p:txBody>
      </p:sp>
      <p:sp>
        <p:nvSpPr>
          <p:cNvPr id="40" name="Shape 37"/>
          <p:cNvSpPr/>
          <p:nvPr/>
        </p:nvSpPr>
        <p:spPr>
          <a:xfrm>
            <a:off x="6400800" y="5074920"/>
            <a:ext cx="5239512" cy="1188720"/>
          </a:xfrm>
          <a:prstGeom prst="roundRect">
            <a:avLst>
              <a:gd name="adj" fmla="val 6154"/>
            </a:avLst>
          </a:prstGeom>
          <a:solidFill>
            <a:srgbClr val="484B54"/>
          </a:solidFill>
          <a:ln/>
        </p:spPr>
      </p:sp>
      <p:sp>
        <p:nvSpPr>
          <p:cNvPr id="41" name="Text 38"/>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EXAMPLE</a:t>
            </a:r>
            <a:endParaRPr lang="en-US" sz="1100" dirty="0"/>
          </a:p>
        </p:txBody>
      </p:sp>
      <p:sp>
        <p:nvSpPr>
          <p:cNvPr id="42" name="Text 39"/>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Résultat technique · STAR 2024: 14,3 M TND, +212 % vs 2023 (from a negative base), sector average 16,4 M, rank 7 of 17.</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Predictive AI · Prophet vs XGBoost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Which model forecasts a KPI best? It depends on the KPI and the company, so the platform lets the models compete.</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1.8596899895297677e+99" dist="6.198966631765894e+98" dir="4.2645432044894554e+116">
              <a:srgbClr val="000000">
                <a:alpha val="1.4e+119"/>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Train</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Prophet and XGBoost learn from the yearly history of the KPI.</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2.361806286702805e+103" dist="7.872687622342685e+102" dir="2.5587259226936733e+121">
              <a:srgbClr val="000000">
                <a:alpha val="1.4e+124"/>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Test</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Time-series cross-validation: train on the past, predict the next year.</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2.999493984112562e+107" dist="9.998313280375211e+106" dir="1.535235553616204e+126">
              <a:srgbClr val="000000">
                <a:alpha val="1.4e+129"/>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Select</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Lowest error score (MAPE, RMSE) wins.</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3.809357359822954e+111" dist="1.2697857866076517e+111" dir="9.211413321697224e+130">
              <a:srgbClr val="000000">
                <a:alpha val="1.4e+134"/>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Explain</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Forecast + SHAP shows what drove it. If no history, linear regression.</a:t>
            </a:r>
            <a:endParaRPr lang="en-US" sz="1250" dirty="0"/>
          </a:p>
        </p:txBody>
      </p:sp>
      <p:sp>
        <p:nvSpPr>
          <p:cNvPr id="33" name="Text 30"/>
          <p:cNvSpPr/>
          <p:nvPr/>
        </p:nvSpPr>
        <p:spPr>
          <a:xfrm>
            <a:off x="548640" y="5074920"/>
            <a:ext cx="566928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EXAMPLE · NET RESULT · STAR (ERROR, MAPE)</a:t>
            </a:r>
            <a:endParaRPr lang="en-US" sz="1100" dirty="0"/>
          </a:p>
        </p:txBody>
      </p:sp>
      <p:sp>
        <p:nvSpPr>
          <p:cNvPr id="34" name="Text 31"/>
          <p:cNvSpPr/>
          <p:nvPr/>
        </p:nvSpPr>
        <p:spPr>
          <a:xfrm>
            <a:off x="548640" y="5413248"/>
            <a:ext cx="1005840" cy="329184"/>
          </a:xfrm>
          <a:prstGeom prst="rect">
            <a:avLst/>
          </a:prstGeom>
          <a:noFill/>
          <a:ln/>
        </p:spPr>
        <p:txBody>
          <a:bodyPr wrap="square" lIns="0" tIns="0" rIns="0" bIns="0" rtlCol="0" anchor="ctr"/>
          <a:lstStyle/>
          <a:p>
            <a:pPr indent="0" marL="0">
              <a:buNone/>
            </a:pPr>
            <a:r>
              <a:rPr lang="en-US" sz="1300" b="1" dirty="0">
                <a:solidFill>
                  <a:srgbClr val="3A3A3A"/>
                </a:solidFill>
                <a:latin typeface="Calibri" pitchFamily="34" charset="0"/>
                <a:ea typeface="Calibri" pitchFamily="34" charset="-122"/>
                <a:cs typeface="Calibri" pitchFamily="34" charset="-120"/>
              </a:rPr>
              <a:t>XGBoost</a:t>
            </a:r>
            <a:endParaRPr lang="en-US" sz="1300" dirty="0"/>
          </a:p>
        </p:txBody>
      </p:sp>
      <p:sp>
        <p:nvSpPr>
          <p:cNvPr id="35" name="Shape 32"/>
          <p:cNvSpPr/>
          <p:nvPr/>
        </p:nvSpPr>
        <p:spPr>
          <a:xfrm>
            <a:off x="1600200" y="5431536"/>
            <a:ext cx="548640" cy="292608"/>
          </a:xfrm>
          <a:prstGeom prst="rect">
            <a:avLst/>
          </a:prstGeom>
          <a:solidFill>
            <a:srgbClr val="484B54"/>
          </a:solidFill>
          <a:ln/>
        </p:spPr>
      </p:sp>
      <p:sp>
        <p:nvSpPr>
          <p:cNvPr id="36" name="Text 33"/>
          <p:cNvSpPr/>
          <p:nvPr/>
        </p:nvSpPr>
        <p:spPr>
          <a:xfrm>
            <a:off x="2240280" y="5413248"/>
            <a:ext cx="2286000" cy="329184"/>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18,1 %  ✓ selected</a:t>
            </a:r>
            <a:endParaRPr lang="en-US" sz="1250" dirty="0"/>
          </a:p>
        </p:txBody>
      </p:sp>
      <p:sp>
        <p:nvSpPr>
          <p:cNvPr id="37" name="Text 34"/>
          <p:cNvSpPr/>
          <p:nvPr/>
        </p:nvSpPr>
        <p:spPr>
          <a:xfrm>
            <a:off x="548640" y="5852160"/>
            <a:ext cx="1005840" cy="329184"/>
          </a:xfrm>
          <a:prstGeom prst="rect">
            <a:avLst/>
          </a:prstGeom>
          <a:noFill/>
          <a:ln/>
        </p:spPr>
        <p:txBody>
          <a:bodyPr wrap="square" lIns="0" tIns="0" rIns="0" bIns="0" rtlCol="0" anchor="ctr"/>
          <a:lstStyle/>
          <a:p>
            <a:pPr indent="0" marL="0">
              <a:buNone/>
            </a:pPr>
            <a:r>
              <a:rPr lang="en-US" sz="1300" b="1" dirty="0">
                <a:solidFill>
                  <a:srgbClr val="3A3A3A"/>
                </a:solidFill>
                <a:latin typeface="Calibri" pitchFamily="34" charset="0"/>
                <a:ea typeface="Calibri" pitchFamily="34" charset="-122"/>
                <a:cs typeface="Calibri" pitchFamily="34" charset="-120"/>
              </a:rPr>
              <a:t>Prophet</a:t>
            </a:r>
            <a:endParaRPr lang="en-US" sz="1300" dirty="0"/>
          </a:p>
        </p:txBody>
      </p:sp>
      <p:sp>
        <p:nvSpPr>
          <p:cNvPr id="38" name="Shape 35"/>
          <p:cNvSpPr/>
          <p:nvPr/>
        </p:nvSpPr>
        <p:spPr>
          <a:xfrm>
            <a:off x="1600200" y="5870448"/>
            <a:ext cx="2926080" cy="292608"/>
          </a:xfrm>
          <a:prstGeom prst="rect">
            <a:avLst/>
          </a:prstGeom>
          <a:solidFill>
            <a:srgbClr val="B9B9C0"/>
          </a:solidFill>
          <a:ln/>
        </p:spPr>
      </p:sp>
      <p:sp>
        <p:nvSpPr>
          <p:cNvPr id="39" name="Text 36"/>
          <p:cNvSpPr/>
          <p:nvPr/>
        </p:nvSpPr>
        <p:spPr>
          <a:xfrm>
            <a:off x="4617720" y="5852160"/>
            <a:ext cx="1188720" cy="329184"/>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96,5 %</a:t>
            </a:r>
            <a:endParaRPr lang="en-US" sz="1250" dirty="0"/>
          </a:p>
        </p:txBody>
      </p:sp>
      <p:sp>
        <p:nvSpPr>
          <p:cNvPr id="40" name="Shape 37"/>
          <p:cNvSpPr/>
          <p:nvPr/>
        </p:nvSpPr>
        <p:spPr>
          <a:xfrm>
            <a:off x="6400800" y="5074920"/>
            <a:ext cx="5239512" cy="1188720"/>
          </a:xfrm>
          <a:prstGeom prst="roundRect">
            <a:avLst>
              <a:gd name="adj" fmla="val 6154"/>
            </a:avLst>
          </a:prstGeom>
          <a:solidFill>
            <a:srgbClr val="484B54"/>
          </a:solidFill>
          <a:ln/>
        </p:spPr>
      </p:sp>
      <p:sp>
        <p:nvSpPr>
          <p:cNvPr id="41" name="Text 38"/>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2" name="Text 39"/>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XGBoost wins here and forecasts 31,59 MDT for 2026; SHAP shows the main drivers: last year's value and the time trend.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2026-09-21T22:06:21Z</dcterms:created>
  <dcterms:modified xsi:type="dcterms:W3CDTF">2026-09-21T22:06:21Z</dcterms:modified>
</cp:coreProperties>
</file>