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3.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5A5D66"/>
                </a:solidFill>
                <a:latin typeface="Calibri"/>
              </a:defRPr>
            </a:pPr>
            <a:r>
              <a:rPr sz="1300" b="0" i="0" u="none" strike="noStrike">
                <a:solidFill>
                  <a:srgbClr val="5A5D66"/>
                </a:solidFill>
                <a:latin typeface="Calibri"/>
              </a:rPr>
              <a:t>Documents collected per source</a:t>
            </a:r>
          </a:p>
        </c:rich>
      </c:tx>
      <c:layout/>
      <c:overlay val="0"/>
    </c:title>
    <c:autoTitleDeleted val="0"/>
    <c:plotArea>
      <c:layout/>
      <c:barChart>
        <c:barDir val="bar"/>
        <c:grouping val="clustered"/>
        <c:varyColors val="0"/>
        <c:ser>
          <c:idx val="0"/>
          <c:order val="0"/>
          <c:tx>
            <c:strRef>
              <c:f>Sheet1!$B$1</c:f>
              <c:strCache>
                <c:ptCount val="1"/>
                <c:pt idx="0">
                  <c:v>Documents</c:v>
                </c:pt>
              </c:strCache>
            </c:strRef>
          </c:tx>
          <c:spPr>
            <a:solidFill>
              <a:srgbClr val="33363F"/>
            </a:solidFill>
            <a:effectLst/>
          </c:spPr>
          <c:invertIfNegative val="0"/>
          <c:dLbls>
            <c:numFmt formatCode="#,##0" sourceLinked="0"/>
            <c:txPr>
              <a:bodyPr/>
              <a:lstStyle/>
              <a:p>
                <a:pPr>
                  <a:defRPr b="0" i="0" strike="noStrike" sz="1200" u="none">
                    <a:solidFill>
                      <a:srgbClr val="26282F"/>
                    </a:solidFill>
                    <a:latin typeface="Calibri"/>
                  </a:defRPr>
                </a:pPr>
              </a:p>
            </c:txPr>
            <c:showLegendKey val="0"/>
            <c:showVal val="1"/>
            <c:showCatName val="0"/>
            <c:showSerName val="0"/>
            <c:showPercent val="0"/>
            <c:showBubbleSize val="0"/>
            <c:showLeaderLines val="0"/>
          </c:dLbls>
          <c:cat>
            <c:multiLvlStrRef>
              <c:f>Sheet1!$A$2:$A$6</c:f>
              <c:multiLvlStrCache>
                <c:ptCount val="5"/>
                <c:lvl>
                  <c:pt idx="0">
                    <c:v>CMF (2020–2025)</c:v>
                  </c:pt>
                  <c:pt idx="1">
                    <c:v>INS (2000–2026)</c:v>
                  </c:pt>
                  <c:pt idx="2">
                    <c:v>BVMT (2015–2026)</c:v>
                  </c:pt>
                  <c:pt idx="3">
                    <c:v>FTUSA (2007–2024)</c:v>
                  </c:pt>
                  <c:pt idx="4">
                    <c:v>CGA (2015–2024)</c:v>
                  </c:pt>
                </c:lvl>
              </c:multiLvlStrCache>
            </c:multiLvlStrRef>
          </c:cat>
          <c:val>
            <c:numRef>
              <c:f>Sheet1!$B$2:$B$6</c:f>
              <c:numCache>
                <c:formatCode>General</c:formatCode>
                <c:ptCount val="5"/>
                <c:pt idx="0">
                  <c:v>131</c:v>
                </c:pt>
                <c:pt idx="1">
                  <c:v>27</c:v>
                </c:pt>
                <c:pt idx="2">
                  <c:v>26</c:v>
                </c:pt>
                <c:pt idx="3">
                  <c:v>18</c:v>
                </c:pt>
                <c:pt idx="4">
                  <c:v>10</c:v>
                </c:pt>
              </c:numCache>
            </c:numRef>
          </c:val>
        </c:ser>
        <c:dLbls>
          <c:numFmt formatCode="#,##0" sourceLinked="0"/>
          <c:txPr>
            <a:bodyPr/>
            <a:lstStyle/>
            <a:p>
              <a:pPr>
                <a:defRPr b="0" i="0" strike="noStrike" sz="1200" u="none">
                  <a:solidFill>
                    <a:srgbClr val="26282F"/>
                  </a:solidFill>
                  <a:latin typeface="Calibri"/>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26282F"/>
                </a:solidFill>
                <a:latin typeface="Calibri"/>
              </a:defRPr>
            </a:pPr>
            <a:endParaRPr lang="en-US"/>
          </a:p>
        </c:txPr>
        <c:crossAx val="2094734552"/>
        <c:crosses val="autoZero"/>
        <c:auto val="1"/>
        <c:lblAlgn val="ctr"/>
        <c:noMultiLvlLbl val="1"/>
      </c:catAx>
      <c:valAx>
        <c:axId val="2094734552"/>
        <c:scaling>
          <c:orientation val="minMax"/>
          <c:max val="16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Cells</c:v>
                </c:pt>
              </c:strCache>
            </c:strRef>
          </c:tx>
          <c:spPr>
            <a:solidFill>
              <a:srgbClr val="33363F"/>
            </a:solidFill>
            <a:effectLst/>
          </c:spPr>
          <c:invertIfNegative val="0"/>
          <c:dLbls>
            <c:numFmt formatCode="#,##0" sourceLinked="0"/>
            <c:txPr>
              <a:bodyPr/>
              <a:lstStyle/>
              <a:p>
                <a:pPr>
                  <a:defRPr b="0" i="0" strike="noStrike" sz="1150" u="none">
                    <a:solidFill>
                      <a:srgbClr val="26282F"/>
                    </a:solidFill>
                    <a:latin typeface="Calibri"/>
                  </a:defRPr>
                </a:pPr>
              </a:p>
            </c:txPr>
            <c:showLegendKey val="0"/>
            <c:showVal val="1"/>
            <c:showCatName val="0"/>
            <c:showSerName val="0"/>
            <c:showPercent val="0"/>
            <c:showBubbleSize val="0"/>
            <c:showLeaderLines val="0"/>
          </c:dLbls>
          <c:cat>
            <c:multiLvlStrRef>
              <c:f>Sheet1!$A$2:$A$11</c:f>
              <c:multiLvlStrCache>
                <c:ptCount val="10"/>
                <c:lvl>
                  <c:pt idx="0">
                    <c:v>Balance sheet · assets</c:v>
                  </c:pt>
                  <c:pt idx="1">
                    <c:v>Annex 13 · non-life</c:v>
                  </c:pt>
                  <c:pt idx="2">
                    <c:v>Balance sheet · liabilities</c:v>
                  </c:pt>
                  <c:pt idx="3">
                    <c:v>Annex 12 · life</c:v>
                  </c:pt>
                  <c:pt idx="4">
                    <c:v>Income statement</c:v>
                  </c:pt>
                  <c:pt idx="5">
                    <c:v>Takaful · breakdown (general)</c:v>
                  </c:pt>
                  <c:pt idx="6">
                    <c:v>Takaful · surplus (general)</c:v>
                  </c:pt>
                  <c:pt idx="7">
                    <c:v>Takaful · surplus (family)</c:v>
                  </c:pt>
                  <c:pt idx="8">
                    <c:v>Takaful · breakdown (family)</c:v>
                  </c:pt>
                  <c:pt idx="9">
                    <c:v>Takaful · income statement</c:v>
                  </c:pt>
                </c:lvl>
              </c:multiLvlStrCache>
            </c:multiLvlStrRef>
          </c:cat>
          <c:val>
            <c:numRef>
              <c:f>Sheet1!$B$2:$B$11</c:f>
              <c:numCache>
                <c:formatCode>General</c:formatCode>
                <c:ptCount val="10"/>
                <c:pt idx="0">
                  <c:v>16169</c:v>
                </c:pt>
                <c:pt idx="1">
                  <c:v>14211</c:v>
                </c:pt>
                <c:pt idx="2">
                  <c:v>7435</c:v>
                </c:pt>
                <c:pt idx="3">
                  <c:v>4480</c:v>
                </c:pt>
                <c:pt idx="4">
                  <c:v>2871</c:v>
                </c:pt>
                <c:pt idx="5">
                  <c:v>1780</c:v>
                </c:pt>
                <c:pt idx="6">
                  <c:v>963</c:v>
                </c:pt>
                <c:pt idx="7">
                  <c:v>899</c:v>
                </c:pt>
                <c:pt idx="8">
                  <c:v>653</c:v>
                </c:pt>
                <c:pt idx="9">
                  <c:v>388</c:v>
                </c:pt>
              </c:numCache>
            </c:numRef>
          </c:val>
        </c:ser>
        <c:dLbls>
          <c:numFmt formatCode="#,##0" sourceLinked="0"/>
          <c:txPr>
            <a:bodyPr/>
            <a:lstStyle/>
            <a:p>
              <a:pPr>
                <a:defRPr b="0" i="0" strike="noStrike" sz="1150" u="none">
                  <a:solidFill>
                    <a:srgbClr val="26282F"/>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26282F"/>
                </a:solidFill>
                <a:latin typeface="Calibri"/>
              </a:defRPr>
            </a:pPr>
            <a:endParaRPr lang="en-US"/>
          </a:p>
        </c:txPr>
        <c:crossAx val="2094734552"/>
        <c:crosses val="autoZero"/>
        <c:auto val="1"/>
        <c:lblAlgn val="ctr"/>
        <c:noMultiLvlLbl val="1"/>
      </c:catAx>
      <c:valAx>
        <c:axId val="2094734552"/>
        <c:scaling>
          <c:orientation val="minMax"/>
          <c:max val="2000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33363F"/>
                </a:solidFill>
                <a:latin typeface="Cambria"/>
              </a:defRPr>
            </a:pPr>
            <a:r>
              <a:rPr sz="1600" b="0" i="0" u="none" strike="noStrike">
                <a:solidFill>
                  <a:srgbClr val="33363F"/>
                </a:solidFill>
                <a:latin typeface="Cambria"/>
              </a:rPr>
              <a:t>7,674 checks</a:t>
            </a:r>
          </a:p>
        </c:rich>
      </c:tx>
      <c:layout/>
      <c:overlay val="0"/>
    </c:title>
    <c:autoTitleDeleted val="0"/>
    <c:plotArea>
      <c:layout/>
      <c:doughnutChart>
        <c:varyColors val="1"/>
        <c:ser>
          <c:idx val="0"/>
          <c:order val="0"/>
          <c:tx>
            <c:strRef>
              <c:f>Sheet1!$B$1</c:f>
              <c:strCache>
                <c:ptCount val="1"/>
                <c:pt idx="0">
                  <c:v>Checks</c:v>
                </c:pt>
              </c:strCache>
            </c:strRef>
          </c:tx>
          <c:spPr>
            <a:solidFill>
              <a:schemeClr val="accent1"/>
            </a:solidFill>
            <a:ln w="9525" cap="flat">
              <a:solidFill>
                <a:srgbClr val="F9F9F9"/>
              </a:solidFill>
              <a:prstDash val="solid"/>
              <a:round/>
            </a:ln>
            <a:effectLst/>
          </c:spPr>
          <c:dPt>
            <c:idx val="0"/>
            <c:bubble3D val="0"/>
            <c:spPr>
              <a:solidFill>
                <a:srgbClr val="33363F"/>
              </a:solidFill>
              <a:effectLst/>
            </c:spPr>
          </c:dPt>
          <c:dPt>
            <c:idx val="1"/>
            <c:bubble3D val="0"/>
            <c:spPr>
              <a:solidFill>
                <a:srgbClr val="FFE600"/>
              </a:solidFill>
              <a:effectLst/>
            </c:spPr>
          </c:dPt>
          <c:dPt>
            <c:idx val="2"/>
            <c:bubble3D val="0"/>
            <c:spPr>
              <a:solidFill>
                <a:srgbClr val="C7CBD0"/>
              </a:solidFill>
              <a:effectLst/>
            </c:spPr>
          </c:dPt>
          <c:dLbls>
            <c:dLbl>
              <c:idx val="0"/>
              <c:numFmt formatCode="General" sourceLinked="0"/>
              <c:spPr/>
              <c:txPr>
                <a:bodyPr/>
                <a:lstStyle/>
                <a:p>
                  <a:pPr>
                    <a:defRPr sz="1300" b="1" i="0" u="none" strike="noStrike">
                      <a:solidFill>
                        <a:srgbClr val="26282F"/>
                      </a:solidFill>
                      <a:latin typeface="Calibri"/>
                    </a:defRPr>
                  </a:pPr>
                </a:p>
              </c:txPr>
              <c:showLegendKey val="0"/>
              <c:showVal val="0"/>
              <c:showCatName val="0"/>
              <c:showSerName val="0"/>
              <c:showPercent val="0"/>
              <c:showBubbleSize val="0"/>
            </c:dLbl>
            <c:dLbl>
              <c:idx val="1"/>
              <c:numFmt formatCode="General" sourceLinked="0"/>
              <c:spPr/>
              <c:txPr>
                <a:bodyPr/>
                <a:lstStyle/>
                <a:p>
                  <a:pPr>
                    <a:defRPr sz="1300" b="1" i="0" u="none" strike="noStrike">
                      <a:solidFill>
                        <a:srgbClr val="26282F"/>
                      </a:solidFill>
                      <a:latin typeface="Calibri"/>
                    </a:defRPr>
                  </a:pPr>
                </a:p>
              </c:txPr>
              <c:showLegendKey val="0"/>
              <c:showVal val="0"/>
              <c:showCatName val="0"/>
              <c:showSerName val="0"/>
              <c:showPercent val="0"/>
              <c:showBubbleSize val="0"/>
            </c:dLbl>
            <c:dLbl>
              <c:idx val="2"/>
              <c:numFmt formatCode="General" sourceLinked="0"/>
              <c:spPr/>
              <c:txPr>
                <a:bodyPr/>
                <a:lstStyle/>
                <a:p>
                  <a:pPr>
                    <a:defRPr sz="1300" b="1" i="0" u="none" strike="noStrike">
                      <a:solidFill>
                        <a:srgbClr val="26282F"/>
                      </a:solidFill>
                      <a:latin typeface="Calibri"/>
                    </a:defRPr>
                  </a:pPr>
                </a:p>
              </c:txPr>
              <c:showLegendKey val="0"/>
              <c:showVal val="0"/>
              <c:showCatName val="0"/>
              <c:showSerName val="0"/>
              <c:showPercent val="0"/>
              <c:showBubbleSize val="0"/>
            </c:dLbl>
            <c:numFmt formatCode="General"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Pass · 55%</c:v>
                </c:pt>
                <c:pt idx="1">
                  <c:v>Gap found · 13%</c:v>
                </c:pt>
                <c:pt idx="2">
                  <c:v>Data missing · 32%</c:v>
                </c:pt>
              </c:strCache>
            </c:strRef>
          </c:cat>
          <c:val>
            <c:numRef>
              <c:f>Sheet1!$B$2:$B$4</c:f>
              <c:numCache>
                <c:ptCount val="3"/>
                <c:pt idx="0">
                  <c:v>4202</c:v>
                </c:pt>
                <c:pt idx="1">
                  <c:v>979</c:v>
                </c:pt>
                <c:pt idx="2">
                  <c:v>2493</c:v>
                </c:pt>
              </c:numCache>
            </c:numRef>
          </c:val>
        </c:ser>
        <c:firstSliceAng val="0"/>
        <c:holeSize val="58"/>
      </c:doughnutChart>
      <c:spPr>
        <a:noFill/>
        <a:ln>
          <a:noFill/>
        </a:ln>
        <a:effectLst/>
      </c:spPr>
    </c:plotArea>
    <c:legend>
      <c:legendPos val="b"/>
      <c:overlay val="0"/>
      <c:txPr>
        <a:bodyPr/>
        <a:lstStyle/>
        <a:p>
          <a:pPr>
            <a:defRPr sz="1300">
              <a:solidFill>
                <a:srgbClr val="26282F"/>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pipeline has six stages: collect, extract, validate, store, compute the KPIs, and deliver. The figures under each stage are real, taken from the live database. 212 documents were collected from five report sources. 49,849 cells were extracted across ten table types. 7,674 accounting checks were run. Everything sits in MySQL for 24 companies, and 10,057 KPI values are computed. In the next slides I follow one single figure through all six stages: the total assets of ASTREE for 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Collection starts with one automated scraper per source. Here is the CMF one, built with Selenium. It opens the portal in an invisible browser, selects the company, runs the search, keeps only the annual reports, removes duplicates, checks that the PDF link really answers, and saves the metadata. The portal is sometimes slow, so the code retries the whole sequence up to three times, as you can see in the real code on the right. For example, ASTREE 2025 gives the file astree underscore efd311225 dot pdf, saved as document number 62.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Management page of the platform shows the result. All 131 CMF reports that were expected are collected, 100 percent. On the right, the number of documents per source. The orchestrator gives each source three attempts, waiting two, four and eight seconds between them, and a source that fails never stops the others. This is what makes the collection safe to run on a schedule.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Extraction turns a PDF page into structured cells. On the left is the real page 2 of the ASTREE 2025 report, the balance sheet. The extractor reads the words with pdfplumber, groups the numbers into columns by their horizontal position, and matches each row to a canonical name so that all companies share one vocabulary. On the right are the four cells stored for the total assets row: gross 940 million, depreciation 59 million, net 881 million, and last year's net 817 million. Scanned and Arabic pages go through Tesseract OCR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total the extractors have produced almost fifty thousand cells across ten table types: balance sheet assets and liabilities, annexes 12 and 13 for the technical accounts, the income statement, and five Takaful tables. Two real cases show why this is hard. ATTIJARI's balance sheet has six value columns instead of four, so the column assignment had to be fixed. And Takaful statements add a Notes column whose numbers polluted the values, so it is now stripped before reading.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extracted table is verified with accounting identities, for example net charges equal acquisition costs plus other management charges. There are 7,674 checks in the base. 4,202 pass, 55 percent. 979 show a gap, 13 percent, and 2,493 could not be run because a component is missing, 32 percent. On the right, a real check that passes within a one dinar rounding tolerance, and a real check that catches a gap of almost 90 million on the STAR balance sheet. The pipeline flags these cases instead of hiding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is stored in MySQL in four linked tables. Documents, 212 of them, point to their cells, 49,849. Validations, 7,674, and KPI values, 10,057, are both derived from the cells. Each box shows the real ASTREE row: the document, the total assets cell, the KPI, and one validation. Because every value keeps its document, table, row and column, any figure can be traced back to the 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KPIs are computed from the stored cells, with one definition per KPI. For ASTREE 2025, premiums are 86.4 million for life plus 190.9 million for non-life, 277.3 million in total. The combined ratio, 77.9 percent, is the loss ratio, 61.7 percent, plus the expense ratio, 16.3 percent. Below, the real Data Quality page shows the same figures for ASTREE, and each value carries a status: extracted, calculated, not extracted, not calculated, or aberrant.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Beyond the checks, the pipeline audits itself. For 2024, the anomaly report finds 42 anomalies across 11 companies, none critical, and classifies them by the stage where they occur: PDF section probably not extracted, missing component, or extraction failed. Below, the anomaly list for 2025 shows real cases: balance sheets where total assets do not equal equity plus liabilities. Each anomaly points to its likely cause and links to the source PDF for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guarantee is traceability. From any KPI, one click opens the source PDF at the right page with the cell highlighted. Here, ASTREE total assets 2025, 881.08 million dinars, is found on page 2, in the Net column of the Total de l'Actif row, and the row is highlighted in the PDF. The panel on the left shows the table, the row label, the column and the page that were used. This is what makes the numbers auditable by a consultant.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pipeline runs unattended. A scheduler starts the orchestrator, which runs each source with up to three attempts, then a quality check, and finally writes an HTML run report and can send an alert. In parallel, a watcher thread checks every 30 minutes for news, regulatory texts and new documents. On the right are real log lines from a run on September 9: the CGA, INS and BVMT sources succeed on the first attempt, and the KPI extraction saved 4,530 values from 216 documents.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the data is delivered three ways. Dashboards, such as the Data Quality page you saw. An Excel export, chosen by year, table and company, with one sheet per company and one table per annex. And a chatbot that answers questions on the same data. Below is the real Data Management page: filters by year, table type and company, then one click to generate the Excel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be transparent, here are the limits. 32 percent of the checks could not run because a component was missing; the pipeline flags them instead of guessing. The Annex 13 extraction reaches 97.1 percent, 68 out of 70 documents. And the Arabic-only Takaful company is only covered for its balance sheet. Next steps: extend Arabic coverage, and raise the share of checks that can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3-1.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5486400" cy="274320"/>
          </a:xfrm>
          <a:prstGeom prst="rect">
            <a:avLst/>
          </a:prstGeom>
          <a:noFill/>
          <a:ln/>
        </p:spPr>
        <p:txBody>
          <a:bodyPr wrap="square" lIns="0" tIns="0" rIns="0" bIns="0" rtlCol="0" anchor="ctr"/>
          <a:lstStyle/>
          <a:p>
            <a:pPr indent="0" marL="0">
              <a:buNone/>
            </a:pPr>
            <a:r>
              <a:rPr lang="en-US" sz="1200" b="1" spc="200" kern="0" dirty="0">
                <a:solidFill>
                  <a:srgbClr val="8B8B90"/>
                </a:solidFill>
                <a:latin typeface="Calibri" pitchFamily="34" charset="0"/>
                <a:ea typeface="Calibri" pitchFamily="34" charset="-122"/>
                <a:cs typeface="Calibri" pitchFamily="34" charset="-120"/>
              </a:rPr>
              <a:t>DATA PIPELINE</a:t>
            </a:r>
            <a:endParaRPr lang="en-US" sz="1200" dirty="0"/>
          </a:p>
        </p:txBody>
      </p:sp>
      <p:sp>
        <p:nvSpPr>
          <p:cNvPr id="3" name="Text 1"/>
          <p:cNvSpPr/>
          <p:nvPr/>
        </p:nvSpPr>
        <p:spPr>
          <a:xfrm>
            <a:off x="548640" y="658368"/>
            <a:ext cx="11064240" cy="640080"/>
          </a:xfrm>
          <a:prstGeom prst="rect">
            <a:avLst/>
          </a:prstGeom>
          <a:noFill/>
          <a:ln/>
        </p:spPr>
        <p:txBody>
          <a:bodyPr wrap="square" lIns="0" tIns="0" rIns="0" bIns="0" rtlCol="0" anchor="ctr"/>
          <a:lstStyle/>
          <a:p>
            <a:pPr indent="0" marL="0">
              <a:buNone/>
            </a:pPr>
            <a:r>
              <a:rPr lang="en-US" sz="3000" b="1" dirty="0">
                <a:solidFill>
                  <a:srgbClr val="33363F"/>
                </a:solidFill>
                <a:latin typeface="Cambria" pitchFamily="34" charset="0"/>
                <a:ea typeface="Cambria" pitchFamily="34" charset="-122"/>
                <a:cs typeface="Cambria" pitchFamily="34" charset="-120"/>
              </a:rPr>
              <a:t>From Raw PDFs to Trusted KPIs — The Pipeline</a:t>
            </a:r>
            <a:endParaRPr lang="en-US" sz="3000" dirty="0"/>
          </a:p>
        </p:txBody>
      </p:sp>
      <p:sp>
        <p:nvSpPr>
          <p:cNvPr id="4" name="Text 2"/>
          <p:cNvSpPr/>
          <p:nvPr/>
        </p:nvSpPr>
        <p:spPr>
          <a:xfrm>
            <a:off x="11612880" y="6510528"/>
            <a:ext cx="457200" cy="274320"/>
          </a:xfrm>
          <a:prstGeom prst="rect">
            <a:avLst/>
          </a:prstGeom>
          <a:noFill/>
          <a:ln/>
        </p:spPr>
        <p:txBody>
          <a:bodyPr wrap="square" rtlCol="0" anchor="ctr"/>
          <a:lstStyle/>
          <a:p>
            <a:pPr algn="r" indent="0" marL="0">
              <a:buNone/>
            </a:pPr>
            <a:r>
              <a:rPr lang="en-US" sz="1000" dirty="0">
                <a:solidFill>
                  <a:srgbClr val="8B8B90"/>
                </a:solidFill>
                <a:latin typeface="Calibri" pitchFamily="34" charset="0"/>
                <a:ea typeface="Calibri" pitchFamily="34" charset="-122"/>
                <a:cs typeface="Calibri" pitchFamily="34" charset="-120"/>
              </a:rPr>
              <a:t>1</a:t>
            </a:r>
            <a:endParaRPr lang="en-US" sz="1000" dirty="0"/>
          </a:p>
        </p:txBody>
      </p:sp>
      <p:sp>
        <p:nvSpPr>
          <p:cNvPr id="6" name="Shape 3"/>
          <p:cNvSpPr/>
          <p:nvPr/>
        </p:nvSpPr>
        <p:spPr>
          <a:xfrm>
            <a:off x="548640" y="1691640"/>
            <a:ext cx="1783080" cy="777240"/>
          </a:xfrm>
          <a:prstGeom prst="homePlate">
            <a:avLst/>
          </a:prstGeom>
          <a:solidFill>
            <a:srgbClr val="33363F"/>
          </a:solidFill>
          <a:ln/>
        </p:spPr>
      </p:sp>
      <p:sp>
        <p:nvSpPr>
          <p:cNvPr id="7" name="Text 4"/>
          <p:cNvSpPr/>
          <p:nvPr/>
        </p:nvSpPr>
        <p:spPr>
          <a:xfrm>
            <a:off x="685800" y="1691640"/>
            <a:ext cx="1417320" cy="77724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Collect</a:t>
            </a:r>
            <a:endParaRPr lang="en-US" sz="1600" dirty="0"/>
          </a:p>
        </p:txBody>
      </p:sp>
      <p:sp>
        <p:nvSpPr>
          <p:cNvPr id="8" name="Shape 5"/>
          <p:cNvSpPr/>
          <p:nvPr/>
        </p:nvSpPr>
        <p:spPr>
          <a:xfrm>
            <a:off x="548640" y="2697480"/>
            <a:ext cx="1783080" cy="1600200"/>
          </a:xfrm>
          <a:prstGeom prst="roundRect">
            <a:avLst>
              <a:gd name="adj" fmla="val 4571"/>
            </a:avLst>
          </a:prstGeom>
          <a:solidFill>
            <a:srgbClr val="F5F5F6"/>
          </a:solidFill>
          <a:ln/>
        </p:spPr>
      </p:sp>
      <p:sp>
        <p:nvSpPr>
          <p:cNvPr id="9" name="Text 6"/>
          <p:cNvSpPr/>
          <p:nvPr/>
        </p:nvSpPr>
        <p:spPr>
          <a:xfrm>
            <a:off x="548640" y="2834640"/>
            <a:ext cx="1783080" cy="685800"/>
          </a:xfrm>
          <a:prstGeom prst="rect">
            <a:avLst/>
          </a:prstGeom>
          <a:noFill/>
          <a:ln/>
        </p:spPr>
        <p:txBody>
          <a:bodyPr wrap="square" lIns="0" tIns="0" rIns="0" bIns="0" rtlCol="0" anchor="ctr"/>
          <a:lstStyle/>
          <a:p>
            <a:pPr algn="ctr" indent="0" marL="0">
              <a:buNone/>
            </a:pPr>
            <a:r>
              <a:rPr lang="en-US" sz="3000" b="1" dirty="0">
                <a:solidFill>
                  <a:srgbClr val="33363F"/>
                </a:solidFill>
                <a:latin typeface="Cambria" pitchFamily="34" charset="0"/>
                <a:ea typeface="Cambria" pitchFamily="34" charset="-122"/>
                <a:cs typeface="Cambria" pitchFamily="34" charset="-120"/>
              </a:rPr>
              <a:t>212</a:t>
            </a:r>
            <a:endParaRPr lang="en-US" sz="3000" dirty="0"/>
          </a:p>
        </p:txBody>
      </p:sp>
      <p:sp>
        <p:nvSpPr>
          <p:cNvPr id="10" name="Text 7"/>
          <p:cNvSpPr/>
          <p:nvPr/>
        </p:nvSpPr>
        <p:spPr>
          <a:xfrm>
            <a:off x="640080" y="3520440"/>
            <a:ext cx="1600200" cy="685800"/>
          </a:xfrm>
          <a:prstGeom prst="rect">
            <a:avLst/>
          </a:prstGeom>
          <a:noFill/>
          <a:ln/>
        </p:spPr>
        <p:txBody>
          <a:bodyPr wrap="square" lIns="0" tIns="0" rIns="0" bIns="0" rtlCol="0" anchor="t"/>
          <a:lstStyle/>
          <a:p>
            <a:pPr algn="ctr" indent="0" marL="0">
              <a:buNone/>
            </a:pPr>
            <a:r>
              <a:rPr lang="en-US" sz="1150" dirty="0">
                <a:solidFill>
                  <a:srgbClr val="5A5D66"/>
                </a:solidFill>
                <a:latin typeface="Calibri" pitchFamily="34" charset="0"/>
                <a:ea typeface="Calibri" pitchFamily="34" charset="-122"/>
                <a:cs typeface="Calibri" pitchFamily="34" charset="-120"/>
              </a:rPr>
              <a:t>documents from</a:t>
            </a:r>
            <a:endParaRPr lang="en-US" sz="1150" dirty="0"/>
          </a:p>
          <a:p>
            <a:pPr algn="ctr" indent="0" marL="0">
              <a:buNone/>
            </a:pPr>
            <a:r>
              <a:rPr lang="en-US" sz="1150" dirty="0">
                <a:solidFill>
                  <a:srgbClr val="5A5D66"/>
                </a:solidFill>
                <a:latin typeface="Calibri" pitchFamily="34" charset="0"/>
                <a:ea typeface="Calibri" pitchFamily="34" charset="-122"/>
                <a:cs typeface="Calibri" pitchFamily="34" charset="-120"/>
              </a:rPr>
              <a:t>5 report sources</a:t>
            </a:r>
            <a:endParaRPr lang="en-US" sz="1150" dirty="0"/>
          </a:p>
        </p:txBody>
      </p:sp>
      <p:sp>
        <p:nvSpPr>
          <p:cNvPr id="11" name="Shape 8"/>
          <p:cNvSpPr/>
          <p:nvPr/>
        </p:nvSpPr>
        <p:spPr>
          <a:xfrm>
            <a:off x="2404872" y="1691640"/>
            <a:ext cx="1783080" cy="777240"/>
          </a:xfrm>
          <a:prstGeom prst="homePlate">
            <a:avLst/>
          </a:prstGeom>
          <a:solidFill>
            <a:srgbClr val="33363F"/>
          </a:solidFill>
          <a:ln/>
        </p:spPr>
      </p:sp>
      <p:sp>
        <p:nvSpPr>
          <p:cNvPr id="12" name="Text 9"/>
          <p:cNvSpPr/>
          <p:nvPr/>
        </p:nvSpPr>
        <p:spPr>
          <a:xfrm>
            <a:off x="2542032" y="1691640"/>
            <a:ext cx="1417320" cy="77724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Extract</a:t>
            </a:r>
            <a:endParaRPr lang="en-US" sz="1600" dirty="0"/>
          </a:p>
        </p:txBody>
      </p:sp>
      <p:sp>
        <p:nvSpPr>
          <p:cNvPr id="13" name="Shape 10"/>
          <p:cNvSpPr/>
          <p:nvPr/>
        </p:nvSpPr>
        <p:spPr>
          <a:xfrm>
            <a:off x="2404872" y="2697480"/>
            <a:ext cx="1783080" cy="1600200"/>
          </a:xfrm>
          <a:prstGeom prst="roundRect">
            <a:avLst>
              <a:gd name="adj" fmla="val 4571"/>
            </a:avLst>
          </a:prstGeom>
          <a:solidFill>
            <a:srgbClr val="F5F5F6"/>
          </a:solidFill>
          <a:ln/>
        </p:spPr>
      </p:sp>
      <p:sp>
        <p:nvSpPr>
          <p:cNvPr id="14" name="Text 11"/>
          <p:cNvSpPr/>
          <p:nvPr/>
        </p:nvSpPr>
        <p:spPr>
          <a:xfrm>
            <a:off x="2404872" y="2834640"/>
            <a:ext cx="1783080" cy="685800"/>
          </a:xfrm>
          <a:prstGeom prst="rect">
            <a:avLst/>
          </a:prstGeom>
          <a:noFill/>
          <a:ln/>
        </p:spPr>
        <p:txBody>
          <a:bodyPr wrap="square" lIns="0" tIns="0" rIns="0" bIns="0" rtlCol="0" anchor="ctr"/>
          <a:lstStyle/>
          <a:p>
            <a:pPr algn="ctr" indent="0" marL="0">
              <a:buNone/>
            </a:pPr>
            <a:r>
              <a:rPr lang="en-US" sz="3000" b="1" dirty="0">
                <a:solidFill>
                  <a:srgbClr val="33363F"/>
                </a:solidFill>
                <a:latin typeface="Cambria" pitchFamily="34" charset="0"/>
                <a:ea typeface="Cambria" pitchFamily="34" charset="-122"/>
                <a:cs typeface="Cambria" pitchFamily="34" charset="-120"/>
              </a:rPr>
              <a:t>49,849</a:t>
            </a:r>
            <a:endParaRPr lang="en-US" sz="3000" dirty="0"/>
          </a:p>
        </p:txBody>
      </p:sp>
      <p:sp>
        <p:nvSpPr>
          <p:cNvPr id="15" name="Text 12"/>
          <p:cNvSpPr/>
          <p:nvPr/>
        </p:nvSpPr>
        <p:spPr>
          <a:xfrm>
            <a:off x="2496312" y="3520440"/>
            <a:ext cx="1600200" cy="685800"/>
          </a:xfrm>
          <a:prstGeom prst="rect">
            <a:avLst/>
          </a:prstGeom>
          <a:noFill/>
          <a:ln/>
        </p:spPr>
        <p:txBody>
          <a:bodyPr wrap="square" lIns="0" tIns="0" rIns="0" bIns="0" rtlCol="0" anchor="t"/>
          <a:lstStyle/>
          <a:p>
            <a:pPr algn="ctr" indent="0" marL="0">
              <a:buNone/>
            </a:pPr>
            <a:r>
              <a:rPr lang="en-US" sz="1150" dirty="0">
                <a:solidFill>
                  <a:srgbClr val="5A5D66"/>
                </a:solidFill>
                <a:latin typeface="Calibri" pitchFamily="34" charset="0"/>
                <a:ea typeface="Calibri" pitchFamily="34" charset="-122"/>
                <a:cs typeface="Calibri" pitchFamily="34" charset="-120"/>
              </a:rPr>
              <a:t>cells across</a:t>
            </a:r>
            <a:endParaRPr lang="en-US" sz="1150" dirty="0"/>
          </a:p>
          <a:p>
            <a:pPr algn="ctr" indent="0" marL="0">
              <a:buNone/>
            </a:pPr>
            <a:r>
              <a:rPr lang="en-US" sz="1150" dirty="0">
                <a:solidFill>
                  <a:srgbClr val="5A5D66"/>
                </a:solidFill>
                <a:latin typeface="Calibri" pitchFamily="34" charset="0"/>
                <a:ea typeface="Calibri" pitchFamily="34" charset="-122"/>
                <a:cs typeface="Calibri" pitchFamily="34" charset="-120"/>
              </a:rPr>
              <a:t>10 table types</a:t>
            </a:r>
            <a:endParaRPr lang="en-US" sz="1150" dirty="0"/>
          </a:p>
        </p:txBody>
      </p:sp>
      <p:sp>
        <p:nvSpPr>
          <p:cNvPr id="16" name="Shape 13"/>
          <p:cNvSpPr/>
          <p:nvPr/>
        </p:nvSpPr>
        <p:spPr>
          <a:xfrm>
            <a:off x="4261104" y="1691640"/>
            <a:ext cx="1783080" cy="777240"/>
          </a:xfrm>
          <a:prstGeom prst="homePlate">
            <a:avLst/>
          </a:prstGeom>
          <a:solidFill>
            <a:srgbClr val="33363F"/>
          </a:solidFill>
          <a:ln/>
        </p:spPr>
      </p:sp>
      <p:sp>
        <p:nvSpPr>
          <p:cNvPr id="17" name="Text 14"/>
          <p:cNvSpPr/>
          <p:nvPr/>
        </p:nvSpPr>
        <p:spPr>
          <a:xfrm>
            <a:off x="4398264" y="1691640"/>
            <a:ext cx="1417320" cy="77724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Validate</a:t>
            </a:r>
            <a:endParaRPr lang="en-US" sz="1600" dirty="0"/>
          </a:p>
        </p:txBody>
      </p:sp>
      <p:sp>
        <p:nvSpPr>
          <p:cNvPr id="18" name="Shape 15"/>
          <p:cNvSpPr/>
          <p:nvPr/>
        </p:nvSpPr>
        <p:spPr>
          <a:xfrm>
            <a:off x="4261104" y="2697480"/>
            <a:ext cx="1783080" cy="1600200"/>
          </a:xfrm>
          <a:prstGeom prst="roundRect">
            <a:avLst>
              <a:gd name="adj" fmla="val 4571"/>
            </a:avLst>
          </a:prstGeom>
          <a:solidFill>
            <a:srgbClr val="F5F5F6"/>
          </a:solidFill>
          <a:ln/>
        </p:spPr>
      </p:sp>
      <p:sp>
        <p:nvSpPr>
          <p:cNvPr id="19" name="Text 16"/>
          <p:cNvSpPr/>
          <p:nvPr/>
        </p:nvSpPr>
        <p:spPr>
          <a:xfrm>
            <a:off x="4261104" y="2834640"/>
            <a:ext cx="1783080" cy="685800"/>
          </a:xfrm>
          <a:prstGeom prst="rect">
            <a:avLst/>
          </a:prstGeom>
          <a:noFill/>
          <a:ln/>
        </p:spPr>
        <p:txBody>
          <a:bodyPr wrap="square" lIns="0" tIns="0" rIns="0" bIns="0" rtlCol="0" anchor="ctr"/>
          <a:lstStyle/>
          <a:p>
            <a:pPr algn="ctr" indent="0" marL="0">
              <a:buNone/>
            </a:pPr>
            <a:r>
              <a:rPr lang="en-US" sz="3000" b="1" dirty="0">
                <a:solidFill>
                  <a:srgbClr val="33363F"/>
                </a:solidFill>
                <a:latin typeface="Cambria" pitchFamily="34" charset="0"/>
                <a:ea typeface="Cambria" pitchFamily="34" charset="-122"/>
                <a:cs typeface="Cambria" pitchFamily="34" charset="-120"/>
              </a:rPr>
              <a:t>7,674</a:t>
            </a:r>
            <a:endParaRPr lang="en-US" sz="3000" dirty="0"/>
          </a:p>
        </p:txBody>
      </p:sp>
      <p:sp>
        <p:nvSpPr>
          <p:cNvPr id="20" name="Text 17"/>
          <p:cNvSpPr/>
          <p:nvPr/>
        </p:nvSpPr>
        <p:spPr>
          <a:xfrm>
            <a:off x="4352544" y="3520440"/>
            <a:ext cx="1600200" cy="685800"/>
          </a:xfrm>
          <a:prstGeom prst="rect">
            <a:avLst/>
          </a:prstGeom>
          <a:noFill/>
          <a:ln/>
        </p:spPr>
        <p:txBody>
          <a:bodyPr wrap="square" lIns="0" tIns="0" rIns="0" bIns="0" rtlCol="0" anchor="t"/>
          <a:lstStyle/>
          <a:p>
            <a:pPr algn="ctr" indent="0" marL="0">
              <a:buNone/>
            </a:pPr>
            <a:r>
              <a:rPr lang="en-US" sz="1150" dirty="0">
                <a:solidFill>
                  <a:srgbClr val="5A5D66"/>
                </a:solidFill>
                <a:latin typeface="Calibri" pitchFamily="34" charset="0"/>
                <a:ea typeface="Calibri" pitchFamily="34" charset="-122"/>
                <a:cs typeface="Calibri" pitchFamily="34" charset="-120"/>
              </a:rPr>
              <a:t>accounting checks</a:t>
            </a:r>
            <a:endParaRPr lang="en-US" sz="1150" dirty="0"/>
          </a:p>
        </p:txBody>
      </p:sp>
      <p:sp>
        <p:nvSpPr>
          <p:cNvPr id="21" name="Shape 18"/>
          <p:cNvSpPr/>
          <p:nvPr/>
        </p:nvSpPr>
        <p:spPr>
          <a:xfrm>
            <a:off x="6117336" y="1691640"/>
            <a:ext cx="1783080" cy="777240"/>
          </a:xfrm>
          <a:prstGeom prst="homePlate">
            <a:avLst/>
          </a:prstGeom>
          <a:solidFill>
            <a:srgbClr val="33363F"/>
          </a:solidFill>
          <a:ln/>
        </p:spPr>
      </p:sp>
      <p:sp>
        <p:nvSpPr>
          <p:cNvPr id="22" name="Text 19"/>
          <p:cNvSpPr/>
          <p:nvPr/>
        </p:nvSpPr>
        <p:spPr>
          <a:xfrm>
            <a:off x="6254496" y="1691640"/>
            <a:ext cx="1417320" cy="77724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Store</a:t>
            </a:r>
            <a:endParaRPr lang="en-US" sz="1600" dirty="0"/>
          </a:p>
        </p:txBody>
      </p:sp>
      <p:sp>
        <p:nvSpPr>
          <p:cNvPr id="23" name="Shape 20"/>
          <p:cNvSpPr/>
          <p:nvPr/>
        </p:nvSpPr>
        <p:spPr>
          <a:xfrm>
            <a:off x="6117336" y="2697480"/>
            <a:ext cx="1783080" cy="1600200"/>
          </a:xfrm>
          <a:prstGeom prst="roundRect">
            <a:avLst>
              <a:gd name="adj" fmla="val 4571"/>
            </a:avLst>
          </a:prstGeom>
          <a:solidFill>
            <a:srgbClr val="F5F5F6"/>
          </a:solidFill>
          <a:ln/>
        </p:spPr>
      </p:sp>
      <p:sp>
        <p:nvSpPr>
          <p:cNvPr id="24" name="Text 21"/>
          <p:cNvSpPr/>
          <p:nvPr/>
        </p:nvSpPr>
        <p:spPr>
          <a:xfrm>
            <a:off x="6117336" y="2834640"/>
            <a:ext cx="1783080" cy="685800"/>
          </a:xfrm>
          <a:prstGeom prst="rect">
            <a:avLst/>
          </a:prstGeom>
          <a:noFill/>
          <a:ln/>
        </p:spPr>
        <p:txBody>
          <a:bodyPr wrap="square" lIns="0" tIns="0" rIns="0" bIns="0" rtlCol="0" anchor="ctr"/>
          <a:lstStyle/>
          <a:p>
            <a:pPr algn="ctr" indent="0" marL="0">
              <a:buNone/>
            </a:pPr>
            <a:r>
              <a:rPr lang="en-US" sz="3000" b="1" dirty="0">
                <a:solidFill>
                  <a:srgbClr val="33363F"/>
                </a:solidFill>
                <a:latin typeface="Cambria" pitchFamily="34" charset="0"/>
                <a:ea typeface="Cambria" pitchFamily="34" charset="-122"/>
                <a:cs typeface="Cambria" pitchFamily="34" charset="-120"/>
              </a:rPr>
              <a:t>24</a:t>
            </a:r>
            <a:endParaRPr lang="en-US" sz="3000" dirty="0"/>
          </a:p>
        </p:txBody>
      </p:sp>
      <p:sp>
        <p:nvSpPr>
          <p:cNvPr id="25" name="Text 22"/>
          <p:cNvSpPr/>
          <p:nvPr/>
        </p:nvSpPr>
        <p:spPr>
          <a:xfrm>
            <a:off x="6208776" y="3520440"/>
            <a:ext cx="1600200" cy="685800"/>
          </a:xfrm>
          <a:prstGeom prst="rect">
            <a:avLst/>
          </a:prstGeom>
          <a:noFill/>
          <a:ln/>
        </p:spPr>
        <p:txBody>
          <a:bodyPr wrap="square" lIns="0" tIns="0" rIns="0" bIns="0" rtlCol="0" anchor="t"/>
          <a:lstStyle/>
          <a:p>
            <a:pPr algn="ctr" indent="0" marL="0">
              <a:buNone/>
            </a:pPr>
            <a:r>
              <a:rPr lang="en-US" sz="1150" dirty="0">
                <a:solidFill>
                  <a:srgbClr val="5A5D66"/>
                </a:solidFill>
                <a:latin typeface="Calibri" pitchFamily="34" charset="0"/>
                <a:ea typeface="Calibri" pitchFamily="34" charset="-122"/>
                <a:cs typeface="Calibri" pitchFamily="34" charset="-120"/>
              </a:rPr>
              <a:t>companies in</a:t>
            </a:r>
            <a:endParaRPr lang="en-US" sz="1150" dirty="0"/>
          </a:p>
          <a:p>
            <a:pPr algn="ctr" indent="0" marL="0">
              <a:buNone/>
            </a:pPr>
            <a:r>
              <a:rPr lang="en-US" sz="1150" dirty="0">
                <a:solidFill>
                  <a:srgbClr val="5A5D66"/>
                </a:solidFill>
                <a:latin typeface="Calibri" pitchFamily="34" charset="0"/>
                <a:ea typeface="Calibri" pitchFamily="34" charset="-122"/>
                <a:cs typeface="Calibri" pitchFamily="34" charset="-120"/>
              </a:rPr>
              <a:t>one MySQL base</a:t>
            </a:r>
            <a:endParaRPr lang="en-US" sz="1150" dirty="0"/>
          </a:p>
        </p:txBody>
      </p:sp>
      <p:sp>
        <p:nvSpPr>
          <p:cNvPr id="26" name="Shape 23"/>
          <p:cNvSpPr/>
          <p:nvPr/>
        </p:nvSpPr>
        <p:spPr>
          <a:xfrm>
            <a:off x="7973568" y="1691640"/>
            <a:ext cx="1783080" cy="777240"/>
          </a:xfrm>
          <a:prstGeom prst="homePlate">
            <a:avLst/>
          </a:prstGeom>
          <a:solidFill>
            <a:srgbClr val="33363F"/>
          </a:solidFill>
          <a:ln/>
        </p:spPr>
      </p:sp>
      <p:sp>
        <p:nvSpPr>
          <p:cNvPr id="27" name="Text 24"/>
          <p:cNvSpPr/>
          <p:nvPr/>
        </p:nvSpPr>
        <p:spPr>
          <a:xfrm>
            <a:off x="8110728" y="1691640"/>
            <a:ext cx="1417320" cy="77724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Compute</a:t>
            </a:r>
            <a:endParaRPr lang="en-US" sz="1600" dirty="0"/>
          </a:p>
        </p:txBody>
      </p:sp>
      <p:sp>
        <p:nvSpPr>
          <p:cNvPr id="28" name="Shape 25"/>
          <p:cNvSpPr/>
          <p:nvPr/>
        </p:nvSpPr>
        <p:spPr>
          <a:xfrm>
            <a:off x="7973568" y="2697480"/>
            <a:ext cx="1783080" cy="1600200"/>
          </a:xfrm>
          <a:prstGeom prst="roundRect">
            <a:avLst>
              <a:gd name="adj" fmla="val 4571"/>
            </a:avLst>
          </a:prstGeom>
          <a:solidFill>
            <a:srgbClr val="F5F5F6"/>
          </a:solidFill>
          <a:ln/>
        </p:spPr>
      </p:sp>
      <p:sp>
        <p:nvSpPr>
          <p:cNvPr id="29" name="Text 26"/>
          <p:cNvSpPr/>
          <p:nvPr/>
        </p:nvSpPr>
        <p:spPr>
          <a:xfrm>
            <a:off x="7973568" y="2834640"/>
            <a:ext cx="1783080" cy="685800"/>
          </a:xfrm>
          <a:prstGeom prst="rect">
            <a:avLst/>
          </a:prstGeom>
          <a:noFill/>
          <a:ln/>
        </p:spPr>
        <p:txBody>
          <a:bodyPr wrap="square" lIns="0" tIns="0" rIns="0" bIns="0" rtlCol="0" anchor="ctr"/>
          <a:lstStyle/>
          <a:p>
            <a:pPr algn="ctr" indent="0" marL="0">
              <a:buNone/>
            </a:pPr>
            <a:r>
              <a:rPr lang="en-US" sz="3000" b="1" dirty="0">
                <a:solidFill>
                  <a:srgbClr val="33363F"/>
                </a:solidFill>
                <a:latin typeface="Cambria" pitchFamily="34" charset="0"/>
                <a:ea typeface="Cambria" pitchFamily="34" charset="-122"/>
                <a:cs typeface="Cambria" pitchFamily="34" charset="-120"/>
              </a:rPr>
              <a:t>10,057</a:t>
            </a:r>
            <a:endParaRPr lang="en-US" sz="3000" dirty="0"/>
          </a:p>
        </p:txBody>
      </p:sp>
      <p:sp>
        <p:nvSpPr>
          <p:cNvPr id="30" name="Text 27"/>
          <p:cNvSpPr/>
          <p:nvPr/>
        </p:nvSpPr>
        <p:spPr>
          <a:xfrm>
            <a:off x="8065008" y="3520440"/>
            <a:ext cx="1600200" cy="685800"/>
          </a:xfrm>
          <a:prstGeom prst="rect">
            <a:avLst/>
          </a:prstGeom>
          <a:noFill/>
          <a:ln/>
        </p:spPr>
        <p:txBody>
          <a:bodyPr wrap="square" lIns="0" tIns="0" rIns="0" bIns="0" rtlCol="0" anchor="t"/>
          <a:lstStyle/>
          <a:p>
            <a:pPr algn="ctr" indent="0" marL="0">
              <a:buNone/>
            </a:pPr>
            <a:r>
              <a:rPr lang="en-US" sz="1150" dirty="0">
                <a:solidFill>
                  <a:srgbClr val="5A5D66"/>
                </a:solidFill>
                <a:latin typeface="Calibri" pitchFamily="34" charset="0"/>
                <a:ea typeface="Calibri" pitchFamily="34" charset="-122"/>
                <a:cs typeface="Calibri" pitchFamily="34" charset="-120"/>
              </a:rPr>
              <a:t>KPI values</a:t>
            </a:r>
            <a:endParaRPr lang="en-US" sz="1150" dirty="0"/>
          </a:p>
        </p:txBody>
      </p:sp>
      <p:sp>
        <p:nvSpPr>
          <p:cNvPr id="31" name="Shape 28"/>
          <p:cNvSpPr/>
          <p:nvPr/>
        </p:nvSpPr>
        <p:spPr>
          <a:xfrm>
            <a:off x="9829800" y="1691640"/>
            <a:ext cx="1783080" cy="777240"/>
          </a:xfrm>
          <a:prstGeom prst="homePlate">
            <a:avLst/>
          </a:prstGeom>
          <a:solidFill>
            <a:srgbClr val="FFE600"/>
          </a:solidFill>
          <a:ln/>
        </p:spPr>
      </p:sp>
      <p:sp>
        <p:nvSpPr>
          <p:cNvPr id="32" name="Text 29"/>
          <p:cNvSpPr/>
          <p:nvPr/>
        </p:nvSpPr>
        <p:spPr>
          <a:xfrm>
            <a:off x="9966960" y="1691640"/>
            <a:ext cx="1417320" cy="777240"/>
          </a:xfrm>
          <a:prstGeom prst="rect">
            <a:avLst/>
          </a:prstGeom>
          <a:noFill/>
          <a:ln/>
        </p:spPr>
        <p:txBody>
          <a:bodyPr wrap="square" lIns="0" tIns="0" rIns="0" bIns="0" rtlCol="0" anchor="ctr"/>
          <a:lstStyle/>
          <a:p>
            <a:pPr indent="0" marL="0">
              <a:buNone/>
            </a:pPr>
            <a:r>
              <a:rPr lang="en-US" sz="1600" b="1" dirty="0">
                <a:solidFill>
                  <a:srgbClr val="33363F"/>
                </a:solidFill>
                <a:latin typeface="Cambria" pitchFamily="34" charset="0"/>
                <a:ea typeface="Cambria" pitchFamily="34" charset="-122"/>
                <a:cs typeface="Cambria" pitchFamily="34" charset="-120"/>
              </a:rPr>
              <a:t>Deliver</a:t>
            </a:r>
            <a:endParaRPr lang="en-US" sz="1600" dirty="0"/>
          </a:p>
        </p:txBody>
      </p:sp>
      <p:sp>
        <p:nvSpPr>
          <p:cNvPr id="33" name="Shape 30"/>
          <p:cNvSpPr/>
          <p:nvPr/>
        </p:nvSpPr>
        <p:spPr>
          <a:xfrm>
            <a:off x="9829800" y="2697480"/>
            <a:ext cx="1783080" cy="1600200"/>
          </a:xfrm>
          <a:prstGeom prst="roundRect">
            <a:avLst>
              <a:gd name="adj" fmla="val 4571"/>
            </a:avLst>
          </a:prstGeom>
          <a:solidFill>
            <a:srgbClr val="F5F5F6"/>
          </a:solidFill>
          <a:ln/>
        </p:spPr>
      </p:sp>
      <p:sp>
        <p:nvSpPr>
          <p:cNvPr id="34" name="Text 31"/>
          <p:cNvSpPr/>
          <p:nvPr/>
        </p:nvSpPr>
        <p:spPr>
          <a:xfrm>
            <a:off x="9829800" y="2834640"/>
            <a:ext cx="1783080" cy="685800"/>
          </a:xfrm>
          <a:prstGeom prst="rect">
            <a:avLst/>
          </a:prstGeom>
          <a:noFill/>
          <a:ln/>
        </p:spPr>
        <p:txBody>
          <a:bodyPr wrap="square" lIns="0" tIns="0" rIns="0" bIns="0" rtlCol="0" anchor="ctr"/>
          <a:lstStyle/>
          <a:p>
            <a:pPr algn="ctr" indent="0" marL="0">
              <a:buNone/>
            </a:pPr>
            <a:r>
              <a:rPr lang="en-US" sz="3000" b="1" dirty="0">
                <a:solidFill>
                  <a:srgbClr val="33363F"/>
                </a:solidFill>
                <a:latin typeface="Cambria" pitchFamily="34" charset="0"/>
                <a:ea typeface="Cambria" pitchFamily="34" charset="-122"/>
                <a:cs typeface="Cambria" pitchFamily="34" charset="-120"/>
              </a:rPr>
              <a:t>3</a:t>
            </a:r>
            <a:endParaRPr lang="en-US" sz="3000" dirty="0"/>
          </a:p>
        </p:txBody>
      </p:sp>
      <p:sp>
        <p:nvSpPr>
          <p:cNvPr id="35" name="Text 32"/>
          <p:cNvSpPr/>
          <p:nvPr/>
        </p:nvSpPr>
        <p:spPr>
          <a:xfrm>
            <a:off x="9921240" y="3520440"/>
            <a:ext cx="1600200" cy="685800"/>
          </a:xfrm>
          <a:prstGeom prst="rect">
            <a:avLst/>
          </a:prstGeom>
          <a:noFill/>
          <a:ln/>
        </p:spPr>
        <p:txBody>
          <a:bodyPr wrap="square" lIns="0" tIns="0" rIns="0" bIns="0" rtlCol="0" anchor="t"/>
          <a:lstStyle/>
          <a:p>
            <a:pPr algn="ctr" indent="0" marL="0">
              <a:buNone/>
            </a:pPr>
            <a:r>
              <a:rPr lang="en-US" sz="1150" dirty="0">
                <a:solidFill>
                  <a:srgbClr val="5A5D66"/>
                </a:solidFill>
                <a:latin typeface="Calibri" pitchFamily="34" charset="0"/>
                <a:ea typeface="Calibri" pitchFamily="34" charset="-122"/>
                <a:cs typeface="Calibri" pitchFamily="34" charset="-120"/>
              </a:rPr>
              <a:t>channels: dashboards,</a:t>
            </a:r>
            <a:endParaRPr lang="en-US" sz="1150" dirty="0"/>
          </a:p>
          <a:p>
            <a:pPr algn="ctr" indent="0" marL="0">
              <a:buNone/>
            </a:pPr>
            <a:r>
              <a:rPr lang="en-US" sz="1150" dirty="0">
                <a:solidFill>
                  <a:srgbClr val="5A5D66"/>
                </a:solidFill>
                <a:latin typeface="Calibri" pitchFamily="34" charset="0"/>
                <a:ea typeface="Calibri" pitchFamily="34" charset="-122"/>
                <a:cs typeface="Calibri" pitchFamily="34" charset="-120"/>
              </a:rPr>
              <a:t>Excel, chatbot</a:t>
            </a:r>
            <a:endParaRPr lang="en-US" sz="1150" dirty="0"/>
          </a:p>
        </p:txBody>
      </p:sp>
      <p:sp>
        <p:nvSpPr>
          <p:cNvPr id="36" name="Shape 33"/>
          <p:cNvSpPr/>
          <p:nvPr/>
        </p:nvSpPr>
        <p:spPr>
          <a:xfrm>
            <a:off x="548640" y="4663440"/>
            <a:ext cx="11064240" cy="1234440"/>
          </a:xfrm>
          <a:prstGeom prst="roundRect">
            <a:avLst>
              <a:gd name="adj" fmla="val 5926"/>
            </a:avLst>
          </a:prstGeom>
          <a:solidFill>
            <a:srgbClr val="33363F"/>
          </a:solidFill>
          <a:ln/>
        </p:spPr>
      </p:sp>
      <p:sp>
        <p:nvSpPr>
          <p:cNvPr id="37" name="Shape 34"/>
          <p:cNvSpPr/>
          <p:nvPr/>
        </p:nvSpPr>
        <p:spPr>
          <a:xfrm>
            <a:off x="868680" y="5193792"/>
            <a:ext cx="182880" cy="182880"/>
          </a:xfrm>
          <a:prstGeom prst="ellipse">
            <a:avLst/>
          </a:prstGeom>
          <a:solidFill>
            <a:srgbClr val="FFE600"/>
          </a:solidFill>
          <a:ln/>
        </p:spPr>
      </p:sp>
      <p:sp>
        <p:nvSpPr>
          <p:cNvPr id="38" name="Text 35"/>
          <p:cNvSpPr/>
          <p:nvPr/>
        </p:nvSpPr>
        <p:spPr>
          <a:xfrm>
            <a:off x="1280160" y="4663440"/>
            <a:ext cx="10058400" cy="1234440"/>
          </a:xfrm>
          <a:prstGeom prst="rect">
            <a:avLst/>
          </a:prstGeom>
          <a:noFill/>
          <a:ln/>
        </p:spPr>
        <p:txBody>
          <a:bodyPr wrap="square" lIns="0" tIns="0" rIns="0" bIns="0" rtlCol="0" anchor="ctr"/>
          <a:lstStyle/>
          <a:p>
            <a:pPr indent="0" marL="0">
              <a:buNone/>
            </a:pPr>
            <a:r>
              <a:rPr lang="en-US" sz="1300" b="1" dirty="0">
                <a:solidFill>
                  <a:srgbClr val="FFE600"/>
                </a:solidFill>
                <a:latin typeface="Calibri" pitchFamily="34" charset="0"/>
                <a:ea typeface="Calibri" pitchFamily="34" charset="-122"/>
                <a:cs typeface="Calibri" pitchFamily="34" charset="-120"/>
              </a:rPr>
              <a:t>One figure, followed end to end</a:t>
            </a:r>
            <a:endParaRPr lang="en-US" sz="1300" dirty="0"/>
          </a:p>
          <a:p>
            <a:pPr indent="0" marL="0">
              <a:buNone/>
            </a:pPr>
            <a:r>
              <a:rPr lang="en-US" sz="1600" dirty="0">
                <a:solidFill>
                  <a:srgbClr val="FFFFFF"/>
                </a:solidFill>
                <a:latin typeface="Calibri" pitchFamily="34" charset="0"/>
                <a:ea typeface="Calibri" pitchFamily="34" charset="-122"/>
                <a:cs typeface="Calibri" pitchFamily="34" charset="-120"/>
              </a:rPr>
              <a:t>ASTREE · Total assets · 2025 = 881,075,424 TND — read on page 2 of a CMF report.</a:t>
            </a:r>
            <a:endParaRPr lang="en-US" sz="1300" dirty="0"/>
          </a:p>
        </p:txBody>
      </p:sp>
      <p:sp>
        <p:nvSpPr>
          <p:cNvPr id="39" name="Text 36"/>
          <p:cNvSpPr/>
          <p:nvPr/>
        </p:nvSpPr>
        <p:spPr>
          <a:xfrm>
            <a:off x="548640" y="6172200"/>
            <a:ext cx="7315200" cy="274320"/>
          </a:xfrm>
          <a:prstGeom prst="rect">
            <a:avLst/>
          </a:prstGeom>
          <a:noFill/>
          <a:ln/>
        </p:spPr>
        <p:txBody>
          <a:bodyPr wrap="square" lIns="0" tIns="0" rIns="0" bIns="0" rtlCol="0" anchor="ctr"/>
          <a:lstStyle/>
          <a:p>
            <a:pPr indent="0" marL="0">
              <a:buNone/>
            </a:pPr>
            <a:r>
              <a:rPr lang="en-US" sz="1100" i="1" dirty="0">
                <a:solidFill>
                  <a:srgbClr val="8B8B90"/>
                </a:solidFill>
                <a:latin typeface="Calibri" pitchFamily="34" charset="0"/>
                <a:ea typeface="Calibri" pitchFamily="34" charset="-122"/>
                <a:cs typeface="Calibri" pitchFamily="34" charset="-120"/>
              </a:rPr>
              <a:t>Figures from the live database, September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5486400" cy="274320"/>
          </a:xfrm>
          <a:prstGeom prst="rect">
            <a:avLst/>
          </a:prstGeom>
          <a:noFill/>
          <a:ln/>
        </p:spPr>
        <p:txBody>
          <a:bodyPr wrap="square" lIns="0" tIns="0" rIns="0" bIns="0" rtlCol="0" anchor="ctr"/>
          <a:lstStyle/>
          <a:p>
            <a:pPr indent="0" marL="0">
              <a:buNone/>
            </a:pPr>
            <a:r>
              <a:rPr lang="en-US" sz="1200" b="1" spc="200" kern="0" dirty="0">
                <a:solidFill>
                  <a:srgbClr val="8B8B90"/>
                </a:solidFill>
                <a:latin typeface="Calibri" pitchFamily="34" charset="0"/>
                <a:ea typeface="Calibri" pitchFamily="34" charset="-122"/>
                <a:cs typeface="Calibri" pitchFamily="34" charset="-120"/>
              </a:rPr>
              <a:t>DATA PIPELINE</a:t>
            </a:r>
            <a:endParaRPr lang="en-US" sz="1200" dirty="0"/>
          </a:p>
        </p:txBody>
      </p:sp>
      <p:sp>
        <p:nvSpPr>
          <p:cNvPr id="3" name="Text 1"/>
          <p:cNvSpPr/>
          <p:nvPr/>
        </p:nvSpPr>
        <p:spPr>
          <a:xfrm>
            <a:off x="548640" y="658368"/>
            <a:ext cx="11064240" cy="640080"/>
          </a:xfrm>
          <a:prstGeom prst="rect">
            <a:avLst/>
          </a:prstGeom>
          <a:noFill/>
          <a:ln/>
        </p:spPr>
        <p:txBody>
          <a:bodyPr wrap="square" lIns="0" tIns="0" rIns="0" bIns="0" rtlCol="0" anchor="ctr"/>
          <a:lstStyle/>
          <a:p>
            <a:pPr indent="0" marL="0">
              <a:buNone/>
            </a:pPr>
            <a:r>
              <a:rPr lang="en-US" sz="3000" b="1" dirty="0">
                <a:solidFill>
                  <a:srgbClr val="33363F"/>
                </a:solidFill>
                <a:latin typeface="Cambria" pitchFamily="34" charset="0"/>
                <a:ea typeface="Cambria" pitchFamily="34" charset="-122"/>
                <a:cs typeface="Cambria" pitchFamily="34" charset="-120"/>
              </a:rPr>
              <a:t>1 · Collect — One Scraper per Source</a:t>
            </a:r>
            <a:endParaRPr lang="en-US" sz="3000" dirty="0"/>
          </a:p>
        </p:txBody>
      </p:sp>
      <p:sp>
        <p:nvSpPr>
          <p:cNvPr id="4" name="Text 2"/>
          <p:cNvSpPr/>
          <p:nvPr/>
        </p:nvSpPr>
        <p:spPr>
          <a:xfrm>
            <a:off x="11612880" y="6510528"/>
            <a:ext cx="457200" cy="274320"/>
          </a:xfrm>
          <a:prstGeom prst="rect">
            <a:avLst/>
          </a:prstGeom>
          <a:noFill/>
          <a:ln/>
        </p:spPr>
        <p:txBody>
          <a:bodyPr wrap="square" rtlCol="0" anchor="ctr"/>
          <a:lstStyle/>
          <a:p>
            <a:pPr algn="r" indent="0" marL="0">
              <a:buNone/>
            </a:pPr>
            <a:r>
              <a:rPr lang="en-US" sz="1000" dirty="0">
                <a:solidFill>
                  <a:srgbClr val="8B8B90"/>
                </a:solidFill>
                <a:latin typeface="Calibri" pitchFamily="34" charset="0"/>
                <a:ea typeface="Calibri" pitchFamily="34" charset="-122"/>
                <a:cs typeface="Calibri" pitchFamily="34" charset="-120"/>
              </a:rPr>
              <a:t>2</a:t>
            </a:r>
            <a:endParaRPr lang="en-US" sz="1000" dirty="0"/>
          </a:p>
        </p:txBody>
      </p:sp>
      <p:sp>
        <p:nvSpPr>
          <p:cNvPr id="6" name="Shape 3"/>
          <p:cNvSpPr/>
          <p:nvPr/>
        </p:nvSpPr>
        <p:spPr>
          <a:xfrm>
            <a:off x="548640" y="1645920"/>
            <a:ext cx="4206240" cy="566928"/>
          </a:xfrm>
          <a:prstGeom prst="roundRect">
            <a:avLst>
              <a:gd name="adj" fmla="val 12903"/>
            </a:avLst>
          </a:prstGeom>
          <a:solidFill>
            <a:srgbClr val="33363F"/>
          </a:solidFill>
          <a:ln/>
        </p:spPr>
      </p:sp>
      <p:sp>
        <p:nvSpPr>
          <p:cNvPr id="7" name="Shape 4"/>
          <p:cNvSpPr/>
          <p:nvPr/>
        </p:nvSpPr>
        <p:spPr>
          <a:xfrm>
            <a:off x="731520" y="1755648"/>
            <a:ext cx="347472" cy="347472"/>
          </a:xfrm>
          <a:prstGeom prst="ellipse">
            <a:avLst/>
          </a:prstGeom>
          <a:solidFill>
            <a:srgbClr val="FFE600"/>
          </a:solidFill>
          <a:ln/>
        </p:spPr>
      </p:sp>
      <p:sp>
        <p:nvSpPr>
          <p:cNvPr id="8" name="Text 5"/>
          <p:cNvSpPr/>
          <p:nvPr/>
        </p:nvSpPr>
        <p:spPr>
          <a:xfrm>
            <a:off x="731520" y="1755648"/>
            <a:ext cx="347472" cy="347472"/>
          </a:xfrm>
          <a:prstGeom prst="rect">
            <a:avLst/>
          </a:prstGeom>
          <a:noFill/>
          <a:ln/>
        </p:spPr>
        <p:txBody>
          <a:bodyPr wrap="square" lIns="0" tIns="0" rIns="0" bIns="0" rtlCol="0" anchor="ctr"/>
          <a:lstStyle/>
          <a:p>
            <a:pPr algn="ctr" indent="0" marL="0">
              <a:buNone/>
            </a:pPr>
            <a:r>
              <a:rPr lang="en-US" sz="1300" b="1" dirty="0">
                <a:solidFill>
                  <a:srgbClr val="33363F"/>
                </a:solidFill>
                <a:latin typeface="Cambria" pitchFamily="34" charset="0"/>
                <a:ea typeface="Cambria" pitchFamily="34" charset="-122"/>
                <a:cs typeface="Cambria" pitchFamily="34" charset="-120"/>
              </a:rPr>
              <a:t>1</a:t>
            </a:r>
            <a:endParaRPr lang="en-US" sz="1300" dirty="0"/>
          </a:p>
        </p:txBody>
      </p:sp>
      <p:sp>
        <p:nvSpPr>
          <p:cNvPr id="9" name="Text 6"/>
          <p:cNvSpPr/>
          <p:nvPr/>
        </p:nvSpPr>
        <p:spPr>
          <a:xfrm>
            <a:off x="1234440" y="1645920"/>
            <a:ext cx="3383280" cy="56692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Open the portal</a:t>
            </a:r>
            <a:endParaRPr lang="en-US" sz="1400" dirty="0"/>
          </a:p>
          <a:p>
            <a:pPr indent="0" marL="0">
              <a:buNone/>
            </a:pPr>
            <a:r>
              <a:rPr lang="en-US" sz="1100" dirty="0">
                <a:solidFill>
                  <a:srgbClr val="C7CBD0"/>
                </a:solidFill>
                <a:latin typeface="Calibri" pitchFamily="34" charset="0"/>
                <a:ea typeface="Calibri" pitchFamily="34" charset="-122"/>
                <a:cs typeface="Calibri" pitchFamily="34" charset="-120"/>
              </a:rPr>
              <a:t>headless Chrome</a:t>
            </a:r>
            <a:endParaRPr lang="en-US" sz="1400" dirty="0"/>
          </a:p>
        </p:txBody>
      </p:sp>
      <p:sp>
        <p:nvSpPr>
          <p:cNvPr id="10" name="Shape 7"/>
          <p:cNvSpPr/>
          <p:nvPr/>
        </p:nvSpPr>
        <p:spPr>
          <a:xfrm>
            <a:off x="2651760" y="2212848"/>
            <a:ext cx="9144" cy="128016"/>
          </a:xfrm>
          <a:prstGeom prst="line">
            <a:avLst/>
          </a:prstGeom>
          <a:noFill/>
          <a:ln w="25400">
            <a:solidFill>
              <a:srgbClr val="FFE600"/>
            </a:solidFill>
            <a:prstDash val="solid"/>
            <a:tailEnd type="triangle"/>
          </a:ln>
        </p:spPr>
      </p:sp>
      <p:sp>
        <p:nvSpPr>
          <p:cNvPr id="11" name="Shape 8"/>
          <p:cNvSpPr/>
          <p:nvPr/>
        </p:nvSpPr>
        <p:spPr>
          <a:xfrm>
            <a:off x="548640" y="2340864"/>
            <a:ext cx="4206240" cy="566928"/>
          </a:xfrm>
          <a:prstGeom prst="roundRect">
            <a:avLst>
              <a:gd name="adj" fmla="val 12903"/>
            </a:avLst>
          </a:prstGeom>
          <a:solidFill>
            <a:srgbClr val="40434D"/>
          </a:solidFill>
          <a:ln/>
        </p:spPr>
      </p:sp>
      <p:sp>
        <p:nvSpPr>
          <p:cNvPr id="12" name="Shape 9"/>
          <p:cNvSpPr/>
          <p:nvPr/>
        </p:nvSpPr>
        <p:spPr>
          <a:xfrm>
            <a:off x="731520" y="2450592"/>
            <a:ext cx="347472" cy="347472"/>
          </a:xfrm>
          <a:prstGeom prst="ellipse">
            <a:avLst/>
          </a:prstGeom>
          <a:solidFill>
            <a:srgbClr val="FFE600"/>
          </a:solidFill>
          <a:ln/>
        </p:spPr>
      </p:sp>
      <p:sp>
        <p:nvSpPr>
          <p:cNvPr id="13" name="Text 10"/>
          <p:cNvSpPr/>
          <p:nvPr/>
        </p:nvSpPr>
        <p:spPr>
          <a:xfrm>
            <a:off x="731520" y="2450592"/>
            <a:ext cx="347472" cy="347472"/>
          </a:xfrm>
          <a:prstGeom prst="rect">
            <a:avLst/>
          </a:prstGeom>
          <a:noFill/>
          <a:ln/>
        </p:spPr>
        <p:txBody>
          <a:bodyPr wrap="square" lIns="0" tIns="0" rIns="0" bIns="0" rtlCol="0" anchor="ctr"/>
          <a:lstStyle/>
          <a:p>
            <a:pPr algn="ctr" indent="0" marL="0">
              <a:buNone/>
            </a:pPr>
            <a:r>
              <a:rPr lang="en-US" sz="1300" b="1" dirty="0">
                <a:solidFill>
                  <a:srgbClr val="33363F"/>
                </a:solidFill>
                <a:latin typeface="Cambria" pitchFamily="34" charset="0"/>
                <a:ea typeface="Cambria" pitchFamily="34" charset="-122"/>
                <a:cs typeface="Cambria" pitchFamily="34" charset="-120"/>
              </a:rPr>
              <a:t>2</a:t>
            </a:r>
            <a:endParaRPr lang="en-US" sz="1300" dirty="0"/>
          </a:p>
        </p:txBody>
      </p:sp>
      <p:sp>
        <p:nvSpPr>
          <p:cNvPr id="14" name="Text 11"/>
          <p:cNvSpPr/>
          <p:nvPr/>
        </p:nvSpPr>
        <p:spPr>
          <a:xfrm>
            <a:off x="1234440" y="2340864"/>
            <a:ext cx="3383280" cy="56692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Select the company</a:t>
            </a:r>
            <a:endParaRPr lang="en-US" sz="1400" dirty="0"/>
          </a:p>
          <a:p>
            <a:pPr indent="0" marL="0">
              <a:buNone/>
            </a:pPr>
            <a:r>
              <a:rPr lang="en-US" sz="1100" dirty="0">
                <a:solidFill>
                  <a:srgbClr val="C7CBD0"/>
                </a:solidFill>
                <a:latin typeface="Calibri" pitchFamily="34" charset="0"/>
                <a:ea typeface="Calibri" pitchFamily="34" charset="-122"/>
                <a:cs typeface="Calibri" pitchFamily="34" charset="-120"/>
              </a:rPr>
              <a:t>drop-down menu</a:t>
            </a:r>
            <a:endParaRPr lang="en-US" sz="1400" dirty="0"/>
          </a:p>
        </p:txBody>
      </p:sp>
      <p:sp>
        <p:nvSpPr>
          <p:cNvPr id="15" name="Shape 12"/>
          <p:cNvSpPr/>
          <p:nvPr/>
        </p:nvSpPr>
        <p:spPr>
          <a:xfrm>
            <a:off x="2651760" y="2907792"/>
            <a:ext cx="9144" cy="128016"/>
          </a:xfrm>
          <a:prstGeom prst="line">
            <a:avLst/>
          </a:prstGeom>
          <a:noFill/>
          <a:ln w="25400">
            <a:solidFill>
              <a:srgbClr val="FFE600"/>
            </a:solidFill>
            <a:prstDash val="solid"/>
            <a:tailEnd type="triangle"/>
          </a:ln>
        </p:spPr>
      </p:sp>
      <p:sp>
        <p:nvSpPr>
          <p:cNvPr id="16" name="Shape 13"/>
          <p:cNvSpPr/>
          <p:nvPr/>
        </p:nvSpPr>
        <p:spPr>
          <a:xfrm>
            <a:off x="548640" y="3035808"/>
            <a:ext cx="4206240" cy="566928"/>
          </a:xfrm>
          <a:prstGeom prst="roundRect">
            <a:avLst>
              <a:gd name="adj" fmla="val 12903"/>
            </a:avLst>
          </a:prstGeom>
          <a:solidFill>
            <a:srgbClr val="33363F"/>
          </a:solidFill>
          <a:ln/>
        </p:spPr>
      </p:sp>
      <p:sp>
        <p:nvSpPr>
          <p:cNvPr id="17" name="Shape 14"/>
          <p:cNvSpPr/>
          <p:nvPr/>
        </p:nvSpPr>
        <p:spPr>
          <a:xfrm>
            <a:off x="731520" y="3145536"/>
            <a:ext cx="347472" cy="347472"/>
          </a:xfrm>
          <a:prstGeom prst="ellipse">
            <a:avLst/>
          </a:prstGeom>
          <a:solidFill>
            <a:srgbClr val="FFE600"/>
          </a:solidFill>
          <a:ln/>
        </p:spPr>
      </p:sp>
      <p:sp>
        <p:nvSpPr>
          <p:cNvPr id="18" name="Text 15"/>
          <p:cNvSpPr/>
          <p:nvPr/>
        </p:nvSpPr>
        <p:spPr>
          <a:xfrm>
            <a:off x="731520" y="3145536"/>
            <a:ext cx="347472" cy="347472"/>
          </a:xfrm>
          <a:prstGeom prst="rect">
            <a:avLst/>
          </a:prstGeom>
          <a:noFill/>
          <a:ln/>
        </p:spPr>
        <p:txBody>
          <a:bodyPr wrap="square" lIns="0" tIns="0" rIns="0" bIns="0" rtlCol="0" anchor="ctr"/>
          <a:lstStyle/>
          <a:p>
            <a:pPr algn="ctr" indent="0" marL="0">
              <a:buNone/>
            </a:pPr>
            <a:r>
              <a:rPr lang="en-US" sz="1300" b="1" dirty="0">
                <a:solidFill>
                  <a:srgbClr val="33363F"/>
                </a:solidFill>
                <a:latin typeface="Cambria" pitchFamily="34" charset="0"/>
                <a:ea typeface="Cambria" pitchFamily="34" charset="-122"/>
                <a:cs typeface="Cambria" pitchFamily="34" charset="-120"/>
              </a:rPr>
              <a:t>3</a:t>
            </a:r>
            <a:endParaRPr lang="en-US" sz="1300" dirty="0"/>
          </a:p>
        </p:txBody>
      </p:sp>
      <p:sp>
        <p:nvSpPr>
          <p:cNvPr id="19" name="Text 16"/>
          <p:cNvSpPr/>
          <p:nvPr/>
        </p:nvSpPr>
        <p:spPr>
          <a:xfrm>
            <a:off x="1234440" y="3035808"/>
            <a:ext cx="3383280" cy="56692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Run the search</a:t>
            </a:r>
            <a:endParaRPr lang="en-US" sz="1400" dirty="0"/>
          </a:p>
          <a:p>
            <a:pPr indent="0" marL="0">
              <a:buNone/>
            </a:pPr>
            <a:r>
              <a:rPr lang="en-US" sz="1100" dirty="0">
                <a:solidFill>
                  <a:srgbClr val="C7CBD0"/>
                </a:solidFill>
                <a:latin typeface="Calibri" pitchFamily="34" charset="0"/>
                <a:ea typeface="Calibri" pitchFamily="34" charset="-122"/>
                <a:cs typeface="Calibri" pitchFamily="34" charset="-120"/>
              </a:rPr>
              <a:t>click on the button</a:t>
            </a:r>
            <a:endParaRPr lang="en-US" sz="1400" dirty="0"/>
          </a:p>
        </p:txBody>
      </p:sp>
      <p:sp>
        <p:nvSpPr>
          <p:cNvPr id="20" name="Shape 17"/>
          <p:cNvSpPr/>
          <p:nvPr/>
        </p:nvSpPr>
        <p:spPr>
          <a:xfrm>
            <a:off x="2651760" y="3602736"/>
            <a:ext cx="9144" cy="128016"/>
          </a:xfrm>
          <a:prstGeom prst="line">
            <a:avLst/>
          </a:prstGeom>
          <a:noFill/>
          <a:ln w="25400">
            <a:solidFill>
              <a:srgbClr val="FFE600"/>
            </a:solidFill>
            <a:prstDash val="solid"/>
            <a:tailEnd type="triangle"/>
          </a:ln>
        </p:spPr>
      </p:sp>
      <p:sp>
        <p:nvSpPr>
          <p:cNvPr id="21" name="Shape 18"/>
          <p:cNvSpPr/>
          <p:nvPr/>
        </p:nvSpPr>
        <p:spPr>
          <a:xfrm>
            <a:off x="548640" y="3730752"/>
            <a:ext cx="4206240" cy="566928"/>
          </a:xfrm>
          <a:prstGeom prst="roundRect">
            <a:avLst>
              <a:gd name="adj" fmla="val 12903"/>
            </a:avLst>
          </a:prstGeom>
          <a:solidFill>
            <a:srgbClr val="40434D"/>
          </a:solidFill>
          <a:ln/>
        </p:spPr>
      </p:sp>
      <p:sp>
        <p:nvSpPr>
          <p:cNvPr id="22" name="Shape 19"/>
          <p:cNvSpPr/>
          <p:nvPr/>
        </p:nvSpPr>
        <p:spPr>
          <a:xfrm>
            <a:off x="731520" y="3840480"/>
            <a:ext cx="347472" cy="347472"/>
          </a:xfrm>
          <a:prstGeom prst="ellipse">
            <a:avLst/>
          </a:prstGeom>
          <a:solidFill>
            <a:srgbClr val="FFE600"/>
          </a:solidFill>
          <a:ln/>
        </p:spPr>
      </p:sp>
      <p:sp>
        <p:nvSpPr>
          <p:cNvPr id="23" name="Text 20"/>
          <p:cNvSpPr/>
          <p:nvPr/>
        </p:nvSpPr>
        <p:spPr>
          <a:xfrm>
            <a:off x="731520" y="3840480"/>
            <a:ext cx="347472" cy="347472"/>
          </a:xfrm>
          <a:prstGeom prst="rect">
            <a:avLst/>
          </a:prstGeom>
          <a:noFill/>
          <a:ln/>
        </p:spPr>
        <p:txBody>
          <a:bodyPr wrap="square" lIns="0" tIns="0" rIns="0" bIns="0" rtlCol="0" anchor="ctr"/>
          <a:lstStyle/>
          <a:p>
            <a:pPr algn="ctr" indent="0" marL="0">
              <a:buNone/>
            </a:pPr>
            <a:r>
              <a:rPr lang="en-US" sz="1300" b="1" dirty="0">
                <a:solidFill>
                  <a:srgbClr val="33363F"/>
                </a:solidFill>
                <a:latin typeface="Cambria" pitchFamily="34" charset="0"/>
                <a:ea typeface="Cambria" pitchFamily="34" charset="-122"/>
                <a:cs typeface="Cambria" pitchFamily="34" charset="-120"/>
              </a:rPr>
              <a:t>4</a:t>
            </a:r>
            <a:endParaRPr lang="en-US" sz="1300" dirty="0"/>
          </a:p>
        </p:txBody>
      </p:sp>
      <p:sp>
        <p:nvSpPr>
          <p:cNvPr id="24" name="Text 21"/>
          <p:cNvSpPr/>
          <p:nvPr/>
        </p:nvSpPr>
        <p:spPr>
          <a:xfrm>
            <a:off x="1234440" y="3730752"/>
            <a:ext cx="3383280" cy="56692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Keep annual reports</a:t>
            </a:r>
            <a:endParaRPr lang="en-US" sz="1400" dirty="0"/>
          </a:p>
          <a:p>
            <a:pPr indent="0" marL="0">
              <a:buNone/>
            </a:pPr>
            <a:r>
              <a:rPr lang="en-US" sz="1100" dirty="0">
                <a:solidFill>
                  <a:srgbClr val="C7CBD0"/>
                </a:solidFill>
                <a:latin typeface="Calibri" pitchFamily="34" charset="0"/>
                <a:ea typeface="Calibri" pitchFamily="34" charset="-122"/>
                <a:cs typeface="Calibri" pitchFamily="34" charset="-120"/>
              </a:rPr>
              <a:t>filter and deduplicate</a:t>
            </a:r>
            <a:endParaRPr lang="en-US" sz="1400" dirty="0"/>
          </a:p>
        </p:txBody>
      </p:sp>
      <p:sp>
        <p:nvSpPr>
          <p:cNvPr id="25" name="Shape 22"/>
          <p:cNvSpPr/>
          <p:nvPr/>
        </p:nvSpPr>
        <p:spPr>
          <a:xfrm>
            <a:off x="2651760" y="4297680"/>
            <a:ext cx="9144" cy="128016"/>
          </a:xfrm>
          <a:prstGeom prst="line">
            <a:avLst/>
          </a:prstGeom>
          <a:noFill/>
          <a:ln w="25400">
            <a:solidFill>
              <a:srgbClr val="FFE600"/>
            </a:solidFill>
            <a:prstDash val="solid"/>
            <a:tailEnd type="triangle"/>
          </a:ln>
        </p:spPr>
      </p:sp>
      <p:sp>
        <p:nvSpPr>
          <p:cNvPr id="26" name="Shape 23"/>
          <p:cNvSpPr/>
          <p:nvPr/>
        </p:nvSpPr>
        <p:spPr>
          <a:xfrm>
            <a:off x="548640" y="4425696"/>
            <a:ext cx="4206240" cy="566928"/>
          </a:xfrm>
          <a:prstGeom prst="roundRect">
            <a:avLst>
              <a:gd name="adj" fmla="val 12903"/>
            </a:avLst>
          </a:prstGeom>
          <a:solidFill>
            <a:srgbClr val="33363F"/>
          </a:solidFill>
          <a:ln/>
        </p:spPr>
      </p:sp>
      <p:sp>
        <p:nvSpPr>
          <p:cNvPr id="27" name="Shape 24"/>
          <p:cNvSpPr/>
          <p:nvPr/>
        </p:nvSpPr>
        <p:spPr>
          <a:xfrm>
            <a:off x="731520" y="4535424"/>
            <a:ext cx="347472" cy="347472"/>
          </a:xfrm>
          <a:prstGeom prst="ellipse">
            <a:avLst/>
          </a:prstGeom>
          <a:solidFill>
            <a:srgbClr val="FFE600"/>
          </a:solidFill>
          <a:ln/>
        </p:spPr>
      </p:sp>
      <p:sp>
        <p:nvSpPr>
          <p:cNvPr id="28" name="Text 25"/>
          <p:cNvSpPr/>
          <p:nvPr/>
        </p:nvSpPr>
        <p:spPr>
          <a:xfrm>
            <a:off x="731520" y="4535424"/>
            <a:ext cx="347472" cy="347472"/>
          </a:xfrm>
          <a:prstGeom prst="rect">
            <a:avLst/>
          </a:prstGeom>
          <a:noFill/>
          <a:ln/>
        </p:spPr>
        <p:txBody>
          <a:bodyPr wrap="square" lIns="0" tIns="0" rIns="0" bIns="0" rtlCol="0" anchor="ctr"/>
          <a:lstStyle/>
          <a:p>
            <a:pPr algn="ctr" indent="0" marL="0">
              <a:buNone/>
            </a:pPr>
            <a:r>
              <a:rPr lang="en-US" sz="1300" b="1" dirty="0">
                <a:solidFill>
                  <a:srgbClr val="33363F"/>
                </a:solidFill>
                <a:latin typeface="Cambria" pitchFamily="34" charset="0"/>
                <a:ea typeface="Cambria" pitchFamily="34" charset="-122"/>
                <a:cs typeface="Cambria" pitchFamily="34" charset="-120"/>
              </a:rPr>
              <a:t>5</a:t>
            </a:r>
            <a:endParaRPr lang="en-US" sz="1300" dirty="0"/>
          </a:p>
        </p:txBody>
      </p:sp>
      <p:sp>
        <p:nvSpPr>
          <p:cNvPr id="29" name="Text 26"/>
          <p:cNvSpPr/>
          <p:nvPr/>
        </p:nvSpPr>
        <p:spPr>
          <a:xfrm>
            <a:off x="1234440" y="4425696"/>
            <a:ext cx="3383280" cy="56692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Verify and save</a:t>
            </a:r>
            <a:endParaRPr lang="en-US" sz="1400" dirty="0"/>
          </a:p>
          <a:p>
            <a:pPr indent="0" marL="0">
              <a:buNone/>
            </a:pPr>
            <a:r>
              <a:rPr lang="en-US" sz="1100" dirty="0">
                <a:solidFill>
                  <a:srgbClr val="C7CBD0"/>
                </a:solidFill>
                <a:latin typeface="Calibri" pitchFamily="34" charset="0"/>
                <a:ea typeface="Calibri" pitchFamily="34" charset="-122"/>
                <a:cs typeface="Calibri" pitchFamily="34" charset="-120"/>
              </a:rPr>
              <a:t>PDF link, then metadata</a:t>
            </a:r>
            <a:endParaRPr lang="en-US" sz="1400" dirty="0"/>
          </a:p>
        </p:txBody>
      </p:sp>
      <p:sp>
        <p:nvSpPr>
          <p:cNvPr id="30" name="Shape 27"/>
          <p:cNvSpPr/>
          <p:nvPr/>
        </p:nvSpPr>
        <p:spPr>
          <a:xfrm>
            <a:off x="5120640" y="1645920"/>
            <a:ext cx="6492240" cy="2591486"/>
          </a:xfrm>
          <a:prstGeom prst="rect">
            <a:avLst/>
          </a:prstGeom>
          <a:solidFill>
            <a:srgbClr val="FFFFFF"/>
          </a:solidFill>
          <a:ln w="12700">
            <a:solidFill>
              <a:srgbClr val="D3D5DB"/>
            </a:solidFill>
            <a:prstDash val="solid"/>
          </a:ln>
          <a:effectLst>
            <a:outerShdw sx="100000" sy="100000" kx="0" ky="0" algn="bl" rotWithShape="0" blurRad="63500" dist="25400" dir="5400000">
              <a:srgbClr val="000000">
                <a:alpha val="12000"/>
              </a:srgbClr>
            </a:outerShdw>
          </a:effectLst>
        </p:spPr>
      </p:sp>
      <p:pic>
        <p:nvPicPr>
          <p:cNvPr id="31" name="Image 0" descr="C:/Users/HP/Desktop/SCRAPING/docs/diagrams/code_scraping_retry.png">    </p:cNvPr>
          <p:cNvPicPr>
            <a:picLocks noChangeAspect="1"/>
          </p:cNvPicPr>
          <p:nvPr/>
        </p:nvPicPr>
        <p:blipFill>
          <a:blip r:embed="rId1"/>
          <a:stretch>
            <a:fillRect/>
          </a:stretch>
        </p:blipFill>
        <p:spPr>
          <a:xfrm>
            <a:off x="5120640" y="1645920"/>
            <a:ext cx="6492240" cy="2591486"/>
          </a:xfrm>
          <a:prstGeom prst="rect">
            <a:avLst/>
          </a:prstGeom>
        </p:spPr>
      </p:pic>
      <p:sp>
        <p:nvSpPr>
          <p:cNvPr id="32" name="Text 28"/>
          <p:cNvSpPr/>
          <p:nvPr/>
        </p:nvSpPr>
        <p:spPr>
          <a:xfrm>
            <a:off x="5120640" y="4292270"/>
            <a:ext cx="6492240" cy="237744"/>
          </a:xfrm>
          <a:prstGeom prst="rect">
            <a:avLst/>
          </a:prstGeom>
          <a:noFill/>
          <a:ln/>
        </p:spPr>
        <p:txBody>
          <a:bodyPr wrap="square" lIns="0" tIns="0" rIns="0" bIns="0" rtlCol="0" anchor="ctr"/>
          <a:lstStyle/>
          <a:p>
            <a:pPr indent="0" marL="0">
              <a:buNone/>
            </a:pPr>
            <a:r>
              <a:rPr lang="en-US" sz="1050" i="1" dirty="0">
                <a:solidFill>
                  <a:srgbClr val="8B8B90"/>
                </a:solidFill>
                <a:latin typeface="Calibri" pitchFamily="34" charset="0"/>
                <a:ea typeface="Calibri" pitchFamily="34" charset="-122"/>
                <a:cs typeface="Calibri" pitchFamily="34" charset="-120"/>
              </a:rPr>
              <a:t>Real code — scraping/cmf_portal_scraper.py: up to 3 attempts per company</a:t>
            </a:r>
            <a:endParaRPr lang="en-US" sz="1050" dirty="0"/>
          </a:p>
        </p:txBody>
      </p:sp>
      <p:sp>
        <p:nvSpPr>
          <p:cNvPr id="33" name="Shape 29"/>
          <p:cNvSpPr/>
          <p:nvPr/>
        </p:nvSpPr>
        <p:spPr>
          <a:xfrm>
            <a:off x="548640" y="5349240"/>
            <a:ext cx="11064240" cy="566928"/>
          </a:xfrm>
          <a:prstGeom prst="roundRect">
            <a:avLst>
              <a:gd name="adj" fmla="val 12903"/>
            </a:avLst>
          </a:prstGeom>
          <a:solidFill>
            <a:srgbClr val="F5F5F6"/>
          </a:solidFill>
          <a:ln/>
        </p:spPr>
      </p:sp>
      <p:sp>
        <p:nvSpPr>
          <p:cNvPr id="34" name="Shape 30"/>
          <p:cNvSpPr/>
          <p:nvPr/>
        </p:nvSpPr>
        <p:spPr>
          <a:xfrm>
            <a:off x="822960" y="5559552"/>
            <a:ext cx="146304" cy="146304"/>
          </a:xfrm>
          <a:prstGeom prst="ellipse">
            <a:avLst/>
          </a:prstGeom>
          <a:solidFill>
            <a:srgbClr val="FFE600"/>
          </a:solidFill>
          <a:ln/>
        </p:spPr>
      </p:sp>
      <p:sp>
        <p:nvSpPr>
          <p:cNvPr id="35" name="Text 31"/>
          <p:cNvSpPr/>
          <p:nvPr/>
        </p:nvSpPr>
        <p:spPr>
          <a:xfrm>
            <a:off x="1143000" y="5349240"/>
            <a:ext cx="10332720" cy="566928"/>
          </a:xfrm>
          <a:prstGeom prst="rect">
            <a:avLst/>
          </a:prstGeom>
          <a:noFill/>
          <a:ln/>
        </p:spPr>
        <p:txBody>
          <a:bodyPr wrap="square" lIns="0" tIns="0" rIns="0" bIns="0" rtlCol="0" anchor="ctr"/>
          <a:lstStyle/>
          <a:p>
            <a:pPr indent="0" marL="0">
              <a:buNone/>
            </a:pPr>
            <a:r>
              <a:rPr lang="en-US" sz="1300" b="1" dirty="0">
                <a:solidFill>
                  <a:srgbClr val="26282F"/>
                </a:solidFill>
                <a:latin typeface="Calibri" pitchFamily="34" charset="0"/>
                <a:ea typeface="Calibri" pitchFamily="34" charset="-122"/>
                <a:cs typeface="Calibri" pitchFamily="34" charset="-120"/>
              </a:rPr>
              <a:t>Real example — </a:t>
            </a:r>
            <a:pPr indent="0" marL="0">
              <a:buNone/>
            </a:pPr>
            <a:r>
              <a:rPr lang="en-US" sz="1300" dirty="0">
                <a:solidFill>
                  <a:srgbClr val="5A5D66"/>
                </a:solidFill>
                <a:latin typeface="Calibri" pitchFamily="34" charset="0"/>
                <a:ea typeface="Calibri" pitchFamily="34" charset="-122"/>
                <a:cs typeface="Calibri" pitchFamily="34" charset="-120"/>
              </a:rPr>
              <a:t>ASTREE · 2025 → astree_efd311225.pdf on cmf.tn, saved on 2026-09-16 as document #62.</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5486400" cy="274320"/>
          </a:xfrm>
          <a:prstGeom prst="rect">
            <a:avLst/>
          </a:prstGeom>
          <a:noFill/>
          <a:ln/>
        </p:spPr>
        <p:txBody>
          <a:bodyPr wrap="square" lIns="0" tIns="0" rIns="0" bIns="0" rtlCol="0" anchor="ctr"/>
          <a:lstStyle/>
          <a:p>
            <a:pPr indent="0" marL="0">
              <a:buNone/>
            </a:pPr>
            <a:r>
              <a:rPr lang="en-US" sz="1200" b="1" spc="200" kern="0" dirty="0">
                <a:solidFill>
                  <a:srgbClr val="8B8B90"/>
                </a:solidFill>
                <a:latin typeface="Calibri" pitchFamily="34" charset="0"/>
                <a:ea typeface="Calibri" pitchFamily="34" charset="-122"/>
                <a:cs typeface="Calibri" pitchFamily="34" charset="-120"/>
              </a:rPr>
              <a:t>DATA PIPELINE</a:t>
            </a:r>
            <a:endParaRPr lang="en-US" sz="1200" dirty="0"/>
          </a:p>
        </p:txBody>
      </p:sp>
      <p:sp>
        <p:nvSpPr>
          <p:cNvPr id="3" name="Text 1"/>
          <p:cNvSpPr/>
          <p:nvPr/>
        </p:nvSpPr>
        <p:spPr>
          <a:xfrm>
            <a:off x="548640" y="658368"/>
            <a:ext cx="11064240" cy="640080"/>
          </a:xfrm>
          <a:prstGeom prst="rect">
            <a:avLst/>
          </a:prstGeom>
          <a:noFill/>
          <a:ln/>
        </p:spPr>
        <p:txBody>
          <a:bodyPr wrap="square" lIns="0" tIns="0" rIns="0" bIns="0" rtlCol="0" anchor="ctr"/>
          <a:lstStyle/>
          <a:p>
            <a:pPr indent="0" marL="0">
              <a:buNone/>
            </a:pPr>
            <a:r>
              <a:rPr lang="en-US" sz="3000" b="1" dirty="0">
                <a:solidFill>
                  <a:srgbClr val="33363F"/>
                </a:solidFill>
                <a:latin typeface="Cambria" pitchFamily="34" charset="0"/>
                <a:ea typeface="Cambria" pitchFamily="34" charset="-122"/>
                <a:cs typeface="Cambria" pitchFamily="34" charset="-120"/>
              </a:rPr>
              <a:t>Collect — Coverage and Reliability</a:t>
            </a:r>
            <a:endParaRPr lang="en-US" sz="3000" dirty="0"/>
          </a:p>
        </p:txBody>
      </p:sp>
      <p:sp>
        <p:nvSpPr>
          <p:cNvPr id="4" name="Text 2"/>
          <p:cNvSpPr/>
          <p:nvPr/>
        </p:nvSpPr>
        <p:spPr>
          <a:xfrm>
            <a:off x="11612880" y="6510528"/>
            <a:ext cx="457200" cy="274320"/>
          </a:xfrm>
          <a:prstGeom prst="rect">
            <a:avLst/>
          </a:prstGeom>
          <a:noFill/>
          <a:ln/>
        </p:spPr>
        <p:txBody>
          <a:bodyPr wrap="square" rtlCol="0" anchor="ctr"/>
          <a:lstStyle/>
          <a:p>
            <a:pPr algn="r" indent="0" marL="0">
              <a:buNone/>
            </a:pPr>
            <a:r>
              <a:rPr lang="en-US" sz="1000" dirty="0">
                <a:solidFill>
                  <a:srgbClr val="8B8B90"/>
                </a:solidFill>
                <a:latin typeface="Calibri" pitchFamily="34" charset="0"/>
                <a:ea typeface="Calibri" pitchFamily="34" charset="-122"/>
                <a:cs typeface="Calibri" pitchFamily="34" charset="-120"/>
              </a:rPr>
              <a:t>3</a:t>
            </a:r>
            <a:endParaRPr lang="en-US" sz="1000" dirty="0"/>
          </a:p>
        </p:txBody>
      </p:sp>
      <p:sp>
        <p:nvSpPr>
          <p:cNvPr id="6" name="Shape 3"/>
          <p:cNvSpPr/>
          <p:nvPr/>
        </p:nvSpPr>
        <p:spPr>
          <a:xfrm>
            <a:off x="548640" y="1600200"/>
            <a:ext cx="11064240" cy="858432"/>
          </a:xfrm>
          <a:prstGeom prst="rect">
            <a:avLst/>
          </a:prstGeom>
          <a:solidFill>
            <a:srgbClr val="FFFFFF"/>
          </a:solidFill>
          <a:ln w="12700">
            <a:solidFill>
              <a:srgbClr val="D3D5DB"/>
            </a:solidFill>
            <a:prstDash val="solid"/>
          </a:ln>
          <a:effectLst>
            <a:outerShdw sx="100000" sy="100000" kx="0" ky="0" algn="bl" rotWithShape="0" blurRad="63500" dist="25400" dir="5400000">
              <a:srgbClr val="000000">
                <a:alpha val="12000"/>
              </a:srgbClr>
            </a:outerShdw>
          </a:effectLst>
        </p:spPr>
      </p:sp>
      <p:pic>
        <p:nvPicPr>
          <p:cNvPr id="7" name="Image 0" descr="C:/Users/HP/Desktop/SCRAPING/docs/scratch/pipeline_shots/crops/gestion_cards2.png">    </p:cNvPr>
          <p:cNvPicPr>
            <a:picLocks noChangeAspect="1"/>
          </p:cNvPicPr>
          <p:nvPr/>
        </p:nvPicPr>
        <p:blipFill>
          <a:blip r:embed="rId1"/>
          <a:stretch>
            <a:fillRect/>
          </a:stretch>
        </p:blipFill>
        <p:spPr>
          <a:xfrm>
            <a:off x="548640" y="1600200"/>
            <a:ext cx="11064240" cy="858432"/>
          </a:xfrm>
          <a:prstGeom prst="rect">
            <a:avLst/>
          </a:prstGeom>
        </p:spPr>
      </p:pic>
      <p:sp>
        <p:nvSpPr>
          <p:cNvPr id="8" name="Text 4"/>
          <p:cNvSpPr/>
          <p:nvPr/>
        </p:nvSpPr>
        <p:spPr>
          <a:xfrm>
            <a:off x="548640" y="2513496"/>
            <a:ext cx="11064240" cy="237744"/>
          </a:xfrm>
          <a:prstGeom prst="rect">
            <a:avLst/>
          </a:prstGeom>
          <a:noFill/>
          <a:ln/>
        </p:spPr>
        <p:txBody>
          <a:bodyPr wrap="square" lIns="0" tIns="0" rIns="0" bIns="0" rtlCol="0" anchor="ctr"/>
          <a:lstStyle/>
          <a:p>
            <a:pPr indent="0" marL="0">
              <a:buNone/>
            </a:pPr>
            <a:r>
              <a:rPr lang="en-US" sz="1050" i="1" dirty="0">
                <a:solidFill>
                  <a:srgbClr val="8B8B90"/>
                </a:solidFill>
                <a:latin typeface="Calibri" pitchFamily="34" charset="0"/>
                <a:ea typeface="Calibri" pitchFamily="34" charset="-122"/>
                <a:cs typeface="Calibri" pitchFamily="34" charset="-120"/>
              </a:rPr>
              <a:t>Real screenshot — Platform · Data Management</a:t>
            </a:r>
            <a:endParaRPr lang="en-US" sz="1050" dirty="0"/>
          </a:p>
        </p:txBody>
      </p:sp>
      <p:graphicFrame>
        <p:nvGraphicFramePr>
          <p:cNvPr id="9" name="Chart 0" descr=""/>
          <p:cNvGraphicFramePr/>
          <p:nvPr/>
        </p:nvGraphicFramePr>
        <p:xfrm>
          <a:off x="548640" y="2880360"/>
          <a:ext cx="6583680" cy="3108960"/>
        </p:xfrm>
        <a:graphic xmlns:a="http://schemas.openxmlformats.org/drawingml/2006/main">
          <a:graphicData uri="http://schemas.openxmlformats.org/drawingml/2006/chart">
            <c:chart xmlns:c="http://schemas.openxmlformats.org/drawingml/2006/chart" r:id="rId2"/>
          </a:graphicData>
        </a:graphic>
      </p:graphicFrame>
      <p:sp>
        <p:nvSpPr>
          <p:cNvPr id="10" name="Shape 5"/>
          <p:cNvSpPr/>
          <p:nvPr/>
        </p:nvSpPr>
        <p:spPr>
          <a:xfrm>
            <a:off x="7498080" y="3017520"/>
            <a:ext cx="4114800" cy="841248"/>
          </a:xfrm>
          <a:prstGeom prst="roundRect">
            <a:avLst>
              <a:gd name="adj" fmla="val 8696"/>
            </a:avLst>
          </a:prstGeom>
          <a:solidFill>
            <a:srgbClr val="33363F"/>
          </a:solidFill>
          <a:ln/>
        </p:spPr>
      </p:sp>
      <p:sp>
        <p:nvSpPr>
          <p:cNvPr id="11" name="Shape 6"/>
          <p:cNvSpPr/>
          <p:nvPr/>
        </p:nvSpPr>
        <p:spPr>
          <a:xfrm>
            <a:off x="7726680" y="3200400"/>
            <a:ext cx="146304" cy="146304"/>
          </a:xfrm>
          <a:prstGeom prst="ellipse">
            <a:avLst/>
          </a:prstGeom>
          <a:solidFill>
            <a:srgbClr val="FFE600"/>
          </a:solidFill>
          <a:ln/>
        </p:spPr>
      </p:sp>
      <p:sp>
        <p:nvSpPr>
          <p:cNvPr id="12" name="Text 7"/>
          <p:cNvSpPr/>
          <p:nvPr/>
        </p:nvSpPr>
        <p:spPr>
          <a:xfrm>
            <a:off x="8046720" y="3017520"/>
            <a:ext cx="3474720" cy="84124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3 attempts</a:t>
            </a:r>
            <a:endParaRPr lang="en-US" sz="1500" dirty="0"/>
          </a:p>
          <a:p>
            <a:pPr indent="0" marL="0">
              <a:buNone/>
            </a:pPr>
            <a:r>
              <a:rPr lang="en-US" sz="1150" dirty="0">
                <a:solidFill>
                  <a:srgbClr val="C7CBD0"/>
                </a:solidFill>
                <a:latin typeface="Calibri" pitchFamily="34" charset="0"/>
                <a:ea typeface="Calibri" pitchFamily="34" charset="-122"/>
                <a:cs typeface="Calibri" pitchFamily="34" charset="-120"/>
              </a:rPr>
              <a:t>per source, waiting 2 s, 4 s, 8 s</a:t>
            </a:r>
            <a:endParaRPr lang="en-US" sz="1500" dirty="0"/>
          </a:p>
        </p:txBody>
      </p:sp>
      <p:sp>
        <p:nvSpPr>
          <p:cNvPr id="13" name="Shape 8"/>
          <p:cNvSpPr/>
          <p:nvPr/>
        </p:nvSpPr>
        <p:spPr>
          <a:xfrm>
            <a:off x="7498080" y="4005072"/>
            <a:ext cx="4114800" cy="841248"/>
          </a:xfrm>
          <a:prstGeom prst="roundRect">
            <a:avLst>
              <a:gd name="adj" fmla="val 8696"/>
            </a:avLst>
          </a:prstGeom>
          <a:solidFill>
            <a:srgbClr val="33363F"/>
          </a:solidFill>
          <a:ln/>
        </p:spPr>
      </p:sp>
      <p:sp>
        <p:nvSpPr>
          <p:cNvPr id="14" name="Shape 9"/>
          <p:cNvSpPr/>
          <p:nvPr/>
        </p:nvSpPr>
        <p:spPr>
          <a:xfrm>
            <a:off x="7726680" y="4187952"/>
            <a:ext cx="146304" cy="146304"/>
          </a:xfrm>
          <a:prstGeom prst="ellipse">
            <a:avLst/>
          </a:prstGeom>
          <a:solidFill>
            <a:srgbClr val="FFE600"/>
          </a:solidFill>
          <a:ln/>
        </p:spPr>
      </p:sp>
      <p:sp>
        <p:nvSpPr>
          <p:cNvPr id="15" name="Text 10"/>
          <p:cNvSpPr/>
          <p:nvPr/>
        </p:nvSpPr>
        <p:spPr>
          <a:xfrm>
            <a:off x="8046720" y="4005072"/>
            <a:ext cx="3474720" cy="84124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Isolated failures</a:t>
            </a:r>
            <a:endParaRPr lang="en-US" sz="1500" dirty="0"/>
          </a:p>
          <a:p>
            <a:pPr indent="0" marL="0">
              <a:buNone/>
            </a:pPr>
            <a:r>
              <a:rPr lang="en-US" sz="1150" dirty="0">
                <a:solidFill>
                  <a:srgbClr val="C7CBD0"/>
                </a:solidFill>
                <a:latin typeface="Calibri" pitchFamily="34" charset="0"/>
                <a:ea typeface="Calibri" pitchFamily="34" charset="-122"/>
                <a:cs typeface="Calibri" pitchFamily="34" charset="-120"/>
              </a:rPr>
              <a:t>one failing source never stops the others</a:t>
            </a:r>
            <a:endParaRPr lang="en-US" sz="1500" dirty="0"/>
          </a:p>
        </p:txBody>
      </p:sp>
      <p:sp>
        <p:nvSpPr>
          <p:cNvPr id="16" name="Shape 11"/>
          <p:cNvSpPr/>
          <p:nvPr/>
        </p:nvSpPr>
        <p:spPr>
          <a:xfrm>
            <a:off x="7498080" y="4992624"/>
            <a:ext cx="4114800" cy="841248"/>
          </a:xfrm>
          <a:prstGeom prst="roundRect">
            <a:avLst>
              <a:gd name="adj" fmla="val 8696"/>
            </a:avLst>
          </a:prstGeom>
          <a:solidFill>
            <a:srgbClr val="33363F"/>
          </a:solidFill>
          <a:ln/>
        </p:spPr>
      </p:sp>
      <p:sp>
        <p:nvSpPr>
          <p:cNvPr id="17" name="Shape 12"/>
          <p:cNvSpPr/>
          <p:nvPr/>
        </p:nvSpPr>
        <p:spPr>
          <a:xfrm>
            <a:off x="7726680" y="5175504"/>
            <a:ext cx="146304" cy="146304"/>
          </a:xfrm>
          <a:prstGeom prst="ellipse">
            <a:avLst/>
          </a:prstGeom>
          <a:solidFill>
            <a:srgbClr val="FFE600"/>
          </a:solidFill>
          <a:ln/>
        </p:spPr>
      </p:sp>
      <p:sp>
        <p:nvSpPr>
          <p:cNvPr id="18" name="Text 13"/>
          <p:cNvSpPr/>
          <p:nvPr/>
        </p:nvSpPr>
        <p:spPr>
          <a:xfrm>
            <a:off x="8046720" y="4992624"/>
            <a:ext cx="3474720" cy="84124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Scheduled</a:t>
            </a:r>
            <a:endParaRPr lang="en-US" sz="1500" dirty="0"/>
          </a:p>
          <a:p>
            <a:pPr indent="0" marL="0">
              <a:buNone/>
            </a:pPr>
            <a:r>
              <a:rPr lang="en-US" sz="1150" dirty="0">
                <a:solidFill>
                  <a:srgbClr val="C7CBD0"/>
                </a:solidFill>
                <a:latin typeface="Calibri" pitchFamily="34" charset="0"/>
                <a:ea typeface="Calibri" pitchFamily="34" charset="-122"/>
                <a:cs typeface="Calibri" pitchFamily="34" charset="-120"/>
              </a:rPr>
              <a:t>runs unattended, results logged as JSON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5486400" cy="274320"/>
          </a:xfrm>
          <a:prstGeom prst="rect">
            <a:avLst/>
          </a:prstGeom>
          <a:noFill/>
          <a:ln/>
        </p:spPr>
        <p:txBody>
          <a:bodyPr wrap="square" lIns="0" tIns="0" rIns="0" bIns="0" rtlCol="0" anchor="ctr"/>
          <a:lstStyle/>
          <a:p>
            <a:pPr indent="0" marL="0">
              <a:buNone/>
            </a:pPr>
            <a:r>
              <a:rPr lang="en-US" sz="1200" b="1" spc="200" kern="0" dirty="0">
                <a:solidFill>
                  <a:srgbClr val="8B8B90"/>
                </a:solidFill>
                <a:latin typeface="Calibri" pitchFamily="34" charset="0"/>
                <a:ea typeface="Calibri" pitchFamily="34" charset="-122"/>
                <a:cs typeface="Calibri" pitchFamily="34" charset="-120"/>
              </a:rPr>
              <a:t>DATA PIPELINE</a:t>
            </a:r>
            <a:endParaRPr lang="en-US" sz="1200" dirty="0"/>
          </a:p>
        </p:txBody>
      </p:sp>
      <p:sp>
        <p:nvSpPr>
          <p:cNvPr id="3" name="Text 1"/>
          <p:cNvSpPr/>
          <p:nvPr/>
        </p:nvSpPr>
        <p:spPr>
          <a:xfrm>
            <a:off x="548640" y="658368"/>
            <a:ext cx="11064240" cy="640080"/>
          </a:xfrm>
          <a:prstGeom prst="rect">
            <a:avLst/>
          </a:prstGeom>
          <a:noFill/>
          <a:ln/>
        </p:spPr>
        <p:txBody>
          <a:bodyPr wrap="square" lIns="0" tIns="0" rIns="0" bIns="0" rtlCol="0" anchor="ctr"/>
          <a:lstStyle/>
          <a:p>
            <a:pPr indent="0" marL="0">
              <a:buNone/>
            </a:pPr>
            <a:r>
              <a:rPr lang="en-US" sz="3000" b="1" dirty="0">
                <a:solidFill>
                  <a:srgbClr val="33363F"/>
                </a:solidFill>
                <a:latin typeface="Cambria" pitchFamily="34" charset="0"/>
                <a:ea typeface="Cambria" pitchFamily="34" charset="-122"/>
                <a:cs typeface="Cambria" pitchFamily="34" charset="-120"/>
              </a:rPr>
              <a:t>2 · Extract — From a PDF Page to Cells</a:t>
            </a:r>
            <a:endParaRPr lang="en-US" sz="3000" dirty="0"/>
          </a:p>
        </p:txBody>
      </p:sp>
      <p:sp>
        <p:nvSpPr>
          <p:cNvPr id="4" name="Text 2"/>
          <p:cNvSpPr/>
          <p:nvPr/>
        </p:nvSpPr>
        <p:spPr>
          <a:xfrm>
            <a:off x="11612880" y="6510528"/>
            <a:ext cx="457200" cy="274320"/>
          </a:xfrm>
          <a:prstGeom prst="rect">
            <a:avLst/>
          </a:prstGeom>
          <a:noFill/>
          <a:ln/>
        </p:spPr>
        <p:txBody>
          <a:bodyPr wrap="square" rtlCol="0" anchor="ctr"/>
          <a:lstStyle/>
          <a:p>
            <a:pPr algn="r" indent="0" marL="0">
              <a:buNone/>
            </a:pPr>
            <a:r>
              <a:rPr lang="en-US" sz="1000" dirty="0">
                <a:solidFill>
                  <a:srgbClr val="8B8B90"/>
                </a:solidFill>
                <a:latin typeface="Calibri" pitchFamily="34" charset="0"/>
                <a:ea typeface="Calibri" pitchFamily="34" charset="-122"/>
                <a:cs typeface="Calibri" pitchFamily="34" charset="-120"/>
              </a:rPr>
              <a:t>4</a:t>
            </a:r>
            <a:endParaRPr lang="en-US" sz="1000" dirty="0"/>
          </a:p>
        </p:txBody>
      </p:sp>
      <p:sp>
        <p:nvSpPr>
          <p:cNvPr id="6" name="Shape 3"/>
          <p:cNvSpPr/>
          <p:nvPr/>
        </p:nvSpPr>
        <p:spPr>
          <a:xfrm>
            <a:off x="548640" y="1600200"/>
            <a:ext cx="5427339" cy="3931920"/>
          </a:xfrm>
          <a:prstGeom prst="rect">
            <a:avLst/>
          </a:prstGeom>
          <a:solidFill>
            <a:srgbClr val="FFFFFF"/>
          </a:solidFill>
          <a:ln w="12700">
            <a:solidFill>
              <a:srgbClr val="D3D5DB"/>
            </a:solidFill>
            <a:prstDash val="solid"/>
          </a:ln>
          <a:effectLst>
            <a:outerShdw sx="100000" sy="100000" kx="0" ky="0" algn="bl" rotWithShape="0" blurRad="63500" dist="25400" dir="5400000">
              <a:srgbClr val="000000">
                <a:alpha val="12000"/>
              </a:srgbClr>
            </a:outerShdw>
          </a:effectLst>
        </p:spPr>
      </p:sp>
      <p:pic>
        <p:nvPicPr>
          <p:cNvPr id="7" name="Image 0" descr="C:/Users/HP/Desktop/SCRAPING/docs/scratch/pipeline_shots/crops/hl_pdf.png">    </p:cNvPr>
          <p:cNvPicPr>
            <a:picLocks noChangeAspect="1"/>
          </p:cNvPicPr>
          <p:nvPr/>
        </p:nvPicPr>
        <p:blipFill>
          <a:blip r:embed="rId1"/>
          <a:stretch>
            <a:fillRect/>
          </a:stretch>
        </p:blipFill>
        <p:spPr>
          <a:xfrm>
            <a:off x="548640" y="1600200"/>
            <a:ext cx="5427339" cy="3931920"/>
          </a:xfrm>
          <a:prstGeom prst="rect">
            <a:avLst/>
          </a:prstGeom>
        </p:spPr>
      </p:pic>
      <p:sp>
        <p:nvSpPr>
          <p:cNvPr id="8" name="Text 4"/>
          <p:cNvSpPr/>
          <p:nvPr/>
        </p:nvSpPr>
        <p:spPr>
          <a:xfrm>
            <a:off x="548640" y="5586984"/>
            <a:ext cx="5427339" cy="237744"/>
          </a:xfrm>
          <a:prstGeom prst="rect">
            <a:avLst/>
          </a:prstGeom>
          <a:noFill/>
          <a:ln/>
        </p:spPr>
        <p:txBody>
          <a:bodyPr wrap="square" lIns="0" tIns="0" rIns="0" bIns="0" rtlCol="0" anchor="ctr"/>
          <a:lstStyle/>
          <a:p>
            <a:pPr indent="0" marL="0">
              <a:buNone/>
            </a:pPr>
            <a:r>
              <a:rPr lang="en-US" sz="1050" i="1" dirty="0">
                <a:solidFill>
                  <a:srgbClr val="8B8B90"/>
                </a:solidFill>
                <a:latin typeface="Calibri" pitchFamily="34" charset="0"/>
                <a:ea typeface="Calibri" pitchFamily="34" charset="-122"/>
                <a:cs typeface="Calibri" pitchFamily="34" charset="-120"/>
              </a:rPr>
              <a:t>Real page — ASTREE 2025 · Balance sheet · p.2</a:t>
            </a:r>
            <a:endParaRPr lang="en-US" sz="1050" dirty="0"/>
          </a:p>
        </p:txBody>
      </p:sp>
      <p:sp>
        <p:nvSpPr>
          <p:cNvPr id="9" name="Shape 5"/>
          <p:cNvSpPr/>
          <p:nvPr/>
        </p:nvSpPr>
        <p:spPr>
          <a:xfrm>
            <a:off x="6400800" y="3566160"/>
            <a:ext cx="457200" cy="9144"/>
          </a:xfrm>
          <a:prstGeom prst="line">
            <a:avLst/>
          </a:prstGeom>
          <a:noFill/>
          <a:ln w="38100">
            <a:solidFill>
              <a:srgbClr val="FFE600"/>
            </a:solidFill>
            <a:prstDash val="solid"/>
            <a:tailEnd type="triangle"/>
          </a:ln>
        </p:spPr>
      </p:sp>
      <p:sp>
        <p:nvSpPr>
          <p:cNvPr id="10" name="Text 6"/>
          <p:cNvSpPr/>
          <p:nvPr/>
        </p:nvSpPr>
        <p:spPr>
          <a:xfrm>
            <a:off x="7040880" y="1600200"/>
            <a:ext cx="4572000" cy="320040"/>
          </a:xfrm>
          <a:prstGeom prst="rect">
            <a:avLst/>
          </a:prstGeom>
          <a:noFill/>
          <a:ln/>
        </p:spPr>
        <p:txBody>
          <a:bodyPr wrap="square" lIns="0" tIns="0" rIns="0" bIns="0" rtlCol="0" anchor="ctr"/>
          <a:lstStyle/>
          <a:p>
            <a:pPr indent="0" marL="0">
              <a:buNone/>
            </a:pPr>
            <a:r>
              <a:rPr lang="en-US" sz="1600" b="1" dirty="0">
                <a:solidFill>
                  <a:srgbClr val="33363F"/>
                </a:solidFill>
                <a:latin typeface="Cambria" pitchFamily="34" charset="0"/>
                <a:ea typeface="Cambria" pitchFamily="34" charset="-122"/>
                <a:cs typeface="Cambria" pitchFamily="34" charset="-120"/>
              </a:rPr>
              <a:t>Stored as 4 cells</a:t>
            </a:r>
            <a:endParaRPr lang="en-US" sz="1600" dirty="0"/>
          </a:p>
        </p:txBody>
      </p:sp>
      <p:sp>
        <p:nvSpPr>
          <p:cNvPr id="11" name="Text 7"/>
          <p:cNvSpPr/>
          <p:nvPr/>
        </p:nvSpPr>
        <p:spPr>
          <a:xfrm>
            <a:off x="7040880" y="1920240"/>
            <a:ext cx="4572000" cy="274320"/>
          </a:xfrm>
          <a:prstGeom prst="rect">
            <a:avLst/>
          </a:prstGeom>
          <a:noFill/>
          <a:ln/>
        </p:spPr>
        <p:txBody>
          <a:bodyPr wrap="square" lIns="0" tIns="0" rIns="0" bIns="0" rtlCol="0" anchor="ctr"/>
          <a:lstStyle/>
          <a:p>
            <a:pPr indent="0" marL="0">
              <a:buNone/>
            </a:pPr>
            <a:r>
              <a:rPr lang="en-US" sz="1150" dirty="0">
                <a:solidFill>
                  <a:srgbClr val="8B8B90"/>
                </a:solidFill>
                <a:latin typeface="Calibri" pitchFamily="34" charset="0"/>
                <a:ea typeface="Calibri" pitchFamily="34" charset="-122"/>
                <a:cs typeface="Calibri" pitchFamily="34" charset="-120"/>
              </a:rPr>
              <a:t>table bilan_actif · row “TOTAL — Total de l actif”</a:t>
            </a:r>
            <a:endParaRPr lang="en-US" sz="11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7040880" y="2377440"/>
          <a:ext cx="4572000" cy="914400"/>
        </p:xfrm>
        <a:graphic>
          <a:graphicData uri="http://schemas.openxmlformats.org/drawingml/2006/table">
            <a:tbl>
              <a:tblPr/>
              <a:tblGrid>
                <a:gridCol w="2743200"/>
                <a:gridCol w="1828800"/>
              </a:tblGrid>
              <a:tr h="420624">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Column</a:t>
                      </a:r>
                      <a:endParaRPr lang="en-US" sz="1300" dirty="0">
                        <a:latin typeface="Calibri" charset="0"/>
                        <a:ea typeface="Calibri" charset="0"/>
                        <a:cs typeface="Calibri" charset="0"/>
                      </a:endParaRPr>
                    </a:p>
                  </a:txBody>
                  <a:tcPr marL="91440" marR="91440" marT="45720" marB="45720" anchor="ctr">
                    <a:lnL w="9525" cap="flat" cmpd="sng" algn="ctr">
                      <a:solidFill>
                        <a:srgbClr val="D3D5DB"/>
                      </a:solidFill>
                      <a:prstDash val="solid"/>
                      <a:round/>
                      <a:headEnd type="none" w="med" len="med"/>
                      <a:tailEnd type="none" w="med" len="med"/>
                    </a:lnL>
                    <a:lnR w="9525" cap="flat" cmpd="sng" algn="ctr">
                      <a:solidFill>
                        <a:srgbClr val="D3D5DB"/>
                      </a:solidFill>
                      <a:prstDash val="solid"/>
                      <a:round/>
                      <a:headEnd type="none" w="med" len="med"/>
                      <a:tailEnd type="none" w="med" len="med"/>
                    </a:lnR>
                    <a:lnT w="9525" cap="flat" cmpd="sng" algn="ctr">
                      <a:solidFill>
                        <a:srgbClr val="D3D5DB"/>
                      </a:solidFill>
                      <a:prstDash val="solid"/>
                      <a:round/>
                      <a:headEnd type="none" w="med" len="med"/>
                      <a:tailEnd type="none" w="med" len="med"/>
                    </a:lnT>
                    <a:lnB w="9525" cap="flat" cmpd="sng" algn="ctr">
                      <a:solidFill>
                        <a:srgbClr val="D3D5DB"/>
                      </a:solidFill>
                      <a:prstDash val="solid"/>
                      <a:round/>
                      <a:headEnd type="none" w="med" len="med"/>
                      <a:tailEnd type="none" w="med" len="med"/>
                    </a:lnB>
                    <a:solidFill>
                      <a:srgbClr val="33363F"/>
                    </a:solidFill>
                  </a:tcPr>
                </a:tc>
                <a:tc>
                  <a:txBody>
                    <a:bodyPr/>
                    <a:lstStyle/>
                    <a:p>
                      <a:pPr algn="r" indent="0" marL="0">
                        <a:buNone/>
                      </a:pPr>
                      <a:r>
                        <a:rPr lang="en-US" sz="1300" b="1" dirty="0">
                          <a:solidFill>
                            <a:srgbClr val="FFFFFF"/>
                          </a:solidFill>
                          <a:latin typeface="Calibri" pitchFamily="34" charset="0"/>
                          <a:ea typeface="Calibri" pitchFamily="34" charset="-122"/>
                          <a:cs typeface="Calibri" pitchFamily="34" charset="-120"/>
                        </a:rPr>
                        <a:t>Value (TND)</a:t>
                      </a:r>
                      <a:endParaRPr lang="en-US" sz="1300" dirty="0">
                        <a:latin typeface="Calibri" charset="0"/>
                        <a:ea typeface="Calibri" charset="0"/>
                        <a:cs typeface="Calibri" charset="0"/>
                      </a:endParaRPr>
                    </a:p>
                  </a:txBody>
                  <a:tcPr marL="91440" marR="91440" marT="45720" marB="45720" anchor="ctr">
                    <a:lnL w="9525" cap="flat" cmpd="sng" algn="ctr">
                      <a:solidFill>
                        <a:srgbClr val="D3D5DB"/>
                      </a:solidFill>
                      <a:prstDash val="solid"/>
                      <a:round/>
                      <a:headEnd type="none" w="med" len="med"/>
                      <a:tailEnd type="none" w="med" len="med"/>
                    </a:lnL>
                    <a:lnR w="9525" cap="flat" cmpd="sng" algn="ctr">
                      <a:solidFill>
                        <a:srgbClr val="D3D5DB"/>
                      </a:solidFill>
                      <a:prstDash val="solid"/>
                      <a:round/>
                      <a:headEnd type="none" w="med" len="med"/>
                      <a:tailEnd type="none" w="med" len="med"/>
                    </a:lnR>
                    <a:lnT w="9525" cap="flat" cmpd="sng" algn="ctr">
                      <a:solidFill>
                        <a:srgbClr val="D3D5DB"/>
                      </a:solidFill>
                      <a:prstDash val="solid"/>
                      <a:round/>
                      <a:headEnd type="none" w="med" len="med"/>
                      <a:tailEnd type="none" w="med" len="med"/>
                    </a:lnT>
                    <a:lnB w="9525" cap="flat" cmpd="sng" algn="ctr">
                      <a:solidFill>
                        <a:srgbClr val="D3D5DB"/>
                      </a:solidFill>
                      <a:prstDash val="solid"/>
                      <a:round/>
                      <a:headEnd type="none" w="med" len="med"/>
                      <a:tailEnd type="none" w="med" len="med"/>
                    </a:lnB>
                    <a:solidFill>
                      <a:srgbClr val="33363F"/>
                    </a:solidFill>
                  </a:tcPr>
                </a:tc>
              </a:tr>
              <a:tr h="420624">
                <a:tc>
                  <a:txBody>
                    <a:bodyPr/>
                    <a:lstStyle/>
                    <a:p>
                      <a:pPr algn="l" indent="0" marL="0">
                        <a:buNone/>
                      </a:pPr>
                      <a:r>
                        <a:rPr lang="en-US" sz="1300" dirty="0">
                          <a:solidFill>
                            <a:srgbClr val="26282F"/>
                          </a:solidFill>
                          <a:latin typeface="Calibri" pitchFamily="34" charset="0"/>
                          <a:ea typeface="Calibri" pitchFamily="34" charset="-122"/>
                          <a:cs typeface="Calibri" pitchFamily="34" charset="-120"/>
                        </a:rPr>
                        <a:t>Brut</a:t>
                      </a:r>
                      <a:endParaRPr lang="en-US" sz="1300" dirty="0">
                        <a:latin typeface="Calibri" charset="0"/>
                        <a:ea typeface="Calibri" charset="0"/>
                        <a:cs typeface="Calibri" charset="0"/>
                      </a:endParaRPr>
                    </a:p>
                  </a:txBody>
                  <a:tcPr marL="91440" marR="91440" marT="45720" marB="45720" anchor="ctr">
                    <a:lnL w="9525" cap="flat" cmpd="sng" algn="ctr">
                      <a:solidFill>
                        <a:srgbClr val="D3D5DB"/>
                      </a:solidFill>
                      <a:prstDash val="solid"/>
                      <a:round/>
                      <a:headEnd type="none" w="med" len="med"/>
                      <a:tailEnd type="none" w="med" len="med"/>
                    </a:lnL>
                    <a:lnR w="9525" cap="flat" cmpd="sng" algn="ctr">
                      <a:solidFill>
                        <a:srgbClr val="D3D5DB"/>
                      </a:solidFill>
                      <a:prstDash val="solid"/>
                      <a:round/>
                      <a:headEnd type="none" w="med" len="med"/>
                      <a:tailEnd type="none" w="med" len="med"/>
                    </a:lnR>
                    <a:lnT w="9525" cap="flat" cmpd="sng" algn="ctr">
                      <a:solidFill>
                        <a:srgbClr val="D3D5DB"/>
                      </a:solidFill>
                      <a:prstDash val="solid"/>
                      <a:round/>
                      <a:headEnd type="none" w="med" len="med"/>
                      <a:tailEnd type="none" w="med" len="med"/>
                    </a:lnT>
                    <a:lnB w="9525" cap="flat" cmpd="sng" algn="ctr">
                      <a:solidFill>
                        <a:srgbClr val="D3D5DB"/>
                      </a:solidFill>
                      <a:prstDash val="solid"/>
                      <a:round/>
                      <a:headEnd type="none" w="med" len="med"/>
                      <a:tailEnd type="none" w="med" len="med"/>
                    </a:lnB>
                    <a:solidFill>
                      <a:srgbClr val="FFFFFF"/>
                    </a:solidFill>
                  </a:tcPr>
                </a:tc>
                <a:tc>
                  <a:txBody>
                    <a:bodyPr/>
                    <a:lstStyle/>
                    <a:p>
                      <a:pPr algn="r" indent="0" marL="0">
                        <a:buNone/>
                      </a:pPr>
                      <a:r>
                        <a:rPr lang="en-US" sz="1300" dirty="0">
                          <a:solidFill>
                            <a:srgbClr val="26282F"/>
                          </a:solidFill>
                          <a:latin typeface="Calibri" pitchFamily="34" charset="0"/>
                          <a:ea typeface="Calibri" pitchFamily="34" charset="-122"/>
                          <a:cs typeface="Calibri" pitchFamily="34" charset="-120"/>
                        </a:rPr>
                        <a:t>940,299,985</a:t>
                      </a:r>
                      <a:endParaRPr lang="en-US" sz="1300" dirty="0">
                        <a:latin typeface="Calibri" charset="0"/>
                        <a:ea typeface="Calibri" charset="0"/>
                        <a:cs typeface="Calibri" charset="0"/>
                      </a:endParaRPr>
                    </a:p>
                  </a:txBody>
                  <a:tcPr marL="91440" marR="91440" marT="45720" marB="45720" anchor="ctr">
                    <a:lnL w="9525" cap="flat" cmpd="sng" algn="ctr">
                      <a:solidFill>
                        <a:srgbClr val="D3D5DB"/>
                      </a:solidFill>
                      <a:prstDash val="solid"/>
                      <a:round/>
                      <a:headEnd type="none" w="med" len="med"/>
                      <a:tailEnd type="none" w="med" len="med"/>
                    </a:lnL>
                    <a:lnR w="9525" cap="flat" cmpd="sng" algn="ctr">
                      <a:solidFill>
                        <a:srgbClr val="D3D5DB"/>
                      </a:solidFill>
                      <a:prstDash val="solid"/>
                      <a:round/>
                      <a:headEnd type="none" w="med" len="med"/>
                      <a:tailEnd type="none" w="med" len="med"/>
                    </a:lnR>
                    <a:lnT w="9525" cap="flat" cmpd="sng" algn="ctr">
                      <a:solidFill>
                        <a:srgbClr val="D3D5DB"/>
                      </a:solidFill>
                      <a:prstDash val="solid"/>
                      <a:round/>
                      <a:headEnd type="none" w="med" len="med"/>
                      <a:tailEnd type="none" w="med" len="med"/>
                    </a:lnT>
                    <a:lnB w="9525" cap="flat" cmpd="sng" algn="ctr">
                      <a:solidFill>
                        <a:srgbClr val="D3D5DB"/>
                      </a:solidFill>
                      <a:prstDash val="solid"/>
                      <a:round/>
                      <a:headEnd type="none" w="med" len="med"/>
                      <a:tailEnd type="none" w="med" len="med"/>
                    </a:lnB>
                    <a:solidFill>
                      <a:srgbClr val="FFFFFF"/>
                    </a:solidFill>
                  </a:tcPr>
                </a:tc>
              </a:tr>
              <a:tr h="420624">
                <a:tc>
                  <a:txBody>
                    <a:bodyPr/>
                    <a:lstStyle/>
                    <a:p>
                      <a:pPr algn="l" indent="0" marL="0">
                        <a:buNone/>
                      </a:pPr>
                      <a:r>
                        <a:rPr lang="en-US" sz="1300" dirty="0">
                          <a:solidFill>
                            <a:srgbClr val="26282F"/>
                          </a:solidFill>
                          <a:latin typeface="Calibri" pitchFamily="34" charset="0"/>
                          <a:ea typeface="Calibri" pitchFamily="34" charset="-122"/>
                          <a:cs typeface="Calibri" pitchFamily="34" charset="-120"/>
                        </a:rPr>
                        <a:t>Amortissements et provisions</a:t>
                      </a:r>
                      <a:endParaRPr lang="en-US" sz="1300" dirty="0">
                        <a:latin typeface="Calibri" charset="0"/>
                        <a:ea typeface="Calibri" charset="0"/>
                        <a:cs typeface="Calibri" charset="0"/>
                      </a:endParaRPr>
                    </a:p>
                  </a:txBody>
                  <a:tcPr marL="91440" marR="91440" marT="45720" marB="45720" anchor="ctr">
                    <a:lnL w="9525" cap="flat" cmpd="sng" algn="ctr">
                      <a:solidFill>
                        <a:srgbClr val="D3D5DB"/>
                      </a:solidFill>
                      <a:prstDash val="solid"/>
                      <a:round/>
                      <a:headEnd type="none" w="med" len="med"/>
                      <a:tailEnd type="none" w="med" len="med"/>
                    </a:lnL>
                    <a:lnR w="9525" cap="flat" cmpd="sng" algn="ctr">
                      <a:solidFill>
                        <a:srgbClr val="D3D5DB"/>
                      </a:solidFill>
                      <a:prstDash val="solid"/>
                      <a:round/>
                      <a:headEnd type="none" w="med" len="med"/>
                      <a:tailEnd type="none" w="med" len="med"/>
                    </a:lnR>
                    <a:lnT w="9525" cap="flat" cmpd="sng" algn="ctr">
                      <a:solidFill>
                        <a:srgbClr val="D3D5DB"/>
                      </a:solidFill>
                      <a:prstDash val="solid"/>
                      <a:round/>
                      <a:headEnd type="none" w="med" len="med"/>
                      <a:tailEnd type="none" w="med" len="med"/>
                    </a:lnT>
                    <a:lnB w="9525" cap="flat" cmpd="sng" algn="ctr">
                      <a:solidFill>
                        <a:srgbClr val="D3D5DB"/>
                      </a:solidFill>
                      <a:prstDash val="solid"/>
                      <a:round/>
                      <a:headEnd type="none" w="med" len="med"/>
                      <a:tailEnd type="none" w="med" len="med"/>
                    </a:lnB>
                    <a:solidFill>
                      <a:srgbClr val="F5F5F6"/>
                    </a:solidFill>
                  </a:tcPr>
                </a:tc>
                <a:tc>
                  <a:txBody>
                    <a:bodyPr/>
                    <a:lstStyle/>
                    <a:p>
                      <a:pPr algn="r" indent="0" marL="0">
                        <a:buNone/>
                      </a:pPr>
                      <a:r>
                        <a:rPr lang="en-US" sz="1300" dirty="0">
                          <a:solidFill>
                            <a:srgbClr val="26282F"/>
                          </a:solidFill>
                          <a:latin typeface="Calibri" pitchFamily="34" charset="0"/>
                          <a:ea typeface="Calibri" pitchFamily="34" charset="-122"/>
                          <a:cs typeface="Calibri" pitchFamily="34" charset="-120"/>
                        </a:rPr>
                        <a:t>59,224,561</a:t>
                      </a:r>
                      <a:endParaRPr lang="en-US" sz="1300" dirty="0">
                        <a:latin typeface="Calibri" charset="0"/>
                        <a:ea typeface="Calibri" charset="0"/>
                        <a:cs typeface="Calibri" charset="0"/>
                      </a:endParaRPr>
                    </a:p>
                  </a:txBody>
                  <a:tcPr marL="91440" marR="91440" marT="45720" marB="45720" anchor="ctr">
                    <a:lnL w="9525" cap="flat" cmpd="sng" algn="ctr">
                      <a:solidFill>
                        <a:srgbClr val="D3D5DB"/>
                      </a:solidFill>
                      <a:prstDash val="solid"/>
                      <a:round/>
                      <a:headEnd type="none" w="med" len="med"/>
                      <a:tailEnd type="none" w="med" len="med"/>
                    </a:lnL>
                    <a:lnR w="9525" cap="flat" cmpd="sng" algn="ctr">
                      <a:solidFill>
                        <a:srgbClr val="D3D5DB"/>
                      </a:solidFill>
                      <a:prstDash val="solid"/>
                      <a:round/>
                      <a:headEnd type="none" w="med" len="med"/>
                      <a:tailEnd type="none" w="med" len="med"/>
                    </a:lnR>
                    <a:lnT w="9525" cap="flat" cmpd="sng" algn="ctr">
                      <a:solidFill>
                        <a:srgbClr val="D3D5DB"/>
                      </a:solidFill>
                      <a:prstDash val="solid"/>
                      <a:round/>
                      <a:headEnd type="none" w="med" len="med"/>
                      <a:tailEnd type="none" w="med" len="med"/>
                    </a:lnT>
                    <a:lnB w="9525" cap="flat" cmpd="sng" algn="ctr">
                      <a:solidFill>
                        <a:srgbClr val="D3D5DB"/>
                      </a:solidFill>
                      <a:prstDash val="solid"/>
                      <a:round/>
                      <a:headEnd type="none" w="med" len="med"/>
                      <a:tailEnd type="none" w="med" len="med"/>
                    </a:lnB>
                    <a:solidFill>
                      <a:srgbClr val="F5F5F6"/>
                    </a:solidFill>
                  </a:tcPr>
                </a:tc>
              </a:tr>
              <a:tr h="420624">
                <a:tc>
                  <a:txBody>
                    <a:bodyPr/>
                    <a:lstStyle/>
                    <a:p>
                      <a:pPr algn="l" indent="0" marL="0">
                        <a:buNone/>
                      </a:pPr>
                      <a:r>
                        <a:rPr lang="en-US" sz="1300" b="1" dirty="0">
                          <a:solidFill>
                            <a:srgbClr val="26282F"/>
                          </a:solidFill>
                          <a:latin typeface="Calibri" pitchFamily="34" charset="0"/>
                          <a:ea typeface="Calibri" pitchFamily="34" charset="-122"/>
                          <a:cs typeface="Calibri" pitchFamily="34" charset="-120"/>
                        </a:rPr>
                        <a:t>Net</a:t>
                      </a:r>
                      <a:endParaRPr lang="en-US" sz="1300" dirty="0">
                        <a:latin typeface="Calibri" charset="0"/>
                        <a:ea typeface="Calibri" charset="0"/>
                        <a:cs typeface="Calibri" charset="0"/>
                      </a:endParaRPr>
                    </a:p>
                  </a:txBody>
                  <a:tcPr marL="91440" marR="91440" marT="45720" marB="45720" anchor="ctr">
                    <a:lnL w="9525" cap="flat" cmpd="sng" algn="ctr">
                      <a:solidFill>
                        <a:srgbClr val="D3D5DB"/>
                      </a:solidFill>
                      <a:prstDash val="solid"/>
                      <a:round/>
                      <a:headEnd type="none" w="med" len="med"/>
                      <a:tailEnd type="none" w="med" len="med"/>
                    </a:lnL>
                    <a:lnR w="9525" cap="flat" cmpd="sng" algn="ctr">
                      <a:solidFill>
                        <a:srgbClr val="D3D5DB"/>
                      </a:solidFill>
                      <a:prstDash val="solid"/>
                      <a:round/>
                      <a:headEnd type="none" w="med" len="med"/>
                      <a:tailEnd type="none" w="med" len="med"/>
                    </a:lnR>
                    <a:lnT w="9525" cap="flat" cmpd="sng" algn="ctr">
                      <a:solidFill>
                        <a:srgbClr val="D3D5DB"/>
                      </a:solidFill>
                      <a:prstDash val="solid"/>
                      <a:round/>
                      <a:headEnd type="none" w="med" len="med"/>
                      <a:tailEnd type="none" w="med" len="med"/>
                    </a:lnT>
                    <a:lnB w="9525" cap="flat" cmpd="sng" algn="ctr">
                      <a:solidFill>
                        <a:srgbClr val="D3D5DB"/>
                      </a:solidFill>
                      <a:prstDash val="solid"/>
                      <a:round/>
                      <a:headEnd type="none" w="med" len="med"/>
                      <a:tailEnd type="none" w="med" len="med"/>
                    </a:lnB>
                    <a:solidFill>
                      <a:srgbClr val="FFE600"/>
                    </a:solidFill>
                  </a:tcPr>
                </a:tc>
                <a:tc>
                  <a:txBody>
                    <a:bodyPr/>
                    <a:lstStyle/>
                    <a:p>
                      <a:pPr algn="r" indent="0" marL="0">
                        <a:buNone/>
                      </a:pPr>
                      <a:r>
                        <a:rPr lang="en-US" sz="1300" b="1" dirty="0">
                          <a:solidFill>
                            <a:srgbClr val="26282F"/>
                          </a:solidFill>
                          <a:latin typeface="Calibri" pitchFamily="34" charset="0"/>
                          <a:ea typeface="Calibri" pitchFamily="34" charset="-122"/>
                          <a:cs typeface="Calibri" pitchFamily="34" charset="-120"/>
                        </a:rPr>
                        <a:t>881,075,424</a:t>
                      </a:r>
                      <a:endParaRPr lang="en-US" sz="1300" dirty="0">
                        <a:latin typeface="Calibri" charset="0"/>
                        <a:ea typeface="Calibri" charset="0"/>
                        <a:cs typeface="Calibri" charset="0"/>
                      </a:endParaRPr>
                    </a:p>
                  </a:txBody>
                  <a:tcPr marL="91440" marR="91440" marT="45720" marB="45720" anchor="ctr">
                    <a:lnL w="9525" cap="flat" cmpd="sng" algn="ctr">
                      <a:solidFill>
                        <a:srgbClr val="D3D5DB"/>
                      </a:solidFill>
                      <a:prstDash val="solid"/>
                      <a:round/>
                      <a:headEnd type="none" w="med" len="med"/>
                      <a:tailEnd type="none" w="med" len="med"/>
                    </a:lnL>
                    <a:lnR w="9525" cap="flat" cmpd="sng" algn="ctr">
                      <a:solidFill>
                        <a:srgbClr val="D3D5DB"/>
                      </a:solidFill>
                      <a:prstDash val="solid"/>
                      <a:round/>
                      <a:headEnd type="none" w="med" len="med"/>
                      <a:tailEnd type="none" w="med" len="med"/>
                    </a:lnR>
                    <a:lnT w="9525" cap="flat" cmpd="sng" algn="ctr">
                      <a:solidFill>
                        <a:srgbClr val="D3D5DB"/>
                      </a:solidFill>
                      <a:prstDash val="solid"/>
                      <a:round/>
                      <a:headEnd type="none" w="med" len="med"/>
                      <a:tailEnd type="none" w="med" len="med"/>
                    </a:lnT>
                    <a:lnB w="9525" cap="flat" cmpd="sng" algn="ctr">
                      <a:solidFill>
                        <a:srgbClr val="D3D5DB"/>
                      </a:solidFill>
                      <a:prstDash val="solid"/>
                      <a:round/>
                      <a:headEnd type="none" w="med" len="med"/>
                      <a:tailEnd type="none" w="med" len="med"/>
                    </a:lnB>
                    <a:solidFill>
                      <a:srgbClr val="FFE600"/>
                    </a:solidFill>
                  </a:tcPr>
                </a:tc>
              </a:tr>
              <a:tr h="420624">
                <a:tc>
                  <a:txBody>
                    <a:bodyPr/>
                    <a:lstStyle/>
                    <a:p>
                      <a:pPr algn="l" indent="0" marL="0">
                        <a:buNone/>
                      </a:pPr>
                      <a:r>
                        <a:rPr lang="en-US" sz="1300" dirty="0">
                          <a:solidFill>
                            <a:srgbClr val="26282F"/>
                          </a:solidFill>
                          <a:latin typeface="Calibri" pitchFamily="34" charset="0"/>
                          <a:ea typeface="Calibri" pitchFamily="34" charset="-122"/>
                          <a:cs typeface="Calibri" pitchFamily="34" charset="-120"/>
                        </a:rPr>
                        <a:t>Net (N-1)</a:t>
                      </a:r>
                      <a:endParaRPr lang="en-US" sz="1300" dirty="0">
                        <a:latin typeface="Calibri" charset="0"/>
                        <a:ea typeface="Calibri" charset="0"/>
                        <a:cs typeface="Calibri" charset="0"/>
                      </a:endParaRPr>
                    </a:p>
                  </a:txBody>
                  <a:tcPr marL="91440" marR="91440" marT="45720" marB="45720" anchor="ctr">
                    <a:lnL w="9525" cap="flat" cmpd="sng" algn="ctr">
                      <a:solidFill>
                        <a:srgbClr val="D3D5DB"/>
                      </a:solidFill>
                      <a:prstDash val="solid"/>
                      <a:round/>
                      <a:headEnd type="none" w="med" len="med"/>
                      <a:tailEnd type="none" w="med" len="med"/>
                    </a:lnL>
                    <a:lnR w="9525" cap="flat" cmpd="sng" algn="ctr">
                      <a:solidFill>
                        <a:srgbClr val="D3D5DB"/>
                      </a:solidFill>
                      <a:prstDash val="solid"/>
                      <a:round/>
                      <a:headEnd type="none" w="med" len="med"/>
                      <a:tailEnd type="none" w="med" len="med"/>
                    </a:lnR>
                    <a:lnT w="9525" cap="flat" cmpd="sng" algn="ctr">
                      <a:solidFill>
                        <a:srgbClr val="D3D5DB"/>
                      </a:solidFill>
                      <a:prstDash val="solid"/>
                      <a:round/>
                      <a:headEnd type="none" w="med" len="med"/>
                      <a:tailEnd type="none" w="med" len="med"/>
                    </a:lnT>
                    <a:lnB w="9525" cap="flat" cmpd="sng" algn="ctr">
                      <a:solidFill>
                        <a:srgbClr val="D3D5DB"/>
                      </a:solidFill>
                      <a:prstDash val="solid"/>
                      <a:round/>
                      <a:headEnd type="none" w="med" len="med"/>
                      <a:tailEnd type="none" w="med" len="med"/>
                    </a:lnB>
                    <a:solidFill>
                      <a:srgbClr val="F5F5F6"/>
                    </a:solidFill>
                  </a:tcPr>
                </a:tc>
                <a:tc>
                  <a:txBody>
                    <a:bodyPr/>
                    <a:lstStyle/>
                    <a:p>
                      <a:pPr algn="r" indent="0" marL="0">
                        <a:buNone/>
                      </a:pPr>
                      <a:r>
                        <a:rPr lang="en-US" sz="1300" dirty="0">
                          <a:solidFill>
                            <a:srgbClr val="26282F"/>
                          </a:solidFill>
                          <a:latin typeface="Calibri" pitchFamily="34" charset="0"/>
                          <a:ea typeface="Calibri" pitchFamily="34" charset="-122"/>
                          <a:cs typeface="Calibri" pitchFamily="34" charset="-120"/>
                        </a:rPr>
                        <a:t>817,830,616</a:t>
                      </a:r>
                      <a:endParaRPr lang="en-US" sz="1300" dirty="0">
                        <a:latin typeface="Calibri" charset="0"/>
                        <a:ea typeface="Calibri" charset="0"/>
                        <a:cs typeface="Calibri" charset="0"/>
                      </a:endParaRPr>
                    </a:p>
                  </a:txBody>
                  <a:tcPr marL="91440" marR="91440" marT="45720" marB="45720" anchor="ctr">
                    <a:lnL w="9525" cap="flat" cmpd="sng" algn="ctr">
                      <a:solidFill>
                        <a:srgbClr val="D3D5DB"/>
                      </a:solidFill>
                      <a:prstDash val="solid"/>
                      <a:round/>
                      <a:headEnd type="none" w="med" len="med"/>
                      <a:tailEnd type="none" w="med" len="med"/>
                    </a:lnL>
                    <a:lnR w="9525" cap="flat" cmpd="sng" algn="ctr">
                      <a:solidFill>
                        <a:srgbClr val="D3D5DB"/>
                      </a:solidFill>
                      <a:prstDash val="solid"/>
                      <a:round/>
                      <a:headEnd type="none" w="med" len="med"/>
                      <a:tailEnd type="none" w="med" len="med"/>
                    </a:lnR>
                    <a:lnT w="9525" cap="flat" cmpd="sng" algn="ctr">
                      <a:solidFill>
                        <a:srgbClr val="D3D5DB"/>
                      </a:solidFill>
                      <a:prstDash val="solid"/>
                      <a:round/>
                      <a:headEnd type="none" w="med" len="med"/>
                      <a:tailEnd type="none" w="med" len="med"/>
                    </a:lnT>
                    <a:lnB w="9525" cap="flat" cmpd="sng" algn="ctr">
                      <a:solidFill>
                        <a:srgbClr val="D3D5DB"/>
                      </a:solidFill>
                      <a:prstDash val="solid"/>
                      <a:round/>
                      <a:headEnd type="none" w="med" len="med"/>
                      <a:tailEnd type="none" w="med" len="med"/>
                    </a:lnB>
                    <a:solidFill>
                      <a:srgbClr val="F5F5F6"/>
                    </a:solidFill>
                  </a:tcPr>
                </a:tc>
              </a:tr>
            </a:tbl>
          </a:graphicData>
        </a:graphic>
      </p:graphicFrame>
      <p:sp>
        <p:nvSpPr>
          <p:cNvPr id="13" name="Shape 8"/>
          <p:cNvSpPr/>
          <p:nvPr/>
        </p:nvSpPr>
        <p:spPr>
          <a:xfrm>
            <a:off x="7086600" y="4736592"/>
            <a:ext cx="146304" cy="146304"/>
          </a:xfrm>
          <a:prstGeom prst="ellipse">
            <a:avLst/>
          </a:prstGeom>
          <a:solidFill>
            <a:srgbClr val="FFE600"/>
          </a:solidFill>
          <a:ln/>
        </p:spPr>
      </p:sp>
      <p:sp>
        <p:nvSpPr>
          <p:cNvPr id="14" name="Text 9"/>
          <p:cNvSpPr/>
          <p:nvPr/>
        </p:nvSpPr>
        <p:spPr>
          <a:xfrm>
            <a:off x="7360920" y="4681728"/>
            <a:ext cx="4206240" cy="274320"/>
          </a:xfrm>
          <a:prstGeom prst="rect">
            <a:avLst/>
          </a:prstGeom>
          <a:noFill/>
          <a:ln/>
        </p:spPr>
        <p:txBody>
          <a:bodyPr wrap="square" lIns="0" tIns="0" rIns="0" bIns="0" rtlCol="0" anchor="ctr"/>
          <a:lstStyle/>
          <a:p>
            <a:pPr indent="0" marL="0">
              <a:buNone/>
            </a:pPr>
            <a:r>
              <a:rPr lang="en-US" sz="1300" dirty="0">
                <a:solidFill>
                  <a:srgbClr val="26282F"/>
                </a:solidFill>
                <a:latin typeface="Calibri" pitchFamily="34" charset="0"/>
                <a:ea typeface="Calibri" pitchFamily="34" charset="-122"/>
                <a:cs typeface="Calibri" pitchFamily="34" charset="-120"/>
              </a:rPr>
              <a:t>pdfplumber reads the words</a:t>
            </a:r>
            <a:endParaRPr lang="en-US" sz="1300" dirty="0"/>
          </a:p>
        </p:txBody>
      </p:sp>
      <p:sp>
        <p:nvSpPr>
          <p:cNvPr id="15" name="Shape 10"/>
          <p:cNvSpPr/>
          <p:nvPr/>
        </p:nvSpPr>
        <p:spPr>
          <a:xfrm>
            <a:off x="7086600" y="5065776"/>
            <a:ext cx="146304" cy="146304"/>
          </a:xfrm>
          <a:prstGeom prst="ellipse">
            <a:avLst/>
          </a:prstGeom>
          <a:solidFill>
            <a:srgbClr val="FFE600"/>
          </a:solidFill>
          <a:ln/>
        </p:spPr>
      </p:sp>
      <p:sp>
        <p:nvSpPr>
          <p:cNvPr id="16" name="Text 11"/>
          <p:cNvSpPr/>
          <p:nvPr/>
        </p:nvSpPr>
        <p:spPr>
          <a:xfrm>
            <a:off x="7360920" y="5010912"/>
            <a:ext cx="4206240" cy="274320"/>
          </a:xfrm>
          <a:prstGeom prst="rect">
            <a:avLst/>
          </a:prstGeom>
          <a:noFill/>
          <a:ln/>
        </p:spPr>
        <p:txBody>
          <a:bodyPr wrap="square" lIns="0" tIns="0" rIns="0" bIns="0" rtlCol="0" anchor="ctr"/>
          <a:lstStyle/>
          <a:p>
            <a:pPr indent="0" marL="0">
              <a:buNone/>
            </a:pPr>
            <a:r>
              <a:rPr lang="en-US" sz="1300" dirty="0">
                <a:solidFill>
                  <a:srgbClr val="26282F"/>
                </a:solidFill>
                <a:latin typeface="Calibri" pitchFamily="34" charset="0"/>
                <a:ea typeface="Calibri" pitchFamily="34" charset="-122"/>
                <a:cs typeface="Calibri" pitchFamily="34" charset="-120"/>
              </a:rPr>
              <a:t>columns found by x-position</a:t>
            </a:r>
            <a:endParaRPr lang="en-US" sz="1300" dirty="0"/>
          </a:p>
        </p:txBody>
      </p:sp>
      <p:sp>
        <p:nvSpPr>
          <p:cNvPr id="17" name="Shape 12"/>
          <p:cNvSpPr/>
          <p:nvPr/>
        </p:nvSpPr>
        <p:spPr>
          <a:xfrm>
            <a:off x="7086600" y="5394960"/>
            <a:ext cx="146304" cy="146304"/>
          </a:xfrm>
          <a:prstGeom prst="ellipse">
            <a:avLst/>
          </a:prstGeom>
          <a:solidFill>
            <a:srgbClr val="FFE600"/>
          </a:solidFill>
          <a:ln/>
        </p:spPr>
      </p:sp>
      <p:sp>
        <p:nvSpPr>
          <p:cNvPr id="18" name="Text 13"/>
          <p:cNvSpPr/>
          <p:nvPr/>
        </p:nvSpPr>
        <p:spPr>
          <a:xfrm>
            <a:off x="7360920" y="5340096"/>
            <a:ext cx="4206240" cy="274320"/>
          </a:xfrm>
          <a:prstGeom prst="rect">
            <a:avLst/>
          </a:prstGeom>
          <a:noFill/>
          <a:ln/>
        </p:spPr>
        <p:txBody>
          <a:bodyPr wrap="square" lIns="0" tIns="0" rIns="0" bIns="0" rtlCol="0" anchor="ctr"/>
          <a:lstStyle/>
          <a:p>
            <a:pPr indent="0" marL="0">
              <a:buNone/>
            </a:pPr>
            <a:r>
              <a:rPr lang="en-US" sz="1300" dirty="0">
                <a:solidFill>
                  <a:srgbClr val="26282F"/>
                </a:solidFill>
                <a:latin typeface="Calibri" pitchFamily="34" charset="0"/>
                <a:ea typeface="Calibri" pitchFamily="34" charset="-122"/>
                <a:cs typeface="Calibri" pitchFamily="34" charset="-120"/>
              </a:rPr>
              <a:t>rows renamed to a canonical label</a:t>
            </a:r>
            <a:endParaRPr lang="en-US" sz="1300" dirty="0"/>
          </a:p>
        </p:txBody>
      </p:sp>
      <p:sp>
        <p:nvSpPr>
          <p:cNvPr id="19" name="Shape 14"/>
          <p:cNvSpPr/>
          <p:nvPr/>
        </p:nvSpPr>
        <p:spPr>
          <a:xfrm>
            <a:off x="7086600" y="5724144"/>
            <a:ext cx="146304" cy="146304"/>
          </a:xfrm>
          <a:prstGeom prst="ellipse">
            <a:avLst/>
          </a:prstGeom>
          <a:solidFill>
            <a:srgbClr val="FFE600"/>
          </a:solidFill>
          <a:ln/>
        </p:spPr>
      </p:sp>
      <p:sp>
        <p:nvSpPr>
          <p:cNvPr id="20" name="Text 15"/>
          <p:cNvSpPr/>
          <p:nvPr/>
        </p:nvSpPr>
        <p:spPr>
          <a:xfrm>
            <a:off x="7360920" y="5669280"/>
            <a:ext cx="4206240" cy="274320"/>
          </a:xfrm>
          <a:prstGeom prst="rect">
            <a:avLst/>
          </a:prstGeom>
          <a:noFill/>
          <a:ln/>
        </p:spPr>
        <p:txBody>
          <a:bodyPr wrap="square" lIns="0" tIns="0" rIns="0" bIns="0" rtlCol="0" anchor="ctr"/>
          <a:lstStyle/>
          <a:p>
            <a:pPr indent="0" marL="0">
              <a:buNone/>
            </a:pPr>
            <a:r>
              <a:rPr lang="en-US" sz="1300" dirty="0">
                <a:solidFill>
                  <a:srgbClr val="26282F"/>
                </a:solidFill>
                <a:latin typeface="Calibri" pitchFamily="34" charset="0"/>
                <a:ea typeface="Calibri" pitchFamily="34" charset="-122"/>
                <a:cs typeface="Calibri" pitchFamily="34" charset="-120"/>
              </a:rPr>
              <a:t>Tesseract OCR for scanned / Arabic pages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5486400" cy="274320"/>
          </a:xfrm>
          <a:prstGeom prst="rect">
            <a:avLst/>
          </a:prstGeom>
          <a:noFill/>
          <a:ln/>
        </p:spPr>
        <p:txBody>
          <a:bodyPr wrap="square" lIns="0" tIns="0" rIns="0" bIns="0" rtlCol="0" anchor="ctr"/>
          <a:lstStyle/>
          <a:p>
            <a:pPr indent="0" marL="0">
              <a:buNone/>
            </a:pPr>
            <a:r>
              <a:rPr lang="en-US" sz="1200" b="1" spc="200" kern="0" dirty="0">
                <a:solidFill>
                  <a:srgbClr val="8B8B90"/>
                </a:solidFill>
                <a:latin typeface="Calibri" pitchFamily="34" charset="0"/>
                <a:ea typeface="Calibri" pitchFamily="34" charset="-122"/>
                <a:cs typeface="Calibri" pitchFamily="34" charset="-120"/>
              </a:rPr>
              <a:t>DATA PIPELINE</a:t>
            </a:r>
            <a:endParaRPr lang="en-US" sz="1200" dirty="0"/>
          </a:p>
        </p:txBody>
      </p:sp>
      <p:sp>
        <p:nvSpPr>
          <p:cNvPr id="3" name="Text 1"/>
          <p:cNvSpPr/>
          <p:nvPr/>
        </p:nvSpPr>
        <p:spPr>
          <a:xfrm>
            <a:off x="548640" y="658368"/>
            <a:ext cx="11064240" cy="640080"/>
          </a:xfrm>
          <a:prstGeom prst="rect">
            <a:avLst/>
          </a:prstGeom>
          <a:noFill/>
          <a:ln/>
        </p:spPr>
        <p:txBody>
          <a:bodyPr wrap="square" lIns="0" tIns="0" rIns="0" bIns="0" rtlCol="0" anchor="ctr"/>
          <a:lstStyle/>
          <a:p>
            <a:pPr indent="0" marL="0">
              <a:buNone/>
            </a:pPr>
            <a:r>
              <a:rPr lang="en-US" sz="3000" b="1" dirty="0">
                <a:solidFill>
                  <a:srgbClr val="33363F"/>
                </a:solidFill>
                <a:latin typeface="Cambria" pitchFamily="34" charset="0"/>
                <a:ea typeface="Cambria" pitchFamily="34" charset="-122"/>
                <a:cs typeface="Cambria" pitchFamily="34" charset="-120"/>
              </a:rPr>
              <a:t>Extract — 10 Table Types, 49,849 Cells</a:t>
            </a:r>
            <a:endParaRPr lang="en-US" sz="3000" dirty="0"/>
          </a:p>
        </p:txBody>
      </p:sp>
      <p:sp>
        <p:nvSpPr>
          <p:cNvPr id="4" name="Text 2"/>
          <p:cNvSpPr/>
          <p:nvPr/>
        </p:nvSpPr>
        <p:spPr>
          <a:xfrm>
            <a:off x="11612880" y="6510528"/>
            <a:ext cx="457200" cy="274320"/>
          </a:xfrm>
          <a:prstGeom prst="rect">
            <a:avLst/>
          </a:prstGeom>
          <a:noFill/>
          <a:ln/>
        </p:spPr>
        <p:txBody>
          <a:bodyPr wrap="square" rtlCol="0" anchor="ctr"/>
          <a:lstStyle/>
          <a:p>
            <a:pPr algn="r" indent="0" marL="0">
              <a:buNone/>
            </a:pPr>
            <a:r>
              <a:rPr lang="en-US" sz="1000" dirty="0">
                <a:solidFill>
                  <a:srgbClr val="8B8B90"/>
                </a:solidFill>
                <a:latin typeface="Calibri" pitchFamily="34" charset="0"/>
                <a:ea typeface="Calibri" pitchFamily="34" charset="-122"/>
                <a:cs typeface="Calibri" pitchFamily="34" charset="-120"/>
              </a:rPr>
              <a:t>5</a:t>
            </a:r>
            <a:endParaRPr lang="en-US" sz="1000" dirty="0"/>
          </a:p>
        </p:txBody>
      </p:sp>
      <p:graphicFrame>
        <p:nvGraphicFramePr>
          <p:cNvPr id="6" name="Chart 0" descr=""/>
          <p:cNvGraphicFramePr/>
          <p:nvPr/>
        </p:nvGraphicFramePr>
        <p:xfrm>
          <a:off x="548640" y="1554480"/>
          <a:ext cx="6766560" cy="4526280"/>
        </p:xfrm>
        <a:graphic xmlns:a="http://schemas.openxmlformats.org/drawingml/2006/main">
          <a:graphicData uri="http://schemas.openxmlformats.org/drawingml/2006/chart">
            <c:chart xmlns:c="http://schemas.openxmlformats.org/drawingml/2006/chart" r:id="rId1"/>
          </a:graphicData>
        </a:graphic>
      </p:graphicFrame>
      <p:sp>
        <p:nvSpPr>
          <p:cNvPr id="7" name="Shape 3"/>
          <p:cNvSpPr/>
          <p:nvPr/>
        </p:nvSpPr>
        <p:spPr>
          <a:xfrm>
            <a:off x="7589520" y="1691640"/>
            <a:ext cx="4023360" cy="1965960"/>
          </a:xfrm>
          <a:prstGeom prst="roundRect">
            <a:avLst>
              <a:gd name="adj" fmla="val 3721"/>
            </a:avLst>
          </a:prstGeom>
          <a:solidFill>
            <a:srgbClr val="33363F"/>
          </a:solidFill>
          <a:ln/>
        </p:spPr>
      </p:sp>
      <p:sp>
        <p:nvSpPr>
          <p:cNvPr id="8" name="Shape 4"/>
          <p:cNvSpPr/>
          <p:nvPr/>
        </p:nvSpPr>
        <p:spPr>
          <a:xfrm>
            <a:off x="7863840" y="1965960"/>
            <a:ext cx="146304" cy="146304"/>
          </a:xfrm>
          <a:prstGeom prst="ellipse">
            <a:avLst/>
          </a:prstGeom>
          <a:solidFill>
            <a:srgbClr val="FFE600"/>
          </a:solidFill>
          <a:ln/>
        </p:spPr>
      </p:sp>
      <p:sp>
        <p:nvSpPr>
          <p:cNvPr id="9" name="Text 5"/>
          <p:cNvSpPr/>
          <p:nvPr/>
        </p:nvSpPr>
        <p:spPr>
          <a:xfrm>
            <a:off x="8138160" y="1856232"/>
            <a:ext cx="3291840" cy="36576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Real case · 6 columns</a:t>
            </a:r>
            <a:endParaRPr lang="en-US" sz="1500" dirty="0"/>
          </a:p>
        </p:txBody>
      </p:sp>
      <p:sp>
        <p:nvSpPr>
          <p:cNvPr id="10" name="Text 6"/>
          <p:cNvSpPr/>
          <p:nvPr/>
        </p:nvSpPr>
        <p:spPr>
          <a:xfrm>
            <a:off x="7863840" y="2377440"/>
            <a:ext cx="3566160" cy="1188720"/>
          </a:xfrm>
          <a:prstGeom prst="rect">
            <a:avLst/>
          </a:prstGeom>
          <a:noFill/>
          <a:ln/>
        </p:spPr>
        <p:txBody>
          <a:bodyPr wrap="square" lIns="0" tIns="0" rIns="0" bIns="0" rtlCol="0" anchor="t"/>
          <a:lstStyle/>
          <a:p>
            <a:pPr indent="0" marL="0">
              <a:buNone/>
            </a:pPr>
            <a:r>
              <a:rPr lang="en-US" sz="1250" dirty="0">
                <a:solidFill>
                  <a:srgbClr val="C7CBD0"/>
                </a:solidFill>
                <a:latin typeface="Calibri" pitchFamily="34" charset="0"/>
                <a:ea typeface="Calibri" pitchFamily="34" charset="-122"/>
                <a:cs typeface="Calibri" pitchFamily="34" charset="-120"/>
              </a:rPr>
              <a:t>ATTIJARI's balance sheet has 6 value columns instead of 4. Columns are now assigned by position when counts match.</a:t>
            </a:r>
            <a:endParaRPr lang="en-US" sz="1250" dirty="0"/>
          </a:p>
        </p:txBody>
      </p:sp>
      <p:sp>
        <p:nvSpPr>
          <p:cNvPr id="11" name="Shape 7"/>
          <p:cNvSpPr/>
          <p:nvPr/>
        </p:nvSpPr>
        <p:spPr>
          <a:xfrm>
            <a:off x="7589520" y="3840480"/>
            <a:ext cx="4023360" cy="1965960"/>
          </a:xfrm>
          <a:prstGeom prst="roundRect">
            <a:avLst>
              <a:gd name="adj" fmla="val 3721"/>
            </a:avLst>
          </a:prstGeom>
          <a:solidFill>
            <a:srgbClr val="33363F"/>
          </a:solidFill>
          <a:ln/>
        </p:spPr>
      </p:sp>
      <p:sp>
        <p:nvSpPr>
          <p:cNvPr id="12" name="Shape 8"/>
          <p:cNvSpPr/>
          <p:nvPr/>
        </p:nvSpPr>
        <p:spPr>
          <a:xfrm>
            <a:off x="7863840" y="4114800"/>
            <a:ext cx="146304" cy="146304"/>
          </a:xfrm>
          <a:prstGeom prst="ellipse">
            <a:avLst/>
          </a:prstGeom>
          <a:solidFill>
            <a:srgbClr val="FFE600"/>
          </a:solidFill>
          <a:ln/>
        </p:spPr>
      </p:sp>
      <p:sp>
        <p:nvSpPr>
          <p:cNvPr id="13" name="Text 9"/>
          <p:cNvSpPr/>
          <p:nvPr/>
        </p:nvSpPr>
        <p:spPr>
          <a:xfrm>
            <a:off x="8138160" y="4005072"/>
            <a:ext cx="3291840" cy="36576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Real case · Notes column</a:t>
            </a:r>
            <a:endParaRPr lang="en-US" sz="1500" dirty="0"/>
          </a:p>
        </p:txBody>
      </p:sp>
      <p:sp>
        <p:nvSpPr>
          <p:cNvPr id="14" name="Text 10"/>
          <p:cNvSpPr/>
          <p:nvPr/>
        </p:nvSpPr>
        <p:spPr>
          <a:xfrm>
            <a:off x="7863840" y="4526280"/>
            <a:ext cx="3566160" cy="1188720"/>
          </a:xfrm>
          <a:prstGeom prst="rect">
            <a:avLst/>
          </a:prstGeom>
          <a:noFill/>
          <a:ln/>
        </p:spPr>
        <p:txBody>
          <a:bodyPr wrap="square" lIns="0" tIns="0" rIns="0" bIns="0" rtlCol="0" anchor="t"/>
          <a:lstStyle/>
          <a:p>
            <a:pPr indent="0" marL="0">
              <a:buNone/>
            </a:pPr>
            <a:r>
              <a:rPr lang="en-US" sz="1250" dirty="0">
                <a:solidFill>
                  <a:srgbClr val="C7CBD0"/>
                </a:solidFill>
                <a:latin typeface="Calibri" pitchFamily="34" charset="0"/>
                <a:ea typeface="Calibri" pitchFamily="34" charset="-122"/>
                <a:cs typeface="Calibri" pitchFamily="34" charset="-120"/>
              </a:rPr>
              <a:t>Takaful statements add a “Notes” column whose numbers polluted the values. It is now stripped before reading.</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5486400" cy="274320"/>
          </a:xfrm>
          <a:prstGeom prst="rect">
            <a:avLst/>
          </a:prstGeom>
          <a:noFill/>
          <a:ln/>
        </p:spPr>
        <p:txBody>
          <a:bodyPr wrap="square" lIns="0" tIns="0" rIns="0" bIns="0" rtlCol="0" anchor="ctr"/>
          <a:lstStyle/>
          <a:p>
            <a:pPr indent="0" marL="0">
              <a:buNone/>
            </a:pPr>
            <a:r>
              <a:rPr lang="en-US" sz="1200" b="1" spc="200" kern="0" dirty="0">
                <a:solidFill>
                  <a:srgbClr val="8B8B90"/>
                </a:solidFill>
                <a:latin typeface="Calibri" pitchFamily="34" charset="0"/>
                <a:ea typeface="Calibri" pitchFamily="34" charset="-122"/>
                <a:cs typeface="Calibri" pitchFamily="34" charset="-120"/>
              </a:rPr>
              <a:t>DATA PIPELINE</a:t>
            </a:r>
            <a:endParaRPr lang="en-US" sz="1200" dirty="0"/>
          </a:p>
        </p:txBody>
      </p:sp>
      <p:sp>
        <p:nvSpPr>
          <p:cNvPr id="3" name="Text 1"/>
          <p:cNvSpPr/>
          <p:nvPr/>
        </p:nvSpPr>
        <p:spPr>
          <a:xfrm>
            <a:off x="548640" y="658368"/>
            <a:ext cx="11064240" cy="640080"/>
          </a:xfrm>
          <a:prstGeom prst="rect">
            <a:avLst/>
          </a:prstGeom>
          <a:noFill/>
          <a:ln/>
        </p:spPr>
        <p:txBody>
          <a:bodyPr wrap="square" lIns="0" tIns="0" rIns="0" bIns="0" rtlCol="0" anchor="ctr"/>
          <a:lstStyle/>
          <a:p>
            <a:pPr indent="0" marL="0">
              <a:buNone/>
            </a:pPr>
            <a:r>
              <a:rPr lang="en-US" sz="3000" b="1" dirty="0">
                <a:solidFill>
                  <a:srgbClr val="33363F"/>
                </a:solidFill>
                <a:latin typeface="Cambria" pitchFamily="34" charset="0"/>
                <a:ea typeface="Cambria" pitchFamily="34" charset="-122"/>
                <a:cs typeface="Cambria" pitchFamily="34" charset="-120"/>
              </a:rPr>
              <a:t>3 · Validate — Accounting Identities as Checks</a:t>
            </a:r>
            <a:endParaRPr lang="en-US" sz="3000" dirty="0"/>
          </a:p>
        </p:txBody>
      </p:sp>
      <p:sp>
        <p:nvSpPr>
          <p:cNvPr id="4" name="Text 2"/>
          <p:cNvSpPr/>
          <p:nvPr/>
        </p:nvSpPr>
        <p:spPr>
          <a:xfrm>
            <a:off x="11612880" y="6510528"/>
            <a:ext cx="457200" cy="274320"/>
          </a:xfrm>
          <a:prstGeom prst="rect">
            <a:avLst/>
          </a:prstGeom>
          <a:noFill/>
          <a:ln/>
        </p:spPr>
        <p:txBody>
          <a:bodyPr wrap="square" rtlCol="0" anchor="ctr"/>
          <a:lstStyle/>
          <a:p>
            <a:pPr algn="r" indent="0" marL="0">
              <a:buNone/>
            </a:pPr>
            <a:r>
              <a:rPr lang="en-US" sz="1000" dirty="0">
                <a:solidFill>
                  <a:srgbClr val="8B8B90"/>
                </a:solidFill>
                <a:latin typeface="Calibri" pitchFamily="34" charset="0"/>
                <a:ea typeface="Calibri" pitchFamily="34" charset="-122"/>
                <a:cs typeface="Calibri" pitchFamily="34" charset="-120"/>
              </a:rPr>
              <a:t>6</a:t>
            </a:r>
            <a:endParaRPr lang="en-US" sz="1000" dirty="0"/>
          </a:p>
        </p:txBody>
      </p:sp>
      <p:graphicFrame>
        <p:nvGraphicFramePr>
          <p:cNvPr id="6" name="Chart 0" descr=""/>
          <p:cNvGraphicFramePr/>
          <p:nvPr/>
        </p:nvGraphicFramePr>
        <p:xfrm>
          <a:off x="548640" y="1554480"/>
          <a:ext cx="5120640" cy="4480560"/>
        </p:xfrm>
        <a:graphic xmlns:a="http://schemas.openxmlformats.org/drawingml/2006/main">
          <a:graphicData uri="http://schemas.openxmlformats.org/drawingml/2006/chart">
            <c:chart xmlns:c="http://schemas.openxmlformats.org/drawingml/2006/chart" r:id="rId1"/>
          </a:graphicData>
        </a:graphic>
      </p:graphicFrame>
      <p:sp>
        <p:nvSpPr>
          <p:cNvPr id="7" name="Shape 3"/>
          <p:cNvSpPr/>
          <p:nvPr/>
        </p:nvSpPr>
        <p:spPr>
          <a:xfrm>
            <a:off x="6035040" y="1691640"/>
            <a:ext cx="5577840" cy="2011680"/>
          </a:xfrm>
          <a:prstGeom prst="roundRect">
            <a:avLst>
              <a:gd name="adj" fmla="val 3636"/>
            </a:avLst>
          </a:prstGeom>
          <a:solidFill>
            <a:srgbClr val="33363F"/>
          </a:solidFill>
          <a:ln/>
        </p:spPr>
      </p:sp>
      <p:sp>
        <p:nvSpPr>
          <p:cNvPr id="8" name="Text 4"/>
          <p:cNvSpPr/>
          <p:nvPr/>
        </p:nvSpPr>
        <p:spPr>
          <a:xfrm>
            <a:off x="6309360" y="1856232"/>
            <a:ext cx="5029200" cy="36576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Passes within tolerance</a:t>
            </a:r>
            <a:endParaRPr lang="en-US" sz="1600" dirty="0"/>
          </a:p>
        </p:txBody>
      </p:sp>
      <p:sp>
        <p:nvSpPr>
          <p:cNvPr id="9" name="Text 5"/>
          <p:cNvSpPr/>
          <p:nvPr/>
        </p:nvSpPr>
        <p:spPr>
          <a:xfrm>
            <a:off x="6309360" y="2331720"/>
            <a:ext cx="5029200" cy="685800"/>
          </a:xfrm>
          <a:prstGeom prst="rect">
            <a:avLst/>
          </a:prstGeom>
          <a:noFill/>
          <a:ln/>
        </p:spPr>
        <p:txBody>
          <a:bodyPr wrap="square" lIns="0" tIns="0" rIns="0" bIns="0" rtlCol="0" anchor="t"/>
          <a:lstStyle/>
          <a:p>
            <a:pPr indent="0" marL="0">
              <a:buNone/>
            </a:pPr>
            <a:r>
              <a:rPr lang="en-US" sz="1250" dirty="0">
                <a:solidFill>
                  <a:srgbClr val="C7CBD0"/>
                </a:solidFill>
                <a:latin typeface="Calibri" pitchFamily="34" charset="0"/>
                <a:ea typeface="Calibri" pitchFamily="34" charset="-122"/>
                <a:cs typeface="Calibri" pitchFamily="34" charset="-120"/>
              </a:rPr>
              <a:t>Net acquisition &amp; management charges = acquisition costs + other management charges</a:t>
            </a:r>
            <a:endParaRPr lang="en-US" sz="1250" dirty="0"/>
          </a:p>
        </p:txBody>
      </p:sp>
      <p:sp>
        <p:nvSpPr>
          <p:cNvPr id="10" name="Text 6"/>
          <p:cNvSpPr/>
          <p:nvPr/>
        </p:nvSpPr>
        <p:spPr>
          <a:xfrm>
            <a:off x="6309360" y="3063240"/>
            <a:ext cx="5029200" cy="4572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expected −8,187,565 · found −8,187,566 · gap −1 → OK</a:t>
            </a:r>
            <a:endParaRPr lang="en-US" sz="1300" dirty="0"/>
          </a:p>
        </p:txBody>
      </p:sp>
      <p:sp>
        <p:nvSpPr>
          <p:cNvPr id="11" name="Shape 7"/>
          <p:cNvSpPr/>
          <p:nvPr/>
        </p:nvSpPr>
        <p:spPr>
          <a:xfrm>
            <a:off x="6035040" y="3886200"/>
            <a:ext cx="5577840" cy="2011680"/>
          </a:xfrm>
          <a:prstGeom prst="roundRect">
            <a:avLst>
              <a:gd name="adj" fmla="val 3636"/>
            </a:avLst>
          </a:prstGeom>
          <a:solidFill>
            <a:srgbClr val="FFE600"/>
          </a:solidFill>
          <a:ln/>
        </p:spPr>
      </p:sp>
      <p:sp>
        <p:nvSpPr>
          <p:cNvPr id="12" name="Text 8"/>
          <p:cNvSpPr/>
          <p:nvPr/>
        </p:nvSpPr>
        <p:spPr>
          <a:xfrm>
            <a:off x="6309360" y="4050792"/>
            <a:ext cx="5029200" cy="365760"/>
          </a:xfrm>
          <a:prstGeom prst="rect">
            <a:avLst/>
          </a:prstGeom>
          <a:noFill/>
          <a:ln/>
        </p:spPr>
        <p:txBody>
          <a:bodyPr wrap="square" lIns="0" tIns="0" rIns="0" bIns="0" rtlCol="0" anchor="ctr"/>
          <a:lstStyle/>
          <a:p>
            <a:pPr indent="0" marL="0">
              <a:buNone/>
            </a:pPr>
            <a:r>
              <a:rPr lang="en-US" sz="1600" b="1" dirty="0">
                <a:solidFill>
                  <a:srgbClr val="33363F"/>
                </a:solidFill>
                <a:latin typeface="Cambria" pitchFamily="34" charset="0"/>
                <a:ea typeface="Cambria" pitchFamily="34" charset="-122"/>
                <a:cs typeface="Cambria" pitchFamily="34" charset="-120"/>
              </a:rPr>
              <a:t>Catches an error</a:t>
            </a:r>
            <a:endParaRPr lang="en-US" sz="1600" dirty="0"/>
          </a:p>
        </p:txBody>
      </p:sp>
      <p:sp>
        <p:nvSpPr>
          <p:cNvPr id="13" name="Text 9"/>
          <p:cNvSpPr/>
          <p:nvPr/>
        </p:nvSpPr>
        <p:spPr>
          <a:xfrm>
            <a:off x="6309360" y="4526280"/>
            <a:ext cx="5029200" cy="685800"/>
          </a:xfrm>
          <a:prstGeom prst="rect">
            <a:avLst/>
          </a:prstGeom>
          <a:noFill/>
          <a:ln/>
        </p:spPr>
        <p:txBody>
          <a:bodyPr wrap="square" lIns="0" tIns="0" rIns="0" bIns="0" rtlCol="0" anchor="t"/>
          <a:lstStyle/>
          <a:p>
            <a:pPr indent="0" marL="0">
              <a:buNone/>
            </a:pPr>
            <a:r>
              <a:rPr lang="en-US" sz="1250" dirty="0">
                <a:solidFill>
                  <a:srgbClr val="33363F"/>
                </a:solidFill>
                <a:latin typeface="Calibri" pitchFamily="34" charset="0"/>
                <a:ea typeface="Calibri" pitchFamily="34" charset="-122"/>
                <a:cs typeface="Calibri" pitchFamily="34" charset="-120"/>
              </a:rPr>
              <a:t>STAR · 2025 · Total assets ≠ Equity + Liabilities</a:t>
            </a:r>
            <a:endParaRPr lang="en-US" sz="1250" dirty="0"/>
          </a:p>
        </p:txBody>
      </p:sp>
      <p:sp>
        <p:nvSpPr>
          <p:cNvPr id="14" name="Text 10"/>
          <p:cNvSpPr/>
          <p:nvPr/>
        </p:nvSpPr>
        <p:spPr>
          <a:xfrm>
            <a:off x="6309360" y="5257800"/>
            <a:ext cx="5029200" cy="457200"/>
          </a:xfrm>
          <a:prstGeom prst="rect">
            <a:avLst/>
          </a:prstGeom>
          <a:noFill/>
          <a:ln/>
        </p:spPr>
        <p:txBody>
          <a:bodyPr wrap="square" lIns="0" tIns="0" rIns="0" bIns="0" rtlCol="0" anchor="ctr"/>
          <a:lstStyle/>
          <a:p>
            <a:pPr indent="0" marL="0">
              <a:buNone/>
            </a:pPr>
            <a:r>
              <a:rPr lang="en-US" sz="1300" b="1" dirty="0">
                <a:solidFill>
                  <a:srgbClr val="33363F"/>
                </a:solidFill>
                <a:latin typeface="Calibri" pitchFamily="34" charset="0"/>
                <a:ea typeface="Calibri" pitchFamily="34" charset="-122"/>
                <a:cs typeface="Calibri" pitchFamily="34" charset="-120"/>
              </a:rPr>
              <a:t>gap of 89,777,403 TND → flagged for review</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5486400" cy="274320"/>
          </a:xfrm>
          <a:prstGeom prst="rect">
            <a:avLst/>
          </a:prstGeom>
          <a:noFill/>
          <a:ln/>
        </p:spPr>
        <p:txBody>
          <a:bodyPr wrap="square" lIns="0" tIns="0" rIns="0" bIns="0" rtlCol="0" anchor="ctr"/>
          <a:lstStyle/>
          <a:p>
            <a:pPr indent="0" marL="0">
              <a:buNone/>
            </a:pPr>
            <a:r>
              <a:rPr lang="en-US" sz="1200" b="1" spc="200" kern="0" dirty="0">
                <a:solidFill>
                  <a:srgbClr val="8B8B90"/>
                </a:solidFill>
                <a:latin typeface="Calibri" pitchFamily="34" charset="0"/>
                <a:ea typeface="Calibri" pitchFamily="34" charset="-122"/>
                <a:cs typeface="Calibri" pitchFamily="34" charset="-120"/>
              </a:rPr>
              <a:t>DATA PIPELINE</a:t>
            </a:r>
            <a:endParaRPr lang="en-US" sz="1200" dirty="0"/>
          </a:p>
        </p:txBody>
      </p:sp>
      <p:sp>
        <p:nvSpPr>
          <p:cNvPr id="3" name="Text 1"/>
          <p:cNvSpPr/>
          <p:nvPr/>
        </p:nvSpPr>
        <p:spPr>
          <a:xfrm>
            <a:off x="548640" y="658368"/>
            <a:ext cx="11064240" cy="640080"/>
          </a:xfrm>
          <a:prstGeom prst="rect">
            <a:avLst/>
          </a:prstGeom>
          <a:noFill/>
          <a:ln/>
        </p:spPr>
        <p:txBody>
          <a:bodyPr wrap="square" lIns="0" tIns="0" rIns="0" bIns="0" rtlCol="0" anchor="ctr"/>
          <a:lstStyle/>
          <a:p>
            <a:pPr indent="0" marL="0">
              <a:buNone/>
            </a:pPr>
            <a:r>
              <a:rPr lang="en-US" sz="3000" b="1" dirty="0">
                <a:solidFill>
                  <a:srgbClr val="33363F"/>
                </a:solidFill>
                <a:latin typeface="Cambria" pitchFamily="34" charset="0"/>
                <a:ea typeface="Cambria" pitchFamily="34" charset="-122"/>
                <a:cs typeface="Cambria" pitchFamily="34" charset="-120"/>
              </a:rPr>
              <a:t>4 · Store — Every Value Keeps Its Origin</a:t>
            </a:r>
            <a:endParaRPr lang="en-US" sz="3000" dirty="0"/>
          </a:p>
        </p:txBody>
      </p:sp>
      <p:sp>
        <p:nvSpPr>
          <p:cNvPr id="4" name="Text 2"/>
          <p:cNvSpPr/>
          <p:nvPr/>
        </p:nvSpPr>
        <p:spPr>
          <a:xfrm>
            <a:off x="11612880" y="6510528"/>
            <a:ext cx="457200" cy="274320"/>
          </a:xfrm>
          <a:prstGeom prst="rect">
            <a:avLst/>
          </a:prstGeom>
          <a:noFill/>
          <a:ln/>
        </p:spPr>
        <p:txBody>
          <a:bodyPr wrap="square" rtlCol="0" anchor="ctr"/>
          <a:lstStyle/>
          <a:p>
            <a:pPr algn="r" indent="0" marL="0">
              <a:buNone/>
            </a:pPr>
            <a:r>
              <a:rPr lang="en-US" sz="1000" dirty="0">
                <a:solidFill>
                  <a:srgbClr val="8B8B90"/>
                </a:solidFill>
                <a:latin typeface="Calibri" pitchFamily="34" charset="0"/>
                <a:ea typeface="Calibri" pitchFamily="34" charset="-122"/>
                <a:cs typeface="Calibri" pitchFamily="34" charset="-120"/>
              </a:rPr>
              <a:t>7</a:t>
            </a:r>
            <a:endParaRPr lang="en-US" sz="1000" dirty="0"/>
          </a:p>
        </p:txBody>
      </p:sp>
      <p:sp>
        <p:nvSpPr>
          <p:cNvPr id="6" name="Shape 3"/>
          <p:cNvSpPr/>
          <p:nvPr/>
        </p:nvSpPr>
        <p:spPr>
          <a:xfrm>
            <a:off x="548640" y="2194560"/>
            <a:ext cx="3017520" cy="2468880"/>
          </a:xfrm>
          <a:prstGeom prst="roundRect">
            <a:avLst>
              <a:gd name="adj" fmla="val 2963"/>
            </a:avLst>
          </a:prstGeom>
          <a:solidFill>
            <a:srgbClr val="33363F"/>
          </a:solidFill>
          <a:ln/>
        </p:spPr>
      </p:sp>
      <p:sp>
        <p:nvSpPr>
          <p:cNvPr id="7" name="Text 4"/>
          <p:cNvSpPr/>
          <p:nvPr/>
        </p:nvSpPr>
        <p:spPr>
          <a:xfrm>
            <a:off x="777240" y="2331720"/>
            <a:ext cx="2560320" cy="320040"/>
          </a:xfrm>
          <a:prstGeom prst="rect">
            <a:avLst/>
          </a:prstGeom>
          <a:noFill/>
          <a:ln/>
        </p:spPr>
        <p:txBody>
          <a:bodyPr wrap="square" lIns="0" tIns="0" rIns="0" bIns="0" rtlCol="0" anchor="ctr"/>
          <a:lstStyle/>
          <a:p>
            <a:pPr indent="0" marL="0">
              <a:buNone/>
            </a:pPr>
            <a:r>
              <a:rPr lang="en-US" sz="1400" b="1" dirty="0">
                <a:solidFill>
                  <a:srgbClr val="FFE600"/>
                </a:solidFill>
                <a:latin typeface="Consolas" pitchFamily="34" charset="0"/>
                <a:ea typeface="Consolas" pitchFamily="34" charset="-122"/>
                <a:cs typeface="Consolas" pitchFamily="34" charset="-120"/>
              </a:rPr>
              <a:t>documents</a:t>
            </a:r>
            <a:endParaRPr lang="en-US" sz="1400" dirty="0"/>
          </a:p>
        </p:txBody>
      </p:sp>
      <p:sp>
        <p:nvSpPr>
          <p:cNvPr id="8" name="Text 5"/>
          <p:cNvSpPr/>
          <p:nvPr/>
        </p:nvSpPr>
        <p:spPr>
          <a:xfrm>
            <a:off x="777240" y="2697480"/>
            <a:ext cx="2560320" cy="54864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212</a:t>
            </a:r>
            <a:endParaRPr lang="en-US" sz="2800" dirty="0"/>
          </a:p>
        </p:txBody>
      </p:sp>
      <p:sp>
        <p:nvSpPr>
          <p:cNvPr id="9" name="Text 6"/>
          <p:cNvSpPr/>
          <p:nvPr/>
        </p:nvSpPr>
        <p:spPr>
          <a:xfrm>
            <a:off x="777240" y="3291840"/>
            <a:ext cx="2560320" cy="1280160"/>
          </a:xfrm>
          <a:prstGeom prst="rect">
            <a:avLst/>
          </a:prstGeom>
          <a:noFill/>
          <a:ln/>
        </p:spPr>
        <p:txBody>
          <a:bodyPr wrap="square" lIns="0" tIns="0" rIns="0" bIns="0" rtlCol="0" anchor="t"/>
          <a:lstStyle/>
          <a:p>
            <a:pPr indent="0" marL="0">
              <a:buNone/>
            </a:pPr>
            <a:r>
              <a:rPr lang="en-US" sz="1150" dirty="0">
                <a:solidFill>
                  <a:srgbClr val="C7CBD0"/>
                </a:solidFill>
                <a:latin typeface="Calibri" pitchFamily="34" charset="0"/>
                <a:ea typeface="Calibri" pitchFamily="34" charset="-122"/>
                <a:cs typeface="Calibri" pitchFamily="34" charset="-120"/>
              </a:rPr>
              <a:t>ASTREE_2025.pdf</a:t>
            </a:r>
            <a:endParaRPr lang="en-US" sz="1150" dirty="0"/>
          </a:p>
          <a:p>
            <a:pPr indent="0" marL="0">
              <a:buNone/>
            </a:pPr>
            <a:r>
              <a:rPr lang="en-US" sz="1150" dirty="0">
                <a:solidFill>
                  <a:srgbClr val="C7CBD0"/>
                </a:solidFill>
                <a:latin typeface="Calibri" pitchFamily="34" charset="0"/>
                <a:ea typeface="Calibri" pitchFamily="34" charset="-122"/>
                <a:cs typeface="Calibri" pitchFamily="34" charset="-120"/>
              </a:rPr>
              <a:t>source CMF · year 2025</a:t>
            </a:r>
            <a:endParaRPr lang="en-US" sz="1150" dirty="0"/>
          </a:p>
          <a:p>
            <a:pPr indent="0" marL="0">
              <a:buNone/>
            </a:pPr>
            <a:r>
              <a:rPr lang="en-US" sz="1150" dirty="0">
                <a:solidFill>
                  <a:srgbClr val="C7CBD0"/>
                </a:solidFill>
                <a:latin typeface="Calibri" pitchFamily="34" charset="0"/>
                <a:ea typeface="Calibri" pitchFamily="34" charset="-122"/>
                <a:cs typeface="Calibri" pitchFamily="34" charset="-120"/>
              </a:rPr>
              <a:t>document #62</a:t>
            </a:r>
            <a:endParaRPr lang="en-US" sz="1150" dirty="0"/>
          </a:p>
        </p:txBody>
      </p:sp>
      <p:sp>
        <p:nvSpPr>
          <p:cNvPr id="10" name="Shape 7"/>
          <p:cNvSpPr/>
          <p:nvPr/>
        </p:nvSpPr>
        <p:spPr>
          <a:xfrm>
            <a:off x="4206240" y="2194560"/>
            <a:ext cx="3474720" cy="2468880"/>
          </a:xfrm>
          <a:prstGeom prst="roundRect">
            <a:avLst>
              <a:gd name="adj" fmla="val 2963"/>
            </a:avLst>
          </a:prstGeom>
          <a:solidFill>
            <a:srgbClr val="33363F"/>
          </a:solidFill>
          <a:ln/>
        </p:spPr>
      </p:sp>
      <p:sp>
        <p:nvSpPr>
          <p:cNvPr id="11" name="Text 8"/>
          <p:cNvSpPr/>
          <p:nvPr/>
        </p:nvSpPr>
        <p:spPr>
          <a:xfrm>
            <a:off x="4434840" y="2331720"/>
            <a:ext cx="3017520" cy="320040"/>
          </a:xfrm>
          <a:prstGeom prst="rect">
            <a:avLst/>
          </a:prstGeom>
          <a:noFill/>
          <a:ln/>
        </p:spPr>
        <p:txBody>
          <a:bodyPr wrap="square" lIns="0" tIns="0" rIns="0" bIns="0" rtlCol="0" anchor="ctr"/>
          <a:lstStyle/>
          <a:p>
            <a:pPr indent="0" marL="0">
              <a:buNone/>
            </a:pPr>
            <a:r>
              <a:rPr lang="en-US" sz="1400" b="1" dirty="0">
                <a:solidFill>
                  <a:srgbClr val="FFE600"/>
                </a:solidFill>
                <a:latin typeface="Consolas" pitchFamily="34" charset="0"/>
                <a:ea typeface="Consolas" pitchFamily="34" charset="-122"/>
                <a:cs typeface="Consolas" pitchFamily="34" charset="-120"/>
              </a:rPr>
              <a:t>tableau_cellules</a:t>
            </a:r>
            <a:endParaRPr lang="en-US" sz="1400" dirty="0"/>
          </a:p>
        </p:txBody>
      </p:sp>
      <p:sp>
        <p:nvSpPr>
          <p:cNvPr id="12" name="Text 9"/>
          <p:cNvSpPr/>
          <p:nvPr/>
        </p:nvSpPr>
        <p:spPr>
          <a:xfrm>
            <a:off x="4434840" y="2697480"/>
            <a:ext cx="3017520" cy="54864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49,849</a:t>
            </a:r>
            <a:endParaRPr lang="en-US" sz="2800" dirty="0"/>
          </a:p>
        </p:txBody>
      </p:sp>
      <p:sp>
        <p:nvSpPr>
          <p:cNvPr id="13" name="Text 10"/>
          <p:cNvSpPr/>
          <p:nvPr/>
        </p:nvSpPr>
        <p:spPr>
          <a:xfrm>
            <a:off x="4434840" y="3291840"/>
            <a:ext cx="3017520" cy="1280160"/>
          </a:xfrm>
          <a:prstGeom prst="rect">
            <a:avLst/>
          </a:prstGeom>
          <a:noFill/>
          <a:ln/>
        </p:spPr>
        <p:txBody>
          <a:bodyPr wrap="square" lIns="0" tIns="0" rIns="0" bIns="0" rtlCol="0" anchor="t"/>
          <a:lstStyle/>
          <a:p>
            <a:pPr indent="0" marL="0">
              <a:buNone/>
            </a:pPr>
            <a:r>
              <a:rPr lang="en-US" sz="1150" dirty="0">
                <a:solidFill>
                  <a:srgbClr val="C7CBD0"/>
                </a:solidFill>
                <a:latin typeface="Calibri" pitchFamily="34" charset="0"/>
                <a:ea typeface="Calibri" pitchFamily="34" charset="-122"/>
                <a:cs typeface="Calibri" pitchFamily="34" charset="-120"/>
              </a:rPr>
              <a:t>bilan_actif</a:t>
            </a:r>
            <a:endParaRPr lang="en-US" sz="1150" dirty="0"/>
          </a:p>
          <a:p>
            <a:pPr indent="0" marL="0">
              <a:buNone/>
            </a:pPr>
            <a:r>
              <a:rPr lang="en-US" sz="1150" dirty="0">
                <a:solidFill>
                  <a:srgbClr val="C7CBD0"/>
                </a:solidFill>
                <a:latin typeface="Calibri" pitchFamily="34" charset="0"/>
                <a:ea typeface="Calibri" pitchFamily="34" charset="-122"/>
                <a:cs typeface="Calibri" pitchFamily="34" charset="-120"/>
              </a:rPr>
              <a:t>TOTAL — Total de l actif</a:t>
            </a:r>
            <a:endParaRPr lang="en-US" sz="1150" dirty="0"/>
          </a:p>
          <a:p>
            <a:pPr indent="0" marL="0">
              <a:buNone/>
            </a:pPr>
            <a:r>
              <a:rPr lang="en-US" sz="1150" dirty="0">
                <a:solidFill>
                  <a:srgbClr val="C7CBD0"/>
                </a:solidFill>
                <a:latin typeface="Calibri" pitchFamily="34" charset="0"/>
                <a:ea typeface="Calibri" pitchFamily="34" charset="-122"/>
                <a:cs typeface="Calibri" pitchFamily="34" charset="-120"/>
              </a:rPr>
              <a:t>column Net · 881,075,424</a:t>
            </a:r>
            <a:endParaRPr lang="en-US" sz="1150" dirty="0"/>
          </a:p>
        </p:txBody>
      </p:sp>
      <p:sp>
        <p:nvSpPr>
          <p:cNvPr id="14" name="Shape 11"/>
          <p:cNvSpPr/>
          <p:nvPr/>
        </p:nvSpPr>
        <p:spPr>
          <a:xfrm>
            <a:off x="8321040" y="1645920"/>
            <a:ext cx="3291840" cy="1920240"/>
          </a:xfrm>
          <a:prstGeom prst="roundRect">
            <a:avLst>
              <a:gd name="adj" fmla="val 3810"/>
            </a:avLst>
          </a:prstGeom>
          <a:solidFill>
            <a:srgbClr val="F5F5F6"/>
          </a:solidFill>
          <a:ln/>
        </p:spPr>
      </p:sp>
      <p:sp>
        <p:nvSpPr>
          <p:cNvPr id="15" name="Text 12"/>
          <p:cNvSpPr/>
          <p:nvPr/>
        </p:nvSpPr>
        <p:spPr>
          <a:xfrm>
            <a:off x="8549640" y="1783080"/>
            <a:ext cx="2834640" cy="320040"/>
          </a:xfrm>
          <a:prstGeom prst="rect">
            <a:avLst/>
          </a:prstGeom>
          <a:noFill/>
          <a:ln/>
        </p:spPr>
        <p:txBody>
          <a:bodyPr wrap="square" lIns="0" tIns="0" rIns="0" bIns="0" rtlCol="0" anchor="ctr"/>
          <a:lstStyle/>
          <a:p>
            <a:pPr indent="0" marL="0">
              <a:buNone/>
            </a:pPr>
            <a:r>
              <a:rPr lang="en-US" sz="1400" b="1" dirty="0">
                <a:solidFill>
                  <a:srgbClr val="33363F"/>
                </a:solidFill>
                <a:latin typeface="Consolas" pitchFamily="34" charset="0"/>
                <a:ea typeface="Consolas" pitchFamily="34" charset="-122"/>
                <a:cs typeface="Consolas" pitchFamily="34" charset="-120"/>
              </a:rPr>
              <a:t>tableau_validations</a:t>
            </a:r>
            <a:endParaRPr lang="en-US" sz="1400" dirty="0"/>
          </a:p>
        </p:txBody>
      </p:sp>
      <p:sp>
        <p:nvSpPr>
          <p:cNvPr id="16" name="Text 13"/>
          <p:cNvSpPr/>
          <p:nvPr/>
        </p:nvSpPr>
        <p:spPr>
          <a:xfrm>
            <a:off x="8549640" y="2148840"/>
            <a:ext cx="2834640" cy="548640"/>
          </a:xfrm>
          <a:prstGeom prst="rect">
            <a:avLst/>
          </a:prstGeom>
          <a:noFill/>
          <a:ln/>
        </p:spPr>
        <p:txBody>
          <a:bodyPr wrap="square" lIns="0" tIns="0" rIns="0" bIns="0" rtlCol="0" anchor="ctr"/>
          <a:lstStyle/>
          <a:p>
            <a:pPr indent="0" marL="0">
              <a:buNone/>
            </a:pPr>
            <a:r>
              <a:rPr lang="en-US" sz="2800" b="1" dirty="0">
                <a:solidFill>
                  <a:srgbClr val="33363F"/>
                </a:solidFill>
                <a:latin typeface="Cambria" pitchFamily="34" charset="0"/>
                <a:ea typeface="Cambria" pitchFamily="34" charset="-122"/>
                <a:cs typeface="Cambria" pitchFamily="34" charset="-120"/>
              </a:rPr>
              <a:t>7,674</a:t>
            </a:r>
            <a:endParaRPr lang="en-US" sz="2800" dirty="0"/>
          </a:p>
        </p:txBody>
      </p:sp>
      <p:sp>
        <p:nvSpPr>
          <p:cNvPr id="17" name="Text 14"/>
          <p:cNvSpPr/>
          <p:nvPr/>
        </p:nvSpPr>
        <p:spPr>
          <a:xfrm>
            <a:off x="8549640" y="2743200"/>
            <a:ext cx="2834640" cy="731520"/>
          </a:xfrm>
          <a:prstGeom prst="rect">
            <a:avLst/>
          </a:prstGeom>
          <a:noFill/>
          <a:ln/>
        </p:spPr>
        <p:txBody>
          <a:bodyPr wrap="square" lIns="0" tIns="0" rIns="0" bIns="0" rtlCol="0" anchor="t"/>
          <a:lstStyle/>
          <a:p>
            <a:pPr indent="0" marL="0">
              <a:buNone/>
            </a:pPr>
            <a:r>
              <a:rPr lang="en-US" sz="1150" dirty="0">
                <a:solidFill>
                  <a:srgbClr val="5A5D66"/>
                </a:solidFill>
                <a:latin typeface="Calibri" pitchFamily="34" charset="0"/>
                <a:ea typeface="Calibri" pitchFamily="34" charset="-122"/>
                <a:cs typeface="Calibri" pitchFamily="34" charset="-120"/>
              </a:rPr>
              <a:t>annexe12 · charges d'acquisition</a:t>
            </a:r>
            <a:endParaRPr lang="en-US" sz="1150" dirty="0"/>
          </a:p>
          <a:p>
            <a:pPr indent="0" marL="0">
              <a:buNone/>
            </a:pPr>
            <a:r>
              <a:rPr lang="en-US" sz="1150" dirty="0">
                <a:solidFill>
                  <a:srgbClr val="5A5D66"/>
                </a:solidFill>
                <a:latin typeface="Calibri" pitchFamily="34" charset="0"/>
                <a:ea typeface="Calibri" pitchFamily="34" charset="-122"/>
                <a:cs typeface="Calibri" pitchFamily="34" charset="-120"/>
              </a:rPr>
              <a:t>gap −1 · status ok</a:t>
            </a:r>
            <a:endParaRPr lang="en-US" sz="1150" dirty="0"/>
          </a:p>
        </p:txBody>
      </p:sp>
      <p:sp>
        <p:nvSpPr>
          <p:cNvPr id="18" name="Shape 15"/>
          <p:cNvSpPr/>
          <p:nvPr/>
        </p:nvSpPr>
        <p:spPr>
          <a:xfrm>
            <a:off x="8321040" y="3794760"/>
            <a:ext cx="3291840" cy="1920240"/>
          </a:xfrm>
          <a:prstGeom prst="roundRect">
            <a:avLst>
              <a:gd name="adj" fmla="val 3810"/>
            </a:avLst>
          </a:prstGeom>
          <a:solidFill>
            <a:srgbClr val="F5F5F6"/>
          </a:solidFill>
          <a:ln/>
        </p:spPr>
      </p:sp>
      <p:sp>
        <p:nvSpPr>
          <p:cNvPr id="19" name="Text 16"/>
          <p:cNvSpPr/>
          <p:nvPr/>
        </p:nvSpPr>
        <p:spPr>
          <a:xfrm>
            <a:off x="8549640" y="3931920"/>
            <a:ext cx="2834640" cy="320040"/>
          </a:xfrm>
          <a:prstGeom prst="rect">
            <a:avLst/>
          </a:prstGeom>
          <a:noFill/>
          <a:ln/>
        </p:spPr>
        <p:txBody>
          <a:bodyPr wrap="square" lIns="0" tIns="0" rIns="0" bIns="0" rtlCol="0" anchor="ctr"/>
          <a:lstStyle/>
          <a:p>
            <a:pPr indent="0" marL="0">
              <a:buNone/>
            </a:pPr>
            <a:r>
              <a:rPr lang="en-US" sz="1400" b="1" dirty="0">
                <a:solidFill>
                  <a:srgbClr val="33363F"/>
                </a:solidFill>
                <a:latin typeface="Consolas" pitchFamily="34" charset="0"/>
                <a:ea typeface="Consolas" pitchFamily="34" charset="-122"/>
                <a:cs typeface="Consolas" pitchFamily="34" charset="-120"/>
              </a:rPr>
              <a:t>kpi_values</a:t>
            </a:r>
            <a:endParaRPr lang="en-US" sz="1400" dirty="0"/>
          </a:p>
        </p:txBody>
      </p:sp>
      <p:sp>
        <p:nvSpPr>
          <p:cNvPr id="20" name="Text 17"/>
          <p:cNvSpPr/>
          <p:nvPr/>
        </p:nvSpPr>
        <p:spPr>
          <a:xfrm>
            <a:off x="8549640" y="4297680"/>
            <a:ext cx="2834640" cy="548640"/>
          </a:xfrm>
          <a:prstGeom prst="rect">
            <a:avLst/>
          </a:prstGeom>
          <a:noFill/>
          <a:ln/>
        </p:spPr>
        <p:txBody>
          <a:bodyPr wrap="square" lIns="0" tIns="0" rIns="0" bIns="0" rtlCol="0" anchor="ctr"/>
          <a:lstStyle/>
          <a:p>
            <a:pPr indent="0" marL="0">
              <a:buNone/>
            </a:pPr>
            <a:r>
              <a:rPr lang="en-US" sz="2800" b="1" dirty="0">
                <a:solidFill>
                  <a:srgbClr val="33363F"/>
                </a:solidFill>
                <a:latin typeface="Cambria" pitchFamily="34" charset="0"/>
                <a:ea typeface="Cambria" pitchFamily="34" charset="-122"/>
                <a:cs typeface="Cambria" pitchFamily="34" charset="-120"/>
              </a:rPr>
              <a:t>10,057</a:t>
            </a:r>
            <a:endParaRPr lang="en-US" sz="2800" dirty="0"/>
          </a:p>
        </p:txBody>
      </p:sp>
      <p:sp>
        <p:nvSpPr>
          <p:cNvPr id="21" name="Text 18"/>
          <p:cNvSpPr/>
          <p:nvPr/>
        </p:nvSpPr>
        <p:spPr>
          <a:xfrm>
            <a:off x="8549640" y="4892040"/>
            <a:ext cx="2834640" cy="731520"/>
          </a:xfrm>
          <a:prstGeom prst="rect">
            <a:avLst/>
          </a:prstGeom>
          <a:noFill/>
          <a:ln/>
        </p:spPr>
        <p:txBody>
          <a:bodyPr wrap="square" lIns="0" tIns="0" rIns="0" bIns="0" rtlCol="0" anchor="t"/>
          <a:lstStyle/>
          <a:p>
            <a:pPr indent="0" marL="0">
              <a:buNone/>
            </a:pPr>
            <a:r>
              <a:rPr lang="en-US" sz="1150" dirty="0">
                <a:solidFill>
                  <a:srgbClr val="5A5D66"/>
                </a:solidFill>
                <a:latin typeface="Calibri" pitchFamily="34" charset="0"/>
                <a:ea typeface="Calibri" pitchFamily="34" charset="-122"/>
                <a:cs typeface="Calibri" pitchFamily="34" charset="-120"/>
              </a:rPr>
              <a:t>Bilan · Total actif</a:t>
            </a:r>
            <a:endParaRPr lang="en-US" sz="1150" dirty="0"/>
          </a:p>
          <a:p>
            <a:pPr indent="0" marL="0">
              <a:buNone/>
            </a:pPr>
            <a:r>
              <a:rPr lang="en-US" sz="1150" dirty="0">
                <a:solidFill>
                  <a:srgbClr val="5A5D66"/>
                </a:solidFill>
                <a:latin typeface="Calibri" pitchFamily="34" charset="0"/>
                <a:ea typeface="Calibri" pitchFamily="34" charset="-122"/>
                <a:cs typeface="Calibri" pitchFamily="34" charset="-120"/>
              </a:rPr>
              <a:t>881,075,424</a:t>
            </a:r>
            <a:endParaRPr lang="en-US" sz="1150" dirty="0"/>
          </a:p>
        </p:txBody>
      </p:sp>
      <p:sp>
        <p:nvSpPr>
          <p:cNvPr id="22" name="Shape 19"/>
          <p:cNvSpPr/>
          <p:nvPr/>
        </p:nvSpPr>
        <p:spPr>
          <a:xfrm>
            <a:off x="3566160" y="3429000"/>
            <a:ext cx="594360" cy="9144"/>
          </a:xfrm>
          <a:prstGeom prst="line">
            <a:avLst/>
          </a:prstGeom>
          <a:noFill/>
          <a:ln w="38100">
            <a:solidFill>
              <a:srgbClr val="FFE600"/>
            </a:solidFill>
            <a:prstDash val="solid"/>
            <a:tailEnd type="triangle"/>
          </a:ln>
        </p:spPr>
      </p:sp>
      <p:sp>
        <p:nvSpPr>
          <p:cNvPr id="23" name="Shape 20"/>
          <p:cNvSpPr/>
          <p:nvPr/>
        </p:nvSpPr>
        <p:spPr>
          <a:xfrm flipV="1">
            <a:off x="7680960" y="2606040"/>
            <a:ext cx="594360" cy="411480"/>
          </a:xfrm>
          <a:prstGeom prst="line">
            <a:avLst/>
          </a:prstGeom>
          <a:noFill/>
          <a:ln w="38100">
            <a:solidFill>
              <a:srgbClr val="FFE600"/>
            </a:solidFill>
            <a:prstDash val="solid"/>
            <a:tailEnd type="triangle"/>
          </a:ln>
        </p:spPr>
      </p:sp>
      <p:sp>
        <p:nvSpPr>
          <p:cNvPr id="24" name="Shape 21"/>
          <p:cNvSpPr/>
          <p:nvPr/>
        </p:nvSpPr>
        <p:spPr>
          <a:xfrm>
            <a:off x="7680960" y="3840480"/>
            <a:ext cx="594360" cy="914400"/>
          </a:xfrm>
          <a:prstGeom prst="line">
            <a:avLst/>
          </a:prstGeom>
          <a:noFill/>
          <a:ln w="38100">
            <a:solidFill>
              <a:srgbClr val="FFE600"/>
            </a:solidFill>
            <a:prstDash val="solid"/>
            <a:tailEnd type="triangle"/>
          </a:ln>
        </p:spPr>
      </p:sp>
      <p:sp>
        <p:nvSpPr>
          <p:cNvPr id="25" name="Shape 22"/>
          <p:cNvSpPr/>
          <p:nvPr/>
        </p:nvSpPr>
        <p:spPr>
          <a:xfrm>
            <a:off x="548640" y="5897880"/>
            <a:ext cx="11064240" cy="566928"/>
          </a:xfrm>
          <a:prstGeom prst="roundRect">
            <a:avLst>
              <a:gd name="adj" fmla="val 12903"/>
            </a:avLst>
          </a:prstGeom>
          <a:solidFill>
            <a:srgbClr val="F5F5F6"/>
          </a:solidFill>
          <a:ln/>
        </p:spPr>
      </p:sp>
      <p:sp>
        <p:nvSpPr>
          <p:cNvPr id="26" name="Shape 23"/>
          <p:cNvSpPr/>
          <p:nvPr/>
        </p:nvSpPr>
        <p:spPr>
          <a:xfrm>
            <a:off x="822960" y="6108192"/>
            <a:ext cx="146304" cy="146304"/>
          </a:xfrm>
          <a:prstGeom prst="ellipse">
            <a:avLst/>
          </a:prstGeom>
          <a:solidFill>
            <a:srgbClr val="FFE600"/>
          </a:solidFill>
          <a:ln/>
        </p:spPr>
      </p:sp>
      <p:sp>
        <p:nvSpPr>
          <p:cNvPr id="27" name="Text 24"/>
          <p:cNvSpPr/>
          <p:nvPr/>
        </p:nvSpPr>
        <p:spPr>
          <a:xfrm>
            <a:off x="1143000" y="5897880"/>
            <a:ext cx="10332720" cy="566928"/>
          </a:xfrm>
          <a:prstGeom prst="rect">
            <a:avLst/>
          </a:prstGeom>
          <a:noFill/>
          <a:ln/>
        </p:spPr>
        <p:txBody>
          <a:bodyPr wrap="square" lIns="0" tIns="0" rIns="0" bIns="0" rtlCol="0" anchor="ctr"/>
          <a:lstStyle/>
          <a:p>
            <a:pPr indent="0" marL="0">
              <a:buNone/>
            </a:pPr>
            <a:r>
              <a:rPr lang="en-US" sz="1300" b="1" dirty="0">
                <a:solidFill>
                  <a:srgbClr val="26282F"/>
                </a:solidFill>
                <a:latin typeface="Calibri" pitchFamily="34" charset="0"/>
                <a:ea typeface="Calibri" pitchFamily="34" charset="-122"/>
                <a:cs typeface="Calibri" pitchFamily="34" charset="-120"/>
              </a:rPr>
              <a:t>MySQL 8 — </a:t>
            </a:r>
            <a:pPr indent="0" marL="0">
              <a:buNone/>
            </a:pPr>
            <a:r>
              <a:rPr lang="en-US" sz="1300" dirty="0">
                <a:solidFill>
                  <a:srgbClr val="5A5D66"/>
                </a:solidFill>
                <a:latin typeface="Calibri" pitchFamily="34" charset="0"/>
                <a:ea typeface="Calibri" pitchFamily="34" charset="-122"/>
                <a:cs typeface="Calibri" pitchFamily="34" charset="-120"/>
              </a:rPr>
              <a:t>one source of truth: each value keeps its document, table, row and column.</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5486400" cy="274320"/>
          </a:xfrm>
          <a:prstGeom prst="rect">
            <a:avLst/>
          </a:prstGeom>
          <a:noFill/>
          <a:ln/>
        </p:spPr>
        <p:txBody>
          <a:bodyPr wrap="square" lIns="0" tIns="0" rIns="0" bIns="0" rtlCol="0" anchor="ctr"/>
          <a:lstStyle/>
          <a:p>
            <a:pPr indent="0" marL="0">
              <a:buNone/>
            </a:pPr>
            <a:r>
              <a:rPr lang="en-US" sz="1200" b="1" spc="200" kern="0" dirty="0">
                <a:solidFill>
                  <a:srgbClr val="8B8B90"/>
                </a:solidFill>
                <a:latin typeface="Calibri" pitchFamily="34" charset="0"/>
                <a:ea typeface="Calibri" pitchFamily="34" charset="-122"/>
                <a:cs typeface="Calibri" pitchFamily="34" charset="-120"/>
              </a:rPr>
              <a:t>DATA PIPELINE</a:t>
            </a:r>
            <a:endParaRPr lang="en-US" sz="1200" dirty="0"/>
          </a:p>
        </p:txBody>
      </p:sp>
      <p:sp>
        <p:nvSpPr>
          <p:cNvPr id="3" name="Text 1"/>
          <p:cNvSpPr/>
          <p:nvPr/>
        </p:nvSpPr>
        <p:spPr>
          <a:xfrm>
            <a:off x="548640" y="658368"/>
            <a:ext cx="11064240" cy="640080"/>
          </a:xfrm>
          <a:prstGeom prst="rect">
            <a:avLst/>
          </a:prstGeom>
          <a:noFill/>
          <a:ln/>
        </p:spPr>
        <p:txBody>
          <a:bodyPr wrap="square" lIns="0" tIns="0" rIns="0" bIns="0" rtlCol="0" anchor="ctr"/>
          <a:lstStyle/>
          <a:p>
            <a:pPr indent="0" marL="0">
              <a:buNone/>
            </a:pPr>
            <a:r>
              <a:rPr lang="en-US" sz="3000" b="1" dirty="0">
                <a:solidFill>
                  <a:srgbClr val="33363F"/>
                </a:solidFill>
                <a:latin typeface="Cambria" pitchFamily="34" charset="0"/>
                <a:ea typeface="Cambria" pitchFamily="34" charset="-122"/>
                <a:cs typeface="Cambria" pitchFamily="34" charset="-120"/>
              </a:rPr>
              <a:t>5 · Compute — KPIs from Stored Cells</a:t>
            </a:r>
            <a:endParaRPr lang="en-US" sz="3000" dirty="0"/>
          </a:p>
        </p:txBody>
      </p:sp>
      <p:sp>
        <p:nvSpPr>
          <p:cNvPr id="4" name="Text 2"/>
          <p:cNvSpPr/>
          <p:nvPr/>
        </p:nvSpPr>
        <p:spPr>
          <a:xfrm>
            <a:off x="11612880" y="6510528"/>
            <a:ext cx="457200" cy="274320"/>
          </a:xfrm>
          <a:prstGeom prst="rect">
            <a:avLst/>
          </a:prstGeom>
          <a:noFill/>
          <a:ln/>
        </p:spPr>
        <p:txBody>
          <a:bodyPr wrap="square" rtlCol="0" anchor="ctr"/>
          <a:lstStyle/>
          <a:p>
            <a:pPr algn="r" indent="0" marL="0">
              <a:buNone/>
            </a:pPr>
            <a:r>
              <a:rPr lang="en-US" sz="1000" dirty="0">
                <a:solidFill>
                  <a:srgbClr val="8B8B90"/>
                </a:solidFill>
                <a:latin typeface="Calibri" pitchFamily="34" charset="0"/>
                <a:ea typeface="Calibri" pitchFamily="34" charset="-122"/>
                <a:cs typeface="Calibri" pitchFamily="34" charset="-120"/>
              </a:rPr>
              <a:t>8</a:t>
            </a:r>
            <a:endParaRPr lang="en-US" sz="1000" dirty="0"/>
          </a:p>
        </p:txBody>
      </p:sp>
      <p:sp>
        <p:nvSpPr>
          <p:cNvPr id="6" name="Shape 3"/>
          <p:cNvSpPr/>
          <p:nvPr/>
        </p:nvSpPr>
        <p:spPr>
          <a:xfrm>
            <a:off x="548640" y="1600200"/>
            <a:ext cx="5440680" cy="1554480"/>
          </a:xfrm>
          <a:prstGeom prst="roundRect">
            <a:avLst>
              <a:gd name="adj" fmla="val 4706"/>
            </a:avLst>
          </a:prstGeom>
          <a:solidFill>
            <a:srgbClr val="33363F"/>
          </a:solidFill>
          <a:ln/>
        </p:spPr>
      </p:sp>
      <p:sp>
        <p:nvSpPr>
          <p:cNvPr id="7" name="Shape 4"/>
          <p:cNvSpPr/>
          <p:nvPr/>
        </p:nvSpPr>
        <p:spPr>
          <a:xfrm>
            <a:off x="822960" y="1901952"/>
            <a:ext cx="146304" cy="146304"/>
          </a:xfrm>
          <a:prstGeom prst="ellipse">
            <a:avLst/>
          </a:prstGeom>
          <a:solidFill>
            <a:srgbClr val="FFE600"/>
          </a:solidFill>
          <a:ln/>
        </p:spPr>
      </p:sp>
      <p:sp>
        <p:nvSpPr>
          <p:cNvPr id="8" name="Text 5"/>
          <p:cNvSpPr/>
          <p:nvPr/>
        </p:nvSpPr>
        <p:spPr>
          <a:xfrm>
            <a:off x="1097280" y="1783080"/>
            <a:ext cx="4572000" cy="36576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Premiums written</a:t>
            </a:r>
            <a:endParaRPr lang="en-US" sz="1600" dirty="0"/>
          </a:p>
        </p:txBody>
      </p:sp>
      <p:sp>
        <p:nvSpPr>
          <p:cNvPr id="9" name="Text 6"/>
          <p:cNvSpPr/>
          <p:nvPr/>
        </p:nvSpPr>
        <p:spPr>
          <a:xfrm>
            <a:off x="822960" y="2286000"/>
            <a:ext cx="4937760" cy="365760"/>
          </a:xfrm>
          <a:prstGeom prst="rect">
            <a:avLst/>
          </a:prstGeom>
          <a:noFill/>
          <a:ln/>
        </p:spPr>
        <p:txBody>
          <a:bodyPr wrap="square" lIns="0" tIns="0" rIns="0" bIns="0" rtlCol="0" anchor="ctr"/>
          <a:lstStyle/>
          <a:p>
            <a:pPr indent="0" marL="0">
              <a:buNone/>
            </a:pPr>
            <a:r>
              <a:rPr lang="en-US" sz="1300" dirty="0">
                <a:solidFill>
                  <a:srgbClr val="C7CBD0"/>
                </a:solidFill>
                <a:latin typeface="Calibri" pitchFamily="34" charset="0"/>
                <a:ea typeface="Calibri" pitchFamily="34" charset="-122"/>
                <a:cs typeface="Calibri" pitchFamily="34" charset="-120"/>
              </a:rPr>
              <a:t>86,356,595 Life + 190,937,720 Non-Life</a:t>
            </a:r>
            <a:endParaRPr lang="en-US" sz="1300" dirty="0"/>
          </a:p>
        </p:txBody>
      </p:sp>
      <p:sp>
        <p:nvSpPr>
          <p:cNvPr id="10" name="Text 7"/>
          <p:cNvSpPr/>
          <p:nvPr/>
        </p:nvSpPr>
        <p:spPr>
          <a:xfrm>
            <a:off x="822960" y="2651760"/>
            <a:ext cx="4937760" cy="411480"/>
          </a:xfrm>
          <a:prstGeom prst="rect">
            <a:avLst/>
          </a:prstGeom>
          <a:noFill/>
          <a:ln/>
        </p:spPr>
        <p:txBody>
          <a:bodyPr wrap="square" lIns="0" tIns="0" rIns="0" bIns="0" rtlCol="0" anchor="ctr"/>
          <a:lstStyle/>
          <a:p>
            <a:pPr indent="0" marL="0">
              <a:buNone/>
            </a:pPr>
            <a:r>
              <a:rPr lang="en-US" sz="1800" b="1" dirty="0">
                <a:solidFill>
                  <a:srgbClr val="FFE600"/>
                </a:solidFill>
                <a:latin typeface="Calibri" pitchFamily="34" charset="0"/>
                <a:ea typeface="Calibri" pitchFamily="34" charset="-122"/>
                <a:cs typeface="Calibri" pitchFamily="34" charset="-120"/>
              </a:rPr>
              <a:t>= 277,294,315 TND</a:t>
            </a:r>
            <a:endParaRPr lang="en-US" sz="1800" dirty="0"/>
          </a:p>
        </p:txBody>
      </p:sp>
      <p:sp>
        <p:nvSpPr>
          <p:cNvPr id="11" name="Shape 8"/>
          <p:cNvSpPr/>
          <p:nvPr/>
        </p:nvSpPr>
        <p:spPr>
          <a:xfrm>
            <a:off x="6172200" y="1600200"/>
            <a:ext cx="5440680" cy="1554480"/>
          </a:xfrm>
          <a:prstGeom prst="roundRect">
            <a:avLst>
              <a:gd name="adj" fmla="val 4706"/>
            </a:avLst>
          </a:prstGeom>
          <a:solidFill>
            <a:srgbClr val="33363F"/>
          </a:solidFill>
          <a:ln/>
        </p:spPr>
      </p:sp>
      <p:sp>
        <p:nvSpPr>
          <p:cNvPr id="12" name="Shape 9"/>
          <p:cNvSpPr/>
          <p:nvPr/>
        </p:nvSpPr>
        <p:spPr>
          <a:xfrm>
            <a:off x="6446520" y="1901952"/>
            <a:ext cx="146304" cy="146304"/>
          </a:xfrm>
          <a:prstGeom prst="ellipse">
            <a:avLst/>
          </a:prstGeom>
          <a:solidFill>
            <a:srgbClr val="FFE600"/>
          </a:solidFill>
          <a:ln/>
        </p:spPr>
      </p:sp>
      <p:sp>
        <p:nvSpPr>
          <p:cNvPr id="13" name="Text 10"/>
          <p:cNvSpPr/>
          <p:nvPr/>
        </p:nvSpPr>
        <p:spPr>
          <a:xfrm>
            <a:off x="6720840" y="1783080"/>
            <a:ext cx="4572000" cy="36576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Combined ratio</a:t>
            </a:r>
            <a:endParaRPr lang="en-US" sz="1600" dirty="0"/>
          </a:p>
        </p:txBody>
      </p:sp>
      <p:sp>
        <p:nvSpPr>
          <p:cNvPr id="14" name="Text 11"/>
          <p:cNvSpPr/>
          <p:nvPr/>
        </p:nvSpPr>
        <p:spPr>
          <a:xfrm>
            <a:off x="6446520" y="2286000"/>
            <a:ext cx="4937760" cy="365760"/>
          </a:xfrm>
          <a:prstGeom prst="rect">
            <a:avLst/>
          </a:prstGeom>
          <a:noFill/>
          <a:ln/>
        </p:spPr>
        <p:txBody>
          <a:bodyPr wrap="square" lIns="0" tIns="0" rIns="0" bIns="0" rtlCol="0" anchor="ctr"/>
          <a:lstStyle/>
          <a:p>
            <a:pPr indent="0" marL="0">
              <a:buNone/>
            </a:pPr>
            <a:r>
              <a:rPr lang="en-US" sz="1300" dirty="0">
                <a:solidFill>
                  <a:srgbClr val="C7CBD0"/>
                </a:solidFill>
                <a:latin typeface="Calibri" pitchFamily="34" charset="0"/>
                <a:ea typeface="Calibri" pitchFamily="34" charset="-122"/>
                <a:cs typeface="Calibri" pitchFamily="34" charset="-120"/>
              </a:rPr>
              <a:t>61.67 % loss ratio + 16.26 % expense ratio</a:t>
            </a:r>
            <a:endParaRPr lang="en-US" sz="1300" dirty="0"/>
          </a:p>
        </p:txBody>
      </p:sp>
      <p:sp>
        <p:nvSpPr>
          <p:cNvPr id="15" name="Text 12"/>
          <p:cNvSpPr/>
          <p:nvPr/>
        </p:nvSpPr>
        <p:spPr>
          <a:xfrm>
            <a:off x="6446520" y="2651760"/>
            <a:ext cx="4937760" cy="411480"/>
          </a:xfrm>
          <a:prstGeom prst="rect">
            <a:avLst/>
          </a:prstGeom>
          <a:noFill/>
          <a:ln/>
        </p:spPr>
        <p:txBody>
          <a:bodyPr wrap="square" lIns="0" tIns="0" rIns="0" bIns="0" rtlCol="0" anchor="ctr"/>
          <a:lstStyle/>
          <a:p>
            <a:pPr indent="0" marL="0">
              <a:buNone/>
            </a:pPr>
            <a:r>
              <a:rPr lang="en-US" sz="1800" b="1" dirty="0">
                <a:solidFill>
                  <a:srgbClr val="FFE600"/>
                </a:solidFill>
                <a:latin typeface="Calibri" pitchFamily="34" charset="0"/>
                <a:ea typeface="Calibri" pitchFamily="34" charset="-122"/>
                <a:cs typeface="Calibri" pitchFamily="34" charset="-120"/>
              </a:rPr>
              <a:t>= 77.93 %</a:t>
            </a:r>
            <a:endParaRPr lang="en-US" sz="1800" dirty="0"/>
          </a:p>
        </p:txBody>
      </p:sp>
      <p:sp>
        <p:nvSpPr>
          <p:cNvPr id="16" name="Shape 13"/>
          <p:cNvSpPr/>
          <p:nvPr/>
        </p:nvSpPr>
        <p:spPr>
          <a:xfrm>
            <a:off x="548640" y="3520440"/>
            <a:ext cx="11064240" cy="1448323"/>
          </a:xfrm>
          <a:prstGeom prst="rect">
            <a:avLst/>
          </a:prstGeom>
          <a:solidFill>
            <a:srgbClr val="FFFFFF"/>
          </a:solidFill>
          <a:ln w="12700">
            <a:solidFill>
              <a:srgbClr val="D3D5DB"/>
            </a:solidFill>
            <a:prstDash val="solid"/>
          </a:ln>
          <a:effectLst>
            <a:outerShdw sx="100000" sy="100000" kx="0" ky="0" algn="bl" rotWithShape="0" blurRad="63500" dist="25400" dir="5400000">
              <a:srgbClr val="000000">
                <a:alpha val="12000"/>
              </a:srgbClr>
            </a:outerShdw>
          </a:effectLst>
        </p:spPr>
      </p:sp>
      <p:pic>
        <p:nvPicPr>
          <p:cNvPr id="17" name="Image 0" descr="C:/Users/HP/Desktop/SCRAPING/docs/scratch/pipeline_shots/crops/qualite_row1.png">    </p:cNvPr>
          <p:cNvPicPr>
            <a:picLocks noChangeAspect="1"/>
          </p:cNvPicPr>
          <p:nvPr/>
        </p:nvPicPr>
        <p:blipFill>
          <a:blip r:embed="rId1"/>
          <a:stretch>
            <a:fillRect/>
          </a:stretch>
        </p:blipFill>
        <p:spPr>
          <a:xfrm>
            <a:off x="548640" y="3520440"/>
            <a:ext cx="11064240" cy="1448323"/>
          </a:xfrm>
          <a:prstGeom prst="rect">
            <a:avLst/>
          </a:prstGeom>
        </p:spPr>
      </p:pic>
      <p:sp>
        <p:nvSpPr>
          <p:cNvPr id="18" name="Text 14"/>
          <p:cNvSpPr/>
          <p:nvPr/>
        </p:nvSpPr>
        <p:spPr>
          <a:xfrm>
            <a:off x="548640" y="5023627"/>
            <a:ext cx="11064240" cy="237744"/>
          </a:xfrm>
          <a:prstGeom prst="rect">
            <a:avLst/>
          </a:prstGeom>
          <a:noFill/>
          <a:ln/>
        </p:spPr>
        <p:txBody>
          <a:bodyPr wrap="square" lIns="0" tIns="0" rIns="0" bIns="0" rtlCol="0" anchor="ctr"/>
          <a:lstStyle/>
          <a:p>
            <a:pPr indent="0" marL="0">
              <a:buNone/>
            </a:pPr>
            <a:r>
              <a:rPr lang="en-US" sz="1050" i="1" dirty="0">
                <a:solidFill>
                  <a:srgbClr val="8B8B90"/>
                </a:solidFill>
                <a:latin typeface="Calibri" pitchFamily="34" charset="0"/>
                <a:ea typeface="Calibri" pitchFamily="34" charset="-122"/>
                <a:cs typeface="Calibri" pitchFamily="34" charset="-120"/>
              </a:rPr>
              <a:t>Real screenshot — Platform · Data Quality · ASTREE 2025 (first row)</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5486400" cy="274320"/>
          </a:xfrm>
          <a:prstGeom prst="rect">
            <a:avLst/>
          </a:prstGeom>
          <a:noFill/>
          <a:ln/>
        </p:spPr>
        <p:txBody>
          <a:bodyPr wrap="square" lIns="0" tIns="0" rIns="0" bIns="0" rtlCol="0" anchor="ctr"/>
          <a:lstStyle/>
          <a:p>
            <a:pPr indent="0" marL="0">
              <a:buNone/>
            </a:pPr>
            <a:r>
              <a:rPr lang="en-US" sz="1200" b="1" spc="200" kern="0" dirty="0">
                <a:solidFill>
                  <a:srgbClr val="8B8B90"/>
                </a:solidFill>
                <a:latin typeface="Calibri" pitchFamily="34" charset="0"/>
                <a:ea typeface="Calibri" pitchFamily="34" charset="-122"/>
                <a:cs typeface="Calibri" pitchFamily="34" charset="-120"/>
              </a:rPr>
              <a:t>DATA PIPELINE</a:t>
            </a:r>
            <a:endParaRPr lang="en-US" sz="1200" dirty="0"/>
          </a:p>
        </p:txBody>
      </p:sp>
      <p:sp>
        <p:nvSpPr>
          <p:cNvPr id="3" name="Text 1"/>
          <p:cNvSpPr/>
          <p:nvPr/>
        </p:nvSpPr>
        <p:spPr>
          <a:xfrm>
            <a:off x="548640" y="658368"/>
            <a:ext cx="11064240" cy="640080"/>
          </a:xfrm>
          <a:prstGeom prst="rect">
            <a:avLst/>
          </a:prstGeom>
          <a:noFill/>
          <a:ln/>
        </p:spPr>
        <p:txBody>
          <a:bodyPr wrap="square" lIns="0" tIns="0" rIns="0" bIns="0" rtlCol="0" anchor="ctr"/>
          <a:lstStyle/>
          <a:p>
            <a:pPr indent="0" marL="0">
              <a:buNone/>
            </a:pPr>
            <a:r>
              <a:rPr lang="en-US" sz="3000" b="1" dirty="0">
                <a:solidFill>
                  <a:srgbClr val="33363F"/>
                </a:solidFill>
                <a:latin typeface="Cambria" pitchFamily="34" charset="0"/>
                <a:ea typeface="Cambria" pitchFamily="34" charset="-122"/>
                <a:cs typeface="Cambria" pitchFamily="34" charset="-120"/>
              </a:rPr>
              <a:t>Quality — Anomalies Detected and Classified</a:t>
            </a:r>
            <a:endParaRPr lang="en-US" sz="3000" dirty="0"/>
          </a:p>
        </p:txBody>
      </p:sp>
      <p:sp>
        <p:nvSpPr>
          <p:cNvPr id="4" name="Text 2"/>
          <p:cNvSpPr/>
          <p:nvPr/>
        </p:nvSpPr>
        <p:spPr>
          <a:xfrm>
            <a:off x="11612880" y="6510528"/>
            <a:ext cx="457200" cy="274320"/>
          </a:xfrm>
          <a:prstGeom prst="rect">
            <a:avLst/>
          </a:prstGeom>
          <a:noFill/>
          <a:ln/>
        </p:spPr>
        <p:txBody>
          <a:bodyPr wrap="square" rtlCol="0" anchor="ctr"/>
          <a:lstStyle/>
          <a:p>
            <a:pPr algn="r" indent="0" marL="0">
              <a:buNone/>
            </a:pPr>
            <a:r>
              <a:rPr lang="en-US" sz="1000" dirty="0">
                <a:solidFill>
                  <a:srgbClr val="8B8B90"/>
                </a:solidFill>
                <a:latin typeface="Calibri" pitchFamily="34" charset="0"/>
                <a:ea typeface="Calibri" pitchFamily="34" charset="-122"/>
                <a:cs typeface="Calibri" pitchFamily="34" charset="-120"/>
              </a:rPr>
              <a:t>9</a:t>
            </a:r>
            <a:endParaRPr lang="en-US" sz="1000" dirty="0"/>
          </a:p>
        </p:txBody>
      </p:sp>
      <p:sp>
        <p:nvSpPr>
          <p:cNvPr id="6" name="Shape 3"/>
          <p:cNvSpPr/>
          <p:nvPr/>
        </p:nvSpPr>
        <p:spPr>
          <a:xfrm>
            <a:off x="548640" y="1600200"/>
            <a:ext cx="7315200" cy="1475874"/>
          </a:xfrm>
          <a:prstGeom prst="rect">
            <a:avLst/>
          </a:prstGeom>
          <a:solidFill>
            <a:srgbClr val="FFFFFF"/>
          </a:solidFill>
          <a:ln w="12700">
            <a:solidFill>
              <a:srgbClr val="D3D5DB"/>
            </a:solidFill>
            <a:prstDash val="solid"/>
          </a:ln>
          <a:effectLst>
            <a:outerShdw sx="100000" sy="100000" kx="0" ky="0" algn="bl" rotWithShape="0" blurRad="63500" dist="25400" dir="5400000">
              <a:srgbClr val="000000">
                <a:alpha val="12000"/>
              </a:srgbClr>
            </a:outerShdw>
          </a:effectLst>
        </p:spPr>
      </p:sp>
      <p:pic>
        <p:nvPicPr>
          <p:cNvPr id="7" name="Image 0" descr="C:/Users/HP/Desktop/SCRAPING/docs/scratch/pipeline_shots/crops/rapport_tiles.png">    </p:cNvPr>
          <p:cNvPicPr>
            <a:picLocks noChangeAspect="1"/>
          </p:cNvPicPr>
          <p:nvPr/>
        </p:nvPicPr>
        <p:blipFill>
          <a:blip r:embed="rId1"/>
          <a:stretch>
            <a:fillRect/>
          </a:stretch>
        </p:blipFill>
        <p:spPr>
          <a:xfrm>
            <a:off x="548640" y="1600200"/>
            <a:ext cx="7315200" cy="1475874"/>
          </a:xfrm>
          <a:prstGeom prst="rect">
            <a:avLst/>
          </a:prstGeom>
        </p:spPr>
      </p:pic>
      <p:sp>
        <p:nvSpPr>
          <p:cNvPr id="8" name="Text 4"/>
          <p:cNvSpPr/>
          <p:nvPr/>
        </p:nvSpPr>
        <p:spPr>
          <a:xfrm>
            <a:off x="548640" y="3130938"/>
            <a:ext cx="7315200" cy="237744"/>
          </a:xfrm>
          <a:prstGeom prst="rect">
            <a:avLst/>
          </a:prstGeom>
          <a:noFill/>
          <a:ln/>
        </p:spPr>
        <p:txBody>
          <a:bodyPr wrap="square" lIns="0" tIns="0" rIns="0" bIns="0" rtlCol="0" anchor="ctr"/>
          <a:lstStyle/>
          <a:p>
            <a:pPr indent="0" marL="0">
              <a:buNone/>
            </a:pPr>
            <a:r>
              <a:rPr lang="en-US" sz="1050" i="1" dirty="0">
                <a:solidFill>
                  <a:srgbClr val="8B8B90"/>
                </a:solidFill>
                <a:latin typeface="Calibri" pitchFamily="34" charset="0"/>
                <a:ea typeface="Calibri" pitchFamily="34" charset="-122"/>
                <a:cs typeface="Calibri" pitchFamily="34" charset="-120"/>
              </a:rPr>
              <a:t>Real screenshot — Platform · Pipeline Report · 2024</a:t>
            </a:r>
            <a:endParaRPr lang="en-US" sz="1050" dirty="0"/>
          </a:p>
        </p:txBody>
      </p:sp>
      <p:sp>
        <p:nvSpPr>
          <p:cNvPr id="9" name="Shape 5"/>
          <p:cNvSpPr/>
          <p:nvPr/>
        </p:nvSpPr>
        <p:spPr>
          <a:xfrm>
            <a:off x="548640" y="3611880"/>
            <a:ext cx="11064240" cy="1733986"/>
          </a:xfrm>
          <a:prstGeom prst="rect">
            <a:avLst/>
          </a:prstGeom>
          <a:solidFill>
            <a:srgbClr val="FFFFFF"/>
          </a:solidFill>
          <a:ln w="12700">
            <a:solidFill>
              <a:srgbClr val="D3D5DB"/>
            </a:solidFill>
            <a:prstDash val="solid"/>
          </a:ln>
          <a:effectLst>
            <a:outerShdw sx="100000" sy="100000" kx="0" ky="0" algn="bl" rotWithShape="0" blurRad="63500" dist="25400" dir="5400000">
              <a:srgbClr val="000000">
                <a:alpha val="12000"/>
              </a:srgbClr>
            </a:outerShdw>
          </a:effectLst>
        </p:spPr>
      </p:sp>
      <p:pic>
        <p:nvPicPr>
          <p:cNvPr id="10" name="Image 1" descr="C:/Users/HP/Desktop/SCRAPING/docs/scratch/pipeline_shots/crops/anomalies_rows2.png">    </p:cNvPr>
          <p:cNvPicPr>
            <a:picLocks noChangeAspect="1"/>
          </p:cNvPicPr>
          <p:nvPr/>
        </p:nvPicPr>
        <p:blipFill>
          <a:blip r:embed="rId2"/>
          <a:stretch>
            <a:fillRect/>
          </a:stretch>
        </p:blipFill>
        <p:spPr>
          <a:xfrm>
            <a:off x="548640" y="3611880"/>
            <a:ext cx="11064240" cy="1733986"/>
          </a:xfrm>
          <a:prstGeom prst="rect">
            <a:avLst/>
          </a:prstGeom>
        </p:spPr>
      </p:pic>
      <p:sp>
        <p:nvSpPr>
          <p:cNvPr id="11" name="Text 6"/>
          <p:cNvSpPr/>
          <p:nvPr/>
        </p:nvSpPr>
        <p:spPr>
          <a:xfrm>
            <a:off x="548640" y="5400730"/>
            <a:ext cx="11064240" cy="237744"/>
          </a:xfrm>
          <a:prstGeom prst="rect">
            <a:avLst/>
          </a:prstGeom>
          <a:noFill/>
          <a:ln/>
        </p:spPr>
        <p:txBody>
          <a:bodyPr wrap="square" lIns="0" tIns="0" rIns="0" bIns="0" rtlCol="0" anchor="ctr"/>
          <a:lstStyle/>
          <a:p>
            <a:pPr indent="0" marL="0">
              <a:buNone/>
            </a:pPr>
            <a:r>
              <a:rPr lang="en-US" sz="1050" i="1" dirty="0">
                <a:solidFill>
                  <a:srgbClr val="8B8B90"/>
                </a:solidFill>
                <a:latin typeface="Calibri" pitchFamily="34" charset="0"/>
                <a:ea typeface="Calibri" pitchFamily="34" charset="-122"/>
                <a:cs typeface="Calibri" pitchFamily="34" charset="-120"/>
              </a:rPr>
              <a:t>Real screenshot — Platform · System Anomalies · 2025</a:t>
            </a:r>
            <a:endParaRPr lang="en-US" sz="1050" dirty="0"/>
          </a:p>
        </p:txBody>
      </p:sp>
      <p:sp>
        <p:nvSpPr>
          <p:cNvPr id="12" name="Shape 7"/>
          <p:cNvSpPr/>
          <p:nvPr/>
        </p:nvSpPr>
        <p:spPr>
          <a:xfrm>
            <a:off x="8138160" y="1600200"/>
            <a:ext cx="3474720" cy="1600200"/>
          </a:xfrm>
          <a:prstGeom prst="roundRect">
            <a:avLst>
              <a:gd name="adj" fmla="val 4571"/>
            </a:avLst>
          </a:prstGeom>
          <a:solidFill>
            <a:srgbClr val="F5F5F6"/>
          </a:solidFill>
          <a:ln/>
        </p:spPr>
      </p:sp>
      <p:sp>
        <p:nvSpPr>
          <p:cNvPr id="13" name="Text 8"/>
          <p:cNvSpPr/>
          <p:nvPr/>
        </p:nvSpPr>
        <p:spPr>
          <a:xfrm>
            <a:off x="8366760" y="1600200"/>
            <a:ext cx="3063240" cy="1600200"/>
          </a:xfrm>
          <a:prstGeom prst="rect">
            <a:avLst/>
          </a:prstGeom>
          <a:noFill/>
          <a:ln/>
        </p:spPr>
        <p:txBody>
          <a:bodyPr wrap="square" lIns="0" tIns="0" rIns="0" bIns="0" rtlCol="0" anchor="ctr"/>
          <a:lstStyle/>
          <a:p>
            <a:pPr indent="0" marL="0">
              <a:buNone/>
            </a:pPr>
            <a:r>
              <a:rPr lang="en-US" sz="1400" b="1" dirty="0">
                <a:solidFill>
                  <a:srgbClr val="26282F"/>
                </a:solidFill>
                <a:latin typeface="Calibri" pitchFamily="34" charset="0"/>
                <a:ea typeface="Calibri" pitchFamily="34" charset="-122"/>
                <a:cs typeface="Calibri" pitchFamily="34" charset="-120"/>
              </a:rPr>
              <a:t>3 classes of cause</a:t>
            </a:r>
            <a:endParaRPr lang="en-US" sz="1400" dirty="0"/>
          </a:p>
          <a:p>
            <a:pPr indent="0" marL="0">
              <a:buNone/>
            </a:pPr>
            <a:r>
              <a:rPr lang="en-US" sz="1200" dirty="0">
                <a:solidFill>
                  <a:srgbClr val="5A5D66"/>
                </a:solidFill>
                <a:latin typeface="Calibri" pitchFamily="34" charset="0"/>
                <a:ea typeface="Calibri" pitchFamily="34" charset="-122"/>
                <a:cs typeface="Calibri" pitchFamily="34" charset="-120"/>
              </a:rPr>
              <a:t>PDF section not extracted · missing component · extraction failed</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5486400" cy="274320"/>
          </a:xfrm>
          <a:prstGeom prst="rect">
            <a:avLst/>
          </a:prstGeom>
          <a:noFill/>
          <a:ln/>
        </p:spPr>
        <p:txBody>
          <a:bodyPr wrap="square" lIns="0" tIns="0" rIns="0" bIns="0" rtlCol="0" anchor="ctr"/>
          <a:lstStyle/>
          <a:p>
            <a:pPr indent="0" marL="0">
              <a:buNone/>
            </a:pPr>
            <a:r>
              <a:rPr lang="en-US" sz="1200" b="1" spc="200" kern="0" dirty="0">
                <a:solidFill>
                  <a:srgbClr val="8B8B90"/>
                </a:solidFill>
                <a:latin typeface="Calibri" pitchFamily="34" charset="0"/>
                <a:ea typeface="Calibri" pitchFamily="34" charset="-122"/>
                <a:cs typeface="Calibri" pitchFamily="34" charset="-120"/>
              </a:rPr>
              <a:t>DATA PIPELINE</a:t>
            </a:r>
            <a:endParaRPr lang="en-US" sz="1200" dirty="0"/>
          </a:p>
        </p:txBody>
      </p:sp>
      <p:sp>
        <p:nvSpPr>
          <p:cNvPr id="3" name="Text 1"/>
          <p:cNvSpPr/>
          <p:nvPr/>
        </p:nvSpPr>
        <p:spPr>
          <a:xfrm>
            <a:off x="548640" y="658368"/>
            <a:ext cx="11064240" cy="640080"/>
          </a:xfrm>
          <a:prstGeom prst="rect">
            <a:avLst/>
          </a:prstGeom>
          <a:noFill/>
          <a:ln/>
        </p:spPr>
        <p:txBody>
          <a:bodyPr wrap="square" lIns="0" tIns="0" rIns="0" bIns="0" rtlCol="0" anchor="ctr"/>
          <a:lstStyle/>
          <a:p>
            <a:pPr indent="0" marL="0">
              <a:buNone/>
            </a:pPr>
            <a:r>
              <a:rPr lang="en-US" sz="3000" b="1" dirty="0">
                <a:solidFill>
                  <a:srgbClr val="33363F"/>
                </a:solidFill>
                <a:latin typeface="Cambria" pitchFamily="34" charset="0"/>
                <a:ea typeface="Cambria" pitchFamily="34" charset="-122"/>
                <a:cs typeface="Cambria" pitchFamily="34" charset="-120"/>
              </a:rPr>
              <a:t>Every Number Links Back to Its PDF Cell</a:t>
            </a:r>
            <a:endParaRPr lang="en-US" sz="3000" dirty="0"/>
          </a:p>
        </p:txBody>
      </p:sp>
      <p:sp>
        <p:nvSpPr>
          <p:cNvPr id="4" name="Text 2"/>
          <p:cNvSpPr/>
          <p:nvPr/>
        </p:nvSpPr>
        <p:spPr>
          <a:xfrm>
            <a:off x="11612880" y="6510528"/>
            <a:ext cx="457200" cy="274320"/>
          </a:xfrm>
          <a:prstGeom prst="rect">
            <a:avLst/>
          </a:prstGeom>
          <a:noFill/>
          <a:ln/>
        </p:spPr>
        <p:txBody>
          <a:bodyPr wrap="square" rtlCol="0" anchor="ctr"/>
          <a:lstStyle/>
          <a:p>
            <a:pPr algn="r" indent="0" marL="0">
              <a:buNone/>
            </a:pPr>
            <a:r>
              <a:rPr lang="en-US" sz="1000" dirty="0">
                <a:solidFill>
                  <a:srgbClr val="8B8B90"/>
                </a:solidFill>
                <a:latin typeface="Calibri" pitchFamily="34" charset="0"/>
                <a:ea typeface="Calibri" pitchFamily="34" charset="-122"/>
                <a:cs typeface="Calibri" pitchFamily="34" charset="-120"/>
              </a:rPr>
              <a:t>10</a:t>
            </a:r>
            <a:endParaRPr lang="en-US" sz="1000" dirty="0"/>
          </a:p>
        </p:txBody>
      </p:sp>
      <p:sp>
        <p:nvSpPr>
          <p:cNvPr id="6" name="Shape 3"/>
          <p:cNvSpPr/>
          <p:nvPr/>
        </p:nvSpPr>
        <p:spPr>
          <a:xfrm>
            <a:off x="548640" y="1600200"/>
            <a:ext cx="5120640" cy="1216524"/>
          </a:xfrm>
          <a:prstGeom prst="rect">
            <a:avLst/>
          </a:prstGeom>
          <a:solidFill>
            <a:srgbClr val="FFFFFF"/>
          </a:solidFill>
          <a:ln w="12700">
            <a:solidFill>
              <a:srgbClr val="D3D5DB"/>
            </a:solidFill>
            <a:prstDash val="solid"/>
          </a:ln>
          <a:effectLst>
            <a:outerShdw sx="100000" sy="100000" kx="0" ky="0" algn="bl" rotWithShape="0" blurRad="63500" dist="25400" dir="5400000">
              <a:srgbClr val="000000">
                <a:alpha val="12000"/>
              </a:srgbClr>
            </a:outerShdw>
          </a:effectLst>
        </p:spPr>
      </p:sp>
      <p:pic>
        <p:nvPicPr>
          <p:cNvPr id="7" name="Image 0" descr="C:/Users/HP/Desktop/SCRAPING/docs/scratch/pipeline_shots/crops/hl_info.png">    </p:cNvPr>
          <p:cNvPicPr>
            <a:picLocks noChangeAspect="1"/>
          </p:cNvPicPr>
          <p:nvPr/>
        </p:nvPicPr>
        <p:blipFill>
          <a:blip r:embed="rId1"/>
          <a:stretch>
            <a:fillRect/>
          </a:stretch>
        </p:blipFill>
        <p:spPr>
          <a:xfrm>
            <a:off x="548640" y="1600200"/>
            <a:ext cx="5120640" cy="1216524"/>
          </a:xfrm>
          <a:prstGeom prst="rect">
            <a:avLst/>
          </a:prstGeom>
        </p:spPr>
      </p:pic>
      <p:sp>
        <p:nvSpPr>
          <p:cNvPr id="8" name="Text 4"/>
          <p:cNvSpPr/>
          <p:nvPr/>
        </p:nvSpPr>
        <p:spPr>
          <a:xfrm>
            <a:off x="548640" y="2871588"/>
            <a:ext cx="5120640" cy="237744"/>
          </a:xfrm>
          <a:prstGeom prst="rect">
            <a:avLst/>
          </a:prstGeom>
          <a:noFill/>
          <a:ln/>
        </p:spPr>
        <p:txBody>
          <a:bodyPr wrap="square" lIns="0" tIns="0" rIns="0" bIns="0" rtlCol="0" anchor="ctr"/>
          <a:lstStyle/>
          <a:p>
            <a:pPr indent="0" marL="0">
              <a:buNone/>
            </a:pPr>
            <a:r>
              <a:rPr lang="en-US" sz="1050" i="1" dirty="0">
                <a:solidFill>
                  <a:srgbClr val="8B8B90"/>
                </a:solidFill>
                <a:latin typeface="Calibri" pitchFamily="34" charset="0"/>
                <a:ea typeface="Calibri" pitchFamily="34" charset="-122"/>
                <a:cs typeface="Calibri" pitchFamily="34" charset="-120"/>
              </a:rPr>
              <a:t>Real screenshot — Platform · KPI Detail</a:t>
            </a:r>
            <a:endParaRPr lang="en-US" sz="1050" dirty="0"/>
          </a:p>
        </p:txBody>
      </p:sp>
      <p:sp>
        <p:nvSpPr>
          <p:cNvPr id="9" name="Shape 5"/>
          <p:cNvSpPr/>
          <p:nvPr/>
        </p:nvSpPr>
        <p:spPr>
          <a:xfrm>
            <a:off x="548640" y="3520440"/>
            <a:ext cx="5120640" cy="457200"/>
          </a:xfrm>
          <a:prstGeom prst="roundRect">
            <a:avLst>
              <a:gd name="adj" fmla="val 16000"/>
            </a:avLst>
          </a:prstGeom>
          <a:solidFill>
            <a:srgbClr val="F5F5F6"/>
          </a:solidFill>
          <a:ln/>
        </p:spPr>
      </p:sp>
      <p:sp>
        <p:nvSpPr>
          <p:cNvPr id="10" name="Text 6"/>
          <p:cNvSpPr/>
          <p:nvPr/>
        </p:nvSpPr>
        <p:spPr>
          <a:xfrm>
            <a:off x="777240" y="3520440"/>
            <a:ext cx="1463040" cy="457200"/>
          </a:xfrm>
          <a:prstGeom prst="rect">
            <a:avLst/>
          </a:prstGeom>
          <a:noFill/>
          <a:ln/>
        </p:spPr>
        <p:txBody>
          <a:bodyPr wrap="square" lIns="0" tIns="0" rIns="0" bIns="0" rtlCol="0" anchor="ctr"/>
          <a:lstStyle/>
          <a:p>
            <a:pPr indent="0" marL="0">
              <a:buNone/>
            </a:pPr>
            <a:r>
              <a:rPr lang="en-US" sz="1300" b="1" dirty="0">
                <a:solidFill>
                  <a:srgbClr val="5A5D66"/>
                </a:solidFill>
                <a:latin typeface="Calibri" pitchFamily="34" charset="0"/>
                <a:ea typeface="Calibri" pitchFamily="34" charset="-122"/>
                <a:cs typeface="Calibri" pitchFamily="34" charset="-120"/>
              </a:rPr>
              <a:t>Table</a:t>
            </a:r>
            <a:endParaRPr lang="en-US" sz="1300" dirty="0"/>
          </a:p>
        </p:txBody>
      </p:sp>
      <p:sp>
        <p:nvSpPr>
          <p:cNvPr id="11" name="Text 7"/>
          <p:cNvSpPr/>
          <p:nvPr/>
        </p:nvSpPr>
        <p:spPr>
          <a:xfrm>
            <a:off x="2286000" y="3520440"/>
            <a:ext cx="3200400" cy="457200"/>
          </a:xfrm>
          <a:prstGeom prst="rect">
            <a:avLst/>
          </a:prstGeom>
          <a:noFill/>
          <a:ln/>
        </p:spPr>
        <p:txBody>
          <a:bodyPr wrap="square" lIns="0" tIns="0" rIns="0" bIns="0" rtlCol="0" anchor="ctr"/>
          <a:lstStyle/>
          <a:p>
            <a:pPr indent="0" marL="0">
              <a:buNone/>
            </a:pPr>
            <a:r>
              <a:rPr lang="en-US" sz="1300" dirty="0">
                <a:solidFill>
                  <a:srgbClr val="26282F"/>
                </a:solidFill>
                <a:latin typeface="Calibri" pitchFamily="34" charset="0"/>
                <a:ea typeface="Calibri" pitchFamily="34" charset="-122"/>
                <a:cs typeface="Calibri" pitchFamily="34" charset="-120"/>
              </a:rPr>
              <a:t>Balance sheet at 31/12</a:t>
            </a:r>
            <a:endParaRPr lang="en-US" sz="1300" dirty="0"/>
          </a:p>
        </p:txBody>
      </p:sp>
      <p:sp>
        <p:nvSpPr>
          <p:cNvPr id="12" name="Shape 8"/>
          <p:cNvSpPr/>
          <p:nvPr/>
        </p:nvSpPr>
        <p:spPr>
          <a:xfrm>
            <a:off x="548640" y="4069080"/>
            <a:ext cx="5120640" cy="457200"/>
          </a:xfrm>
          <a:prstGeom prst="roundRect">
            <a:avLst>
              <a:gd name="adj" fmla="val 16000"/>
            </a:avLst>
          </a:prstGeom>
          <a:solidFill>
            <a:srgbClr val="FFFFFF"/>
          </a:solidFill>
          <a:ln/>
        </p:spPr>
      </p:sp>
      <p:sp>
        <p:nvSpPr>
          <p:cNvPr id="13" name="Text 9"/>
          <p:cNvSpPr/>
          <p:nvPr/>
        </p:nvSpPr>
        <p:spPr>
          <a:xfrm>
            <a:off x="777240" y="4069080"/>
            <a:ext cx="1463040" cy="457200"/>
          </a:xfrm>
          <a:prstGeom prst="rect">
            <a:avLst/>
          </a:prstGeom>
          <a:noFill/>
          <a:ln/>
        </p:spPr>
        <p:txBody>
          <a:bodyPr wrap="square" lIns="0" tIns="0" rIns="0" bIns="0" rtlCol="0" anchor="ctr"/>
          <a:lstStyle/>
          <a:p>
            <a:pPr indent="0" marL="0">
              <a:buNone/>
            </a:pPr>
            <a:r>
              <a:rPr lang="en-US" sz="1300" b="1" dirty="0">
                <a:solidFill>
                  <a:srgbClr val="5A5D66"/>
                </a:solidFill>
                <a:latin typeface="Calibri" pitchFamily="34" charset="0"/>
                <a:ea typeface="Calibri" pitchFamily="34" charset="-122"/>
                <a:cs typeface="Calibri" pitchFamily="34" charset="-120"/>
              </a:rPr>
              <a:t>Row</a:t>
            </a:r>
            <a:endParaRPr lang="en-US" sz="1300" dirty="0"/>
          </a:p>
        </p:txBody>
      </p:sp>
      <p:sp>
        <p:nvSpPr>
          <p:cNvPr id="14" name="Text 10"/>
          <p:cNvSpPr/>
          <p:nvPr/>
        </p:nvSpPr>
        <p:spPr>
          <a:xfrm>
            <a:off x="2286000" y="4069080"/>
            <a:ext cx="3200400" cy="457200"/>
          </a:xfrm>
          <a:prstGeom prst="rect">
            <a:avLst/>
          </a:prstGeom>
          <a:noFill/>
          <a:ln/>
        </p:spPr>
        <p:txBody>
          <a:bodyPr wrap="square" lIns="0" tIns="0" rIns="0" bIns="0" rtlCol="0" anchor="ctr"/>
          <a:lstStyle/>
          <a:p>
            <a:pPr indent="0" marL="0">
              <a:buNone/>
            </a:pPr>
            <a:r>
              <a:rPr lang="en-US" sz="1300" dirty="0">
                <a:solidFill>
                  <a:srgbClr val="26282F"/>
                </a:solidFill>
                <a:latin typeface="Calibri" pitchFamily="34" charset="0"/>
                <a:ea typeface="Calibri" pitchFamily="34" charset="-122"/>
                <a:cs typeface="Calibri" pitchFamily="34" charset="-120"/>
              </a:rPr>
              <a:t>Total de l'actif</a:t>
            </a:r>
            <a:endParaRPr lang="en-US" sz="1300" dirty="0"/>
          </a:p>
        </p:txBody>
      </p:sp>
      <p:sp>
        <p:nvSpPr>
          <p:cNvPr id="15" name="Shape 11"/>
          <p:cNvSpPr/>
          <p:nvPr/>
        </p:nvSpPr>
        <p:spPr>
          <a:xfrm>
            <a:off x="548640" y="4617720"/>
            <a:ext cx="5120640" cy="457200"/>
          </a:xfrm>
          <a:prstGeom prst="roundRect">
            <a:avLst>
              <a:gd name="adj" fmla="val 16000"/>
            </a:avLst>
          </a:prstGeom>
          <a:solidFill>
            <a:srgbClr val="F5F5F6"/>
          </a:solidFill>
          <a:ln/>
        </p:spPr>
      </p:sp>
      <p:sp>
        <p:nvSpPr>
          <p:cNvPr id="16" name="Text 12"/>
          <p:cNvSpPr/>
          <p:nvPr/>
        </p:nvSpPr>
        <p:spPr>
          <a:xfrm>
            <a:off x="777240" y="4617720"/>
            <a:ext cx="1463040" cy="457200"/>
          </a:xfrm>
          <a:prstGeom prst="rect">
            <a:avLst/>
          </a:prstGeom>
          <a:noFill/>
          <a:ln/>
        </p:spPr>
        <p:txBody>
          <a:bodyPr wrap="square" lIns="0" tIns="0" rIns="0" bIns="0" rtlCol="0" anchor="ctr"/>
          <a:lstStyle/>
          <a:p>
            <a:pPr indent="0" marL="0">
              <a:buNone/>
            </a:pPr>
            <a:r>
              <a:rPr lang="en-US" sz="1300" b="1" dirty="0">
                <a:solidFill>
                  <a:srgbClr val="5A5D66"/>
                </a:solidFill>
                <a:latin typeface="Calibri" pitchFamily="34" charset="0"/>
                <a:ea typeface="Calibri" pitchFamily="34" charset="-122"/>
                <a:cs typeface="Calibri" pitchFamily="34" charset="-120"/>
              </a:rPr>
              <a:t>Column</a:t>
            </a:r>
            <a:endParaRPr lang="en-US" sz="1300" dirty="0"/>
          </a:p>
        </p:txBody>
      </p:sp>
      <p:sp>
        <p:nvSpPr>
          <p:cNvPr id="17" name="Text 13"/>
          <p:cNvSpPr/>
          <p:nvPr/>
        </p:nvSpPr>
        <p:spPr>
          <a:xfrm>
            <a:off x="2286000" y="4617720"/>
            <a:ext cx="3200400" cy="457200"/>
          </a:xfrm>
          <a:prstGeom prst="rect">
            <a:avLst/>
          </a:prstGeom>
          <a:noFill/>
          <a:ln/>
        </p:spPr>
        <p:txBody>
          <a:bodyPr wrap="square" lIns="0" tIns="0" rIns="0" bIns="0" rtlCol="0" anchor="ctr"/>
          <a:lstStyle/>
          <a:p>
            <a:pPr indent="0" marL="0">
              <a:buNone/>
            </a:pPr>
            <a:r>
              <a:rPr lang="en-US" sz="1300" dirty="0">
                <a:solidFill>
                  <a:srgbClr val="26282F"/>
                </a:solidFill>
                <a:latin typeface="Calibri" pitchFamily="34" charset="0"/>
                <a:ea typeface="Calibri" pitchFamily="34" charset="-122"/>
                <a:cs typeface="Calibri" pitchFamily="34" charset="-120"/>
              </a:rPr>
              <a:t>Net</a:t>
            </a:r>
            <a:endParaRPr lang="en-US" sz="1300" dirty="0"/>
          </a:p>
        </p:txBody>
      </p:sp>
      <p:sp>
        <p:nvSpPr>
          <p:cNvPr id="18" name="Shape 14"/>
          <p:cNvSpPr/>
          <p:nvPr/>
        </p:nvSpPr>
        <p:spPr>
          <a:xfrm>
            <a:off x="548640" y="5166360"/>
            <a:ext cx="5120640" cy="457200"/>
          </a:xfrm>
          <a:prstGeom prst="roundRect">
            <a:avLst>
              <a:gd name="adj" fmla="val 16000"/>
            </a:avLst>
          </a:prstGeom>
          <a:solidFill>
            <a:srgbClr val="FFFFFF"/>
          </a:solidFill>
          <a:ln/>
        </p:spPr>
      </p:sp>
      <p:sp>
        <p:nvSpPr>
          <p:cNvPr id="19" name="Text 15"/>
          <p:cNvSpPr/>
          <p:nvPr/>
        </p:nvSpPr>
        <p:spPr>
          <a:xfrm>
            <a:off x="777240" y="5166360"/>
            <a:ext cx="1463040" cy="457200"/>
          </a:xfrm>
          <a:prstGeom prst="rect">
            <a:avLst/>
          </a:prstGeom>
          <a:noFill/>
          <a:ln/>
        </p:spPr>
        <p:txBody>
          <a:bodyPr wrap="square" lIns="0" tIns="0" rIns="0" bIns="0" rtlCol="0" anchor="ctr"/>
          <a:lstStyle/>
          <a:p>
            <a:pPr indent="0" marL="0">
              <a:buNone/>
            </a:pPr>
            <a:r>
              <a:rPr lang="en-US" sz="1300" b="1" dirty="0">
                <a:solidFill>
                  <a:srgbClr val="5A5D66"/>
                </a:solidFill>
                <a:latin typeface="Calibri" pitchFamily="34" charset="0"/>
                <a:ea typeface="Calibri" pitchFamily="34" charset="-122"/>
                <a:cs typeface="Calibri" pitchFamily="34" charset="-120"/>
              </a:rPr>
              <a:t>Page</a:t>
            </a:r>
            <a:endParaRPr lang="en-US" sz="1300" dirty="0"/>
          </a:p>
        </p:txBody>
      </p:sp>
      <p:sp>
        <p:nvSpPr>
          <p:cNvPr id="20" name="Text 16"/>
          <p:cNvSpPr/>
          <p:nvPr/>
        </p:nvSpPr>
        <p:spPr>
          <a:xfrm>
            <a:off x="2286000" y="5166360"/>
            <a:ext cx="3200400" cy="457200"/>
          </a:xfrm>
          <a:prstGeom prst="rect">
            <a:avLst/>
          </a:prstGeom>
          <a:noFill/>
          <a:ln/>
        </p:spPr>
        <p:txBody>
          <a:bodyPr wrap="square" lIns="0" tIns="0" rIns="0" bIns="0" rtlCol="0" anchor="ctr"/>
          <a:lstStyle/>
          <a:p>
            <a:pPr indent="0" marL="0">
              <a:buNone/>
            </a:pPr>
            <a:r>
              <a:rPr lang="en-US" sz="1300" dirty="0">
                <a:solidFill>
                  <a:srgbClr val="26282F"/>
                </a:solidFill>
                <a:latin typeface="Calibri" pitchFamily="34" charset="0"/>
                <a:ea typeface="Calibri" pitchFamily="34" charset="-122"/>
                <a:cs typeface="Calibri" pitchFamily="34" charset="-120"/>
              </a:rPr>
              <a:t>2</a:t>
            </a:r>
            <a:endParaRPr lang="en-US" sz="1300" dirty="0"/>
          </a:p>
        </p:txBody>
      </p:sp>
      <p:sp>
        <p:nvSpPr>
          <p:cNvPr id="21" name="Shape 17"/>
          <p:cNvSpPr/>
          <p:nvPr/>
        </p:nvSpPr>
        <p:spPr>
          <a:xfrm>
            <a:off x="6035040" y="1600200"/>
            <a:ext cx="5577840" cy="4040953"/>
          </a:xfrm>
          <a:prstGeom prst="rect">
            <a:avLst/>
          </a:prstGeom>
          <a:solidFill>
            <a:srgbClr val="FFFFFF"/>
          </a:solidFill>
          <a:ln w="12700">
            <a:solidFill>
              <a:srgbClr val="D3D5DB"/>
            </a:solidFill>
            <a:prstDash val="solid"/>
          </a:ln>
          <a:effectLst>
            <a:outerShdw sx="100000" sy="100000" kx="0" ky="0" algn="bl" rotWithShape="0" blurRad="63500" dist="25400" dir="5400000">
              <a:srgbClr val="000000">
                <a:alpha val="12000"/>
              </a:srgbClr>
            </a:outerShdw>
          </a:effectLst>
        </p:spPr>
      </p:sp>
      <p:pic>
        <p:nvPicPr>
          <p:cNvPr id="22" name="Image 1" descr="C:/Users/HP/Desktop/SCRAPING/docs/scratch/pipeline_shots/crops/hl_pdf.png">    </p:cNvPr>
          <p:cNvPicPr>
            <a:picLocks noChangeAspect="1"/>
          </p:cNvPicPr>
          <p:nvPr/>
        </p:nvPicPr>
        <p:blipFill>
          <a:blip r:embed="rId2"/>
          <a:stretch>
            <a:fillRect/>
          </a:stretch>
        </p:blipFill>
        <p:spPr>
          <a:xfrm>
            <a:off x="6035040" y="1600200"/>
            <a:ext cx="5577840" cy="4040953"/>
          </a:xfrm>
          <a:prstGeom prst="rect">
            <a:avLst/>
          </a:prstGeom>
        </p:spPr>
      </p:pic>
      <p:sp>
        <p:nvSpPr>
          <p:cNvPr id="23" name="Text 18"/>
          <p:cNvSpPr/>
          <p:nvPr/>
        </p:nvSpPr>
        <p:spPr>
          <a:xfrm>
            <a:off x="6035040" y="5696017"/>
            <a:ext cx="5577840" cy="237744"/>
          </a:xfrm>
          <a:prstGeom prst="rect">
            <a:avLst/>
          </a:prstGeom>
          <a:noFill/>
          <a:ln/>
        </p:spPr>
        <p:txBody>
          <a:bodyPr wrap="square" lIns="0" tIns="0" rIns="0" bIns="0" rtlCol="0" anchor="ctr"/>
          <a:lstStyle/>
          <a:p>
            <a:pPr indent="0" marL="0">
              <a:buNone/>
            </a:pPr>
            <a:r>
              <a:rPr lang="en-US" sz="1050" i="1" dirty="0">
                <a:solidFill>
                  <a:srgbClr val="8B8B90"/>
                </a:solidFill>
                <a:latin typeface="Calibri" pitchFamily="34" charset="0"/>
                <a:ea typeface="Calibri" pitchFamily="34" charset="-122"/>
                <a:cs typeface="Calibri" pitchFamily="34" charset="-120"/>
              </a:rPr>
              <a:t>Real screenshot — source PDF, cell highlighted</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5486400" cy="274320"/>
          </a:xfrm>
          <a:prstGeom prst="rect">
            <a:avLst/>
          </a:prstGeom>
          <a:noFill/>
          <a:ln/>
        </p:spPr>
        <p:txBody>
          <a:bodyPr wrap="square" lIns="0" tIns="0" rIns="0" bIns="0" rtlCol="0" anchor="ctr"/>
          <a:lstStyle/>
          <a:p>
            <a:pPr indent="0" marL="0">
              <a:buNone/>
            </a:pPr>
            <a:r>
              <a:rPr lang="en-US" sz="1200" b="1" spc="200" kern="0" dirty="0">
                <a:solidFill>
                  <a:srgbClr val="8B8B90"/>
                </a:solidFill>
                <a:latin typeface="Calibri" pitchFamily="34" charset="0"/>
                <a:ea typeface="Calibri" pitchFamily="34" charset="-122"/>
                <a:cs typeface="Calibri" pitchFamily="34" charset="-120"/>
              </a:rPr>
              <a:t>DATA PIPELINE</a:t>
            </a:r>
            <a:endParaRPr lang="en-US" sz="1200" dirty="0"/>
          </a:p>
        </p:txBody>
      </p:sp>
      <p:sp>
        <p:nvSpPr>
          <p:cNvPr id="3" name="Text 1"/>
          <p:cNvSpPr/>
          <p:nvPr/>
        </p:nvSpPr>
        <p:spPr>
          <a:xfrm>
            <a:off x="548640" y="658368"/>
            <a:ext cx="11064240" cy="640080"/>
          </a:xfrm>
          <a:prstGeom prst="rect">
            <a:avLst/>
          </a:prstGeom>
          <a:noFill/>
          <a:ln/>
        </p:spPr>
        <p:txBody>
          <a:bodyPr wrap="square" lIns="0" tIns="0" rIns="0" bIns="0" rtlCol="0" anchor="ctr"/>
          <a:lstStyle/>
          <a:p>
            <a:pPr indent="0" marL="0">
              <a:buNone/>
            </a:pPr>
            <a:r>
              <a:rPr lang="en-US" sz="3000" b="1" dirty="0">
                <a:solidFill>
                  <a:srgbClr val="33363F"/>
                </a:solidFill>
                <a:latin typeface="Cambria" pitchFamily="34" charset="0"/>
                <a:ea typeface="Cambria" pitchFamily="34" charset="-122"/>
                <a:cs typeface="Cambria" pitchFamily="34" charset="-120"/>
              </a:rPr>
              <a:t>Orchestration — Runs on Its Own, Leaves a Trace</a:t>
            </a:r>
            <a:endParaRPr lang="en-US" sz="3000" dirty="0"/>
          </a:p>
        </p:txBody>
      </p:sp>
      <p:sp>
        <p:nvSpPr>
          <p:cNvPr id="4" name="Text 2"/>
          <p:cNvSpPr/>
          <p:nvPr/>
        </p:nvSpPr>
        <p:spPr>
          <a:xfrm>
            <a:off x="11612880" y="6510528"/>
            <a:ext cx="457200" cy="274320"/>
          </a:xfrm>
          <a:prstGeom prst="rect">
            <a:avLst/>
          </a:prstGeom>
          <a:noFill/>
          <a:ln/>
        </p:spPr>
        <p:txBody>
          <a:bodyPr wrap="square" rtlCol="0" anchor="ctr"/>
          <a:lstStyle/>
          <a:p>
            <a:pPr algn="r" indent="0" marL="0">
              <a:buNone/>
            </a:pPr>
            <a:r>
              <a:rPr lang="en-US" sz="1000" dirty="0">
                <a:solidFill>
                  <a:srgbClr val="8B8B90"/>
                </a:solidFill>
                <a:latin typeface="Calibri" pitchFamily="34" charset="0"/>
                <a:ea typeface="Calibri" pitchFamily="34" charset="-122"/>
                <a:cs typeface="Calibri" pitchFamily="34" charset="-120"/>
              </a:rPr>
              <a:t>11</a:t>
            </a:r>
            <a:endParaRPr lang="en-US" sz="1000" dirty="0"/>
          </a:p>
        </p:txBody>
      </p:sp>
      <p:sp>
        <p:nvSpPr>
          <p:cNvPr id="6" name="Shape 3"/>
          <p:cNvSpPr/>
          <p:nvPr/>
        </p:nvSpPr>
        <p:spPr>
          <a:xfrm>
            <a:off x="548640" y="1645920"/>
            <a:ext cx="4480560" cy="621792"/>
          </a:xfrm>
          <a:prstGeom prst="roundRect">
            <a:avLst>
              <a:gd name="adj" fmla="val 11765"/>
            </a:avLst>
          </a:prstGeom>
          <a:solidFill>
            <a:srgbClr val="33363F"/>
          </a:solidFill>
          <a:ln/>
        </p:spPr>
      </p:sp>
      <p:sp>
        <p:nvSpPr>
          <p:cNvPr id="7" name="Text 4"/>
          <p:cNvSpPr/>
          <p:nvPr/>
        </p:nvSpPr>
        <p:spPr>
          <a:xfrm>
            <a:off x="777240" y="1645920"/>
            <a:ext cx="4114800" cy="621792"/>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Scheduler starts the run</a:t>
            </a:r>
            <a:endParaRPr lang="en-US" sz="1400" dirty="0"/>
          </a:p>
        </p:txBody>
      </p:sp>
      <p:sp>
        <p:nvSpPr>
          <p:cNvPr id="8" name="Shape 5"/>
          <p:cNvSpPr/>
          <p:nvPr/>
        </p:nvSpPr>
        <p:spPr>
          <a:xfrm>
            <a:off x="2788920" y="2267712"/>
            <a:ext cx="9144" cy="155448"/>
          </a:xfrm>
          <a:prstGeom prst="line">
            <a:avLst/>
          </a:prstGeom>
          <a:noFill/>
          <a:ln w="25400">
            <a:solidFill>
              <a:srgbClr val="FFE600"/>
            </a:solidFill>
            <a:prstDash val="solid"/>
            <a:tailEnd type="triangle"/>
          </a:ln>
        </p:spPr>
      </p:sp>
      <p:sp>
        <p:nvSpPr>
          <p:cNvPr id="9" name="Shape 6"/>
          <p:cNvSpPr/>
          <p:nvPr/>
        </p:nvSpPr>
        <p:spPr>
          <a:xfrm>
            <a:off x="548640" y="2423160"/>
            <a:ext cx="4480560" cy="621792"/>
          </a:xfrm>
          <a:prstGeom prst="roundRect">
            <a:avLst>
              <a:gd name="adj" fmla="val 11765"/>
            </a:avLst>
          </a:prstGeom>
          <a:solidFill>
            <a:srgbClr val="40434D"/>
          </a:solidFill>
          <a:ln/>
        </p:spPr>
      </p:sp>
      <p:sp>
        <p:nvSpPr>
          <p:cNvPr id="10" name="Text 7"/>
          <p:cNvSpPr/>
          <p:nvPr/>
        </p:nvSpPr>
        <p:spPr>
          <a:xfrm>
            <a:off x="777240" y="2423160"/>
            <a:ext cx="4114800" cy="621792"/>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Each source: up to 3 attempts</a:t>
            </a:r>
            <a:endParaRPr lang="en-US" sz="1400" dirty="0"/>
          </a:p>
        </p:txBody>
      </p:sp>
      <p:sp>
        <p:nvSpPr>
          <p:cNvPr id="11" name="Shape 8"/>
          <p:cNvSpPr/>
          <p:nvPr/>
        </p:nvSpPr>
        <p:spPr>
          <a:xfrm>
            <a:off x="2788920" y="3044952"/>
            <a:ext cx="9144" cy="155448"/>
          </a:xfrm>
          <a:prstGeom prst="line">
            <a:avLst/>
          </a:prstGeom>
          <a:noFill/>
          <a:ln w="25400">
            <a:solidFill>
              <a:srgbClr val="FFE600"/>
            </a:solidFill>
            <a:prstDash val="solid"/>
            <a:tailEnd type="triangle"/>
          </a:ln>
        </p:spPr>
      </p:sp>
      <p:sp>
        <p:nvSpPr>
          <p:cNvPr id="12" name="Shape 9"/>
          <p:cNvSpPr/>
          <p:nvPr/>
        </p:nvSpPr>
        <p:spPr>
          <a:xfrm>
            <a:off x="548640" y="3200400"/>
            <a:ext cx="4480560" cy="621792"/>
          </a:xfrm>
          <a:prstGeom prst="roundRect">
            <a:avLst>
              <a:gd name="adj" fmla="val 11765"/>
            </a:avLst>
          </a:prstGeom>
          <a:solidFill>
            <a:srgbClr val="33363F"/>
          </a:solidFill>
          <a:ln/>
        </p:spPr>
      </p:sp>
      <p:sp>
        <p:nvSpPr>
          <p:cNvPr id="13" name="Text 10"/>
          <p:cNvSpPr/>
          <p:nvPr/>
        </p:nvSpPr>
        <p:spPr>
          <a:xfrm>
            <a:off x="777240" y="3200400"/>
            <a:ext cx="4114800" cy="621792"/>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Quality check and anomaly audit</a:t>
            </a:r>
            <a:endParaRPr lang="en-US" sz="1400" dirty="0"/>
          </a:p>
        </p:txBody>
      </p:sp>
      <p:sp>
        <p:nvSpPr>
          <p:cNvPr id="14" name="Shape 11"/>
          <p:cNvSpPr/>
          <p:nvPr/>
        </p:nvSpPr>
        <p:spPr>
          <a:xfrm>
            <a:off x="2788920" y="3822192"/>
            <a:ext cx="9144" cy="155448"/>
          </a:xfrm>
          <a:prstGeom prst="line">
            <a:avLst/>
          </a:prstGeom>
          <a:noFill/>
          <a:ln w="25400">
            <a:solidFill>
              <a:srgbClr val="FFE600"/>
            </a:solidFill>
            <a:prstDash val="solid"/>
            <a:tailEnd type="triangle"/>
          </a:ln>
        </p:spPr>
      </p:sp>
      <p:sp>
        <p:nvSpPr>
          <p:cNvPr id="15" name="Shape 12"/>
          <p:cNvSpPr/>
          <p:nvPr/>
        </p:nvSpPr>
        <p:spPr>
          <a:xfrm>
            <a:off x="548640" y="3977640"/>
            <a:ext cx="4480560" cy="621792"/>
          </a:xfrm>
          <a:prstGeom prst="roundRect">
            <a:avLst>
              <a:gd name="adj" fmla="val 11765"/>
            </a:avLst>
          </a:prstGeom>
          <a:solidFill>
            <a:srgbClr val="40434D"/>
          </a:solidFill>
          <a:ln/>
        </p:spPr>
      </p:sp>
      <p:sp>
        <p:nvSpPr>
          <p:cNvPr id="16" name="Text 13"/>
          <p:cNvSpPr/>
          <p:nvPr/>
        </p:nvSpPr>
        <p:spPr>
          <a:xfrm>
            <a:off x="777240" y="3977640"/>
            <a:ext cx="4114800" cy="621792"/>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HTML run report + optional alert</a:t>
            </a:r>
            <a:endParaRPr lang="en-US" sz="1400" dirty="0"/>
          </a:p>
        </p:txBody>
      </p:sp>
      <p:sp>
        <p:nvSpPr>
          <p:cNvPr id="17" name="Shape 14"/>
          <p:cNvSpPr/>
          <p:nvPr/>
        </p:nvSpPr>
        <p:spPr>
          <a:xfrm>
            <a:off x="548640" y="4892040"/>
            <a:ext cx="4480560" cy="822960"/>
          </a:xfrm>
          <a:prstGeom prst="roundRect">
            <a:avLst>
              <a:gd name="adj" fmla="val 8889"/>
            </a:avLst>
          </a:prstGeom>
          <a:solidFill>
            <a:srgbClr val="FFE600"/>
          </a:solidFill>
          <a:ln/>
        </p:spPr>
      </p:sp>
      <p:sp>
        <p:nvSpPr>
          <p:cNvPr id="18" name="Text 15"/>
          <p:cNvSpPr/>
          <p:nvPr/>
        </p:nvSpPr>
        <p:spPr>
          <a:xfrm>
            <a:off x="777240" y="4892040"/>
            <a:ext cx="4114800" cy="822960"/>
          </a:xfrm>
          <a:prstGeom prst="rect">
            <a:avLst/>
          </a:prstGeom>
          <a:noFill/>
          <a:ln/>
        </p:spPr>
        <p:txBody>
          <a:bodyPr wrap="square" lIns="0" tIns="0" rIns="0" bIns="0" rtlCol="0" anchor="ctr"/>
          <a:lstStyle/>
          <a:p>
            <a:pPr indent="0" marL="0">
              <a:buNone/>
            </a:pPr>
            <a:r>
              <a:rPr lang="en-US" sz="1400" b="1" dirty="0">
                <a:solidFill>
                  <a:srgbClr val="33363F"/>
                </a:solidFill>
                <a:latin typeface="Calibri" pitchFamily="34" charset="0"/>
                <a:ea typeface="Calibri" pitchFamily="34" charset="-122"/>
                <a:cs typeface="Calibri" pitchFamily="34" charset="-120"/>
              </a:rPr>
              <a:t>Watcher · every 30 minutes</a:t>
            </a:r>
            <a:endParaRPr lang="en-US" sz="1400" dirty="0"/>
          </a:p>
          <a:p>
            <a:pPr indent="0" marL="0">
              <a:buNone/>
            </a:pPr>
            <a:r>
              <a:rPr lang="en-US" sz="1200" dirty="0">
                <a:solidFill>
                  <a:srgbClr val="33363F"/>
                </a:solidFill>
                <a:latin typeface="Calibri" pitchFamily="34" charset="0"/>
                <a:ea typeface="Calibri" pitchFamily="34" charset="-122"/>
                <a:cs typeface="Calibri" pitchFamily="34" charset="-120"/>
              </a:rPr>
              <a:t>news, regulatory texts, new documents</a:t>
            </a:r>
            <a:endParaRPr lang="en-US" sz="1400" dirty="0"/>
          </a:p>
        </p:txBody>
      </p:sp>
      <p:sp>
        <p:nvSpPr>
          <p:cNvPr id="19" name="Shape 16"/>
          <p:cNvSpPr/>
          <p:nvPr/>
        </p:nvSpPr>
        <p:spPr>
          <a:xfrm>
            <a:off x="5394960" y="1645920"/>
            <a:ext cx="6217920" cy="4069080"/>
          </a:xfrm>
          <a:prstGeom prst="roundRect">
            <a:avLst>
              <a:gd name="adj" fmla="val 1798"/>
            </a:avLst>
          </a:prstGeom>
          <a:solidFill>
            <a:srgbClr val="26282F"/>
          </a:solidFill>
          <a:ln/>
        </p:spPr>
      </p:sp>
      <p:sp>
        <p:nvSpPr>
          <p:cNvPr id="20" name="Shape 17"/>
          <p:cNvSpPr/>
          <p:nvPr/>
        </p:nvSpPr>
        <p:spPr>
          <a:xfrm>
            <a:off x="5623560" y="1828800"/>
            <a:ext cx="146304" cy="146304"/>
          </a:xfrm>
          <a:prstGeom prst="ellipse">
            <a:avLst/>
          </a:prstGeom>
          <a:solidFill>
            <a:srgbClr val="FF5F57"/>
          </a:solidFill>
          <a:ln/>
        </p:spPr>
      </p:sp>
      <p:sp>
        <p:nvSpPr>
          <p:cNvPr id="21" name="Shape 18"/>
          <p:cNvSpPr/>
          <p:nvPr/>
        </p:nvSpPr>
        <p:spPr>
          <a:xfrm>
            <a:off x="5879592" y="1828800"/>
            <a:ext cx="146304" cy="146304"/>
          </a:xfrm>
          <a:prstGeom prst="ellipse">
            <a:avLst/>
          </a:prstGeom>
          <a:solidFill>
            <a:srgbClr val="FEBC2E"/>
          </a:solidFill>
          <a:ln/>
        </p:spPr>
      </p:sp>
      <p:sp>
        <p:nvSpPr>
          <p:cNvPr id="22" name="Shape 19"/>
          <p:cNvSpPr/>
          <p:nvPr/>
        </p:nvSpPr>
        <p:spPr>
          <a:xfrm>
            <a:off x="6135624" y="1828800"/>
            <a:ext cx="146304" cy="146304"/>
          </a:xfrm>
          <a:prstGeom prst="ellipse">
            <a:avLst/>
          </a:prstGeom>
          <a:solidFill>
            <a:srgbClr val="28C840"/>
          </a:solidFill>
          <a:ln/>
        </p:spPr>
      </p:sp>
      <p:sp>
        <p:nvSpPr>
          <p:cNvPr id="23" name="Text 20"/>
          <p:cNvSpPr/>
          <p:nvPr/>
        </p:nvSpPr>
        <p:spPr>
          <a:xfrm>
            <a:off x="6492240" y="1764792"/>
            <a:ext cx="4572000" cy="274320"/>
          </a:xfrm>
          <a:prstGeom prst="rect">
            <a:avLst/>
          </a:prstGeom>
          <a:noFill/>
          <a:ln/>
        </p:spPr>
        <p:txBody>
          <a:bodyPr wrap="square" lIns="0" tIns="0" rIns="0" bIns="0" rtlCol="0" anchor="ctr"/>
          <a:lstStyle/>
          <a:p>
            <a:pPr indent="0" marL="0">
              <a:buNone/>
            </a:pPr>
            <a:r>
              <a:rPr lang="en-US" sz="1050" dirty="0">
                <a:solidFill>
                  <a:srgbClr val="8B8B90"/>
                </a:solidFill>
                <a:latin typeface="Consolas" pitchFamily="34" charset="0"/>
                <a:ea typeface="Consolas" pitchFamily="34" charset="-122"/>
                <a:cs typeface="Consolas" pitchFamily="34" charset="-120"/>
              </a:rPr>
              <a:t>logs/pipeline.log · 2026-09-09</a:t>
            </a:r>
            <a:endParaRPr lang="en-US" sz="1050" dirty="0"/>
          </a:p>
        </p:txBody>
      </p:sp>
      <p:sp>
        <p:nvSpPr>
          <p:cNvPr id="24" name="Text 21"/>
          <p:cNvSpPr/>
          <p:nvPr/>
        </p:nvSpPr>
        <p:spPr>
          <a:xfrm>
            <a:off x="5623560" y="2240280"/>
            <a:ext cx="5852160" cy="548640"/>
          </a:xfrm>
          <a:prstGeom prst="rect">
            <a:avLst/>
          </a:prstGeom>
          <a:noFill/>
          <a:ln/>
        </p:spPr>
        <p:txBody>
          <a:bodyPr wrap="square" lIns="0" tIns="0" rIns="0" bIns="0" rtlCol="0" anchor="t"/>
          <a:lstStyle/>
          <a:p>
            <a:pPr indent="0" marL="0">
              <a:buNone/>
            </a:pPr>
            <a:r>
              <a:rPr lang="en-US" sz="1200" b="1" dirty="0">
                <a:solidFill>
                  <a:srgbClr val="FFE600"/>
                </a:solidFill>
                <a:latin typeface="Consolas" pitchFamily="34" charset="0"/>
                <a:ea typeface="Consolas" pitchFamily="34" charset="-122"/>
                <a:cs typeface="Consolas" pitchFamily="34" charset="-120"/>
              </a:rPr>
              <a:t>source_ok</a:t>
            </a:r>
            <a:endParaRPr lang="en-US" sz="1200" dirty="0"/>
          </a:p>
          <a:p>
            <a:pPr indent="0" marL="0">
              <a:buNone/>
            </a:pPr>
            <a:r>
              <a:rPr lang="en-US" sz="1200" dirty="0">
                <a:solidFill>
                  <a:srgbClr val="E6E7EA"/>
                </a:solidFill>
                <a:latin typeface="Consolas" pitchFamily="34" charset="0"/>
                <a:ea typeface="Consolas" pitchFamily="34" charset="-122"/>
                <a:cs typeface="Consolas" pitchFamily="34" charset="-120"/>
              </a:rPr>
              <a:t>  CGA · attempt 1 · 2.7 s · 10 documents</a:t>
            </a:r>
            <a:endParaRPr lang="en-US" sz="1200" dirty="0"/>
          </a:p>
        </p:txBody>
      </p:sp>
      <p:sp>
        <p:nvSpPr>
          <p:cNvPr id="25" name="Text 22"/>
          <p:cNvSpPr/>
          <p:nvPr/>
        </p:nvSpPr>
        <p:spPr>
          <a:xfrm>
            <a:off x="5623560" y="2816352"/>
            <a:ext cx="5852160" cy="548640"/>
          </a:xfrm>
          <a:prstGeom prst="rect">
            <a:avLst/>
          </a:prstGeom>
          <a:noFill/>
          <a:ln/>
        </p:spPr>
        <p:txBody>
          <a:bodyPr wrap="square" lIns="0" tIns="0" rIns="0" bIns="0" rtlCol="0" anchor="t"/>
          <a:lstStyle/>
          <a:p>
            <a:pPr indent="0" marL="0">
              <a:buNone/>
            </a:pPr>
            <a:r>
              <a:rPr lang="en-US" sz="1200" b="1" dirty="0">
                <a:solidFill>
                  <a:srgbClr val="FFE600"/>
                </a:solidFill>
                <a:latin typeface="Consolas" pitchFamily="34" charset="0"/>
                <a:ea typeface="Consolas" pitchFamily="34" charset="-122"/>
                <a:cs typeface="Consolas" pitchFamily="34" charset="-120"/>
              </a:rPr>
              <a:t>source_ok</a:t>
            </a:r>
            <a:endParaRPr lang="en-US" sz="1200" dirty="0"/>
          </a:p>
          <a:p>
            <a:pPr indent="0" marL="0">
              <a:buNone/>
            </a:pPr>
            <a:r>
              <a:rPr lang="en-US" sz="1200" dirty="0">
                <a:solidFill>
                  <a:srgbClr val="E6E7EA"/>
                </a:solidFill>
                <a:latin typeface="Consolas" pitchFamily="34" charset="0"/>
                <a:ea typeface="Consolas" pitchFamily="34" charset="-122"/>
                <a:cs typeface="Consolas" pitchFamily="34" charset="-120"/>
              </a:rPr>
              <a:t>  INS · attempt 1 · 5.3 s · 38 documents</a:t>
            </a:r>
            <a:endParaRPr lang="en-US" sz="1200" dirty="0"/>
          </a:p>
        </p:txBody>
      </p:sp>
      <p:sp>
        <p:nvSpPr>
          <p:cNvPr id="26" name="Text 23"/>
          <p:cNvSpPr/>
          <p:nvPr/>
        </p:nvSpPr>
        <p:spPr>
          <a:xfrm>
            <a:off x="5623560" y="3392424"/>
            <a:ext cx="5852160" cy="548640"/>
          </a:xfrm>
          <a:prstGeom prst="rect">
            <a:avLst/>
          </a:prstGeom>
          <a:noFill/>
          <a:ln/>
        </p:spPr>
        <p:txBody>
          <a:bodyPr wrap="square" lIns="0" tIns="0" rIns="0" bIns="0" rtlCol="0" anchor="t"/>
          <a:lstStyle/>
          <a:p>
            <a:pPr indent="0" marL="0">
              <a:buNone/>
            </a:pPr>
            <a:r>
              <a:rPr lang="en-US" sz="1200" b="1" dirty="0">
                <a:solidFill>
                  <a:srgbClr val="FFE600"/>
                </a:solidFill>
                <a:latin typeface="Consolas" pitchFamily="34" charset="0"/>
                <a:ea typeface="Consolas" pitchFamily="34" charset="-122"/>
                <a:cs typeface="Consolas" pitchFamily="34" charset="-120"/>
              </a:rPr>
              <a:t>source_ok</a:t>
            </a:r>
            <a:endParaRPr lang="en-US" sz="1200" dirty="0"/>
          </a:p>
          <a:p>
            <a:pPr indent="0" marL="0">
              <a:buNone/>
            </a:pPr>
            <a:r>
              <a:rPr lang="en-US" sz="1200" dirty="0">
                <a:solidFill>
                  <a:srgbClr val="E6E7EA"/>
                </a:solidFill>
                <a:latin typeface="Consolas" pitchFamily="34" charset="0"/>
                <a:ea typeface="Consolas" pitchFamily="34" charset="-122"/>
                <a:cs typeface="Consolas" pitchFamily="34" charset="-120"/>
              </a:rPr>
              <a:t>  BVMT · attempt 1 · 71.1 s · 47 documents</a:t>
            </a:r>
            <a:endParaRPr lang="en-US" sz="1200" dirty="0"/>
          </a:p>
        </p:txBody>
      </p:sp>
      <p:sp>
        <p:nvSpPr>
          <p:cNvPr id="27" name="Text 24"/>
          <p:cNvSpPr/>
          <p:nvPr/>
        </p:nvSpPr>
        <p:spPr>
          <a:xfrm>
            <a:off x="5623560" y="3968496"/>
            <a:ext cx="5852160" cy="548640"/>
          </a:xfrm>
          <a:prstGeom prst="rect">
            <a:avLst/>
          </a:prstGeom>
          <a:noFill/>
          <a:ln/>
        </p:spPr>
        <p:txBody>
          <a:bodyPr wrap="square" lIns="0" tIns="0" rIns="0" bIns="0" rtlCol="0" anchor="t"/>
          <a:lstStyle/>
          <a:p>
            <a:pPr indent="0" marL="0">
              <a:buNone/>
            </a:pPr>
            <a:r>
              <a:rPr lang="en-US" sz="1200" b="1" dirty="0">
                <a:solidFill>
                  <a:srgbClr val="FFE600"/>
                </a:solidFill>
                <a:latin typeface="Consolas" pitchFamily="34" charset="0"/>
                <a:ea typeface="Consolas" pitchFamily="34" charset="-122"/>
                <a:cs typeface="Consolas" pitchFamily="34" charset="-120"/>
              </a:rPr>
              <a:t>kpi_extraction_ok</a:t>
            </a:r>
            <a:endParaRPr lang="en-US" sz="1200" dirty="0"/>
          </a:p>
          <a:p>
            <a:pPr indent="0" marL="0">
              <a:buNone/>
            </a:pPr>
            <a:r>
              <a:rPr lang="en-US" sz="1200" dirty="0">
                <a:solidFill>
                  <a:srgbClr val="E6E7EA"/>
                </a:solidFill>
                <a:latin typeface="Consolas" pitchFamily="34" charset="0"/>
                <a:ea typeface="Consolas" pitchFamily="34" charset="-122"/>
                <a:cs typeface="Consolas" pitchFamily="34" charset="-120"/>
              </a:rPr>
              <a:t>  CMF · 4,530 KPI values · 216 documents</a:t>
            </a:r>
            <a:endParaRPr lang="en-US" sz="1200" dirty="0"/>
          </a:p>
        </p:txBody>
      </p:sp>
      <p:sp>
        <p:nvSpPr>
          <p:cNvPr id="28" name="Text 25"/>
          <p:cNvSpPr/>
          <p:nvPr/>
        </p:nvSpPr>
        <p:spPr>
          <a:xfrm>
            <a:off x="5623560" y="4544568"/>
            <a:ext cx="5852160" cy="548640"/>
          </a:xfrm>
          <a:prstGeom prst="rect">
            <a:avLst/>
          </a:prstGeom>
          <a:noFill/>
          <a:ln/>
        </p:spPr>
        <p:txBody>
          <a:bodyPr wrap="square" lIns="0" tIns="0" rIns="0" bIns="0" rtlCol="0" anchor="t"/>
          <a:lstStyle/>
          <a:p>
            <a:pPr indent="0" marL="0">
              <a:buNone/>
            </a:pPr>
            <a:r>
              <a:rPr lang="en-US" sz="1200" b="1" dirty="0">
                <a:solidFill>
                  <a:srgbClr val="FFE600"/>
                </a:solidFill>
                <a:latin typeface="Consolas" pitchFamily="34" charset="0"/>
                <a:ea typeface="Consolas" pitchFamily="34" charset="-122"/>
                <a:cs typeface="Consolas" pitchFamily="34" charset="-120"/>
              </a:rPr>
              <a:t>balance_check_failed</a:t>
            </a:r>
            <a:endParaRPr lang="en-US" sz="1200" dirty="0"/>
          </a:p>
          <a:p>
            <a:pPr indent="0" marL="0">
              <a:buNone/>
            </a:pPr>
            <a:r>
              <a:rPr lang="en-US" sz="1200" dirty="0">
                <a:solidFill>
                  <a:srgbClr val="E6E7EA"/>
                </a:solidFill>
                <a:latin typeface="Consolas" pitchFamily="34" charset="0"/>
                <a:ea typeface="Consolas" pitchFamily="34" charset="-122"/>
                <a:cs typeface="Consolas" pitchFamily="34" charset="-120"/>
              </a:rPr>
              <a:t>  STAR · 2025 · gap 89,777,403</a:t>
            </a:r>
            <a:endParaRPr lang="en-US" sz="1200" dirty="0"/>
          </a:p>
        </p:txBody>
      </p:sp>
      <p:sp>
        <p:nvSpPr>
          <p:cNvPr id="29" name="Text 26"/>
          <p:cNvSpPr/>
          <p:nvPr/>
        </p:nvSpPr>
        <p:spPr>
          <a:xfrm>
            <a:off x="5623560" y="5120640"/>
            <a:ext cx="5852160" cy="548640"/>
          </a:xfrm>
          <a:prstGeom prst="rect">
            <a:avLst/>
          </a:prstGeom>
          <a:noFill/>
          <a:ln/>
        </p:spPr>
        <p:txBody>
          <a:bodyPr wrap="square" lIns="0" tIns="0" rIns="0" bIns="0" rtlCol="0" anchor="t"/>
          <a:lstStyle/>
          <a:p>
            <a:pPr indent="0" marL="0">
              <a:buNone/>
            </a:pPr>
            <a:r>
              <a:rPr lang="en-US" sz="1200" b="1" dirty="0">
                <a:solidFill>
                  <a:srgbClr val="FFE600"/>
                </a:solidFill>
                <a:latin typeface="Consolas" pitchFamily="34" charset="0"/>
                <a:ea typeface="Consolas" pitchFamily="34" charset="-122"/>
                <a:cs typeface="Consolas" pitchFamily="34" charset="-120"/>
              </a:rPr>
              <a:t>pipeline_end</a:t>
            </a:r>
            <a:endParaRPr lang="en-US" sz="1200" dirty="0"/>
          </a:p>
          <a:p>
            <a:pPr indent="0" marL="0">
              <a:buNone/>
            </a:pPr>
            <a:r>
              <a:rPr lang="en-US" sz="1200" dirty="0">
                <a:solidFill>
                  <a:srgbClr val="E6E7EA"/>
                </a:solidFill>
                <a:latin typeface="Consolas" pitchFamily="34" charset="0"/>
                <a:ea typeface="Consolas" pitchFamily="34" charset="-122"/>
                <a:cs typeface="Consolas" pitchFamily="34" charset="-120"/>
              </a:rPr>
              <a:t>  failed_sources [] · 962.6 s</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5486400" cy="274320"/>
          </a:xfrm>
          <a:prstGeom prst="rect">
            <a:avLst/>
          </a:prstGeom>
          <a:noFill/>
          <a:ln/>
        </p:spPr>
        <p:txBody>
          <a:bodyPr wrap="square" lIns="0" tIns="0" rIns="0" bIns="0" rtlCol="0" anchor="ctr"/>
          <a:lstStyle/>
          <a:p>
            <a:pPr indent="0" marL="0">
              <a:buNone/>
            </a:pPr>
            <a:r>
              <a:rPr lang="en-US" sz="1200" b="1" spc="200" kern="0" dirty="0">
                <a:solidFill>
                  <a:srgbClr val="8B8B90"/>
                </a:solidFill>
                <a:latin typeface="Calibri" pitchFamily="34" charset="0"/>
                <a:ea typeface="Calibri" pitchFamily="34" charset="-122"/>
                <a:cs typeface="Calibri" pitchFamily="34" charset="-120"/>
              </a:rPr>
              <a:t>DATA PIPELINE</a:t>
            </a:r>
            <a:endParaRPr lang="en-US" sz="1200" dirty="0"/>
          </a:p>
        </p:txBody>
      </p:sp>
      <p:sp>
        <p:nvSpPr>
          <p:cNvPr id="3" name="Text 1"/>
          <p:cNvSpPr/>
          <p:nvPr/>
        </p:nvSpPr>
        <p:spPr>
          <a:xfrm>
            <a:off x="548640" y="658368"/>
            <a:ext cx="11064240" cy="640080"/>
          </a:xfrm>
          <a:prstGeom prst="rect">
            <a:avLst/>
          </a:prstGeom>
          <a:noFill/>
          <a:ln/>
        </p:spPr>
        <p:txBody>
          <a:bodyPr wrap="square" lIns="0" tIns="0" rIns="0" bIns="0" rtlCol="0" anchor="ctr"/>
          <a:lstStyle/>
          <a:p>
            <a:pPr indent="0" marL="0">
              <a:buNone/>
            </a:pPr>
            <a:r>
              <a:rPr lang="en-US" sz="3000" b="1" dirty="0">
                <a:solidFill>
                  <a:srgbClr val="33363F"/>
                </a:solidFill>
                <a:latin typeface="Cambria" pitchFamily="34" charset="0"/>
                <a:ea typeface="Cambria" pitchFamily="34" charset="-122"/>
                <a:cs typeface="Cambria" pitchFamily="34" charset="-120"/>
              </a:rPr>
              <a:t>6 · Deliver — Dashboards, Excel and Chatbot</a:t>
            </a:r>
            <a:endParaRPr lang="en-US" sz="3000" dirty="0"/>
          </a:p>
        </p:txBody>
      </p:sp>
      <p:sp>
        <p:nvSpPr>
          <p:cNvPr id="4" name="Text 2"/>
          <p:cNvSpPr/>
          <p:nvPr/>
        </p:nvSpPr>
        <p:spPr>
          <a:xfrm>
            <a:off x="11612880" y="6510528"/>
            <a:ext cx="457200" cy="274320"/>
          </a:xfrm>
          <a:prstGeom prst="rect">
            <a:avLst/>
          </a:prstGeom>
          <a:noFill/>
          <a:ln/>
        </p:spPr>
        <p:txBody>
          <a:bodyPr wrap="square" rtlCol="0" anchor="ctr"/>
          <a:lstStyle/>
          <a:p>
            <a:pPr algn="r" indent="0" marL="0">
              <a:buNone/>
            </a:pPr>
            <a:r>
              <a:rPr lang="en-US" sz="1000" dirty="0">
                <a:solidFill>
                  <a:srgbClr val="8B8B90"/>
                </a:solidFill>
                <a:latin typeface="Calibri" pitchFamily="34" charset="0"/>
                <a:ea typeface="Calibri" pitchFamily="34" charset="-122"/>
                <a:cs typeface="Calibri" pitchFamily="34" charset="-120"/>
              </a:rPr>
              <a:t>12</a:t>
            </a:r>
            <a:endParaRPr lang="en-US" sz="1000" dirty="0"/>
          </a:p>
        </p:txBody>
      </p:sp>
      <p:sp>
        <p:nvSpPr>
          <p:cNvPr id="6" name="Shape 3"/>
          <p:cNvSpPr/>
          <p:nvPr/>
        </p:nvSpPr>
        <p:spPr>
          <a:xfrm>
            <a:off x="548640" y="2011680"/>
            <a:ext cx="7589520" cy="2649789"/>
          </a:xfrm>
          <a:prstGeom prst="rect">
            <a:avLst/>
          </a:prstGeom>
          <a:solidFill>
            <a:srgbClr val="FFFFFF"/>
          </a:solidFill>
          <a:ln w="12700">
            <a:solidFill>
              <a:srgbClr val="D3D5DB"/>
            </a:solidFill>
            <a:prstDash val="solid"/>
          </a:ln>
          <a:effectLst>
            <a:outerShdw sx="100000" sy="100000" kx="0" ky="0" algn="bl" rotWithShape="0" blurRad="63500" dist="25400" dir="5400000">
              <a:srgbClr val="000000">
                <a:alpha val="12000"/>
              </a:srgbClr>
            </a:outerShdw>
          </a:effectLst>
        </p:spPr>
      </p:sp>
      <p:pic>
        <p:nvPicPr>
          <p:cNvPr id="7" name="Image 0" descr="C:/Users/HP/Desktop/SCRAPING/docs/scratch/pipeline_shots/crops/gestion_filters_excel.png">    </p:cNvPr>
          <p:cNvPicPr>
            <a:picLocks noChangeAspect="1"/>
          </p:cNvPicPr>
          <p:nvPr/>
        </p:nvPicPr>
        <p:blipFill>
          <a:blip r:embed="rId1"/>
          <a:stretch>
            <a:fillRect/>
          </a:stretch>
        </p:blipFill>
        <p:spPr>
          <a:xfrm>
            <a:off x="548640" y="2011680"/>
            <a:ext cx="7589520" cy="2649789"/>
          </a:xfrm>
          <a:prstGeom prst="rect">
            <a:avLst/>
          </a:prstGeom>
        </p:spPr>
      </p:pic>
      <p:sp>
        <p:nvSpPr>
          <p:cNvPr id="8" name="Text 4"/>
          <p:cNvSpPr/>
          <p:nvPr/>
        </p:nvSpPr>
        <p:spPr>
          <a:xfrm>
            <a:off x="548640" y="4716333"/>
            <a:ext cx="7589520" cy="237744"/>
          </a:xfrm>
          <a:prstGeom prst="rect">
            <a:avLst/>
          </a:prstGeom>
          <a:noFill/>
          <a:ln/>
        </p:spPr>
        <p:txBody>
          <a:bodyPr wrap="square" lIns="0" tIns="0" rIns="0" bIns="0" rtlCol="0" anchor="ctr"/>
          <a:lstStyle/>
          <a:p>
            <a:pPr indent="0" marL="0">
              <a:buNone/>
            </a:pPr>
            <a:r>
              <a:rPr lang="en-US" sz="1050" i="1" dirty="0">
                <a:solidFill>
                  <a:srgbClr val="8B8B90"/>
                </a:solidFill>
                <a:latin typeface="Calibri" pitchFamily="34" charset="0"/>
                <a:ea typeface="Calibri" pitchFamily="34" charset="-122"/>
                <a:cs typeface="Calibri" pitchFamily="34" charset="-120"/>
              </a:rPr>
              <a:t>Real screenshot — Platform · Data Management</a:t>
            </a:r>
            <a:endParaRPr lang="en-US" sz="1050" dirty="0"/>
          </a:p>
        </p:txBody>
      </p:sp>
      <p:sp>
        <p:nvSpPr>
          <p:cNvPr id="9" name="Shape 5"/>
          <p:cNvSpPr/>
          <p:nvPr/>
        </p:nvSpPr>
        <p:spPr>
          <a:xfrm>
            <a:off x="8412480" y="1600200"/>
            <a:ext cx="3200400" cy="1280160"/>
          </a:xfrm>
          <a:prstGeom prst="roundRect">
            <a:avLst>
              <a:gd name="adj" fmla="val 5714"/>
            </a:avLst>
          </a:prstGeom>
          <a:solidFill>
            <a:srgbClr val="33363F"/>
          </a:solidFill>
          <a:ln/>
        </p:spPr>
      </p:sp>
      <p:sp>
        <p:nvSpPr>
          <p:cNvPr id="10" name="Text 6"/>
          <p:cNvSpPr/>
          <p:nvPr/>
        </p:nvSpPr>
        <p:spPr>
          <a:xfrm>
            <a:off x="8641080" y="1600200"/>
            <a:ext cx="2788920" cy="12801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Dashboards</a:t>
            </a:r>
            <a:endParaRPr lang="en-US" sz="1600" dirty="0"/>
          </a:p>
          <a:p>
            <a:pPr indent="0" marL="0">
              <a:buNone/>
            </a:pPr>
            <a:r>
              <a:rPr lang="en-US" sz="1200" dirty="0">
                <a:solidFill>
                  <a:srgbClr val="C7CBD0"/>
                </a:solidFill>
                <a:latin typeface="Calibri" pitchFamily="34" charset="0"/>
                <a:ea typeface="Calibri" pitchFamily="34" charset="-122"/>
                <a:cs typeface="Calibri" pitchFamily="34" charset="-120"/>
              </a:rPr>
              <a:t>interactive pages of the web platform</a:t>
            </a:r>
            <a:endParaRPr lang="en-US" sz="1600" dirty="0"/>
          </a:p>
        </p:txBody>
      </p:sp>
      <p:sp>
        <p:nvSpPr>
          <p:cNvPr id="11" name="Shape 7"/>
          <p:cNvSpPr/>
          <p:nvPr/>
        </p:nvSpPr>
        <p:spPr>
          <a:xfrm>
            <a:off x="8412480" y="3063240"/>
            <a:ext cx="3200400" cy="1280160"/>
          </a:xfrm>
          <a:prstGeom prst="roundRect">
            <a:avLst>
              <a:gd name="adj" fmla="val 5714"/>
            </a:avLst>
          </a:prstGeom>
          <a:solidFill>
            <a:srgbClr val="FFE600"/>
          </a:solidFill>
          <a:ln/>
        </p:spPr>
      </p:sp>
      <p:sp>
        <p:nvSpPr>
          <p:cNvPr id="12" name="Text 8"/>
          <p:cNvSpPr/>
          <p:nvPr/>
        </p:nvSpPr>
        <p:spPr>
          <a:xfrm>
            <a:off x="8641080" y="3063240"/>
            <a:ext cx="2788920" cy="1280160"/>
          </a:xfrm>
          <a:prstGeom prst="rect">
            <a:avLst/>
          </a:prstGeom>
          <a:noFill/>
          <a:ln/>
        </p:spPr>
        <p:txBody>
          <a:bodyPr wrap="square" lIns="0" tIns="0" rIns="0" bIns="0" rtlCol="0" anchor="ctr"/>
          <a:lstStyle/>
          <a:p>
            <a:pPr indent="0" marL="0">
              <a:buNone/>
            </a:pPr>
            <a:r>
              <a:rPr lang="en-US" sz="1600" b="1" dirty="0">
                <a:solidFill>
                  <a:srgbClr val="33363F"/>
                </a:solidFill>
                <a:latin typeface="Calibri" pitchFamily="34" charset="0"/>
                <a:ea typeface="Calibri" pitchFamily="34" charset="-122"/>
                <a:cs typeface="Calibri" pitchFamily="34" charset="-120"/>
              </a:rPr>
              <a:t>Excel export</a:t>
            </a:r>
            <a:endParaRPr lang="en-US" sz="1600" dirty="0"/>
          </a:p>
          <a:p>
            <a:pPr indent="0" marL="0">
              <a:buNone/>
            </a:pPr>
            <a:r>
              <a:rPr lang="en-US" sz="1200" dirty="0">
                <a:solidFill>
                  <a:srgbClr val="33363F"/>
                </a:solidFill>
                <a:latin typeface="Calibri" pitchFamily="34" charset="0"/>
                <a:ea typeface="Calibri" pitchFamily="34" charset="-122"/>
                <a:cs typeface="Calibri" pitchFamily="34" charset="-120"/>
              </a:rPr>
              <a:t>one sheet per company, one table per annex</a:t>
            </a:r>
            <a:endParaRPr lang="en-US" sz="1600" dirty="0"/>
          </a:p>
        </p:txBody>
      </p:sp>
      <p:sp>
        <p:nvSpPr>
          <p:cNvPr id="13" name="Shape 9"/>
          <p:cNvSpPr/>
          <p:nvPr/>
        </p:nvSpPr>
        <p:spPr>
          <a:xfrm>
            <a:off x="8412480" y="4526280"/>
            <a:ext cx="3200400" cy="1280160"/>
          </a:xfrm>
          <a:prstGeom prst="roundRect">
            <a:avLst>
              <a:gd name="adj" fmla="val 5714"/>
            </a:avLst>
          </a:prstGeom>
          <a:solidFill>
            <a:srgbClr val="33363F"/>
          </a:solidFill>
          <a:ln/>
        </p:spPr>
      </p:sp>
      <p:sp>
        <p:nvSpPr>
          <p:cNvPr id="14" name="Text 10"/>
          <p:cNvSpPr/>
          <p:nvPr/>
        </p:nvSpPr>
        <p:spPr>
          <a:xfrm>
            <a:off x="8641080" y="4526280"/>
            <a:ext cx="2788920" cy="12801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Chatbot</a:t>
            </a:r>
            <a:endParaRPr lang="en-US" sz="1600" dirty="0"/>
          </a:p>
          <a:p>
            <a:pPr indent="0" marL="0">
              <a:buNone/>
            </a:pPr>
            <a:r>
              <a:rPr lang="en-US" sz="1200" dirty="0">
                <a:solidFill>
                  <a:srgbClr val="C7CBD0"/>
                </a:solidFill>
                <a:latin typeface="Calibri" pitchFamily="34" charset="0"/>
                <a:ea typeface="Calibri" pitchFamily="34" charset="-122"/>
                <a:cs typeface="Calibri" pitchFamily="34" charset="-120"/>
              </a:rPr>
              <a:t>answers from the database, with RAG</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5486400" cy="274320"/>
          </a:xfrm>
          <a:prstGeom prst="rect">
            <a:avLst/>
          </a:prstGeom>
          <a:noFill/>
          <a:ln/>
        </p:spPr>
        <p:txBody>
          <a:bodyPr wrap="square" lIns="0" tIns="0" rIns="0" bIns="0" rtlCol="0" anchor="ctr"/>
          <a:lstStyle/>
          <a:p>
            <a:pPr indent="0" marL="0">
              <a:buNone/>
            </a:pPr>
            <a:r>
              <a:rPr lang="en-US" sz="1200" b="1" spc="200" kern="0" dirty="0">
                <a:solidFill>
                  <a:srgbClr val="8B8B90"/>
                </a:solidFill>
                <a:latin typeface="Calibri" pitchFamily="34" charset="0"/>
                <a:ea typeface="Calibri" pitchFamily="34" charset="-122"/>
                <a:cs typeface="Calibri" pitchFamily="34" charset="-120"/>
              </a:rPr>
              <a:t>DATA PIPELINE</a:t>
            </a:r>
            <a:endParaRPr lang="en-US" sz="1200" dirty="0"/>
          </a:p>
        </p:txBody>
      </p:sp>
      <p:sp>
        <p:nvSpPr>
          <p:cNvPr id="3" name="Text 1"/>
          <p:cNvSpPr/>
          <p:nvPr/>
        </p:nvSpPr>
        <p:spPr>
          <a:xfrm>
            <a:off x="548640" y="658368"/>
            <a:ext cx="11064240" cy="640080"/>
          </a:xfrm>
          <a:prstGeom prst="rect">
            <a:avLst/>
          </a:prstGeom>
          <a:noFill/>
          <a:ln/>
        </p:spPr>
        <p:txBody>
          <a:bodyPr wrap="square" lIns="0" tIns="0" rIns="0" bIns="0" rtlCol="0" anchor="ctr"/>
          <a:lstStyle/>
          <a:p>
            <a:pPr indent="0" marL="0">
              <a:buNone/>
            </a:pPr>
            <a:r>
              <a:rPr lang="en-US" sz="3000" b="1" dirty="0">
                <a:solidFill>
                  <a:srgbClr val="33363F"/>
                </a:solidFill>
                <a:latin typeface="Cambria" pitchFamily="34" charset="0"/>
                <a:ea typeface="Cambria" pitchFamily="34" charset="-122"/>
                <a:cs typeface="Cambria" pitchFamily="34" charset="-120"/>
              </a:rPr>
              <a:t>Honest Limits and Next Steps</a:t>
            </a:r>
            <a:endParaRPr lang="en-US" sz="3000" dirty="0"/>
          </a:p>
        </p:txBody>
      </p:sp>
      <p:sp>
        <p:nvSpPr>
          <p:cNvPr id="4" name="Text 2"/>
          <p:cNvSpPr/>
          <p:nvPr/>
        </p:nvSpPr>
        <p:spPr>
          <a:xfrm>
            <a:off x="11612880" y="6510528"/>
            <a:ext cx="457200" cy="274320"/>
          </a:xfrm>
          <a:prstGeom prst="rect">
            <a:avLst/>
          </a:prstGeom>
          <a:noFill/>
          <a:ln/>
        </p:spPr>
        <p:txBody>
          <a:bodyPr wrap="square" rtlCol="0" anchor="ctr"/>
          <a:lstStyle/>
          <a:p>
            <a:pPr algn="r" indent="0" marL="0">
              <a:buNone/>
            </a:pPr>
            <a:r>
              <a:rPr lang="en-US" sz="1000" dirty="0">
                <a:solidFill>
                  <a:srgbClr val="8B8B90"/>
                </a:solidFill>
                <a:latin typeface="Calibri" pitchFamily="34" charset="0"/>
                <a:ea typeface="Calibri" pitchFamily="34" charset="-122"/>
                <a:cs typeface="Calibri" pitchFamily="34" charset="-120"/>
              </a:rPr>
              <a:t>13</a:t>
            </a:r>
            <a:endParaRPr lang="en-US" sz="1000" dirty="0"/>
          </a:p>
        </p:txBody>
      </p:sp>
      <p:sp>
        <p:nvSpPr>
          <p:cNvPr id="6" name="Shape 3"/>
          <p:cNvSpPr/>
          <p:nvPr/>
        </p:nvSpPr>
        <p:spPr>
          <a:xfrm>
            <a:off x="548640" y="1737360"/>
            <a:ext cx="3566160" cy="3017520"/>
          </a:xfrm>
          <a:prstGeom prst="roundRect">
            <a:avLst>
              <a:gd name="adj" fmla="val 2424"/>
            </a:avLst>
          </a:prstGeom>
          <a:solidFill>
            <a:srgbClr val="33363F"/>
          </a:solidFill>
          <a:ln/>
        </p:spPr>
      </p:sp>
      <p:sp>
        <p:nvSpPr>
          <p:cNvPr id="7" name="Text 4"/>
          <p:cNvSpPr/>
          <p:nvPr/>
        </p:nvSpPr>
        <p:spPr>
          <a:xfrm>
            <a:off x="822960" y="1920240"/>
            <a:ext cx="3017520" cy="822960"/>
          </a:xfrm>
          <a:prstGeom prst="rect">
            <a:avLst/>
          </a:prstGeom>
          <a:noFill/>
          <a:ln/>
        </p:spPr>
        <p:txBody>
          <a:bodyPr wrap="square" lIns="0" tIns="0" rIns="0" bIns="0" rtlCol="0" anchor="ctr"/>
          <a:lstStyle/>
          <a:p>
            <a:pPr indent="0" marL="0">
              <a:buNone/>
            </a:pPr>
            <a:r>
              <a:rPr lang="en-US" sz="4000" b="1" dirty="0">
                <a:solidFill>
                  <a:srgbClr val="FFE600"/>
                </a:solidFill>
                <a:latin typeface="Cambria" pitchFamily="34" charset="0"/>
                <a:ea typeface="Cambria" pitchFamily="34" charset="-122"/>
                <a:cs typeface="Cambria" pitchFamily="34" charset="-120"/>
              </a:rPr>
              <a:t>32 %</a:t>
            </a:r>
            <a:endParaRPr lang="en-US" sz="4000" dirty="0"/>
          </a:p>
        </p:txBody>
      </p:sp>
      <p:sp>
        <p:nvSpPr>
          <p:cNvPr id="8" name="Text 5"/>
          <p:cNvSpPr/>
          <p:nvPr/>
        </p:nvSpPr>
        <p:spPr>
          <a:xfrm>
            <a:off x="822960" y="2834640"/>
            <a:ext cx="3017520" cy="100584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of the 7,674 checks lack a source value</a:t>
            </a:r>
            <a:endParaRPr lang="en-US" sz="1500" dirty="0"/>
          </a:p>
        </p:txBody>
      </p:sp>
      <p:sp>
        <p:nvSpPr>
          <p:cNvPr id="9" name="Text 6"/>
          <p:cNvSpPr/>
          <p:nvPr/>
        </p:nvSpPr>
        <p:spPr>
          <a:xfrm>
            <a:off x="822960" y="3977640"/>
            <a:ext cx="3017520" cy="548640"/>
          </a:xfrm>
          <a:prstGeom prst="rect">
            <a:avLst/>
          </a:prstGeom>
          <a:noFill/>
          <a:ln/>
        </p:spPr>
        <p:txBody>
          <a:bodyPr wrap="square" lIns="0" tIns="0" rIns="0" bIns="0" rtlCol="0" anchor="t"/>
          <a:lstStyle/>
          <a:p>
            <a:pPr indent="0" marL="0">
              <a:buNone/>
            </a:pPr>
            <a:r>
              <a:rPr lang="en-US" sz="1250" dirty="0">
                <a:solidFill>
                  <a:srgbClr val="C7CBD0"/>
                </a:solidFill>
                <a:latin typeface="Calibri" pitchFamily="34" charset="0"/>
                <a:ea typeface="Calibri" pitchFamily="34" charset="-122"/>
                <a:cs typeface="Calibri" pitchFamily="34" charset="-120"/>
              </a:rPr>
              <a:t>flagged as missing, never guessed</a:t>
            </a:r>
            <a:endParaRPr lang="en-US" sz="1250" dirty="0"/>
          </a:p>
        </p:txBody>
      </p:sp>
      <p:sp>
        <p:nvSpPr>
          <p:cNvPr id="10" name="Shape 7"/>
          <p:cNvSpPr/>
          <p:nvPr/>
        </p:nvSpPr>
        <p:spPr>
          <a:xfrm>
            <a:off x="4297680" y="1737360"/>
            <a:ext cx="3566160" cy="3017520"/>
          </a:xfrm>
          <a:prstGeom prst="roundRect">
            <a:avLst>
              <a:gd name="adj" fmla="val 2424"/>
            </a:avLst>
          </a:prstGeom>
          <a:solidFill>
            <a:srgbClr val="FFE600"/>
          </a:solidFill>
          <a:ln/>
        </p:spPr>
      </p:sp>
      <p:sp>
        <p:nvSpPr>
          <p:cNvPr id="11" name="Text 8"/>
          <p:cNvSpPr/>
          <p:nvPr/>
        </p:nvSpPr>
        <p:spPr>
          <a:xfrm>
            <a:off x="4572000" y="1920240"/>
            <a:ext cx="3017520" cy="822960"/>
          </a:xfrm>
          <a:prstGeom prst="rect">
            <a:avLst/>
          </a:prstGeom>
          <a:noFill/>
          <a:ln/>
        </p:spPr>
        <p:txBody>
          <a:bodyPr wrap="square" lIns="0" tIns="0" rIns="0" bIns="0" rtlCol="0" anchor="ctr"/>
          <a:lstStyle/>
          <a:p>
            <a:pPr indent="0" marL="0">
              <a:buNone/>
            </a:pPr>
            <a:r>
              <a:rPr lang="en-US" sz="4000" b="1" dirty="0">
                <a:solidFill>
                  <a:srgbClr val="33363F"/>
                </a:solidFill>
                <a:latin typeface="Cambria" pitchFamily="34" charset="0"/>
                <a:ea typeface="Cambria" pitchFamily="34" charset="-122"/>
                <a:cs typeface="Cambria" pitchFamily="34" charset="-120"/>
              </a:rPr>
              <a:t>97.1 %</a:t>
            </a:r>
            <a:endParaRPr lang="en-US" sz="4000" dirty="0"/>
          </a:p>
        </p:txBody>
      </p:sp>
      <p:sp>
        <p:nvSpPr>
          <p:cNvPr id="12" name="Text 9"/>
          <p:cNvSpPr/>
          <p:nvPr/>
        </p:nvSpPr>
        <p:spPr>
          <a:xfrm>
            <a:off x="4572000" y="2834640"/>
            <a:ext cx="3017520" cy="1005840"/>
          </a:xfrm>
          <a:prstGeom prst="rect">
            <a:avLst/>
          </a:prstGeom>
          <a:noFill/>
          <a:ln/>
        </p:spPr>
        <p:txBody>
          <a:bodyPr wrap="square" lIns="0" tIns="0" rIns="0" bIns="0" rtlCol="0" anchor="t"/>
          <a:lstStyle/>
          <a:p>
            <a:pPr indent="0" marL="0">
              <a:buNone/>
            </a:pPr>
            <a:r>
              <a:rPr lang="en-US" sz="1500" b="1" dirty="0">
                <a:solidFill>
                  <a:srgbClr val="33363F"/>
                </a:solidFill>
                <a:latin typeface="Calibri" pitchFamily="34" charset="0"/>
                <a:ea typeface="Calibri" pitchFamily="34" charset="-122"/>
                <a:cs typeface="Calibri" pitchFamily="34" charset="-120"/>
              </a:rPr>
              <a:t>extraction reliability on Annex 13</a:t>
            </a:r>
            <a:endParaRPr lang="en-US" sz="1500" dirty="0"/>
          </a:p>
        </p:txBody>
      </p:sp>
      <p:sp>
        <p:nvSpPr>
          <p:cNvPr id="13" name="Text 10"/>
          <p:cNvSpPr/>
          <p:nvPr/>
        </p:nvSpPr>
        <p:spPr>
          <a:xfrm>
            <a:off x="4572000" y="3977640"/>
            <a:ext cx="3017520" cy="548640"/>
          </a:xfrm>
          <a:prstGeom prst="rect">
            <a:avLst/>
          </a:prstGeom>
          <a:noFill/>
          <a:ln/>
        </p:spPr>
        <p:txBody>
          <a:bodyPr wrap="square" lIns="0" tIns="0" rIns="0" bIns="0" rtlCol="0" anchor="t"/>
          <a:lstStyle/>
          <a:p>
            <a:pPr indent="0" marL="0">
              <a:buNone/>
            </a:pPr>
            <a:r>
              <a:rPr lang="en-US" sz="1250" dirty="0">
                <a:solidFill>
                  <a:srgbClr val="33363F"/>
                </a:solidFill>
                <a:latin typeface="Calibri" pitchFamily="34" charset="0"/>
                <a:ea typeface="Calibri" pitchFamily="34" charset="-122"/>
                <a:cs typeface="Calibri" pitchFamily="34" charset="-120"/>
              </a:rPr>
              <a:t>68 of 70 documents</a:t>
            </a:r>
            <a:endParaRPr lang="en-US" sz="1250" dirty="0"/>
          </a:p>
        </p:txBody>
      </p:sp>
      <p:sp>
        <p:nvSpPr>
          <p:cNvPr id="14" name="Shape 11"/>
          <p:cNvSpPr/>
          <p:nvPr/>
        </p:nvSpPr>
        <p:spPr>
          <a:xfrm>
            <a:off x="8046720" y="1737360"/>
            <a:ext cx="3566160" cy="3017520"/>
          </a:xfrm>
          <a:prstGeom prst="roundRect">
            <a:avLst>
              <a:gd name="adj" fmla="val 2424"/>
            </a:avLst>
          </a:prstGeom>
          <a:solidFill>
            <a:srgbClr val="33363F"/>
          </a:solidFill>
          <a:ln/>
        </p:spPr>
      </p:sp>
      <p:sp>
        <p:nvSpPr>
          <p:cNvPr id="15" name="Text 12"/>
          <p:cNvSpPr/>
          <p:nvPr/>
        </p:nvSpPr>
        <p:spPr>
          <a:xfrm>
            <a:off x="8321040" y="1920240"/>
            <a:ext cx="3017520" cy="822960"/>
          </a:xfrm>
          <a:prstGeom prst="rect">
            <a:avLst/>
          </a:prstGeom>
          <a:noFill/>
          <a:ln/>
        </p:spPr>
        <p:txBody>
          <a:bodyPr wrap="square" lIns="0" tIns="0" rIns="0" bIns="0" rtlCol="0" anchor="ctr"/>
          <a:lstStyle/>
          <a:p>
            <a:pPr indent="0" marL="0">
              <a:buNone/>
            </a:pPr>
            <a:r>
              <a:rPr lang="en-US" sz="4000" b="1" dirty="0">
                <a:solidFill>
                  <a:srgbClr val="FFE600"/>
                </a:solidFill>
                <a:latin typeface="Cambria" pitchFamily="34" charset="0"/>
                <a:ea typeface="Cambria" pitchFamily="34" charset="-122"/>
                <a:cs typeface="Cambria" pitchFamily="34" charset="-120"/>
              </a:rPr>
              <a:t>Arabic</a:t>
            </a:r>
            <a:endParaRPr lang="en-US" sz="4000" dirty="0"/>
          </a:p>
        </p:txBody>
      </p:sp>
      <p:sp>
        <p:nvSpPr>
          <p:cNvPr id="16" name="Text 13"/>
          <p:cNvSpPr/>
          <p:nvPr/>
        </p:nvSpPr>
        <p:spPr>
          <a:xfrm>
            <a:off x="8321040" y="2834640"/>
            <a:ext cx="3017520" cy="100584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the Arabic-only Takaful company is covered for its balance sheet only</a:t>
            </a:r>
            <a:endParaRPr lang="en-US" sz="1500" dirty="0"/>
          </a:p>
        </p:txBody>
      </p:sp>
      <p:sp>
        <p:nvSpPr>
          <p:cNvPr id="17" name="Text 14"/>
          <p:cNvSpPr/>
          <p:nvPr/>
        </p:nvSpPr>
        <p:spPr>
          <a:xfrm>
            <a:off x="8321040" y="3977640"/>
            <a:ext cx="3017520" cy="548640"/>
          </a:xfrm>
          <a:prstGeom prst="rect">
            <a:avLst/>
          </a:prstGeom>
          <a:noFill/>
          <a:ln/>
        </p:spPr>
        <p:txBody>
          <a:bodyPr wrap="square" lIns="0" tIns="0" rIns="0" bIns="0" rtlCol="0" anchor="t"/>
          <a:lstStyle/>
          <a:p>
            <a:pPr indent="0" marL="0">
              <a:buNone/>
            </a:pPr>
            <a:r>
              <a:rPr lang="en-US" sz="1250" dirty="0">
                <a:solidFill>
                  <a:srgbClr val="C7CBD0"/>
                </a:solidFill>
                <a:latin typeface="Calibri" pitchFamily="34" charset="0"/>
                <a:ea typeface="Calibri" pitchFamily="34" charset="-122"/>
                <a:cs typeface="Calibri" pitchFamily="34" charset="-120"/>
              </a:rPr>
              <a:t>next: the other grids</a:t>
            </a:r>
            <a:endParaRPr lang="en-US" sz="1250" dirty="0"/>
          </a:p>
        </p:txBody>
      </p:sp>
      <p:sp>
        <p:nvSpPr>
          <p:cNvPr id="18" name="Shape 15"/>
          <p:cNvSpPr/>
          <p:nvPr/>
        </p:nvSpPr>
        <p:spPr>
          <a:xfrm>
            <a:off x="548640" y="5166360"/>
            <a:ext cx="11064240" cy="566928"/>
          </a:xfrm>
          <a:prstGeom prst="roundRect">
            <a:avLst>
              <a:gd name="adj" fmla="val 12903"/>
            </a:avLst>
          </a:prstGeom>
          <a:solidFill>
            <a:srgbClr val="F5F5F6"/>
          </a:solidFill>
          <a:ln/>
        </p:spPr>
      </p:sp>
      <p:sp>
        <p:nvSpPr>
          <p:cNvPr id="19" name="Shape 16"/>
          <p:cNvSpPr/>
          <p:nvPr/>
        </p:nvSpPr>
        <p:spPr>
          <a:xfrm>
            <a:off x="822960" y="5376672"/>
            <a:ext cx="146304" cy="146304"/>
          </a:xfrm>
          <a:prstGeom prst="ellipse">
            <a:avLst/>
          </a:prstGeom>
          <a:solidFill>
            <a:srgbClr val="FFE600"/>
          </a:solidFill>
          <a:ln/>
        </p:spPr>
      </p:sp>
      <p:sp>
        <p:nvSpPr>
          <p:cNvPr id="20" name="Text 17"/>
          <p:cNvSpPr/>
          <p:nvPr/>
        </p:nvSpPr>
        <p:spPr>
          <a:xfrm>
            <a:off x="1143000" y="5166360"/>
            <a:ext cx="10332720" cy="566928"/>
          </a:xfrm>
          <a:prstGeom prst="rect">
            <a:avLst/>
          </a:prstGeom>
          <a:noFill/>
          <a:ln/>
        </p:spPr>
        <p:txBody>
          <a:bodyPr wrap="square" lIns="0" tIns="0" rIns="0" bIns="0" rtlCol="0" anchor="ctr"/>
          <a:lstStyle/>
          <a:p>
            <a:pPr indent="0" marL="0">
              <a:buNone/>
            </a:pPr>
            <a:r>
              <a:rPr lang="en-US" sz="1300" b="1" dirty="0">
                <a:solidFill>
                  <a:srgbClr val="26282F"/>
                </a:solidFill>
                <a:latin typeface="Calibri" pitchFamily="34" charset="0"/>
                <a:ea typeface="Calibri" pitchFamily="34" charset="-122"/>
                <a:cs typeface="Calibri" pitchFamily="34" charset="-120"/>
              </a:rPr>
              <a:t>Principle — </a:t>
            </a:r>
            <a:pPr indent="0" marL="0">
              <a:buNone/>
            </a:pPr>
            <a:r>
              <a:rPr lang="en-US" sz="1300" dirty="0">
                <a:solidFill>
                  <a:srgbClr val="5A5D66"/>
                </a:solidFill>
                <a:latin typeface="Calibri" pitchFamily="34" charset="0"/>
                <a:ea typeface="Calibri" pitchFamily="34" charset="-122"/>
                <a:cs typeface="Calibri" pitchFamily="34" charset="-120"/>
              </a:rPr>
              <a:t>when a value cannot be verified, the pipeline says so instead of guessing.</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2026-09-20T22:37:21Z</dcterms:created>
  <dcterms:modified xsi:type="dcterms:W3CDTF">2026-09-20T22:37:21Z</dcterms:modified>
</cp:coreProperties>
</file>