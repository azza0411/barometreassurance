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END-OF-STUDIES PROJECT DEFENSE  •  ESPRIT × EY TUNISIA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 Market Intelligence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Barometer — Tunisia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372600" y="4160520"/>
            <a:ext cx="1005840" cy="100584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6" name="Text 4"/>
          <p:cNvSpPr/>
          <p:nvPr/>
        </p:nvSpPr>
        <p:spPr>
          <a:xfrm>
            <a:off x="9372600" y="4160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FSMI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H="1" flipV="1">
            <a:off x="8758489" y="4370712"/>
            <a:ext cx="1117031" cy="292728"/>
          </a:xfrm>
          <a:prstGeom prst="line">
            <a:avLst/>
          </a:prstGeom>
          <a:noFill/>
          <a:ln w="19050">
            <a:solidFill>
              <a:srgbClr val="5A639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374441" y="3986664"/>
            <a:ext cx="768096" cy="768096"/>
          </a:xfrm>
          <a:prstGeom prst="ellipse">
            <a:avLst/>
          </a:prstGeom>
          <a:solidFill>
            <a:srgbClr val="40434D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74441" y="398666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 flipV="1">
            <a:off x="9875520" y="3807562"/>
            <a:ext cx="9144" cy="855878"/>
          </a:xfrm>
          <a:prstGeom prst="line">
            <a:avLst/>
          </a:prstGeom>
          <a:noFill/>
          <a:ln w="19050">
            <a:solidFill>
              <a:srgbClr val="5A63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491472" y="3423514"/>
            <a:ext cx="768096" cy="768096"/>
          </a:xfrm>
          <a:prstGeom prst="ellipse">
            <a:avLst/>
          </a:prstGeom>
          <a:solidFill>
            <a:srgbClr val="40434D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91472" y="342351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 flipV="1">
            <a:off x="9875520" y="4370712"/>
            <a:ext cx="1117031" cy="292728"/>
          </a:xfrm>
          <a:prstGeom prst="line">
            <a:avLst/>
          </a:prstGeom>
          <a:noFill/>
          <a:ln w="19050">
            <a:solidFill>
              <a:srgbClr val="5A63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608503" y="3986664"/>
            <a:ext cx="768096" cy="768096"/>
          </a:xfrm>
          <a:prstGeom prst="ellipse">
            <a:avLst/>
          </a:prstGeom>
          <a:solidFill>
            <a:srgbClr val="40434D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8503" y="398666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875520" y="4663440"/>
            <a:ext cx="9144" cy="855878"/>
          </a:xfrm>
          <a:prstGeom prst="line">
            <a:avLst/>
          </a:prstGeom>
          <a:noFill/>
          <a:ln w="19050">
            <a:solidFill>
              <a:srgbClr val="5A639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91472" y="5135270"/>
            <a:ext cx="768096" cy="768096"/>
          </a:xfrm>
          <a:prstGeom prst="ellipse">
            <a:avLst/>
          </a:prstGeom>
          <a:solidFill>
            <a:srgbClr val="40434D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513527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Ilhem Jouini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32369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SUPERVISOR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0" y="32369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Ali Mestikou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3639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0" y="36393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Azza Hamdi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041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0" y="4041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— Financial Services Consulting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" y="44439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0" y="44439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Context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market, the department and the users behind this 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58200" y="777240"/>
            <a:ext cx="2468880" cy="2468880"/>
          </a:xfrm>
          <a:prstGeom prst="ellipse">
            <a:avLst/>
          </a:prstGeom>
          <a:ln w="19050">
            <a:solidFill>
              <a:srgbClr val="8B8F9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0" y="1188720"/>
            <a:ext cx="1645920" cy="1645920"/>
          </a:xfrm>
          <a:prstGeom prst="ellipse">
            <a:avLst/>
          </a:prstGeom>
          <a:ln w="19050">
            <a:solidFill>
              <a:srgbClr val="8B8F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600200"/>
            <a:ext cx="822960" cy="822960"/>
          </a:xfrm>
          <a:prstGeom prst="ellipse">
            <a:avLst/>
          </a:prstGeom>
          <a:ln w="19050">
            <a:solidFill>
              <a:srgbClr val="FFE6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 Tunisia &amp; the FST Department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03120" y="33375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48840" y="33375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Tunisia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V="1">
            <a:off x="3108960" y="2514600"/>
            <a:ext cx="9144" cy="822960"/>
          </a:xfrm>
          <a:prstGeom prst="line">
            <a:avLst/>
          </a:prstGeom>
          <a:noFill/>
          <a:ln w="2857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14800" y="3840480"/>
            <a:ext cx="1188720" cy="9144"/>
          </a:xfrm>
          <a:prstGeom prst="line">
            <a:avLst/>
          </a:prstGeom>
          <a:noFill/>
          <a:ln w="2857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4343400"/>
            <a:ext cx="9144" cy="731520"/>
          </a:xfrm>
          <a:prstGeom prst="line">
            <a:avLst/>
          </a:prstGeom>
          <a:noFill/>
          <a:ln w="2857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14173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1417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Transformation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0" y="33375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3418027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Consultants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76672" y="3860597"/>
            <a:ext cx="2002536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50749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94560" y="50749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 — not client-facing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 professional services network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63840" y="201168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2578608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2578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0" y="3145536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31455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3712464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37124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Tunisian Insurance 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37360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532888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63240" y="1600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63240" y="1737360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2532888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77840" y="1600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1737360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715000" y="2532888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Takaful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92440" y="1737360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0" y="2532888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Arabic-only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Takaful insurer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ecosystem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405445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" y="4476902"/>
            <a:ext cx="1362456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40280" y="39776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0" y="405445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FTUSA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13432" y="4476902"/>
            <a:ext cx="1362456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31920" y="39776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77640" y="405445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05072" y="4476902"/>
            <a:ext cx="1362456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filings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3520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Takaful is different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39776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72200" y="4112971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 43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99632" y="4857293"/>
            <a:ext cx="2368296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balance sheet: Fund / Company / Combined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23960" y="39776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869680" y="4112971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IFSB Ratios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97112" y="4857293"/>
            <a:ext cx="2459736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Wakala / Moudharaba — not comparable to conventional formulas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 &amp; Needs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459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Consultants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 company vs. the market before citing a figure in a client deliverable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6459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Managers / Partners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27889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macro market view for missions and internal due-diligence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83880" y="16459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Data/Tech Team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38160" y="27889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66760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extraction quality &amp; freshness over 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E60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requirement: trust in every number — traceable to its PDF source, never a black box.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Situation &amp; Solution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 data to an automated, intelligent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1371600"/>
            <a:ext cx="2926080" cy="822960"/>
          </a:xfrm>
          <a:prstGeom prst="rightArrow">
            <a:avLst/>
          </a:prstGeom>
          <a:solidFill>
            <a:srgbClr val="FFE6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Chaos to Clarity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53837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PDFs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spreadsheets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3423514"/>
            <a:ext cx="2688336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companies × up to 11 years, downloaded and keyed in by hand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3383280"/>
            <a:ext cx="1280160" cy="9144"/>
          </a:xfrm>
          <a:prstGeom prst="line">
            <a:avLst/>
          </a:prstGeom>
          <a:noFill/>
          <a:ln w="381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201168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231136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Market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8032" y="3438144"/>
            <a:ext cx="25968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collection · extraction · modeling · quality · restitution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43800" y="3383280"/>
            <a:ext cx="1280160" cy="9144"/>
          </a:xfrm>
          <a:prstGeom prst="line">
            <a:avLst/>
          </a:prstGeom>
          <a:noFill/>
          <a:ln w="381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869680" y="237744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2538374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42832" y="3423514"/>
            <a:ext cx="2642616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traceable, trustworthy, continuously updated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5F5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37760"/>
            <a:ext cx="11109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“Data is power — only if you use it.”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an Existing Market Tool?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F5F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4800600" cy="502920"/>
          </a:xfrm>
          <a:prstGeom prst="roundRect">
            <a:avLst>
              <a:gd name="adj" fmla="val 45455"/>
            </a:avLst>
          </a:prstGeom>
          <a:solidFill>
            <a:srgbClr val="3336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Document / OCR extraction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Needs extra tools for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F5F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AlphaSense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2468880"/>
            <a:ext cx="4800600" cy="502920"/>
          </a:xfrm>
          <a:prstGeom prst="roundRect">
            <a:avLst>
              <a:gd name="adj" fmla="val 45455"/>
            </a:avLst>
          </a:prstGeom>
          <a:solidFill>
            <a:srgbClr val="33363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4688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AI-powered financial search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Requires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F5F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297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Palantir Foundry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892040"/>
            <a:ext cx="4800600" cy="502920"/>
          </a:xfrm>
          <a:prstGeom prst="roundRect">
            <a:avLst>
              <a:gd name="adj" fmla="val 45455"/>
            </a:avLst>
          </a:prstGeom>
          <a:solidFill>
            <a:srgbClr val="33363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920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integration &amp; AI/ML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Complex, not insurance-specific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F5F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4297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92240" y="4892040"/>
            <a:ext cx="4800600" cy="502920"/>
          </a:xfrm>
          <a:prstGeom prst="roundRect">
            <a:avLst>
              <a:gd name="adj" fmla="val 45455"/>
            </a:avLst>
          </a:prstGeom>
          <a:solidFill>
            <a:srgbClr val="33363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8920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Easy KPI monitoring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55321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Data prep needs other tools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is purpose-built for the Tunisian insurance market.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1737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7373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24328" y="2788920"/>
            <a:ext cx="3456432" cy="1005840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34840" y="1737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7373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96128" y="2788920"/>
            <a:ext cx="484632" cy="1005840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06640" y="1737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52360" y="17373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 flipH="1">
            <a:off x="6080760" y="2788920"/>
            <a:ext cx="2487168" cy="1005840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74920" y="379476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379476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33363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4068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in data — poor in actionable insight.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83480" y="30632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0" y="30632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Market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flipH="1">
            <a:off x="4617720" y="3566160"/>
            <a:ext cx="365760" cy="9144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31089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3182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53512" y="358444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re-entry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flipV="1">
            <a:off x="6035040" y="2571293"/>
            <a:ext cx="9144" cy="683057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1748333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1821485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48072" y="2223821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KPI to its PDF cell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86600" y="3566160"/>
            <a:ext cx="365760" cy="9144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9480" y="31089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3182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42632" y="358444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scheduled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3877970"/>
            <a:ext cx="9144" cy="683057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74920" y="4469587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454273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48072" y="4945075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anomalies, forecasts, chat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Methodology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must do, and how it was built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03920" y="4937760"/>
            <a:ext cx="292608" cy="29260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0" y="4937760"/>
            <a:ext cx="292608" cy="29260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937760"/>
            <a:ext cx="292608" cy="29260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4937760"/>
            <a:ext cx="292608" cy="29260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4937760"/>
            <a:ext cx="292608" cy="292608"/>
          </a:xfrm>
          <a:prstGeom prst="ellipse">
            <a:avLst/>
          </a:prstGeom>
          <a:solidFill>
            <a:srgbClr val="40434D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0" y="4937760"/>
            <a:ext cx="292608" cy="292608"/>
          </a:xfrm>
          <a:prstGeom prst="ellipse">
            <a:avLst/>
          </a:prstGeom>
          <a:solidFill>
            <a:srgbClr val="40434D"/>
          </a:solidFill>
          <a:ln w="12700">
            <a:solidFill>
              <a:srgbClr val="8B8F9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06728" y="214884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99336" y="247802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2273656" y="2368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99336" y="286207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company profiles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214884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1336" y="247802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1" name="Text 9"/>
          <p:cNvSpPr/>
          <p:nvPr/>
        </p:nvSpPr>
        <p:spPr>
          <a:xfrm>
            <a:off x="6845656" y="2368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71336" y="286207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across companies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06728" y="42519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9336" y="458114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2273656" y="44714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999336" y="496519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regulatory watch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42519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71336" y="458114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45656" y="44714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71336" y="496519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&amp; forecasts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06728" y="214884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99336" y="247802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2273656" y="2368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99336" y="286207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figure without a verifiable source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214884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1336" y="247802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1" name="Text 9"/>
          <p:cNvSpPr/>
          <p:nvPr/>
        </p:nvSpPr>
        <p:spPr>
          <a:xfrm>
            <a:off x="6845656" y="2368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71336" y="286207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point, EY design system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06728" y="42519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9336" y="458114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2273656" y="44714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999336" y="496519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reusable edge cases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42519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71336" y="458114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45656" y="44714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71336" y="496519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executable, weekly pipeline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CRISP-DM + Agile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71800" y="14630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1463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74371" y="24460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20091" y="24460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74371" y="44119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20091" y="44119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71800" y="53949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53949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69229" y="44119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14949" y="44119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69229" y="24460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14949" y="24460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2468880"/>
            <a:ext cx="2377440" cy="2926080"/>
          </a:xfrm>
          <a:prstGeom prst="ellipse">
            <a:avLst/>
          </a:prstGeom>
          <a:ln w="15875">
            <a:solidFill>
              <a:srgbClr val="8B8F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356616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35661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1600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WORKING CYCLE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21488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2148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09760" y="2834640"/>
            <a:ext cx="9144" cy="228600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06640" y="30632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52360" y="30632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09760" y="3749040"/>
            <a:ext cx="9144" cy="228600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06640" y="39776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52360" y="3977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509760" y="4663440"/>
            <a:ext cx="9144" cy="228600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06640" y="48920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52360" y="48920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 flipH="1" flipV="1">
            <a:off x="7680960" y="2148840"/>
            <a:ext cx="914400" cy="3429000"/>
          </a:xfrm>
          <a:prstGeom prst="line">
            <a:avLst/>
          </a:prstGeom>
          <a:noFill/>
          <a:ln w="22225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406640" y="5760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65176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4528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7096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3880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6448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2584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152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11936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4504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61288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1691640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51760" y="1764792"/>
            <a:ext cx="1493520" cy="347472"/>
          </a:xfrm>
          <a:prstGeom prst="roundRect">
            <a:avLst>
              <a:gd name="adj" fmla="val 13158"/>
            </a:avLst>
          </a:prstGeom>
          <a:solidFill>
            <a:srgbClr val="33363F"/>
          </a:solidFill>
          <a:ln/>
        </p:spPr>
      </p:sp>
      <p:sp>
        <p:nvSpPr>
          <p:cNvPr id="21" name="Text 19"/>
          <p:cNvSpPr/>
          <p:nvPr/>
        </p:nvSpPr>
        <p:spPr>
          <a:xfrm>
            <a:off x="2651760" y="1764792"/>
            <a:ext cx="149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258568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98520" y="2331720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E600"/>
          </a:solidFill>
          <a:ln/>
        </p:spPr>
      </p:sp>
      <p:sp>
        <p:nvSpPr>
          <p:cNvPr id="24" name="Text 22"/>
          <p:cNvSpPr/>
          <p:nvPr/>
        </p:nvSpPr>
        <p:spPr>
          <a:xfrm>
            <a:off x="3398520" y="23317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82549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92040" y="2898648"/>
            <a:ext cx="2987040" cy="347472"/>
          </a:xfrm>
          <a:prstGeom prst="roundRect">
            <a:avLst>
              <a:gd name="adj" fmla="val 13158"/>
            </a:avLst>
          </a:prstGeom>
          <a:solidFill>
            <a:srgbClr val="33363F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898648"/>
            <a:ext cx="298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392424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132320" y="3465576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E600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34655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959352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625840" y="4032504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33363F"/>
          </a:solidFill>
          <a:ln/>
        </p:spPr>
      </p:sp>
      <p:sp>
        <p:nvSpPr>
          <p:cNvPr id="33" name="Text 31"/>
          <p:cNvSpPr/>
          <p:nvPr/>
        </p:nvSpPr>
        <p:spPr>
          <a:xfrm>
            <a:off x="8625840" y="40325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372600" y="4599432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E600"/>
          </a:solidFill>
          <a:ln/>
        </p:spPr>
      </p:sp>
      <p:sp>
        <p:nvSpPr>
          <p:cNvPr id="36" name="Text 34"/>
          <p:cNvSpPr/>
          <p:nvPr/>
        </p:nvSpPr>
        <p:spPr>
          <a:xfrm>
            <a:off x="9372600" y="45994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093208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0866120" y="5166360"/>
            <a:ext cx="746760" cy="347472"/>
          </a:xfrm>
          <a:prstGeom prst="roundRect">
            <a:avLst>
              <a:gd name="adj" fmla="val 13158"/>
            </a:avLst>
          </a:prstGeom>
          <a:solidFill>
            <a:srgbClr val="33363F"/>
          </a:solidFill>
          <a:ln/>
        </p:spPr>
      </p:sp>
      <p:sp>
        <p:nvSpPr>
          <p:cNvPr id="39" name="Text 37"/>
          <p:cNvSpPr/>
          <p:nvPr/>
        </p:nvSpPr>
        <p:spPr>
          <a:xfrm>
            <a:off x="10866120" y="5166360"/>
            <a:ext cx="74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5888736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timeline — phases overlap as each one starts before the previous fully closes.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Architecture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and the structure behind the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95360" y="2743200"/>
            <a:ext cx="2743200" cy="292608"/>
          </a:xfrm>
          <a:prstGeom prst="rect">
            <a:avLst/>
          </a:prstGeom>
          <a:solidFill>
            <a:srgbClr val="FFE600"/>
          </a:solidFill>
          <a:ln w="12700">
            <a:solidFill>
              <a:srgbClr val="3336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2697480"/>
            <a:ext cx="2377440" cy="292608"/>
          </a:xfrm>
          <a:prstGeom prst="rect">
            <a:avLst/>
          </a:prstGeom>
          <a:solidFill>
            <a:srgbClr val="40434D"/>
          </a:solidFill>
          <a:ln w="12700">
            <a:solidFill>
              <a:srgbClr val="3336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2651760"/>
            <a:ext cx="2011680" cy="292608"/>
          </a:xfrm>
          <a:prstGeom prst="rect">
            <a:avLst/>
          </a:prstGeom>
          <a:solidFill>
            <a:srgbClr val="40434D"/>
          </a:solidFill>
          <a:ln w="12700">
            <a:solidFill>
              <a:srgbClr val="33363F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607040" cy="713232"/>
          </a:xfrm>
          <a:prstGeom prst="roundRect">
            <a:avLst>
              <a:gd name="adj" fmla="val 7692"/>
            </a:avLst>
          </a:prstGeom>
          <a:solidFill>
            <a:srgbClr val="33363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49040" y="160020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ApexCharts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91540" y="2386584"/>
            <a:ext cx="9921240" cy="713232"/>
          </a:xfrm>
          <a:prstGeom prst="roundRect">
            <a:avLst>
              <a:gd name="adj" fmla="val 7692"/>
            </a:avLst>
          </a:prstGeom>
          <a:solidFill>
            <a:srgbClr val="FFE600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" y="238658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(AI/ML)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91940" y="2386584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· Prophet · XGBoost · SHAP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34440" y="3172968"/>
            <a:ext cx="9235440" cy="713232"/>
          </a:xfrm>
          <a:prstGeom prst="roundRect">
            <a:avLst>
              <a:gd name="adj" fmla="val 7692"/>
            </a:avLst>
          </a:prstGeom>
          <a:solidFill>
            <a:srgbClr val="33363F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317296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317296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Gunicorn · ReportLab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577340" y="3959352"/>
            <a:ext cx="8549640" cy="713232"/>
          </a:xfrm>
          <a:prstGeom prst="roundRect">
            <a:avLst>
              <a:gd name="adj" fmla="val 7692"/>
            </a:avLst>
          </a:prstGeom>
          <a:solidFill>
            <a:srgbClr val="40434D"/>
          </a:solidFill>
          <a:ln/>
        </p:spPr>
      </p:sp>
      <p:sp>
        <p:nvSpPr>
          <p:cNvPr id="15" name="Text 13"/>
          <p:cNvSpPr/>
          <p:nvPr/>
        </p:nvSpPr>
        <p:spPr>
          <a:xfrm>
            <a:off x="1805940" y="395935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77740" y="3959352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· pymysql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920240" y="4745736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33363F"/>
          </a:solidFill>
          <a:ln/>
        </p:spPr>
      </p:sp>
      <p:sp>
        <p:nvSpPr>
          <p:cNvPr id="18" name="Text 16"/>
          <p:cNvSpPr/>
          <p:nvPr/>
        </p:nvSpPr>
        <p:spPr>
          <a:xfrm>
            <a:off x="2148840" y="474573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Processing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20640" y="474573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 · pandas · pdfplumber · openpyxl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63140" y="5532120"/>
            <a:ext cx="7178040" cy="713232"/>
          </a:xfrm>
          <a:prstGeom prst="roundRect">
            <a:avLst>
              <a:gd name="adj" fmla="val 7692"/>
            </a:avLst>
          </a:prstGeom>
          <a:solidFill>
            <a:srgbClr val="40434D"/>
          </a:solidFill>
          <a:ln/>
        </p:spPr>
      </p:sp>
      <p:sp>
        <p:nvSpPr>
          <p:cNvPr id="21" name="Text 19"/>
          <p:cNvSpPr/>
          <p:nvPr/>
        </p:nvSpPr>
        <p:spPr>
          <a:xfrm>
            <a:off x="2491740" y="553212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63540" y="553212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Selenium · Requests · BeautifulSoup4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Components &amp; Data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821485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284171"/>
            <a:ext cx="232257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:5173→80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17520" y="2267712"/>
            <a:ext cx="1417320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063240" y="1874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821485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3712" y="2284171"/>
            <a:ext cx="218541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:8002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12280" y="2267712"/>
            <a:ext cx="1417320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858000" y="1874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75320" y="17373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1821485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48472" y="2284171"/>
            <a:ext cx="223113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· :3306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0" y="2788920"/>
            <a:ext cx="9144" cy="731520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35661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650285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" y="4112971"/>
            <a:ext cx="232257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Groq · :5001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17520" y="4096512"/>
            <a:ext cx="1417320" cy="9144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80560" y="3566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26280" y="3650285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copy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53712" y="4112971"/>
            <a:ext cx="218541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mirror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0" y="35661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60920" y="3650285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88352" y="4112971"/>
            <a:ext cx="154533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281160" y="35661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26880" y="3650285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54312" y="4112971"/>
            <a:ext cx="154533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 flipV="1">
            <a:off x="8138160" y="2267712"/>
            <a:ext cx="731520" cy="1298448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H="1" flipV="1">
            <a:off x="9326880" y="2267712"/>
            <a:ext cx="777240" cy="1298448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31520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writes + alerts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Modules — 13 Pages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459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61488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07208" y="16459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74336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0056" y="16459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87184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32904" y="16459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00032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45752" y="16459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Survey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642616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Watch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61488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07208" y="2642616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Events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74336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0056" y="2642616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87184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32904" y="2642616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Detail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00032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45752" y="2642616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39312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639312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Anomalies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61488" y="3639312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807208" y="3639312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74336" y="3639312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0056" y="3639312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Hub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PDFs to trusted, intelligent insights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27080" y="2606040"/>
            <a:ext cx="274320" cy="2743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8" name="Shape 6"/>
          <p:cNvSpPr/>
          <p:nvPr/>
        </p:nvSpPr>
        <p:spPr>
          <a:xfrm>
            <a:off x="10105695" y="3736580"/>
            <a:ext cx="274320" cy="2743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9" name="Shape 7"/>
          <p:cNvSpPr/>
          <p:nvPr/>
        </p:nvSpPr>
        <p:spPr>
          <a:xfrm>
            <a:off x="8776665" y="3304752"/>
            <a:ext cx="274320" cy="2743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0" name="Shape 8"/>
          <p:cNvSpPr/>
          <p:nvPr/>
        </p:nvSpPr>
        <p:spPr>
          <a:xfrm>
            <a:off x="8776665" y="1907328"/>
            <a:ext cx="274320" cy="2743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1" name="Shape 9"/>
          <p:cNvSpPr/>
          <p:nvPr/>
        </p:nvSpPr>
        <p:spPr>
          <a:xfrm>
            <a:off x="10105695" y="1475500"/>
            <a:ext cx="274320" cy="2743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646920" y="2514600"/>
            <a:ext cx="457200" cy="457200"/>
          </a:xfrm>
          <a:prstGeom prst="ellipse">
            <a:avLst/>
          </a:prstGeom>
          <a:solidFill>
            <a:srgbClr val="40434D"/>
          </a:solidFill>
          <a:ln w="19050">
            <a:solidFill>
              <a:srgbClr val="FFE600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57800" y="32918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0" y="3291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flipV="1">
            <a:off x="6035040" y="2286914"/>
            <a:ext cx="9144" cy="1087222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21808" y="1454810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67528" y="145481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V="1">
            <a:off x="6642711" y="2837420"/>
            <a:ext cx="700609" cy="677872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73329" y="2146471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19049" y="2146471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FTUSA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92793" y="3832464"/>
            <a:ext cx="873645" cy="241930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05920" y="3700618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51640" y="370061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72272" y="4086817"/>
            <a:ext cx="388808" cy="979553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93829" y="4946946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39549" y="4946946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BVMT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H="1">
            <a:off x="5309000" y="4086817"/>
            <a:ext cx="388808" cy="979553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49787" y="4946946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95507" y="4946946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4403642" y="3832464"/>
            <a:ext cx="873645" cy="241930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37696" y="3700618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183416" y="370061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 flipV="1">
            <a:off x="4726761" y="2837420"/>
            <a:ext cx="700609" cy="677872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570287" y="2146471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16007" y="2146471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ilBoursa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516429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3280867"/>
            <a:ext cx="191109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 scraped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3246120"/>
            <a:ext cx="256032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62072" y="23774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07792" y="2516429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3280867"/>
            <a:ext cx="191109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OCR, cell-level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19472" y="3246120"/>
            <a:ext cx="256032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75504" y="23774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21224" y="2516429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48656" y="3280867"/>
            <a:ext cx="191109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computation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32904" y="3246120"/>
            <a:ext cx="256032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88936" y="23774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34656" y="2516429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62088" y="3280867"/>
            <a:ext cx="191109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anomaly audit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46336" y="3246120"/>
            <a:ext cx="256032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02368" y="23774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48088" y="2516429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75520" y="3280867"/>
            <a:ext cx="191109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AI, exports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vs Takaful — A Core Differentiator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892040" y="15544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1554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+ 3 companies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 flipH="1">
            <a:off x="3017520" y="2423160"/>
            <a:ext cx="2468880" cy="868680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95160" y="2423160"/>
            <a:ext cx="2103120" cy="868680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80160" y="33375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345094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53312" y="4074566"/>
            <a:ext cx="3328416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ratios &amp; formulas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33375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345094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Takaful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79792" y="4074566"/>
            <a:ext cx="3328416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 43 · IFSB ratios · Wakala/Moudharaba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4754880"/>
            <a:ext cx="2560320" cy="594360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6629400" y="4754880"/>
            <a:ext cx="2514600" cy="594360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53949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53949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dashboards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Takaful — By the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514600"/>
            <a:ext cx="2606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584448"/>
            <a:ext cx="23317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Takaful ratios sourced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IFSB references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3774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2514600"/>
            <a:ext cx="2606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3584448"/>
            <a:ext cx="23317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“Participants' Fund”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never available before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514600"/>
            <a:ext cx="2606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63640" y="3584448"/>
            <a:ext cx="23317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AT-Takafulia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23774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2514600"/>
            <a:ext cx="2606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90/90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52560" y="3584448"/>
            <a:ext cx="23317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regression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Quality, Validation &amp; Traceability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0" y="1504188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66360" y="150418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32918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6948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5079492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66360" y="507949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recommend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32918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cell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510028"/>
            <a:ext cx="2377440" cy="2569464"/>
          </a:xfrm>
          <a:prstGeom prst="ellipse">
            <a:avLst/>
          </a:prstGeom>
          <a:ln w="19050">
            <a:solidFill>
              <a:srgbClr val="8B8F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5661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— Three Concrete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74920" y="3291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0" y="3291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H="1" flipV="1">
            <a:off x="4813730" y="2894076"/>
            <a:ext cx="395947" cy="660654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85733" y="2085975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1453" y="2181073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58885" y="2704109"/>
            <a:ext cx="2688336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summary,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causes, recommendations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flipV="1">
            <a:off x="6951843" y="2894076"/>
            <a:ext cx="395947" cy="660654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41147" y="2085975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86867" y="2181073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4299" y="2704109"/>
            <a:ext cx="2688336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grounded in real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data, 2015–2024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4137660"/>
            <a:ext cx="9144" cy="1321308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63440" y="529209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53871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Trends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36592" y="5910224"/>
            <a:ext cx="2688336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/ XGBoost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delivered, and what remains open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4206240"/>
            <a:ext cx="3108960" cy="822960"/>
          </a:xfrm>
          <a:prstGeom prst="chevron">
            <a:avLst/>
          </a:prstGeom>
          <a:solidFill>
            <a:srgbClr val="FFE600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Value &amp; Business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260604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871216"/>
            <a:ext cx="2331720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tracked,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828800"/>
            <a:ext cx="260604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2871216"/>
            <a:ext cx="2331720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28800"/>
            <a:ext cx="260604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63640" y="2871216"/>
            <a:ext cx="2331720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unified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pipeline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1828800"/>
            <a:ext cx="260604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52560" y="2871216"/>
            <a:ext cx="2331720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PDF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337560" y="3977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numbers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26480" y="3977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915400" y="3977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0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answers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— Honestly Stated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173736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7373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limited to Tunisia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80160" y="260604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6060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indicators can't be extracted (corrupted PDF fonts / scanned pages)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80160" y="347472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34747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data may lag a few minutes behind the live database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48640" cy="54864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80160" y="434340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43434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Takaful company: partial coverage on some fund indicators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80160" y="521208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24" name="Text 22"/>
          <p:cNvSpPr/>
          <p:nvPr/>
        </p:nvSpPr>
        <p:spPr>
          <a:xfrm>
            <a:off x="1508760" y="52120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deployment currently loaded with 5 fiscal years (instead of 10)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—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606040" cy="1188720"/>
          </a:xfrm>
          <a:prstGeom prst="chevron">
            <a:avLst/>
          </a:prstGeom>
          <a:solidFill>
            <a:srgbClr val="FFE6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51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missing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2651760"/>
            <a:ext cx="2606040" cy="1188720"/>
          </a:xfrm>
          <a:prstGeom prst="chevron">
            <a:avLst/>
          </a:prstGeom>
          <a:solidFill>
            <a:srgbClr val="E6CE00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651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chatbot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faster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651760"/>
            <a:ext cx="2606040" cy="1188720"/>
          </a:xfrm>
          <a:prstGeom prst="chevron">
            <a:avLst/>
          </a:prstGeom>
          <a:solidFill>
            <a:srgbClr val="FFE60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651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OCR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15400" y="2651760"/>
            <a:ext cx="2606040" cy="1188720"/>
          </a:xfrm>
          <a:prstGeom prst="chevron">
            <a:avLst/>
          </a:prstGeom>
          <a:solidFill>
            <a:srgbClr val="E6CE00"/>
          </a:solidFill>
          <a:ln/>
        </p:spPr>
      </p:sp>
      <p:sp>
        <p:nvSpPr>
          <p:cNvPr id="12" name="Text 10"/>
          <p:cNvSpPr/>
          <p:nvPr/>
        </p:nvSpPr>
        <p:spPr>
          <a:xfrm>
            <a:off x="9006840" y="2651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114800"/>
            <a:ext cx="4572000" cy="45720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consultant has questions...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has the answers.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2026-09-18T21:59:33Z</dcterms:created>
  <dcterms:modified xsi:type="dcterms:W3CDTF">2026-09-18T21:59:33Z</dcterms:modified>
</cp:coreProperties>
</file>