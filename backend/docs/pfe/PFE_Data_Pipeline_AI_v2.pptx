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5D66"/>
                </a:solidFill>
                <a:latin typeface="Calibri"/>
              </a:defRPr>
            </a:pPr>
            <a:r>
              <a:rPr sz="1300" b="0" i="0" u="none" strike="noStrike">
                <a:solidFill>
                  <a:srgbClr val="5A5D66"/>
                </a:solidFill>
                <a:latin typeface="Calibri"/>
              </a:rPr>
              <a:t>Documents collected per source</a:t>
            </a:r>
          </a:p>
        </c:rich>
      </c:tx>
      <c:layout/>
      <c:overlay val="0"/>
    </c:title>
    <c:autoTitleDeleted val="0"/>
    <c:plotArea>
      <c:layout/>
      <c:barChart>
        <c:barDir val="bar"/>
        <c:grouping val="clustered"/>
        <c:varyColors val="0"/>
        <c:ser>
          <c:idx val="0"/>
          <c:order val="0"/>
          <c:tx>
            <c:strRef>
              <c:f>Sheet1!$B$1</c:f>
              <c:strCache>
                <c:ptCount val="1"/>
                <c:pt idx="0">
                  <c:v>Documents</c:v>
                </c:pt>
              </c:strCache>
            </c:strRef>
          </c:tx>
          <c:spPr>
            <a:solidFill>
              <a:srgbClr val="33363F"/>
            </a:solidFill>
            <a:effectLst/>
          </c:spPr>
          <c:invertIfNegative val="0"/>
          <c:dLbls>
            <c:numFmt formatCode="#,##0" sourceLinked="0"/>
            <c:txPr>
              <a:bodyPr/>
              <a:lstStyle/>
              <a:p>
                <a:pPr>
                  <a:defRPr b="0" i="0" strike="noStrike" sz="1200" u="none">
                    <a:solidFill>
                      <a:srgbClr val="26282F"/>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CMF (2020–2025)</c:v>
                  </c:pt>
                  <c:pt idx="1">
                    <c:v>INS (2000–2026)</c:v>
                  </c:pt>
                  <c:pt idx="2">
                    <c:v>BVMT (2015–2026)</c:v>
                  </c:pt>
                  <c:pt idx="3">
                    <c:v>FTUSA (2007–2024)</c:v>
                  </c:pt>
                  <c:pt idx="4">
                    <c:v>CGA (2015–2024)</c:v>
                  </c:pt>
                </c:lvl>
              </c:multiLvlStrCache>
            </c:multiLvlStrRef>
          </c:cat>
          <c:val>
            <c:numRef>
              <c:f>Sheet1!$B$2:$B$6</c:f>
              <c:numCache>
                <c:formatCode>General</c:formatCode>
                <c:ptCount val="5"/>
                <c:pt idx="0">
                  <c:v>131</c:v>
                </c:pt>
                <c:pt idx="1">
                  <c:v>27</c:v>
                </c:pt>
                <c:pt idx="2">
                  <c:v>26</c:v>
                </c:pt>
                <c:pt idx="3">
                  <c:v>18</c:v>
                </c:pt>
                <c:pt idx="4">
                  <c:v>10</c:v>
                </c:pt>
              </c:numCache>
            </c:numRef>
          </c:val>
        </c:ser>
        <c:dLbls>
          <c:numFmt formatCode="#,##0" sourceLinked="0"/>
          <c:txPr>
            <a:bodyPr/>
            <a:lstStyle/>
            <a:p>
              <a:pPr>
                <a:defRPr b="0" i="0" strike="noStrike" sz="1200" u="none">
                  <a:solidFill>
                    <a:srgbClr val="26282F"/>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282F"/>
                </a:solidFill>
                <a:latin typeface="Calibri"/>
              </a:defRPr>
            </a:pPr>
            <a:endParaRPr lang="en-US"/>
          </a:p>
        </c:txPr>
        <c:crossAx val="2094734552"/>
        <c:crosses val="autoZero"/>
        <c:auto val="1"/>
        <c:lblAlgn val="ctr"/>
        <c:noMultiLvlLbl val="1"/>
      </c:catAx>
      <c:valAx>
        <c:axId val="2094734552"/>
        <c:scaling>
          <c:orientation val="minMax"/>
          <c:max val="16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33363F"/>
                </a:solidFill>
                <a:latin typeface="Cambria"/>
              </a:defRPr>
            </a:pPr>
            <a:r>
              <a:rPr sz="1600" b="0" i="0" u="none" strike="noStrike">
                <a:solidFill>
                  <a:srgbClr val="33363F"/>
                </a:solidFill>
                <a:latin typeface="Cambria"/>
              </a:rPr>
              <a:t>7,674 checks</a:t>
            </a:r>
          </a:p>
        </c:rich>
      </c:tx>
      <c:layout/>
      <c:overlay val="0"/>
    </c:title>
    <c:autoTitleDeleted val="0"/>
    <c:plotArea>
      <c:layout/>
      <c:doughnutChart>
        <c:varyColors val="1"/>
        <c:ser>
          <c:idx val="0"/>
          <c:order val="0"/>
          <c:tx>
            <c:strRef>
              <c:f>Sheet1!$B$1</c:f>
              <c:strCache>
                <c:ptCount val="1"/>
                <c:pt idx="0">
                  <c:v>Checks</c:v>
                </c:pt>
              </c:strCache>
            </c:strRef>
          </c:tx>
          <c:spPr>
            <a:solidFill>
              <a:schemeClr val="accent1"/>
            </a:solidFill>
            <a:ln w="9525" cap="flat">
              <a:solidFill>
                <a:srgbClr val="F9F9F9"/>
              </a:solidFill>
              <a:prstDash val="solid"/>
              <a:round/>
            </a:ln>
            <a:effectLst/>
          </c:spPr>
          <c:dPt>
            <c:idx val="0"/>
            <c:bubble3D val="0"/>
            <c:spPr>
              <a:solidFill>
                <a:srgbClr val="33363F"/>
              </a:solidFill>
              <a:effectLst/>
            </c:spPr>
          </c:dPt>
          <c:dPt>
            <c:idx val="1"/>
            <c:bubble3D val="0"/>
            <c:spPr>
              <a:solidFill>
                <a:srgbClr val="FFE600"/>
              </a:solidFill>
              <a:effectLst/>
            </c:spPr>
          </c:dPt>
          <c:dPt>
            <c:idx val="2"/>
            <c:bubble3D val="0"/>
            <c:spPr>
              <a:solidFill>
                <a:srgbClr val="C7CBD0"/>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Pass · 55%</c:v>
                </c:pt>
                <c:pt idx="1">
                  <c:v>Gap found · 13%</c:v>
                </c:pt>
                <c:pt idx="2">
                  <c:v>Data missing · 32%</c:v>
                </c:pt>
              </c:strCache>
            </c:strRef>
          </c:cat>
          <c:val>
            <c:numRef>
              <c:f>Sheet1!$B$2:$B$4</c:f>
              <c:numCache>
                <c:ptCount val="3"/>
                <c:pt idx="0">
                  <c:v>4202</c:v>
                </c:pt>
                <c:pt idx="1">
                  <c:v>979</c:v>
                </c:pt>
                <c:pt idx="2">
                  <c:v>2493</c:v>
                </c:pt>
              </c:numCache>
            </c:numRef>
          </c:val>
        </c:ser>
        <c:firstSliceAng val="0"/>
        <c:holeSize val="58"/>
      </c:doughnutChart>
      <c:spPr>
        <a:noFill/>
        <a:ln>
          <a:noFill/>
        </a:ln>
        <a:effectLst/>
      </c:spPr>
    </c:plotArea>
    <c:legend>
      <c:legendPos val="b"/>
      <c:overlay val="0"/>
      <c:txPr>
        <a:bodyPr/>
        <a:lstStyle/>
        <a:p>
          <a:pPr>
            <a:defRPr sz="1300">
              <a:solidFill>
                <a:srgbClr val="26282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Cells</c:v>
                </c:pt>
              </c:strCache>
            </c:strRef>
          </c:tx>
          <c:spPr>
            <a:solidFill>
              <a:srgbClr val="33363F"/>
            </a:solidFill>
            <a:effectLst/>
          </c:spPr>
          <c:invertIfNegative val="0"/>
          <c:dLbls>
            <c:numFmt formatCode="#,##0" sourceLinked="0"/>
            <c:txPr>
              <a:bodyPr/>
              <a:lstStyle/>
              <a:p>
                <a:pPr>
                  <a:defRPr b="0" i="0" strike="noStrike" sz="1150" u="none">
                    <a:solidFill>
                      <a:srgbClr val="26282F"/>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Balance sheet · assets</c:v>
                  </c:pt>
                  <c:pt idx="1">
                    <c:v>Annex 13 · non-life</c:v>
                  </c:pt>
                  <c:pt idx="2">
                    <c:v>Balance sheet · liabilities</c:v>
                  </c:pt>
                  <c:pt idx="3">
                    <c:v>Annex 12 · life</c:v>
                  </c:pt>
                  <c:pt idx="4">
                    <c:v>Income statement</c:v>
                  </c:pt>
                  <c:pt idx="5">
                    <c:v>Takaful · breakdown (general)</c:v>
                  </c:pt>
                  <c:pt idx="6">
                    <c:v>Takaful · surplus (general)</c:v>
                  </c:pt>
                  <c:pt idx="7">
                    <c:v>Takaful · surplus (family)</c:v>
                  </c:pt>
                  <c:pt idx="8">
                    <c:v>Takaful · breakdown (family)</c:v>
                  </c:pt>
                  <c:pt idx="9">
                    <c:v>Takaful · income statement</c:v>
                  </c:pt>
                </c:lvl>
              </c:multiLvlStrCache>
            </c:multiLvlStrRef>
          </c:cat>
          <c:val>
            <c:numRef>
              <c:f>Sheet1!$B$2:$B$11</c:f>
              <c:numCache>
                <c:formatCode>General</c:formatCode>
                <c:ptCount val="10"/>
                <c:pt idx="0">
                  <c:v>16169</c:v>
                </c:pt>
                <c:pt idx="1">
                  <c:v>14211</c:v>
                </c:pt>
                <c:pt idx="2">
                  <c:v>7435</c:v>
                </c:pt>
                <c:pt idx="3">
                  <c:v>4480</c:v>
                </c:pt>
                <c:pt idx="4">
                  <c:v>2871</c:v>
                </c:pt>
                <c:pt idx="5">
                  <c:v>1780</c:v>
                </c:pt>
                <c:pt idx="6">
                  <c:v>963</c:v>
                </c:pt>
                <c:pt idx="7">
                  <c:v>899</c:v>
                </c:pt>
                <c:pt idx="8">
                  <c:v>653</c:v>
                </c:pt>
                <c:pt idx="9">
                  <c:v>388</c:v>
                </c:pt>
              </c:numCache>
            </c:numRef>
          </c:val>
        </c:ser>
        <c:dLbls>
          <c:numFmt formatCode="#,##0" sourceLinked="0"/>
          <c:txPr>
            <a:bodyPr/>
            <a:lstStyle/>
            <a:p>
              <a:pPr>
                <a:defRPr b="0" i="0" strike="noStrike" sz="1150" u="none">
                  <a:solidFill>
                    <a:srgbClr val="26282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282F"/>
                </a:solidFill>
                <a:latin typeface="Calibri"/>
              </a:defRPr>
            </a:pPr>
            <a:endParaRPr lang="en-US"/>
          </a:p>
        </c:txPr>
        <c:crossAx val="2094734552"/>
        <c:crosses val="autoZero"/>
        <c:auto val="1"/>
        <c:lblAlgn val="ctr"/>
        <c:noMultiLvlLbl val="1"/>
      </c:catAx>
      <c:valAx>
        <c:axId val="2094734552"/>
        <c:scaling>
          <c:orientation val="minMax"/>
          <c:max val="2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starts from seven public sources. Five of them provide reports and statistics: the CMF with the annual reports of the insurers, 131 documents; the national statistics institute, 27; the Tunis stock exchange, 26; the insurers' federation, 18; and the insurance regulator, 10. Two more, Atlas Magazine and ilBoursa, feed the news watch. In total, 212 documents are collected and stored for the next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five stages, mapped to the CRISP-DM phases of the methodology. Collect, extract, model, verify and deliver. The figures under each stage are real, from the live database: 212 documents, 49,849 extracted cells, 10,057 KPI values, 7,674 accounting checks, and three delivery channels. In the next slides I follow one single figure through the pipeline: the total assets of ASTREE for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Collection is automated, one scraper per source. For the CMF, a Selenium scraper opens the portal, selects each company, filters the annual reports, removes duplicates, checks the PDF link and saves the metadata. For example, ASTREE 2025 gives the file astree efd311225 dot pdf. On the right, the number of documents per source. And the Data Management page shows the result: all 131 expected CMF reports are collected, 100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Extraction turns a PDF page into structured cells. On the left is the real page 2 of the ASTREE 2025 report. The extractor reads the words with pdfplumber, groups the numbers into columns by their horizontal position, and matches each row to a canonical name so that all companies share one vocabulary. On the right are the four cells stored for the total assets row. In total, 49,849 cells across ten table types. Scanned and Arabic pages go through Tesseract OCR.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KPIs are computed from the stored cells, with one definition per KPI. For ASTREE 2025, premiums are 86.4 million for life plus 190.9 million for non-life, 277.3 million in total. The combined ratio, 77.9 percent, is the loss ratio, 61.7 percent, plus the expense ratio, 16.3 percent. Below, the real Data Quality page shows the same figures, and each value carries a status: extracted, calculated, not extracted, not calculated, or aberrant.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extracted table is verified with accounting identities, for example net charges equal acquisition costs plus other management charges. There are 7,674 checks in the base. 4,202 pass, 55 percent. 979 show a gap, 13 percent, and 2,493 could not be run because a component is missing, 32 percent. On the right, a real check that passes within a one dinar rounding tolerance, and a real check that catches a gap of almost 90 million on the STAR balance sheet. The pipeline flags these cases instead of hiding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checks, the pipeline audits itself. For 2024 the anomaly report finds 42 anomalies across 11 companies, none critical, classified by the stage where they occur. The list shows real cases: balance sheets where total assets do not equal equity plus liabilities. And from any KPI, one click opens the source PDF at the right page with the cell highlighted. Here, the total assets of ASTREE, 881 million, are on page 2, in the Net column. This is what makes every number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Takaful insurers work on a different model, so the pipeline treats them separately. Conventional insurers, 21 of them, have one balance sheet and standard ratios. The three Takaful insurers have two funds, the Participants' Fund and the operator, a combined balance sheet on three columns following the Tunisian accounting standard NCT 43, and Wakala and Moudharaba fees. We documented 33 ratios from the IFSB references, extracted six new Participants' Fund indicators, and all 90 existing tests still pass. For example, for Zitouna Takaful in 2024, family premiums are 34.9 million dinars and general premiums 91.2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layer sits on top of the verified data, and it uses a Groq large language model. It does three things. It summarizes the anomaly audit: for 2024, 42 anomalies across 11 companies, with causes and recommended checks. It answers questions in natural language: the chatbot reads the answer in the database, for example the combined ratio of ASTREE in 2025, 77.9 percent, and it is only allowed to run SELECT queries, so it never modifies data. And it anticipates trends: Prophet and XGBoost forecast a KPI with a confidence interval, and SHAP explains what drives the forecast. The rule is simple: answers come from the database, not from the model's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data is delivered three ways: dashboards on the web platform, an Excel export chosen by year, table and company, with one sheet per company and one table per annex, and the chatbot. Below is the real Data Management page: filters by year, table type and company, then one click to generate the Excel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the collection handles failures: the CMF portal is sometimes slow, so the whole sequence is retried up to three times, as in this real code. At the orchestrator level, each source also gets three attempts, waiting two, four and eight seconds, and one failing source never stops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runs unattended. A scheduler starts the orchestrator, which runs each source with up to three attempts, then a quality check, and finally writes an HTML run report and can send an alert. In parallel a watcher thread checks every 30 minutes for news, regulatory texts and new documents. On the right are real log lines from a run on September 9: CGA, INS and BVMT succeed on the first attempt, and the KPI extraction saved 4,530 values from 216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total the extractors have produced almost fifty thousand cells across ten table types. Two real cases show why this is hard: ATTIJARI's balance sheet has six value columns instead of four, and Takaful statements add a Notes column whose numbers polluted the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stored in MySQL in four linked tables. Documents, 212 of them, point to their cells, 49,849. Validations, 7,674, and KPI values, 10,057, are both derived from the cells. Each box shows the real ASTREE row. Because every value keeps its document, table, row and column, any figure can be traced back to the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Seven Sources, One Pipeline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a:t>
            </a:r>
            <a:endParaRPr lang="en-US" sz="1000" dirty="0"/>
          </a:p>
        </p:txBody>
      </p:sp>
      <p:sp>
        <p:nvSpPr>
          <p:cNvPr id="6" name="Shape 3"/>
          <p:cNvSpPr/>
          <p:nvPr/>
        </p:nvSpPr>
        <p:spPr>
          <a:xfrm>
            <a:off x="548640" y="1600200"/>
            <a:ext cx="7315200" cy="502920"/>
          </a:xfrm>
          <a:prstGeom prst="roundRect">
            <a:avLst>
              <a:gd name="adj" fmla="val 14545"/>
            </a:avLst>
          </a:prstGeom>
          <a:solidFill>
            <a:srgbClr val="33363F"/>
          </a:solidFill>
          <a:ln/>
        </p:spPr>
      </p:sp>
      <p:sp>
        <p:nvSpPr>
          <p:cNvPr id="7" name="Text 4"/>
          <p:cNvSpPr/>
          <p:nvPr/>
        </p:nvSpPr>
        <p:spPr>
          <a:xfrm>
            <a:off x="777240" y="1600200"/>
            <a:ext cx="21945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CMF</a:t>
            </a:r>
            <a:endParaRPr lang="en-US" sz="1400" dirty="0"/>
          </a:p>
        </p:txBody>
      </p:sp>
      <p:sp>
        <p:nvSpPr>
          <p:cNvPr id="8" name="Text 5"/>
          <p:cNvSpPr/>
          <p:nvPr/>
        </p:nvSpPr>
        <p:spPr>
          <a:xfrm>
            <a:off x="2926080" y="1600200"/>
            <a:ext cx="3657600" cy="502920"/>
          </a:xfrm>
          <a:prstGeom prst="rect">
            <a:avLst/>
          </a:prstGeom>
          <a:noFill/>
          <a:ln/>
        </p:spPr>
        <p:txBody>
          <a:bodyPr wrap="square" lIns="0" tIns="0" rIns="0" bIns="0" rtlCol="0" anchor="ctr"/>
          <a:lstStyle/>
          <a:p>
            <a:pPr indent="0" marL="0">
              <a:buNone/>
            </a:pPr>
            <a:r>
              <a:rPr lang="en-US" sz="1250" dirty="0">
                <a:solidFill>
                  <a:srgbClr val="C7CBD0"/>
                </a:solidFill>
                <a:latin typeface="Calibri" pitchFamily="34" charset="0"/>
                <a:ea typeface="Calibri" pitchFamily="34" charset="-122"/>
                <a:cs typeface="Calibri" pitchFamily="34" charset="-120"/>
              </a:rPr>
              <a:t>insurers' annual reports (PDF)</a:t>
            </a:r>
            <a:endParaRPr lang="en-US" sz="1250" dirty="0"/>
          </a:p>
        </p:txBody>
      </p:sp>
      <p:sp>
        <p:nvSpPr>
          <p:cNvPr id="9" name="Text 6"/>
          <p:cNvSpPr/>
          <p:nvPr/>
        </p:nvSpPr>
        <p:spPr>
          <a:xfrm>
            <a:off x="6583680" y="1600200"/>
            <a:ext cx="1097280" cy="502920"/>
          </a:xfrm>
          <a:prstGeom prst="rect">
            <a:avLst/>
          </a:prstGeom>
          <a:noFill/>
          <a:ln/>
        </p:spPr>
        <p:txBody>
          <a:bodyPr wrap="square" lIns="0" tIns="0" rIns="0" bIns="0" rtlCol="0" anchor="ctr"/>
          <a:lstStyle/>
          <a:p>
            <a:pPr algn="r" indent="0" marL="0">
              <a:buNone/>
            </a:pPr>
            <a:r>
              <a:rPr lang="en-US" sz="1500" b="1" dirty="0">
                <a:solidFill>
                  <a:srgbClr val="FFE600"/>
                </a:solidFill>
                <a:latin typeface="Cambria" pitchFamily="34" charset="0"/>
                <a:ea typeface="Cambria" pitchFamily="34" charset="-122"/>
                <a:cs typeface="Cambria" pitchFamily="34" charset="-120"/>
              </a:rPr>
              <a:t>131</a:t>
            </a:r>
            <a:endParaRPr lang="en-US" sz="1500" dirty="0"/>
          </a:p>
        </p:txBody>
      </p:sp>
      <p:sp>
        <p:nvSpPr>
          <p:cNvPr id="10" name="Shape 7"/>
          <p:cNvSpPr/>
          <p:nvPr/>
        </p:nvSpPr>
        <p:spPr>
          <a:xfrm>
            <a:off x="7909560" y="1851660"/>
            <a:ext cx="731520" cy="9144"/>
          </a:xfrm>
          <a:prstGeom prst="line">
            <a:avLst/>
          </a:prstGeom>
          <a:noFill/>
          <a:ln w="22225">
            <a:solidFill>
              <a:srgbClr val="D3D5DB"/>
            </a:solidFill>
            <a:prstDash val="solid"/>
            <a:tailEnd type="triangle"/>
          </a:ln>
        </p:spPr>
      </p:sp>
      <p:sp>
        <p:nvSpPr>
          <p:cNvPr id="11" name="Shape 8"/>
          <p:cNvSpPr/>
          <p:nvPr/>
        </p:nvSpPr>
        <p:spPr>
          <a:xfrm>
            <a:off x="548640" y="2203704"/>
            <a:ext cx="7315200" cy="502920"/>
          </a:xfrm>
          <a:prstGeom prst="roundRect">
            <a:avLst>
              <a:gd name="adj" fmla="val 14545"/>
            </a:avLst>
          </a:prstGeom>
          <a:solidFill>
            <a:srgbClr val="33363F"/>
          </a:solidFill>
          <a:ln/>
        </p:spPr>
      </p:sp>
      <p:sp>
        <p:nvSpPr>
          <p:cNvPr id="12" name="Text 9"/>
          <p:cNvSpPr/>
          <p:nvPr/>
        </p:nvSpPr>
        <p:spPr>
          <a:xfrm>
            <a:off x="777240" y="2203704"/>
            <a:ext cx="21945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INS</a:t>
            </a:r>
            <a:endParaRPr lang="en-US" sz="1400" dirty="0"/>
          </a:p>
        </p:txBody>
      </p:sp>
      <p:sp>
        <p:nvSpPr>
          <p:cNvPr id="13" name="Text 10"/>
          <p:cNvSpPr/>
          <p:nvPr/>
        </p:nvSpPr>
        <p:spPr>
          <a:xfrm>
            <a:off x="2926080" y="2203704"/>
            <a:ext cx="3657600" cy="502920"/>
          </a:xfrm>
          <a:prstGeom prst="rect">
            <a:avLst/>
          </a:prstGeom>
          <a:noFill/>
          <a:ln/>
        </p:spPr>
        <p:txBody>
          <a:bodyPr wrap="square" lIns="0" tIns="0" rIns="0" bIns="0" rtlCol="0" anchor="ctr"/>
          <a:lstStyle/>
          <a:p>
            <a:pPr indent="0" marL="0">
              <a:buNone/>
            </a:pPr>
            <a:r>
              <a:rPr lang="en-US" sz="1250" dirty="0">
                <a:solidFill>
                  <a:srgbClr val="C7CBD0"/>
                </a:solidFill>
                <a:latin typeface="Calibri" pitchFamily="34" charset="0"/>
                <a:ea typeface="Calibri" pitchFamily="34" charset="-122"/>
                <a:cs typeface="Calibri" pitchFamily="34" charset="-120"/>
              </a:rPr>
              <a:t>national statistics</a:t>
            </a:r>
            <a:endParaRPr lang="en-US" sz="1250" dirty="0"/>
          </a:p>
        </p:txBody>
      </p:sp>
      <p:sp>
        <p:nvSpPr>
          <p:cNvPr id="14" name="Text 11"/>
          <p:cNvSpPr/>
          <p:nvPr/>
        </p:nvSpPr>
        <p:spPr>
          <a:xfrm>
            <a:off x="6583680" y="2203704"/>
            <a:ext cx="1097280" cy="502920"/>
          </a:xfrm>
          <a:prstGeom prst="rect">
            <a:avLst/>
          </a:prstGeom>
          <a:noFill/>
          <a:ln/>
        </p:spPr>
        <p:txBody>
          <a:bodyPr wrap="square" lIns="0" tIns="0" rIns="0" bIns="0" rtlCol="0" anchor="ctr"/>
          <a:lstStyle/>
          <a:p>
            <a:pPr algn="r" indent="0" marL="0">
              <a:buNone/>
            </a:pPr>
            <a:r>
              <a:rPr lang="en-US" sz="1500" b="1" dirty="0">
                <a:solidFill>
                  <a:srgbClr val="FFE600"/>
                </a:solidFill>
                <a:latin typeface="Cambria" pitchFamily="34" charset="0"/>
                <a:ea typeface="Cambria" pitchFamily="34" charset="-122"/>
                <a:cs typeface="Cambria" pitchFamily="34" charset="-120"/>
              </a:rPr>
              <a:t>27</a:t>
            </a:r>
            <a:endParaRPr lang="en-US" sz="1500" dirty="0"/>
          </a:p>
        </p:txBody>
      </p:sp>
      <p:sp>
        <p:nvSpPr>
          <p:cNvPr id="15" name="Shape 12"/>
          <p:cNvSpPr/>
          <p:nvPr/>
        </p:nvSpPr>
        <p:spPr>
          <a:xfrm>
            <a:off x="7909560" y="2455164"/>
            <a:ext cx="731520" cy="9144"/>
          </a:xfrm>
          <a:prstGeom prst="line">
            <a:avLst/>
          </a:prstGeom>
          <a:noFill/>
          <a:ln w="22225">
            <a:solidFill>
              <a:srgbClr val="D3D5DB"/>
            </a:solidFill>
            <a:prstDash val="solid"/>
            <a:tailEnd type="triangle"/>
          </a:ln>
        </p:spPr>
      </p:sp>
      <p:sp>
        <p:nvSpPr>
          <p:cNvPr id="16" name="Shape 13"/>
          <p:cNvSpPr/>
          <p:nvPr/>
        </p:nvSpPr>
        <p:spPr>
          <a:xfrm>
            <a:off x="548640" y="2807208"/>
            <a:ext cx="7315200" cy="502920"/>
          </a:xfrm>
          <a:prstGeom prst="roundRect">
            <a:avLst>
              <a:gd name="adj" fmla="val 14545"/>
            </a:avLst>
          </a:prstGeom>
          <a:solidFill>
            <a:srgbClr val="33363F"/>
          </a:solidFill>
          <a:ln/>
        </p:spPr>
      </p:sp>
      <p:sp>
        <p:nvSpPr>
          <p:cNvPr id="17" name="Text 14"/>
          <p:cNvSpPr/>
          <p:nvPr/>
        </p:nvSpPr>
        <p:spPr>
          <a:xfrm>
            <a:off x="777240" y="2807208"/>
            <a:ext cx="21945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BVMT</a:t>
            </a:r>
            <a:endParaRPr lang="en-US" sz="1400" dirty="0"/>
          </a:p>
        </p:txBody>
      </p:sp>
      <p:sp>
        <p:nvSpPr>
          <p:cNvPr id="18" name="Text 15"/>
          <p:cNvSpPr/>
          <p:nvPr/>
        </p:nvSpPr>
        <p:spPr>
          <a:xfrm>
            <a:off x="2926080" y="2807208"/>
            <a:ext cx="3657600" cy="502920"/>
          </a:xfrm>
          <a:prstGeom prst="rect">
            <a:avLst/>
          </a:prstGeom>
          <a:noFill/>
          <a:ln/>
        </p:spPr>
        <p:txBody>
          <a:bodyPr wrap="square" lIns="0" tIns="0" rIns="0" bIns="0" rtlCol="0" anchor="ctr"/>
          <a:lstStyle/>
          <a:p>
            <a:pPr indent="0" marL="0">
              <a:buNone/>
            </a:pPr>
            <a:r>
              <a:rPr lang="en-US" sz="1250" dirty="0">
                <a:solidFill>
                  <a:srgbClr val="C7CBD0"/>
                </a:solidFill>
                <a:latin typeface="Calibri" pitchFamily="34" charset="0"/>
                <a:ea typeface="Calibri" pitchFamily="34" charset="-122"/>
                <a:cs typeface="Calibri" pitchFamily="34" charset="-120"/>
              </a:rPr>
              <a:t>stock exchange: market data, ESG</a:t>
            </a:r>
            <a:endParaRPr lang="en-US" sz="1250" dirty="0"/>
          </a:p>
        </p:txBody>
      </p:sp>
      <p:sp>
        <p:nvSpPr>
          <p:cNvPr id="19" name="Text 16"/>
          <p:cNvSpPr/>
          <p:nvPr/>
        </p:nvSpPr>
        <p:spPr>
          <a:xfrm>
            <a:off x="6583680" y="2807208"/>
            <a:ext cx="1097280" cy="502920"/>
          </a:xfrm>
          <a:prstGeom prst="rect">
            <a:avLst/>
          </a:prstGeom>
          <a:noFill/>
          <a:ln/>
        </p:spPr>
        <p:txBody>
          <a:bodyPr wrap="square" lIns="0" tIns="0" rIns="0" bIns="0" rtlCol="0" anchor="ctr"/>
          <a:lstStyle/>
          <a:p>
            <a:pPr algn="r" indent="0" marL="0">
              <a:buNone/>
            </a:pPr>
            <a:r>
              <a:rPr lang="en-US" sz="1500" b="1" dirty="0">
                <a:solidFill>
                  <a:srgbClr val="FFE600"/>
                </a:solidFill>
                <a:latin typeface="Cambria" pitchFamily="34" charset="0"/>
                <a:ea typeface="Cambria" pitchFamily="34" charset="-122"/>
                <a:cs typeface="Cambria" pitchFamily="34" charset="-120"/>
              </a:rPr>
              <a:t>26</a:t>
            </a:r>
            <a:endParaRPr lang="en-US" sz="1500" dirty="0"/>
          </a:p>
        </p:txBody>
      </p:sp>
      <p:sp>
        <p:nvSpPr>
          <p:cNvPr id="20" name="Shape 17"/>
          <p:cNvSpPr/>
          <p:nvPr/>
        </p:nvSpPr>
        <p:spPr>
          <a:xfrm>
            <a:off x="7909560" y="3058668"/>
            <a:ext cx="731520" cy="9144"/>
          </a:xfrm>
          <a:prstGeom prst="line">
            <a:avLst/>
          </a:prstGeom>
          <a:noFill/>
          <a:ln w="22225">
            <a:solidFill>
              <a:srgbClr val="D3D5DB"/>
            </a:solidFill>
            <a:prstDash val="solid"/>
            <a:tailEnd type="triangle"/>
          </a:ln>
        </p:spPr>
      </p:sp>
      <p:sp>
        <p:nvSpPr>
          <p:cNvPr id="21" name="Shape 18"/>
          <p:cNvSpPr/>
          <p:nvPr/>
        </p:nvSpPr>
        <p:spPr>
          <a:xfrm>
            <a:off x="548640" y="3410712"/>
            <a:ext cx="7315200" cy="502920"/>
          </a:xfrm>
          <a:prstGeom prst="roundRect">
            <a:avLst>
              <a:gd name="adj" fmla="val 14545"/>
            </a:avLst>
          </a:prstGeom>
          <a:solidFill>
            <a:srgbClr val="33363F"/>
          </a:solidFill>
          <a:ln/>
        </p:spPr>
      </p:sp>
      <p:sp>
        <p:nvSpPr>
          <p:cNvPr id="22" name="Text 19"/>
          <p:cNvSpPr/>
          <p:nvPr/>
        </p:nvSpPr>
        <p:spPr>
          <a:xfrm>
            <a:off x="777240" y="3410712"/>
            <a:ext cx="21945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FTUSA</a:t>
            </a:r>
            <a:endParaRPr lang="en-US" sz="1400" dirty="0"/>
          </a:p>
        </p:txBody>
      </p:sp>
      <p:sp>
        <p:nvSpPr>
          <p:cNvPr id="23" name="Text 20"/>
          <p:cNvSpPr/>
          <p:nvPr/>
        </p:nvSpPr>
        <p:spPr>
          <a:xfrm>
            <a:off x="2926080" y="3410712"/>
            <a:ext cx="3657600" cy="502920"/>
          </a:xfrm>
          <a:prstGeom prst="rect">
            <a:avLst/>
          </a:prstGeom>
          <a:noFill/>
          <a:ln/>
        </p:spPr>
        <p:txBody>
          <a:bodyPr wrap="square" lIns="0" tIns="0" rIns="0" bIns="0" rtlCol="0" anchor="ctr"/>
          <a:lstStyle/>
          <a:p>
            <a:pPr indent="0" marL="0">
              <a:buNone/>
            </a:pPr>
            <a:r>
              <a:rPr lang="en-US" sz="1250" dirty="0">
                <a:solidFill>
                  <a:srgbClr val="C7CBD0"/>
                </a:solidFill>
                <a:latin typeface="Calibri" pitchFamily="34" charset="0"/>
                <a:ea typeface="Calibri" pitchFamily="34" charset="-122"/>
                <a:cs typeface="Calibri" pitchFamily="34" charset="-120"/>
              </a:rPr>
              <a:t>insurance federation: sector reports</a:t>
            </a:r>
            <a:endParaRPr lang="en-US" sz="1250" dirty="0"/>
          </a:p>
        </p:txBody>
      </p:sp>
      <p:sp>
        <p:nvSpPr>
          <p:cNvPr id="24" name="Text 21"/>
          <p:cNvSpPr/>
          <p:nvPr/>
        </p:nvSpPr>
        <p:spPr>
          <a:xfrm>
            <a:off x="6583680" y="3410712"/>
            <a:ext cx="1097280" cy="502920"/>
          </a:xfrm>
          <a:prstGeom prst="rect">
            <a:avLst/>
          </a:prstGeom>
          <a:noFill/>
          <a:ln/>
        </p:spPr>
        <p:txBody>
          <a:bodyPr wrap="square" lIns="0" tIns="0" rIns="0" bIns="0" rtlCol="0" anchor="ctr"/>
          <a:lstStyle/>
          <a:p>
            <a:pPr algn="r" indent="0" marL="0">
              <a:buNone/>
            </a:pPr>
            <a:r>
              <a:rPr lang="en-US" sz="1500" b="1" dirty="0">
                <a:solidFill>
                  <a:srgbClr val="FFE600"/>
                </a:solidFill>
                <a:latin typeface="Cambria" pitchFamily="34" charset="0"/>
                <a:ea typeface="Cambria" pitchFamily="34" charset="-122"/>
                <a:cs typeface="Cambria" pitchFamily="34" charset="-120"/>
              </a:rPr>
              <a:t>18</a:t>
            </a:r>
            <a:endParaRPr lang="en-US" sz="1500" dirty="0"/>
          </a:p>
        </p:txBody>
      </p:sp>
      <p:sp>
        <p:nvSpPr>
          <p:cNvPr id="25" name="Shape 22"/>
          <p:cNvSpPr/>
          <p:nvPr/>
        </p:nvSpPr>
        <p:spPr>
          <a:xfrm>
            <a:off x="7909560" y="3662172"/>
            <a:ext cx="731520" cy="9144"/>
          </a:xfrm>
          <a:prstGeom prst="line">
            <a:avLst/>
          </a:prstGeom>
          <a:noFill/>
          <a:ln w="22225">
            <a:solidFill>
              <a:srgbClr val="D3D5DB"/>
            </a:solidFill>
            <a:prstDash val="solid"/>
            <a:tailEnd type="triangle"/>
          </a:ln>
        </p:spPr>
      </p:sp>
      <p:sp>
        <p:nvSpPr>
          <p:cNvPr id="26" name="Shape 23"/>
          <p:cNvSpPr/>
          <p:nvPr/>
        </p:nvSpPr>
        <p:spPr>
          <a:xfrm>
            <a:off x="548640" y="4014216"/>
            <a:ext cx="7315200" cy="502920"/>
          </a:xfrm>
          <a:prstGeom prst="roundRect">
            <a:avLst>
              <a:gd name="adj" fmla="val 14545"/>
            </a:avLst>
          </a:prstGeom>
          <a:solidFill>
            <a:srgbClr val="33363F"/>
          </a:solidFill>
          <a:ln/>
        </p:spPr>
      </p:sp>
      <p:sp>
        <p:nvSpPr>
          <p:cNvPr id="27" name="Text 24"/>
          <p:cNvSpPr/>
          <p:nvPr/>
        </p:nvSpPr>
        <p:spPr>
          <a:xfrm>
            <a:off x="777240" y="4014216"/>
            <a:ext cx="219456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CGA</a:t>
            </a:r>
            <a:endParaRPr lang="en-US" sz="1400" dirty="0"/>
          </a:p>
        </p:txBody>
      </p:sp>
      <p:sp>
        <p:nvSpPr>
          <p:cNvPr id="28" name="Text 25"/>
          <p:cNvSpPr/>
          <p:nvPr/>
        </p:nvSpPr>
        <p:spPr>
          <a:xfrm>
            <a:off x="2926080" y="4014216"/>
            <a:ext cx="3657600" cy="502920"/>
          </a:xfrm>
          <a:prstGeom prst="rect">
            <a:avLst/>
          </a:prstGeom>
          <a:noFill/>
          <a:ln/>
        </p:spPr>
        <p:txBody>
          <a:bodyPr wrap="square" lIns="0" tIns="0" rIns="0" bIns="0" rtlCol="0" anchor="ctr"/>
          <a:lstStyle/>
          <a:p>
            <a:pPr indent="0" marL="0">
              <a:buNone/>
            </a:pPr>
            <a:r>
              <a:rPr lang="en-US" sz="1250" dirty="0">
                <a:solidFill>
                  <a:srgbClr val="C7CBD0"/>
                </a:solidFill>
                <a:latin typeface="Calibri" pitchFamily="34" charset="0"/>
                <a:ea typeface="Calibri" pitchFamily="34" charset="-122"/>
                <a:cs typeface="Calibri" pitchFamily="34" charset="-120"/>
              </a:rPr>
              <a:t>insurance regulator: sector reports</a:t>
            </a:r>
            <a:endParaRPr lang="en-US" sz="1250" dirty="0"/>
          </a:p>
        </p:txBody>
      </p:sp>
      <p:sp>
        <p:nvSpPr>
          <p:cNvPr id="29" name="Text 26"/>
          <p:cNvSpPr/>
          <p:nvPr/>
        </p:nvSpPr>
        <p:spPr>
          <a:xfrm>
            <a:off x="6583680" y="4014216"/>
            <a:ext cx="1097280" cy="502920"/>
          </a:xfrm>
          <a:prstGeom prst="rect">
            <a:avLst/>
          </a:prstGeom>
          <a:noFill/>
          <a:ln/>
        </p:spPr>
        <p:txBody>
          <a:bodyPr wrap="square" lIns="0" tIns="0" rIns="0" bIns="0" rtlCol="0" anchor="ctr"/>
          <a:lstStyle/>
          <a:p>
            <a:pPr algn="r" indent="0" marL="0">
              <a:buNone/>
            </a:pPr>
            <a:r>
              <a:rPr lang="en-US" sz="1500" b="1" dirty="0">
                <a:solidFill>
                  <a:srgbClr val="FFE600"/>
                </a:solidFill>
                <a:latin typeface="Cambria" pitchFamily="34" charset="0"/>
                <a:ea typeface="Cambria" pitchFamily="34" charset="-122"/>
                <a:cs typeface="Cambria" pitchFamily="34" charset="-120"/>
              </a:rPr>
              <a:t>10</a:t>
            </a:r>
            <a:endParaRPr lang="en-US" sz="1500" dirty="0"/>
          </a:p>
        </p:txBody>
      </p:sp>
      <p:sp>
        <p:nvSpPr>
          <p:cNvPr id="30" name="Shape 27"/>
          <p:cNvSpPr/>
          <p:nvPr/>
        </p:nvSpPr>
        <p:spPr>
          <a:xfrm>
            <a:off x="7909560" y="4265676"/>
            <a:ext cx="731520" cy="9144"/>
          </a:xfrm>
          <a:prstGeom prst="line">
            <a:avLst/>
          </a:prstGeom>
          <a:noFill/>
          <a:ln w="22225">
            <a:solidFill>
              <a:srgbClr val="D3D5DB"/>
            </a:solidFill>
            <a:prstDash val="solid"/>
            <a:tailEnd type="triangle"/>
          </a:ln>
        </p:spPr>
      </p:sp>
      <p:sp>
        <p:nvSpPr>
          <p:cNvPr id="31" name="Shape 28"/>
          <p:cNvSpPr/>
          <p:nvPr/>
        </p:nvSpPr>
        <p:spPr>
          <a:xfrm>
            <a:off x="548640" y="4617720"/>
            <a:ext cx="7315200" cy="502920"/>
          </a:xfrm>
          <a:prstGeom prst="roundRect">
            <a:avLst>
              <a:gd name="adj" fmla="val 14545"/>
            </a:avLst>
          </a:prstGeom>
          <a:solidFill>
            <a:srgbClr val="F5F5F6"/>
          </a:solidFill>
          <a:ln/>
        </p:spPr>
      </p:sp>
      <p:sp>
        <p:nvSpPr>
          <p:cNvPr id="32" name="Text 29"/>
          <p:cNvSpPr/>
          <p:nvPr/>
        </p:nvSpPr>
        <p:spPr>
          <a:xfrm>
            <a:off x="777240" y="4617720"/>
            <a:ext cx="2194560" cy="502920"/>
          </a:xfrm>
          <a:prstGeom prst="rect">
            <a:avLst/>
          </a:prstGeom>
          <a:noFill/>
          <a:ln/>
        </p:spPr>
        <p:txBody>
          <a:bodyPr wrap="square" lIns="0" tIns="0" rIns="0" bIns="0" rtlCol="0" anchor="ctr"/>
          <a:lstStyle/>
          <a:p>
            <a:pPr indent="0" marL="0">
              <a:buNone/>
            </a:pPr>
            <a:r>
              <a:rPr lang="en-US" sz="1400" b="1" dirty="0">
                <a:solidFill>
                  <a:srgbClr val="26282F"/>
                </a:solidFill>
                <a:latin typeface="Calibri" pitchFamily="34" charset="0"/>
                <a:ea typeface="Calibri" pitchFamily="34" charset="-122"/>
                <a:cs typeface="Calibri" pitchFamily="34" charset="-120"/>
              </a:rPr>
              <a:t>Atlas Magazine</a:t>
            </a:r>
            <a:endParaRPr lang="en-US" sz="1400" dirty="0"/>
          </a:p>
        </p:txBody>
      </p:sp>
      <p:sp>
        <p:nvSpPr>
          <p:cNvPr id="33" name="Text 30"/>
          <p:cNvSpPr/>
          <p:nvPr/>
        </p:nvSpPr>
        <p:spPr>
          <a:xfrm>
            <a:off x="2926080" y="4617720"/>
            <a:ext cx="3657600" cy="502920"/>
          </a:xfrm>
          <a:prstGeom prst="rect">
            <a:avLst/>
          </a:prstGeom>
          <a:noFill/>
          <a:ln/>
        </p:spPr>
        <p:txBody>
          <a:bodyPr wrap="square" lIns="0" tIns="0" rIns="0" bIns="0" rtlCol="0" anchor="ctr"/>
          <a:lstStyle/>
          <a:p>
            <a:pPr indent="0" marL="0">
              <a:buNone/>
            </a:pPr>
            <a:r>
              <a:rPr lang="en-US" sz="1250" dirty="0">
                <a:solidFill>
                  <a:srgbClr val="5A5D66"/>
                </a:solidFill>
                <a:latin typeface="Calibri" pitchFamily="34" charset="0"/>
                <a:ea typeface="Calibri" pitchFamily="34" charset="-122"/>
                <a:cs typeface="Calibri" pitchFamily="34" charset="-120"/>
              </a:rPr>
              <a:t>press watch</a:t>
            </a:r>
            <a:endParaRPr lang="en-US" sz="1250" dirty="0"/>
          </a:p>
        </p:txBody>
      </p:sp>
      <p:sp>
        <p:nvSpPr>
          <p:cNvPr id="34" name="Text 31"/>
          <p:cNvSpPr/>
          <p:nvPr/>
        </p:nvSpPr>
        <p:spPr>
          <a:xfrm>
            <a:off x="6583680" y="4617720"/>
            <a:ext cx="1097280" cy="502920"/>
          </a:xfrm>
          <a:prstGeom prst="rect">
            <a:avLst/>
          </a:prstGeom>
          <a:noFill/>
          <a:ln/>
        </p:spPr>
        <p:txBody>
          <a:bodyPr wrap="square" lIns="0" tIns="0" rIns="0" bIns="0" rtlCol="0" anchor="ctr"/>
          <a:lstStyle/>
          <a:p>
            <a:pPr algn="r" indent="0" marL="0">
              <a:buNone/>
            </a:pPr>
            <a:r>
              <a:rPr lang="en-US" sz="1500" b="1" dirty="0">
                <a:solidFill>
                  <a:srgbClr val="5A5D66"/>
                </a:solidFill>
                <a:latin typeface="Cambria" pitchFamily="34" charset="0"/>
                <a:ea typeface="Cambria" pitchFamily="34" charset="-122"/>
                <a:cs typeface="Cambria" pitchFamily="34" charset="-120"/>
              </a:rPr>
              <a:t>news</a:t>
            </a:r>
            <a:endParaRPr lang="en-US" sz="1500" dirty="0"/>
          </a:p>
        </p:txBody>
      </p:sp>
      <p:sp>
        <p:nvSpPr>
          <p:cNvPr id="35" name="Shape 32"/>
          <p:cNvSpPr/>
          <p:nvPr/>
        </p:nvSpPr>
        <p:spPr>
          <a:xfrm>
            <a:off x="7909560" y="4869180"/>
            <a:ext cx="731520" cy="9144"/>
          </a:xfrm>
          <a:prstGeom prst="line">
            <a:avLst/>
          </a:prstGeom>
          <a:noFill/>
          <a:ln w="22225">
            <a:solidFill>
              <a:srgbClr val="D3D5DB"/>
            </a:solidFill>
            <a:prstDash val="solid"/>
            <a:tailEnd type="triangle"/>
          </a:ln>
        </p:spPr>
      </p:sp>
      <p:sp>
        <p:nvSpPr>
          <p:cNvPr id="36" name="Shape 33"/>
          <p:cNvSpPr/>
          <p:nvPr/>
        </p:nvSpPr>
        <p:spPr>
          <a:xfrm>
            <a:off x="548640" y="5221224"/>
            <a:ext cx="7315200" cy="502920"/>
          </a:xfrm>
          <a:prstGeom prst="roundRect">
            <a:avLst>
              <a:gd name="adj" fmla="val 14545"/>
            </a:avLst>
          </a:prstGeom>
          <a:solidFill>
            <a:srgbClr val="F5F5F6"/>
          </a:solidFill>
          <a:ln/>
        </p:spPr>
      </p:sp>
      <p:sp>
        <p:nvSpPr>
          <p:cNvPr id="37" name="Text 34"/>
          <p:cNvSpPr/>
          <p:nvPr/>
        </p:nvSpPr>
        <p:spPr>
          <a:xfrm>
            <a:off x="777240" y="5221224"/>
            <a:ext cx="2194560" cy="502920"/>
          </a:xfrm>
          <a:prstGeom prst="rect">
            <a:avLst/>
          </a:prstGeom>
          <a:noFill/>
          <a:ln/>
        </p:spPr>
        <p:txBody>
          <a:bodyPr wrap="square" lIns="0" tIns="0" rIns="0" bIns="0" rtlCol="0" anchor="ctr"/>
          <a:lstStyle/>
          <a:p>
            <a:pPr indent="0" marL="0">
              <a:buNone/>
            </a:pPr>
            <a:r>
              <a:rPr lang="en-US" sz="1400" b="1" dirty="0">
                <a:solidFill>
                  <a:srgbClr val="26282F"/>
                </a:solidFill>
                <a:latin typeface="Calibri" pitchFamily="34" charset="0"/>
                <a:ea typeface="Calibri" pitchFamily="34" charset="-122"/>
                <a:cs typeface="Calibri" pitchFamily="34" charset="-120"/>
              </a:rPr>
              <a:t>ilBoursa</a:t>
            </a:r>
            <a:endParaRPr lang="en-US" sz="1400" dirty="0"/>
          </a:p>
        </p:txBody>
      </p:sp>
      <p:sp>
        <p:nvSpPr>
          <p:cNvPr id="38" name="Text 35"/>
          <p:cNvSpPr/>
          <p:nvPr/>
        </p:nvSpPr>
        <p:spPr>
          <a:xfrm>
            <a:off x="2926080" y="5221224"/>
            <a:ext cx="3657600" cy="502920"/>
          </a:xfrm>
          <a:prstGeom prst="rect">
            <a:avLst/>
          </a:prstGeom>
          <a:noFill/>
          <a:ln/>
        </p:spPr>
        <p:txBody>
          <a:bodyPr wrap="square" lIns="0" tIns="0" rIns="0" bIns="0" rtlCol="0" anchor="ctr"/>
          <a:lstStyle/>
          <a:p>
            <a:pPr indent="0" marL="0">
              <a:buNone/>
            </a:pPr>
            <a:r>
              <a:rPr lang="en-US" sz="1250" dirty="0">
                <a:solidFill>
                  <a:srgbClr val="5A5D66"/>
                </a:solidFill>
                <a:latin typeface="Calibri" pitchFamily="34" charset="0"/>
                <a:ea typeface="Calibri" pitchFamily="34" charset="-122"/>
                <a:cs typeface="Calibri" pitchFamily="34" charset="-120"/>
              </a:rPr>
              <a:t>press watch</a:t>
            </a:r>
            <a:endParaRPr lang="en-US" sz="1250" dirty="0"/>
          </a:p>
        </p:txBody>
      </p:sp>
      <p:sp>
        <p:nvSpPr>
          <p:cNvPr id="39" name="Text 36"/>
          <p:cNvSpPr/>
          <p:nvPr/>
        </p:nvSpPr>
        <p:spPr>
          <a:xfrm>
            <a:off x="6583680" y="5221224"/>
            <a:ext cx="1097280" cy="502920"/>
          </a:xfrm>
          <a:prstGeom prst="rect">
            <a:avLst/>
          </a:prstGeom>
          <a:noFill/>
          <a:ln/>
        </p:spPr>
        <p:txBody>
          <a:bodyPr wrap="square" lIns="0" tIns="0" rIns="0" bIns="0" rtlCol="0" anchor="ctr"/>
          <a:lstStyle/>
          <a:p>
            <a:pPr algn="r" indent="0" marL="0">
              <a:buNone/>
            </a:pPr>
            <a:r>
              <a:rPr lang="en-US" sz="1500" b="1" dirty="0">
                <a:solidFill>
                  <a:srgbClr val="5A5D66"/>
                </a:solidFill>
                <a:latin typeface="Cambria" pitchFamily="34" charset="0"/>
                <a:ea typeface="Cambria" pitchFamily="34" charset="-122"/>
                <a:cs typeface="Cambria" pitchFamily="34" charset="-120"/>
              </a:rPr>
              <a:t>news</a:t>
            </a:r>
            <a:endParaRPr lang="en-US" sz="1500" dirty="0"/>
          </a:p>
        </p:txBody>
      </p:sp>
      <p:sp>
        <p:nvSpPr>
          <p:cNvPr id="40" name="Shape 37"/>
          <p:cNvSpPr/>
          <p:nvPr/>
        </p:nvSpPr>
        <p:spPr>
          <a:xfrm>
            <a:off x="7909560" y="5472684"/>
            <a:ext cx="731520" cy="9144"/>
          </a:xfrm>
          <a:prstGeom prst="line">
            <a:avLst/>
          </a:prstGeom>
          <a:noFill/>
          <a:ln w="22225">
            <a:solidFill>
              <a:srgbClr val="D3D5DB"/>
            </a:solidFill>
            <a:prstDash val="solid"/>
            <a:tailEnd type="triangle"/>
          </a:ln>
        </p:spPr>
      </p:sp>
      <p:sp>
        <p:nvSpPr>
          <p:cNvPr id="41" name="Shape 38"/>
          <p:cNvSpPr/>
          <p:nvPr/>
        </p:nvSpPr>
        <p:spPr>
          <a:xfrm>
            <a:off x="8686800" y="1600200"/>
            <a:ext cx="2926080" cy="4087368"/>
          </a:xfrm>
          <a:prstGeom prst="roundRect">
            <a:avLst>
              <a:gd name="adj" fmla="val 2500"/>
            </a:avLst>
          </a:prstGeom>
          <a:solidFill>
            <a:srgbClr val="FFE600"/>
          </a:solidFill>
          <a:ln/>
        </p:spPr>
      </p:sp>
      <p:sp>
        <p:nvSpPr>
          <p:cNvPr id="42" name="Text 39"/>
          <p:cNvSpPr/>
          <p:nvPr/>
        </p:nvSpPr>
        <p:spPr>
          <a:xfrm>
            <a:off x="8778240" y="1600200"/>
            <a:ext cx="2743200" cy="4087368"/>
          </a:xfrm>
          <a:prstGeom prst="rect">
            <a:avLst/>
          </a:prstGeom>
          <a:noFill/>
          <a:ln/>
        </p:spPr>
        <p:txBody>
          <a:bodyPr wrap="square" lIns="0" tIns="0" rIns="0" bIns="0" rtlCol="0" anchor="ctr"/>
          <a:lstStyle/>
          <a:p>
            <a:pPr algn="ctr" indent="0" marL="0">
              <a:buNone/>
            </a:pPr>
            <a:r>
              <a:rPr lang="en-US" sz="2000" b="1" dirty="0">
                <a:solidFill>
                  <a:srgbClr val="33363F"/>
                </a:solidFill>
                <a:latin typeface="Cambria" pitchFamily="34" charset="0"/>
                <a:ea typeface="Cambria" pitchFamily="34" charset="-122"/>
                <a:cs typeface="Cambria" pitchFamily="34" charset="-120"/>
              </a:rPr>
              <a:t>COLLECT</a:t>
            </a:r>
            <a:endParaRPr lang="en-US" sz="2000" dirty="0"/>
          </a:p>
          <a:p>
            <a:pPr algn="ctr" indent="0" marL="0">
              <a:buNone/>
            </a:pPr>
            <a:r>
              <a:rPr lang="en-US" sz="4400" b="1" dirty="0">
                <a:solidFill>
                  <a:srgbClr val="33363F"/>
                </a:solidFill>
                <a:latin typeface="Cambria" pitchFamily="34" charset="0"/>
                <a:ea typeface="Cambria" pitchFamily="34" charset="-122"/>
                <a:cs typeface="Cambria" pitchFamily="34" charset="-120"/>
              </a:rPr>
              <a:t>212</a:t>
            </a:r>
            <a:endParaRPr lang="en-US" sz="2000" dirty="0"/>
          </a:p>
          <a:p>
            <a:pPr algn="ctr" indent="0" marL="0">
              <a:buNone/>
            </a:pPr>
            <a:r>
              <a:rPr lang="en-US" sz="1400" dirty="0">
                <a:solidFill>
                  <a:srgbClr val="33363F"/>
                </a:solidFill>
                <a:latin typeface="Calibri" pitchFamily="34" charset="0"/>
                <a:ea typeface="Calibri" pitchFamily="34" charset="-122"/>
                <a:cs typeface="Calibri" pitchFamily="34" charset="-120"/>
              </a:rPr>
              <a:t>documents collected</a:t>
            </a:r>
            <a:endParaRPr lang="en-US" sz="2000" dirty="0"/>
          </a:p>
          <a:p>
            <a:pPr algn="ctr" indent="0" marL="0">
              <a:buNone/>
            </a:pPr>
            <a:r>
              <a:rPr lang="en-US" sz="1200" dirty="0">
                <a:solidFill>
                  <a:srgbClr val="33363F"/>
                </a:solidFill>
                <a:latin typeface="Calibri" pitchFamily="34" charset="0"/>
                <a:ea typeface="Calibri" pitchFamily="34" charset="-122"/>
                <a:cs typeface="Calibri" pitchFamily="34" charset="-120"/>
              </a:rPr>
              <a:t>5 report sources · 2 news feeds</a:t>
            </a:r>
            <a:endParaRPr lang="en-US" sz="2000" dirty="0"/>
          </a:p>
        </p:txBody>
      </p:sp>
      <p:sp>
        <p:nvSpPr>
          <p:cNvPr id="43" name="Text 40"/>
          <p:cNvSpPr/>
          <p:nvPr/>
        </p:nvSpPr>
        <p:spPr>
          <a:xfrm>
            <a:off x="548640" y="5943600"/>
            <a:ext cx="7315200" cy="274320"/>
          </a:xfrm>
          <a:prstGeom prst="rect">
            <a:avLst/>
          </a:prstGeom>
          <a:noFill/>
          <a:ln/>
        </p:spPr>
        <p:txBody>
          <a:bodyPr wrap="square" lIns="0" tIns="0" rIns="0" bIns="0" rtlCol="0" anchor="ctr"/>
          <a:lstStyle/>
          <a:p>
            <a:pPr indent="0" marL="0">
              <a:buNone/>
            </a:pPr>
            <a:r>
              <a:rPr lang="en-US" sz="1100" i="1" dirty="0">
                <a:solidFill>
                  <a:srgbClr val="8B8B90"/>
                </a:solidFill>
                <a:latin typeface="Calibri" pitchFamily="34" charset="0"/>
                <a:ea typeface="Calibri" pitchFamily="34" charset="-122"/>
                <a:cs typeface="Calibri" pitchFamily="34" charset="-120"/>
              </a:rPr>
              <a:t>Documents per source, live database,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From Raw PDFs to Trusted KPIs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691640"/>
            <a:ext cx="2148840" cy="777240"/>
          </a:xfrm>
          <a:prstGeom prst="homePlate">
            <a:avLst/>
          </a:prstGeom>
          <a:solidFill>
            <a:srgbClr val="33363F"/>
          </a:solidFill>
          <a:ln/>
        </p:spPr>
      </p:sp>
      <p:sp>
        <p:nvSpPr>
          <p:cNvPr id="7" name="Text 4"/>
          <p:cNvSpPr/>
          <p:nvPr/>
        </p:nvSpPr>
        <p:spPr>
          <a:xfrm>
            <a:off x="731520" y="1691640"/>
            <a:ext cx="173736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Collect</a:t>
            </a:r>
            <a:endParaRPr lang="en-US" sz="1800" dirty="0"/>
          </a:p>
        </p:txBody>
      </p:sp>
      <p:sp>
        <p:nvSpPr>
          <p:cNvPr id="8" name="Text 5"/>
          <p:cNvSpPr/>
          <p:nvPr/>
        </p:nvSpPr>
        <p:spPr>
          <a:xfrm>
            <a:off x="548640" y="2542032"/>
            <a:ext cx="21488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Data Understanding</a:t>
            </a:r>
            <a:endParaRPr lang="en-US" sz="1100" dirty="0"/>
          </a:p>
        </p:txBody>
      </p:sp>
      <p:sp>
        <p:nvSpPr>
          <p:cNvPr id="9" name="Shape 6"/>
          <p:cNvSpPr/>
          <p:nvPr/>
        </p:nvSpPr>
        <p:spPr>
          <a:xfrm>
            <a:off x="548640" y="2926080"/>
            <a:ext cx="2148840" cy="1554480"/>
          </a:xfrm>
          <a:prstGeom prst="roundRect">
            <a:avLst>
              <a:gd name="adj" fmla="val 4706"/>
            </a:avLst>
          </a:prstGeom>
          <a:solidFill>
            <a:srgbClr val="F5F5F6"/>
          </a:solidFill>
          <a:ln/>
        </p:spPr>
      </p:sp>
      <p:sp>
        <p:nvSpPr>
          <p:cNvPr id="10" name="Text 7"/>
          <p:cNvSpPr/>
          <p:nvPr/>
        </p:nvSpPr>
        <p:spPr>
          <a:xfrm>
            <a:off x="548640" y="3035808"/>
            <a:ext cx="2148840" cy="685800"/>
          </a:xfrm>
          <a:prstGeom prst="rect">
            <a:avLst/>
          </a:prstGeom>
          <a:noFill/>
          <a:ln/>
        </p:spPr>
        <p:txBody>
          <a:bodyPr wrap="square" lIns="0" tIns="0" rIns="0" bIns="0" rtlCol="0" anchor="ctr"/>
          <a:lstStyle/>
          <a:p>
            <a:pPr algn="ctr" indent="0" marL="0">
              <a:buNone/>
            </a:pPr>
            <a:r>
              <a:rPr lang="en-US" sz="3200" b="1" dirty="0">
                <a:solidFill>
                  <a:srgbClr val="33363F"/>
                </a:solidFill>
                <a:latin typeface="Cambria" pitchFamily="34" charset="0"/>
                <a:ea typeface="Cambria" pitchFamily="34" charset="-122"/>
                <a:cs typeface="Cambria" pitchFamily="34" charset="-120"/>
              </a:rPr>
              <a:t>212</a:t>
            </a:r>
            <a:endParaRPr lang="en-US" sz="3200" dirty="0"/>
          </a:p>
        </p:txBody>
      </p:sp>
      <p:sp>
        <p:nvSpPr>
          <p:cNvPr id="11" name="Text 8"/>
          <p:cNvSpPr/>
          <p:nvPr/>
        </p:nvSpPr>
        <p:spPr>
          <a:xfrm>
            <a:off x="640080" y="3703320"/>
            <a:ext cx="1965960" cy="685800"/>
          </a:xfrm>
          <a:prstGeom prst="rect">
            <a:avLst/>
          </a:prstGeom>
          <a:noFill/>
          <a:ln/>
        </p:spPr>
        <p:txBody>
          <a:bodyPr wrap="square" lIns="0" tIns="0" rIns="0" bIns="0" rtlCol="0" anchor="t"/>
          <a:lstStyle/>
          <a:p>
            <a:pPr algn="ctr" indent="0" marL="0">
              <a:buNone/>
            </a:pPr>
            <a:r>
              <a:rPr lang="en-US" sz="1200" dirty="0">
                <a:solidFill>
                  <a:srgbClr val="5A5D66"/>
                </a:solidFill>
                <a:latin typeface="Calibri" pitchFamily="34" charset="0"/>
                <a:ea typeface="Calibri" pitchFamily="34" charset="-122"/>
                <a:cs typeface="Calibri" pitchFamily="34" charset="-120"/>
              </a:rPr>
              <a:t>documents from</a:t>
            </a:r>
            <a:endParaRPr lang="en-US" sz="1200" dirty="0"/>
          </a:p>
          <a:p>
            <a:pPr algn="ctr" indent="0" marL="0">
              <a:buNone/>
            </a:pPr>
            <a:r>
              <a:rPr lang="en-US" sz="1200" dirty="0">
                <a:solidFill>
                  <a:srgbClr val="5A5D66"/>
                </a:solidFill>
                <a:latin typeface="Calibri" pitchFamily="34" charset="0"/>
                <a:ea typeface="Calibri" pitchFamily="34" charset="-122"/>
                <a:cs typeface="Calibri" pitchFamily="34" charset="-120"/>
              </a:rPr>
              <a:t>5 report sources</a:t>
            </a:r>
            <a:endParaRPr lang="en-US" sz="1200" dirty="0"/>
          </a:p>
        </p:txBody>
      </p:sp>
      <p:sp>
        <p:nvSpPr>
          <p:cNvPr id="12" name="Shape 9"/>
          <p:cNvSpPr/>
          <p:nvPr/>
        </p:nvSpPr>
        <p:spPr>
          <a:xfrm>
            <a:off x="2788920" y="1691640"/>
            <a:ext cx="2148840" cy="777240"/>
          </a:xfrm>
          <a:prstGeom prst="homePlate">
            <a:avLst/>
          </a:prstGeom>
          <a:solidFill>
            <a:srgbClr val="33363F"/>
          </a:solidFill>
          <a:ln/>
        </p:spPr>
      </p:sp>
      <p:sp>
        <p:nvSpPr>
          <p:cNvPr id="13" name="Text 10"/>
          <p:cNvSpPr/>
          <p:nvPr/>
        </p:nvSpPr>
        <p:spPr>
          <a:xfrm>
            <a:off x="2971800" y="1691640"/>
            <a:ext cx="173736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Extract</a:t>
            </a:r>
            <a:endParaRPr lang="en-US" sz="1800" dirty="0"/>
          </a:p>
        </p:txBody>
      </p:sp>
      <p:sp>
        <p:nvSpPr>
          <p:cNvPr id="14" name="Text 11"/>
          <p:cNvSpPr/>
          <p:nvPr/>
        </p:nvSpPr>
        <p:spPr>
          <a:xfrm>
            <a:off x="2788920" y="2542032"/>
            <a:ext cx="21488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Data Preparation</a:t>
            </a:r>
            <a:endParaRPr lang="en-US" sz="1100" dirty="0"/>
          </a:p>
        </p:txBody>
      </p:sp>
      <p:sp>
        <p:nvSpPr>
          <p:cNvPr id="15" name="Shape 12"/>
          <p:cNvSpPr/>
          <p:nvPr/>
        </p:nvSpPr>
        <p:spPr>
          <a:xfrm>
            <a:off x="2788920" y="2926080"/>
            <a:ext cx="2148840" cy="1554480"/>
          </a:xfrm>
          <a:prstGeom prst="roundRect">
            <a:avLst>
              <a:gd name="adj" fmla="val 4706"/>
            </a:avLst>
          </a:prstGeom>
          <a:solidFill>
            <a:srgbClr val="F5F5F6"/>
          </a:solidFill>
          <a:ln/>
        </p:spPr>
      </p:sp>
      <p:sp>
        <p:nvSpPr>
          <p:cNvPr id="16" name="Text 13"/>
          <p:cNvSpPr/>
          <p:nvPr/>
        </p:nvSpPr>
        <p:spPr>
          <a:xfrm>
            <a:off x="2788920" y="3035808"/>
            <a:ext cx="2148840" cy="685800"/>
          </a:xfrm>
          <a:prstGeom prst="rect">
            <a:avLst/>
          </a:prstGeom>
          <a:noFill/>
          <a:ln/>
        </p:spPr>
        <p:txBody>
          <a:bodyPr wrap="square" lIns="0" tIns="0" rIns="0" bIns="0" rtlCol="0" anchor="ctr"/>
          <a:lstStyle/>
          <a:p>
            <a:pPr algn="ctr" indent="0" marL="0">
              <a:buNone/>
            </a:pPr>
            <a:r>
              <a:rPr lang="en-US" sz="3200" b="1" dirty="0">
                <a:solidFill>
                  <a:srgbClr val="33363F"/>
                </a:solidFill>
                <a:latin typeface="Cambria" pitchFamily="34" charset="0"/>
                <a:ea typeface="Cambria" pitchFamily="34" charset="-122"/>
                <a:cs typeface="Cambria" pitchFamily="34" charset="-120"/>
              </a:rPr>
              <a:t>49,849</a:t>
            </a:r>
            <a:endParaRPr lang="en-US" sz="3200" dirty="0"/>
          </a:p>
        </p:txBody>
      </p:sp>
      <p:sp>
        <p:nvSpPr>
          <p:cNvPr id="17" name="Text 14"/>
          <p:cNvSpPr/>
          <p:nvPr/>
        </p:nvSpPr>
        <p:spPr>
          <a:xfrm>
            <a:off x="2880360" y="3703320"/>
            <a:ext cx="1965960" cy="685800"/>
          </a:xfrm>
          <a:prstGeom prst="rect">
            <a:avLst/>
          </a:prstGeom>
          <a:noFill/>
          <a:ln/>
        </p:spPr>
        <p:txBody>
          <a:bodyPr wrap="square" lIns="0" tIns="0" rIns="0" bIns="0" rtlCol="0" anchor="t"/>
          <a:lstStyle/>
          <a:p>
            <a:pPr algn="ctr" indent="0" marL="0">
              <a:buNone/>
            </a:pPr>
            <a:r>
              <a:rPr lang="en-US" sz="1200" dirty="0">
                <a:solidFill>
                  <a:srgbClr val="5A5D66"/>
                </a:solidFill>
                <a:latin typeface="Calibri" pitchFamily="34" charset="0"/>
                <a:ea typeface="Calibri" pitchFamily="34" charset="-122"/>
                <a:cs typeface="Calibri" pitchFamily="34" charset="-120"/>
              </a:rPr>
              <a:t>cells across</a:t>
            </a:r>
            <a:endParaRPr lang="en-US" sz="1200" dirty="0"/>
          </a:p>
          <a:p>
            <a:pPr algn="ctr" indent="0" marL="0">
              <a:buNone/>
            </a:pPr>
            <a:r>
              <a:rPr lang="en-US" sz="1200" dirty="0">
                <a:solidFill>
                  <a:srgbClr val="5A5D66"/>
                </a:solidFill>
                <a:latin typeface="Calibri" pitchFamily="34" charset="0"/>
                <a:ea typeface="Calibri" pitchFamily="34" charset="-122"/>
                <a:cs typeface="Calibri" pitchFamily="34" charset="-120"/>
              </a:rPr>
              <a:t>10 table types</a:t>
            </a:r>
            <a:endParaRPr lang="en-US" sz="1200" dirty="0"/>
          </a:p>
        </p:txBody>
      </p:sp>
      <p:sp>
        <p:nvSpPr>
          <p:cNvPr id="18" name="Shape 15"/>
          <p:cNvSpPr/>
          <p:nvPr/>
        </p:nvSpPr>
        <p:spPr>
          <a:xfrm>
            <a:off x="5029200" y="1691640"/>
            <a:ext cx="2148840" cy="777240"/>
          </a:xfrm>
          <a:prstGeom prst="homePlate">
            <a:avLst/>
          </a:prstGeom>
          <a:solidFill>
            <a:srgbClr val="33363F"/>
          </a:solidFill>
          <a:ln/>
        </p:spPr>
      </p:sp>
      <p:sp>
        <p:nvSpPr>
          <p:cNvPr id="19" name="Text 16"/>
          <p:cNvSpPr/>
          <p:nvPr/>
        </p:nvSpPr>
        <p:spPr>
          <a:xfrm>
            <a:off x="5212080" y="1691640"/>
            <a:ext cx="173736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Model</a:t>
            </a:r>
            <a:endParaRPr lang="en-US" sz="1800" dirty="0"/>
          </a:p>
        </p:txBody>
      </p:sp>
      <p:sp>
        <p:nvSpPr>
          <p:cNvPr id="20" name="Text 17"/>
          <p:cNvSpPr/>
          <p:nvPr/>
        </p:nvSpPr>
        <p:spPr>
          <a:xfrm>
            <a:off x="5029200" y="2542032"/>
            <a:ext cx="21488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Modeling</a:t>
            </a:r>
            <a:endParaRPr lang="en-US" sz="1100" dirty="0"/>
          </a:p>
        </p:txBody>
      </p:sp>
      <p:sp>
        <p:nvSpPr>
          <p:cNvPr id="21" name="Shape 18"/>
          <p:cNvSpPr/>
          <p:nvPr/>
        </p:nvSpPr>
        <p:spPr>
          <a:xfrm>
            <a:off x="5029200" y="2926080"/>
            <a:ext cx="2148840" cy="1554480"/>
          </a:xfrm>
          <a:prstGeom prst="roundRect">
            <a:avLst>
              <a:gd name="adj" fmla="val 4706"/>
            </a:avLst>
          </a:prstGeom>
          <a:solidFill>
            <a:srgbClr val="F5F5F6"/>
          </a:solidFill>
          <a:ln/>
        </p:spPr>
      </p:sp>
      <p:sp>
        <p:nvSpPr>
          <p:cNvPr id="22" name="Text 19"/>
          <p:cNvSpPr/>
          <p:nvPr/>
        </p:nvSpPr>
        <p:spPr>
          <a:xfrm>
            <a:off x="5029200" y="3035808"/>
            <a:ext cx="2148840" cy="685800"/>
          </a:xfrm>
          <a:prstGeom prst="rect">
            <a:avLst/>
          </a:prstGeom>
          <a:noFill/>
          <a:ln/>
        </p:spPr>
        <p:txBody>
          <a:bodyPr wrap="square" lIns="0" tIns="0" rIns="0" bIns="0" rtlCol="0" anchor="ctr"/>
          <a:lstStyle/>
          <a:p>
            <a:pPr algn="ctr" indent="0" marL="0">
              <a:buNone/>
            </a:pPr>
            <a:r>
              <a:rPr lang="en-US" sz="3200" b="1" dirty="0">
                <a:solidFill>
                  <a:srgbClr val="33363F"/>
                </a:solidFill>
                <a:latin typeface="Cambria" pitchFamily="34" charset="0"/>
                <a:ea typeface="Cambria" pitchFamily="34" charset="-122"/>
                <a:cs typeface="Cambria" pitchFamily="34" charset="-120"/>
              </a:rPr>
              <a:t>10,057</a:t>
            </a:r>
            <a:endParaRPr lang="en-US" sz="3200" dirty="0"/>
          </a:p>
        </p:txBody>
      </p:sp>
      <p:sp>
        <p:nvSpPr>
          <p:cNvPr id="23" name="Text 20"/>
          <p:cNvSpPr/>
          <p:nvPr/>
        </p:nvSpPr>
        <p:spPr>
          <a:xfrm>
            <a:off x="5120640" y="3703320"/>
            <a:ext cx="1965960" cy="685800"/>
          </a:xfrm>
          <a:prstGeom prst="rect">
            <a:avLst/>
          </a:prstGeom>
          <a:noFill/>
          <a:ln/>
        </p:spPr>
        <p:txBody>
          <a:bodyPr wrap="square" lIns="0" tIns="0" rIns="0" bIns="0" rtlCol="0" anchor="t"/>
          <a:lstStyle/>
          <a:p>
            <a:pPr algn="ctr" indent="0" marL="0">
              <a:buNone/>
            </a:pPr>
            <a:r>
              <a:rPr lang="en-US" sz="1200" dirty="0">
                <a:solidFill>
                  <a:srgbClr val="5A5D66"/>
                </a:solidFill>
                <a:latin typeface="Calibri" pitchFamily="34" charset="0"/>
                <a:ea typeface="Calibri" pitchFamily="34" charset="-122"/>
                <a:cs typeface="Calibri" pitchFamily="34" charset="-120"/>
              </a:rPr>
              <a:t>KPI values</a:t>
            </a:r>
            <a:endParaRPr lang="en-US" sz="1200" dirty="0"/>
          </a:p>
          <a:p>
            <a:pPr algn="ctr" indent="0" marL="0">
              <a:buNone/>
            </a:pPr>
            <a:r>
              <a:rPr lang="en-US" sz="1200" dirty="0">
                <a:solidFill>
                  <a:srgbClr val="5A5D66"/>
                </a:solidFill>
                <a:latin typeface="Calibri" pitchFamily="34" charset="0"/>
                <a:ea typeface="Calibri" pitchFamily="34" charset="-122"/>
                <a:cs typeface="Calibri" pitchFamily="34" charset="-120"/>
              </a:rPr>
              <a:t>computed</a:t>
            </a:r>
            <a:endParaRPr lang="en-US" sz="1200" dirty="0"/>
          </a:p>
        </p:txBody>
      </p:sp>
      <p:sp>
        <p:nvSpPr>
          <p:cNvPr id="24" name="Shape 21"/>
          <p:cNvSpPr/>
          <p:nvPr/>
        </p:nvSpPr>
        <p:spPr>
          <a:xfrm>
            <a:off x="7269480" y="1691640"/>
            <a:ext cx="2148840" cy="777240"/>
          </a:xfrm>
          <a:prstGeom prst="homePlate">
            <a:avLst/>
          </a:prstGeom>
          <a:solidFill>
            <a:srgbClr val="33363F"/>
          </a:solidFill>
          <a:ln/>
        </p:spPr>
      </p:sp>
      <p:sp>
        <p:nvSpPr>
          <p:cNvPr id="25" name="Text 22"/>
          <p:cNvSpPr/>
          <p:nvPr/>
        </p:nvSpPr>
        <p:spPr>
          <a:xfrm>
            <a:off x="7452360" y="1691640"/>
            <a:ext cx="1737360" cy="7772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Verify</a:t>
            </a:r>
            <a:endParaRPr lang="en-US" sz="1800" dirty="0"/>
          </a:p>
        </p:txBody>
      </p:sp>
      <p:sp>
        <p:nvSpPr>
          <p:cNvPr id="26" name="Text 23"/>
          <p:cNvSpPr/>
          <p:nvPr/>
        </p:nvSpPr>
        <p:spPr>
          <a:xfrm>
            <a:off x="7269480" y="2542032"/>
            <a:ext cx="21488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Evaluation</a:t>
            </a:r>
            <a:endParaRPr lang="en-US" sz="1100" dirty="0"/>
          </a:p>
        </p:txBody>
      </p:sp>
      <p:sp>
        <p:nvSpPr>
          <p:cNvPr id="27" name="Shape 24"/>
          <p:cNvSpPr/>
          <p:nvPr/>
        </p:nvSpPr>
        <p:spPr>
          <a:xfrm>
            <a:off x="7269480" y="2926080"/>
            <a:ext cx="2148840" cy="1554480"/>
          </a:xfrm>
          <a:prstGeom prst="roundRect">
            <a:avLst>
              <a:gd name="adj" fmla="val 4706"/>
            </a:avLst>
          </a:prstGeom>
          <a:solidFill>
            <a:srgbClr val="F5F5F6"/>
          </a:solidFill>
          <a:ln/>
        </p:spPr>
      </p:sp>
      <p:sp>
        <p:nvSpPr>
          <p:cNvPr id="28" name="Text 25"/>
          <p:cNvSpPr/>
          <p:nvPr/>
        </p:nvSpPr>
        <p:spPr>
          <a:xfrm>
            <a:off x="7269480" y="3035808"/>
            <a:ext cx="2148840" cy="685800"/>
          </a:xfrm>
          <a:prstGeom prst="rect">
            <a:avLst/>
          </a:prstGeom>
          <a:noFill/>
          <a:ln/>
        </p:spPr>
        <p:txBody>
          <a:bodyPr wrap="square" lIns="0" tIns="0" rIns="0" bIns="0" rtlCol="0" anchor="ctr"/>
          <a:lstStyle/>
          <a:p>
            <a:pPr algn="ctr" indent="0" marL="0">
              <a:buNone/>
            </a:pPr>
            <a:r>
              <a:rPr lang="en-US" sz="3200" b="1" dirty="0">
                <a:solidFill>
                  <a:srgbClr val="33363F"/>
                </a:solidFill>
                <a:latin typeface="Cambria" pitchFamily="34" charset="0"/>
                <a:ea typeface="Cambria" pitchFamily="34" charset="-122"/>
                <a:cs typeface="Cambria" pitchFamily="34" charset="-120"/>
              </a:rPr>
              <a:t>7,674</a:t>
            </a:r>
            <a:endParaRPr lang="en-US" sz="3200" dirty="0"/>
          </a:p>
        </p:txBody>
      </p:sp>
      <p:sp>
        <p:nvSpPr>
          <p:cNvPr id="29" name="Text 26"/>
          <p:cNvSpPr/>
          <p:nvPr/>
        </p:nvSpPr>
        <p:spPr>
          <a:xfrm>
            <a:off x="7360920" y="3703320"/>
            <a:ext cx="1965960" cy="685800"/>
          </a:xfrm>
          <a:prstGeom prst="rect">
            <a:avLst/>
          </a:prstGeom>
          <a:noFill/>
          <a:ln/>
        </p:spPr>
        <p:txBody>
          <a:bodyPr wrap="square" lIns="0" tIns="0" rIns="0" bIns="0" rtlCol="0" anchor="t"/>
          <a:lstStyle/>
          <a:p>
            <a:pPr algn="ctr" indent="0" marL="0">
              <a:buNone/>
            </a:pPr>
            <a:r>
              <a:rPr lang="en-US" sz="1200" dirty="0">
                <a:solidFill>
                  <a:srgbClr val="5A5D66"/>
                </a:solidFill>
                <a:latin typeface="Calibri" pitchFamily="34" charset="0"/>
                <a:ea typeface="Calibri" pitchFamily="34" charset="-122"/>
                <a:cs typeface="Calibri" pitchFamily="34" charset="-120"/>
              </a:rPr>
              <a:t>accounting checks</a:t>
            </a:r>
            <a:endParaRPr lang="en-US" sz="1200" dirty="0"/>
          </a:p>
          <a:p>
            <a:pPr algn="ctr" indent="0" marL="0">
              <a:buNone/>
            </a:pPr>
            <a:r>
              <a:rPr lang="en-US" sz="1200" dirty="0">
                <a:solidFill>
                  <a:srgbClr val="5A5D66"/>
                </a:solidFill>
                <a:latin typeface="Calibri" pitchFamily="34" charset="0"/>
                <a:ea typeface="Calibri" pitchFamily="34" charset="-122"/>
                <a:cs typeface="Calibri" pitchFamily="34" charset="-120"/>
              </a:rPr>
              <a:t>+ anomaly audit</a:t>
            </a:r>
            <a:endParaRPr lang="en-US" sz="1200" dirty="0"/>
          </a:p>
        </p:txBody>
      </p:sp>
      <p:sp>
        <p:nvSpPr>
          <p:cNvPr id="30" name="Shape 27"/>
          <p:cNvSpPr/>
          <p:nvPr/>
        </p:nvSpPr>
        <p:spPr>
          <a:xfrm>
            <a:off x="9509760" y="1691640"/>
            <a:ext cx="2148840" cy="777240"/>
          </a:xfrm>
          <a:prstGeom prst="homePlate">
            <a:avLst/>
          </a:prstGeom>
          <a:solidFill>
            <a:srgbClr val="FFE600"/>
          </a:solidFill>
          <a:ln/>
        </p:spPr>
      </p:sp>
      <p:sp>
        <p:nvSpPr>
          <p:cNvPr id="31" name="Text 28"/>
          <p:cNvSpPr/>
          <p:nvPr/>
        </p:nvSpPr>
        <p:spPr>
          <a:xfrm>
            <a:off x="9692640" y="1691640"/>
            <a:ext cx="1737360" cy="777240"/>
          </a:xfrm>
          <a:prstGeom prst="rect">
            <a:avLst/>
          </a:prstGeom>
          <a:noFill/>
          <a:ln/>
        </p:spPr>
        <p:txBody>
          <a:bodyPr wrap="square" lIns="0" tIns="0" rIns="0" bIns="0" rtlCol="0" anchor="ctr"/>
          <a:lstStyle/>
          <a:p>
            <a:pPr indent="0" marL="0">
              <a:buNone/>
            </a:pPr>
            <a:r>
              <a:rPr lang="en-US" sz="1800" b="1" dirty="0">
                <a:solidFill>
                  <a:srgbClr val="33363F"/>
                </a:solidFill>
                <a:latin typeface="Cambria" pitchFamily="34" charset="0"/>
                <a:ea typeface="Cambria" pitchFamily="34" charset="-122"/>
                <a:cs typeface="Cambria" pitchFamily="34" charset="-120"/>
              </a:rPr>
              <a:t>Deliver</a:t>
            </a:r>
            <a:endParaRPr lang="en-US" sz="1800" dirty="0"/>
          </a:p>
        </p:txBody>
      </p:sp>
      <p:sp>
        <p:nvSpPr>
          <p:cNvPr id="32" name="Text 29"/>
          <p:cNvSpPr/>
          <p:nvPr/>
        </p:nvSpPr>
        <p:spPr>
          <a:xfrm>
            <a:off x="9509760" y="2542032"/>
            <a:ext cx="21488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Deployment</a:t>
            </a:r>
            <a:endParaRPr lang="en-US" sz="1100" dirty="0"/>
          </a:p>
        </p:txBody>
      </p:sp>
      <p:sp>
        <p:nvSpPr>
          <p:cNvPr id="33" name="Shape 30"/>
          <p:cNvSpPr/>
          <p:nvPr/>
        </p:nvSpPr>
        <p:spPr>
          <a:xfrm>
            <a:off x="9509760" y="2926080"/>
            <a:ext cx="2148840" cy="1554480"/>
          </a:xfrm>
          <a:prstGeom prst="roundRect">
            <a:avLst>
              <a:gd name="adj" fmla="val 4706"/>
            </a:avLst>
          </a:prstGeom>
          <a:solidFill>
            <a:srgbClr val="F5F5F6"/>
          </a:solidFill>
          <a:ln/>
        </p:spPr>
      </p:sp>
      <p:sp>
        <p:nvSpPr>
          <p:cNvPr id="34" name="Text 31"/>
          <p:cNvSpPr/>
          <p:nvPr/>
        </p:nvSpPr>
        <p:spPr>
          <a:xfrm>
            <a:off x="9509760" y="3035808"/>
            <a:ext cx="2148840" cy="685800"/>
          </a:xfrm>
          <a:prstGeom prst="rect">
            <a:avLst/>
          </a:prstGeom>
          <a:noFill/>
          <a:ln/>
        </p:spPr>
        <p:txBody>
          <a:bodyPr wrap="square" lIns="0" tIns="0" rIns="0" bIns="0" rtlCol="0" anchor="ctr"/>
          <a:lstStyle/>
          <a:p>
            <a:pPr algn="ctr" indent="0" marL="0">
              <a:buNone/>
            </a:pPr>
            <a:r>
              <a:rPr lang="en-US" sz="3200" b="1" dirty="0">
                <a:solidFill>
                  <a:srgbClr val="33363F"/>
                </a:solidFill>
                <a:latin typeface="Cambria" pitchFamily="34" charset="0"/>
                <a:ea typeface="Cambria" pitchFamily="34" charset="-122"/>
                <a:cs typeface="Cambria" pitchFamily="34" charset="-120"/>
              </a:rPr>
              <a:t>3</a:t>
            </a:r>
            <a:endParaRPr lang="en-US" sz="3200" dirty="0"/>
          </a:p>
        </p:txBody>
      </p:sp>
      <p:sp>
        <p:nvSpPr>
          <p:cNvPr id="35" name="Text 32"/>
          <p:cNvSpPr/>
          <p:nvPr/>
        </p:nvSpPr>
        <p:spPr>
          <a:xfrm>
            <a:off x="9601200" y="3703320"/>
            <a:ext cx="1965960" cy="685800"/>
          </a:xfrm>
          <a:prstGeom prst="rect">
            <a:avLst/>
          </a:prstGeom>
          <a:noFill/>
          <a:ln/>
        </p:spPr>
        <p:txBody>
          <a:bodyPr wrap="square" lIns="0" tIns="0" rIns="0" bIns="0" rtlCol="0" anchor="t"/>
          <a:lstStyle/>
          <a:p>
            <a:pPr algn="ctr" indent="0" marL="0">
              <a:buNone/>
            </a:pPr>
            <a:r>
              <a:rPr lang="en-US" sz="1200" dirty="0">
                <a:solidFill>
                  <a:srgbClr val="5A5D66"/>
                </a:solidFill>
                <a:latin typeface="Calibri" pitchFamily="34" charset="0"/>
                <a:ea typeface="Calibri" pitchFamily="34" charset="-122"/>
                <a:cs typeface="Calibri" pitchFamily="34" charset="-120"/>
              </a:rPr>
              <a:t>channels: dashboards,</a:t>
            </a:r>
            <a:endParaRPr lang="en-US" sz="1200" dirty="0"/>
          </a:p>
          <a:p>
            <a:pPr algn="ctr" indent="0" marL="0">
              <a:buNone/>
            </a:pPr>
            <a:r>
              <a:rPr lang="en-US" sz="1200" dirty="0">
                <a:solidFill>
                  <a:srgbClr val="5A5D66"/>
                </a:solidFill>
                <a:latin typeface="Calibri" pitchFamily="34" charset="0"/>
                <a:ea typeface="Calibri" pitchFamily="34" charset="-122"/>
                <a:cs typeface="Calibri" pitchFamily="34" charset="-120"/>
              </a:rPr>
              <a:t>Excel, chatbot</a:t>
            </a:r>
            <a:endParaRPr lang="en-US" sz="1200" dirty="0"/>
          </a:p>
        </p:txBody>
      </p:sp>
      <p:sp>
        <p:nvSpPr>
          <p:cNvPr id="36" name="Shape 33"/>
          <p:cNvSpPr/>
          <p:nvPr/>
        </p:nvSpPr>
        <p:spPr>
          <a:xfrm>
            <a:off x="548640" y="4846320"/>
            <a:ext cx="11064240" cy="1188720"/>
          </a:xfrm>
          <a:prstGeom prst="roundRect">
            <a:avLst>
              <a:gd name="adj" fmla="val 6154"/>
            </a:avLst>
          </a:prstGeom>
          <a:solidFill>
            <a:srgbClr val="33363F"/>
          </a:solidFill>
          <a:ln/>
        </p:spPr>
      </p:sp>
      <p:sp>
        <p:nvSpPr>
          <p:cNvPr id="37" name="Shape 34"/>
          <p:cNvSpPr/>
          <p:nvPr/>
        </p:nvSpPr>
        <p:spPr>
          <a:xfrm>
            <a:off x="868680" y="5349240"/>
            <a:ext cx="182880" cy="182880"/>
          </a:xfrm>
          <a:prstGeom prst="ellipse">
            <a:avLst/>
          </a:prstGeom>
          <a:solidFill>
            <a:srgbClr val="FFE600"/>
          </a:solidFill>
          <a:ln/>
        </p:spPr>
      </p:sp>
      <p:sp>
        <p:nvSpPr>
          <p:cNvPr id="38" name="Text 35"/>
          <p:cNvSpPr/>
          <p:nvPr/>
        </p:nvSpPr>
        <p:spPr>
          <a:xfrm>
            <a:off x="1280160" y="4846320"/>
            <a:ext cx="10058400" cy="1188720"/>
          </a:xfrm>
          <a:prstGeom prst="rect">
            <a:avLst/>
          </a:prstGeom>
          <a:noFill/>
          <a:ln/>
        </p:spPr>
        <p:txBody>
          <a:bodyPr wrap="square" lIns="0" tIns="0" rIns="0" bIns="0" rtlCol="0" anchor="ctr"/>
          <a:lstStyle/>
          <a:p>
            <a:pPr indent="0" marL="0">
              <a:buNone/>
            </a:pPr>
            <a:r>
              <a:rPr lang="en-US" sz="1300" b="1" dirty="0">
                <a:solidFill>
                  <a:srgbClr val="FFE600"/>
                </a:solidFill>
                <a:latin typeface="Calibri" pitchFamily="34" charset="0"/>
                <a:ea typeface="Calibri" pitchFamily="34" charset="-122"/>
                <a:cs typeface="Calibri" pitchFamily="34" charset="-120"/>
              </a:rPr>
              <a:t>One figure, followed end to end</a:t>
            </a:r>
            <a:endParaRPr lang="en-US" sz="1300" dirty="0"/>
          </a:p>
          <a:p>
            <a:pPr indent="0" marL="0">
              <a:buNone/>
            </a:pPr>
            <a:r>
              <a:rPr lang="en-US" sz="1600" dirty="0">
                <a:solidFill>
                  <a:srgbClr val="FFFFFF"/>
                </a:solidFill>
                <a:latin typeface="Calibri" pitchFamily="34" charset="0"/>
                <a:ea typeface="Calibri" pitchFamily="34" charset="-122"/>
                <a:cs typeface="Calibri" pitchFamily="34" charset="-120"/>
              </a:rPr>
              <a:t>ASTREE · Total assets · 2025 = 881,075,424 TND — read on page 2 of a CMF report.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1 · Collect — Automated, Scheduled, Reliable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48640" y="1600200"/>
            <a:ext cx="4572000" cy="512064"/>
          </a:xfrm>
          <a:prstGeom prst="roundRect">
            <a:avLst>
              <a:gd name="adj" fmla="val 14286"/>
            </a:avLst>
          </a:prstGeom>
          <a:solidFill>
            <a:srgbClr val="33363F"/>
          </a:solidFill>
          <a:ln/>
        </p:spPr>
      </p:sp>
      <p:sp>
        <p:nvSpPr>
          <p:cNvPr id="7" name="Shape 4"/>
          <p:cNvSpPr/>
          <p:nvPr/>
        </p:nvSpPr>
        <p:spPr>
          <a:xfrm>
            <a:off x="731520" y="1691640"/>
            <a:ext cx="329184" cy="329184"/>
          </a:xfrm>
          <a:prstGeom prst="ellipse">
            <a:avLst/>
          </a:prstGeom>
          <a:solidFill>
            <a:srgbClr val="FFE600"/>
          </a:solidFill>
          <a:ln/>
        </p:spPr>
      </p:sp>
      <p:sp>
        <p:nvSpPr>
          <p:cNvPr id="8" name="Text 5"/>
          <p:cNvSpPr/>
          <p:nvPr/>
        </p:nvSpPr>
        <p:spPr>
          <a:xfrm>
            <a:off x="731520" y="1691640"/>
            <a:ext cx="329184" cy="329184"/>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1</a:t>
            </a:r>
            <a:endParaRPr lang="en-US" sz="1300" dirty="0"/>
          </a:p>
        </p:txBody>
      </p:sp>
      <p:sp>
        <p:nvSpPr>
          <p:cNvPr id="9" name="Text 6"/>
          <p:cNvSpPr/>
          <p:nvPr/>
        </p:nvSpPr>
        <p:spPr>
          <a:xfrm>
            <a:off x="1188720" y="1600200"/>
            <a:ext cx="3794760"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Open the portal</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headless Chrome</a:t>
            </a:r>
            <a:endParaRPr lang="en-US" sz="1400" dirty="0"/>
          </a:p>
        </p:txBody>
      </p:sp>
      <p:sp>
        <p:nvSpPr>
          <p:cNvPr id="10" name="Shape 7"/>
          <p:cNvSpPr/>
          <p:nvPr/>
        </p:nvSpPr>
        <p:spPr>
          <a:xfrm>
            <a:off x="2834640" y="2112264"/>
            <a:ext cx="9144" cy="109728"/>
          </a:xfrm>
          <a:prstGeom prst="line">
            <a:avLst/>
          </a:prstGeom>
          <a:noFill/>
          <a:ln w="25400">
            <a:solidFill>
              <a:srgbClr val="FFE600"/>
            </a:solidFill>
            <a:prstDash val="solid"/>
            <a:tailEnd type="triangle"/>
          </a:ln>
        </p:spPr>
      </p:sp>
      <p:sp>
        <p:nvSpPr>
          <p:cNvPr id="11" name="Shape 8"/>
          <p:cNvSpPr/>
          <p:nvPr/>
        </p:nvSpPr>
        <p:spPr>
          <a:xfrm>
            <a:off x="548640" y="2221992"/>
            <a:ext cx="4572000" cy="512064"/>
          </a:xfrm>
          <a:prstGeom prst="roundRect">
            <a:avLst>
              <a:gd name="adj" fmla="val 14286"/>
            </a:avLst>
          </a:prstGeom>
          <a:solidFill>
            <a:srgbClr val="40434D"/>
          </a:solidFill>
          <a:ln/>
        </p:spPr>
      </p:sp>
      <p:sp>
        <p:nvSpPr>
          <p:cNvPr id="12" name="Shape 9"/>
          <p:cNvSpPr/>
          <p:nvPr/>
        </p:nvSpPr>
        <p:spPr>
          <a:xfrm>
            <a:off x="731520" y="2313432"/>
            <a:ext cx="329184" cy="329184"/>
          </a:xfrm>
          <a:prstGeom prst="ellipse">
            <a:avLst/>
          </a:prstGeom>
          <a:solidFill>
            <a:srgbClr val="FFE600"/>
          </a:solidFill>
          <a:ln/>
        </p:spPr>
      </p:sp>
      <p:sp>
        <p:nvSpPr>
          <p:cNvPr id="13" name="Text 10"/>
          <p:cNvSpPr/>
          <p:nvPr/>
        </p:nvSpPr>
        <p:spPr>
          <a:xfrm>
            <a:off x="731520" y="2313432"/>
            <a:ext cx="329184" cy="329184"/>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2</a:t>
            </a:r>
            <a:endParaRPr lang="en-US" sz="1300" dirty="0"/>
          </a:p>
        </p:txBody>
      </p:sp>
      <p:sp>
        <p:nvSpPr>
          <p:cNvPr id="14" name="Text 11"/>
          <p:cNvSpPr/>
          <p:nvPr/>
        </p:nvSpPr>
        <p:spPr>
          <a:xfrm>
            <a:off x="1188720" y="2221992"/>
            <a:ext cx="3794760"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Select the company</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drop-down menu</a:t>
            </a:r>
            <a:endParaRPr lang="en-US" sz="1400" dirty="0"/>
          </a:p>
        </p:txBody>
      </p:sp>
      <p:sp>
        <p:nvSpPr>
          <p:cNvPr id="15" name="Shape 12"/>
          <p:cNvSpPr/>
          <p:nvPr/>
        </p:nvSpPr>
        <p:spPr>
          <a:xfrm>
            <a:off x="2834640" y="2734056"/>
            <a:ext cx="9144" cy="109728"/>
          </a:xfrm>
          <a:prstGeom prst="line">
            <a:avLst/>
          </a:prstGeom>
          <a:noFill/>
          <a:ln w="25400">
            <a:solidFill>
              <a:srgbClr val="FFE600"/>
            </a:solidFill>
            <a:prstDash val="solid"/>
            <a:tailEnd type="triangle"/>
          </a:ln>
        </p:spPr>
      </p:sp>
      <p:sp>
        <p:nvSpPr>
          <p:cNvPr id="16" name="Shape 13"/>
          <p:cNvSpPr/>
          <p:nvPr/>
        </p:nvSpPr>
        <p:spPr>
          <a:xfrm>
            <a:off x="548640" y="2843784"/>
            <a:ext cx="4572000" cy="512064"/>
          </a:xfrm>
          <a:prstGeom prst="roundRect">
            <a:avLst>
              <a:gd name="adj" fmla="val 14286"/>
            </a:avLst>
          </a:prstGeom>
          <a:solidFill>
            <a:srgbClr val="33363F"/>
          </a:solidFill>
          <a:ln/>
        </p:spPr>
      </p:sp>
      <p:sp>
        <p:nvSpPr>
          <p:cNvPr id="17" name="Shape 14"/>
          <p:cNvSpPr/>
          <p:nvPr/>
        </p:nvSpPr>
        <p:spPr>
          <a:xfrm>
            <a:off x="731520" y="2935224"/>
            <a:ext cx="329184" cy="329184"/>
          </a:xfrm>
          <a:prstGeom prst="ellipse">
            <a:avLst/>
          </a:prstGeom>
          <a:solidFill>
            <a:srgbClr val="FFE600"/>
          </a:solidFill>
          <a:ln/>
        </p:spPr>
      </p:sp>
      <p:sp>
        <p:nvSpPr>
          <p:cNvPr id="18" name="Text 15"/>
          <p:cNvSpPr/>
          <p:nvPr/>
        </p:nvSpPr>
        <p:spPr>
          <a:xfrm>
            <a:off x="731520" y="2935224"/>
            <a:ext cx="329184" cy="329184"/>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3</a:t>
            </a:r>
            <a:endParaRPr lang="en-US" sz="1300" dirty="0"/>
          </a:p>
        </p:txBody>
      </p:sp>
      <p:sp>
        <p:nvSpPr>
          <p:cNvPr id="19" name="Text 16"/>
          <p:cNvSpPr/>
          <p:nvPr/>
        </p:nvSpPr>
        <p:spPr>
          <a:xfrm>
            <a:off x="1188720" y="2843784"/>
            <a:ext cx="3794760"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Run the search</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click on the button</a:t>
            </a:r>
            <a:endParaRPr lang="en-US" sz="1400" dirty="0"/>
          </a:p>
        </p:txBody>
      </p:sp>
      <p:sp>
        <p:nvSpPr>
          <p:cNvPr id="20" name="Shape 17"/>
          <p:cNvSpPr/>
          <p:nvPr/>
        </p:nvSpPr>
        <p:spPr>
          <a:xfrm>
            <a:off x="2834640" y="3355848"/>
            <a:ext cx="9144" cy="109728"/>
          </a:xfrm>
          <a:prstGeom prst="line">
            <a:avLst/>
          </a:prstGeom>
          <a:noFill/>
          <a:ln w="25400">
            <a:solidFill>
              <a:srgbClr val="FFE600"/>
            </a:solidFill>
            <a:prstDash val="solid"/>
            <a:tailEnd type="triangle"/>
          </a:ln>
        </p:spPr>
      </p:sp>
      <p:sp>
        <p:nvSpPr>
          <p:cNvPr id="21" name="Shape 18"/>
          <p:cNvSpPr/>
          <p:nvPr/>
        </p:nvSpPr>
        <p:spPr>
          <a:xfrm>
            <a:off x="548640" y="3465576"/>
            <a:ext cx="4572000" cy="512064"/>
          </a:xfrm>
          <a:prstGeom prst="roundRect">
            <a:avLst>
              <a:gd name="adj" fmla="val 14286"/>
            </a:avLst>
          </a:prstGeom>
          <a:solidFill>
            <a:srgbClr val="40434D"/>
          </a:solidFill>
          <a:ln/>
        </p:spPr>
      </p:sp>
      <p:sp>
        <p:nvSpPr>
          <p:cNvPr id="22" name="Shape 19"/>
          <p:cNvSpPr/>
          <p:nvPr/>
        </p:nvSpPr>
        <p:spPr>
          <a:xfrm>
            <a:off x="731520" y="3557016"/>
            <a:ext cx="329184" cy="329184"/>
          </a:xfrm>
          <a:prstGeom prst="ellipse">
            <a:avLst/>
          </a:prstGeom>
          <a:solidFill>
            <a:srgbClr val="FFE600"/>
          </a:solidFill>
          <a:ln/>
        </p:spPr>
      </p:sp>
      <p:sp>
        <p:nvSpPr>
          <p:cNvPr id="23" name="Text 20"/>
          <p:cNvSpPr/>
          <p:nvPr/>
        </p:nvSpPr>
        <p:spPr>
          <a:xfrm>
            <a:off x="731520" y="3557016"/>
            <a:ext cx="329184" cy="329184"/>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4</a:t>
            </a:r>
            <a:endParaRPr lang="en-US" sz="1300" dirty="0"/>
          </a:p>
        </p:txBody>
      </p:sp>
      <p:sp>
        <p:nvSpPr>
          <p:cNvPr id="24" name="Text 21"/>
          <p:cNvSpPr/>
          <p:nvPr/>
        </p:nvSpPr>
        <p:spPr>
          <a:xfrm>
            <a:off x="1188720" y="3465576"/>
            <a:ext cx="3794760"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Keep annual reports</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filter and deduplicate</a:t>
            </a:r>
            <a:endParaRPr lang="en-US" sz="1400" dirty="0"/>
          </a:p>
        </p:txBody>
      </p:sp>
      <p:sp>
        <p:nvSpPr>
          <p:cNvPr id="25" name="Shape 22"/>
          <p:cNvSpPr/>
          <p:nvPr/>
        </p:nvSpPr>
        <p:spPr>
          <a:xfrm>
            <a:off x="2834640" y="3977640"/>
            <a:ext cx="9144" cy="109728"/>
          </a:xfrm>
          <a:prstGeom prst="line">
            <a:avLst/>
          </a:prstGeom>
          <a:noFill/>
          <a:ln w="25400">
            <a:solidFill>
              <a:srgbClr val="FFE600"/>
            </a:solidFill>
            <a:prstDash val="solid"/>
            <a:tailEnd type="triangle"/>
          </a:ln>
        </p:spPr>
      </p:sp>
      <p:sp>
        <p:nvSpPr>
          <p:cNvPr id="26" name="Shape 23"/>
          <p:cNvSpPr/>
          <p:nvPr/>
        </p:nvSpPr>
        <p:spPr>
          <a:xfrm>
            <a:off x="548640" y="4087368"/>
            <a:ext cx="4572000" cy="512064"/>
          </a:xfrm>
          <a:prstGeom prst="roundRect">
            <a:avLst>
              <a:gd name="adj" fmla="val 14286"/>
            </a:avLst>
          </a:prstGeom>
          <a:solidFill>
            <a:srgbClr val="33363F"/>
          </a:solidFill>
          <a:ln/>
        </p:spPr>
      </p:sp>
      <p:sp>
        <p:nvSpPr>
          <p:cNvPr id="27" name="Shape 24"/>
          <p:cNvSpPr/>
          <p:nvPr/>
        </p:nvSpPr>
        <p:spPr>
          <a:xfrm>
            <a:off x="731520" y="4178808"/>
            <a:ext cx="329184" cy="329184"/>
          </a:xfrm>
          <a:prstGeom prst="ellipse">
            <a:avLst/>
          </a:prstGeom>
          <a:solidFill>
            <a:srgbClr val="FFE600"/>
          </a:solidFill>
          <a:ln/>
        </p:spPr>
      </p:sp>
      <p:sp>
        <p:nvSpPr>
          <p:cNvPr id="28" name="Text 25"/>
          <p:cNvSpPr/>
          <p:nvPr/>
        </p:nvSpPr>
        <p:spPr>
          <a:xfrm>
            <a:off x="731520" y="4178808"/>
            <a:ext cx="329184" cy="329184"/>
          </a:xfrm>
          <a:prstGeom prst="rect">
            <a:avLst/>
          </a:prstGeom>
          <a:noFill/>
          <a:ln/>
        </p:spPr>
        <p:txBody>
          <a:bodyPr wrap="square" lIns="0" tIns="0" rIns="0" bIns="0" rtlCol="0" anchor="ctr"/>
          <a:lstStyle/>
          <a:p>
            <a:pPr algn="ctr" indent="0" marL="0">
              <a:buNone/>
            </a:pPr>
            <a:r>
              <a:rPr lang="en-US" sz="1300" b="1" dirty="0">
                <a:solidFill>
                  <a:srgbClr val="33363F"/>
                </a:solidFill>
                <a:latin typeface="Cambria" pitchFamily="34" charset="0"/>
                <a:ea typeface="Cambria" pitchFamily="34" charset="-122"/>
                <a:cs typeface="Cambria" pitchFamily="34" charset="-120"/>
              </a:rPr>
              <a:t>5</a:t>
            </a:r>
            <a:endParaRPr lang="en-US" sz="1300" dirty="0"/>
          </a:p>
        </p:txBody>
      </p:sp>
      <p:sp>
        <p:nvSpPr>
          <p:cNvPr id="29" name="Text 26"/>
          <p:cNvSpPr/>
          <p:nvPr/>
        </p:nvSpPr>
        <p:spPr>
          <a:xfrm>
            <a:off x="1188720" y="4087368"/>
            <a:ext cx="3794760"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Verify and save</a:t>
            </a:r>
            <a:endParaRPr lang="en-US" sz="1400" dirty="0"/>
          </a:p>
          <a:p>
            <a:pPr indent="0" marL="0">
              <a:buNone/>
            </a:pPr>
            <a:r>
              <a:rPr lang="en-US" sz="1100" dirty="0">
                <a:solidFill>
                  <a:srgbClr val="C7CBD0"/>
                </a:solidFill>
                <a:latin typeface="Calibri" pitchFamily="34" charset="0"/>
                <a:ea typeface="Calibri" pitchFamily="34" charset="-122"/>
                <a:cs typeface="Calibri" pitchFamily="34" charset="-120"/>
              </a:rPr>
              <a:t>e.g. ASTREE 2025 → astree_efd311225.pdf</a:t>
            </a:r>
            <a:endParaRPr lang="en-US" sz="1400" dirty="0"/>
          </a:p>
        </p:txBody>
      </p:sp>
      <p:graphicFrame>
        <p:nvGraphicFramePr>
          <p:cNvPr id="30" name="Chart 0" descr=""/>
          <p:cNvGraphicFramePr/>
          <p:nvPr/>
        </p:nvGraphicFramePr>
        <p:xfrm>
          <a:off x="5486400" y="1508760"/>
          <a:ext cx="6126480" cy="2880360"/>
        </p:xfrm>
        <a:graphic xmlns:a="http://schemas.openxmlformats.org/drawingml/2006/main">
          <a:graphicData uri="http://schemas.openxmlformats.org/drawingml/2006/chart">
            <c:chart xmlns:c="http://schemas.openxmlformats.org/drawingml/2006/chart" r:id="rId1"/>
          </a:graphicData>
        </a:graphic>
      </p:graphicFrame>
      <p:sp>
        <p:nvSpPr>
          <p:cNvPr id="31" name="Shape 27"/>
          <p:cNvSpPr/>
          <p:nvPr/>
        </p:nvSpPr>
        <p:spPr>
          <a:xfrm>
            <a:off x="548640" y="4754880"/>
            <a:ext cx="11064240" cy="858432"/>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32" name="Image 0" descr="C:/Users/HP/Desktop/SCRAPING/docs/scratch/pipeline_shots/crops/gestion_cards2.png">    </p:cNvPr>
          <p:cNvPicPr>
            <a:picLocks noChangeAspect="1"/>
          </p:cNvPicPr>
          <p:nvPr/>
        </p:nvPicPr>
        <p:blipFill>
          <a:blip r:embed="rId2"/>
          <a:stretch>
            <a:fillRect/>
          </a:stretch>
        </p:blipFill>
        <p:spPr>
          <a:xfrm>
            <a:off x="548640" y="4754880"/>
            <a:ext cx="11064240" cy="858432"/>
          </a:xfrm>
          <a:prstGeom prst="rect">
            <a:avLst/>
          </a:prstGeom>
        </p:spPr>
      </p:pic>
      <p:sp>
        <p:nvSpPr>
          <p:cNvPr id="33" name="Text 28"/>
          <p:cNvSpPr/>
          <p:nvPr/>
        </p:nvSpPr>
        <p:spPr>
          <a:xfrm>
            <a:off x="548640" y="5668176"/>
            <a:ext cx="1106424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Data Management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2 · Extract — From a PDF Page to Cells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548640" y="1600200"/>
            <a:ext cx="5427339" cy="3931920"/>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scratch/pipeline_shots/crops/hl_pdf.png">    </p:cNvPr>
          <p:cNvPicPr>
            <a:picLocks noChangeAspect="1"/>
          </p:cNvPicPr>
          <p:nvPr/>
        </p:nvPicPr>
        <p:blipFill>
          <a:blip r:embed="rId1"/>
          <a:stretch>
            <a:fillRect/>
          </a:stretch>
        </p:blipFill>
        <p:spPr>
          <a:xfrm>
            <a:off x="548640" y="1600200"/>
            <a:ext cx="5427339" cy="3931920"/>
          </a:xfrm>
          <a:prstGeom prst="rect">
            <a:avLst/>
          </a:prstGeom>
        </p:spPr>
      </p:pic>
      <p:sp>
        <p:nvSpPr>
          <p:cNvPr id="8" name="Text 4"/>
          <p:cNvSpPr/>
          <p:nvPr/>
        </p:nvSpPr>
        <p:spPr>
          <a:xfrm>
            <a:off x="548640" y="5586984"/>
            <a:ext cx="5427339"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page — ASTREE 2025 · Balance sheet · p.2</a:t>
            </a:r>
            <a:endParaRPr lang="en-US" sz="1050" dirty="0"/>
          </a:p>
        </p:txBody>
      </p:sp>
      <p:sp>
        <p:nvSpPr>
          <p:cNvPr id="9" name="Shape 5"/>
          <p:cNvSpPr/>
          <p:nvPr/>
        </p:nvSpPr>
        <p:spPr>
          <a:xfrm>
            <a:off x="6400800" y="3566160"/>
            <a:ext cx="457200" cy="9144"/>
          </a:xfrm>
          <a:prstGeom prst="line">
            <a:avLst/>
          </a:prstGeom>
          <a:noFill/>
          <a:ln w="38100">
            <a:solidFill>
              <a:srgbClr val="FFE600"/>
            </a:solidFill>
            <a:prstDash val="solid"/>
            <a:tailEnd type="triangle"/>
          </a:ln>
        </p:spPr>
      </p:sp>
      <p:sp>
        <p:nvSpPr>
          <p:cNvPr id="10" name="Text 6"/>
          <p:cNvSpPr/>
          <p:nvPr/>
        </p:nvSpPr>
        <p:spPr>
          <a:xfrm>
            <a:off x="7040880" y="1600200"/>
            <a:ext cx="4572000" cy="320040"/>
          </a:xfrm>
          <a:prstGeom prst="rect">
            <a:avLst/>
          </a:prstGeom>
          <a:noFill/>
          <a:ln/>
        </p:spPr>
        <p:txBody>
          <a:bodyPr wrap="square" lIns="0" tIns="0" rIns="0" bIns="0" rtlCol="0" anchor="ctr"/>
          <a:lstStyle/>
          <a:p>
            <a:pPr indent="0" marL="0">
              <a:buNone/>
            </a:pPr>
            <a:r>
              <a:rPr lang="en-US" sz="1600" b="1" dirty="0">
                <a:solidFill>
                  <a:srgbClr val="33363F"/>
                </a:solidFill>
                <a:latin typeface="Cambria" pitchFamily="34" charset="0"/>
                <a:ea typeface="Cambria" pitchFamily="34" charset="-122"/>
                <a:cs typeface="Cambria" pitchFamily="34" charset="-120"/>
              </a:rPr>
              <a:t>Stored as 4 cells</a:t>
            </a:r>
            <a:endParaRPr lang="en-US" sz="1600" dirty="0"/>
          </a:p>
        </p:txBody>
      </p:sp>
      <p:sp>
        <p:nvSpPr>
          <p:cNvPr id="11" name="Text 7"/>
          <p:cNvSpPr/>
          <p:nvPr/>
        </p:nvSpPr>
        <p:spPr>
          <a:xfrm>
            <a:off x="7040880" y="1920240"/>
            <a:ext cx="4572000" cy="274320"/>
          </a:xfrm>
          <a:prstGeom prst="rect">
            <a:avLst/>
          </a:prstGeom>
          <a:noFill/>
          <a:ln/>
        </p:spPr>
        <p:txBody>
          <a:bodyPr wrap="square" lIns="0" tIns="0" rIns="0" bIns="0" rtlCol="0" anchor="ctr"/>
          <a:lstStyle/>
          <a:p>
            <a:pPr indent="0" marL="0">
              <a:buNone/>
            </a:pPr>
            <a:r>
              <a:rPr lang="en-US" sz="1150" dirty="0">
                <a:solidFill>
                  <a:srgbClr val="8B8B90"/>
                </a:solidFill>
                <a:latin typeface="Calibri" pitchFamily="34" charset="0"/>
                <a:ea typeface="Calibri" pitchFamily="34" charset="-122"/>
                <a:cs typeface="Calibri" pitchFamily="34" charset="-120"/>
              </a:rPr>
              <a:t>table bilan_actif · row “TOTAL — Total de l actif”</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040880" y="2377440"/>
          <a:ext cx="4572000" cy="914400"/>
        </p:xfrm>
        <a:graphic>
          <a:graphicData uri="http://schemas.openxmlformats.org/drawingml/2006/table">
            <a:tbl>
              <a:tblPr/>
              <a:tblGrid>
                <a:gridCol w="2743200"/>
                <a:gridCol w="1828800"/>
              </a:tblGrid>
              <a:tr h="42062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33363F"/>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Value (TND)</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33363F"/>
                    </a:solidFill>
                  </a:tcPr>
                </a:tc>
              </a:tr>
              <a:tr h="420624">
                <a:tc>
                  <a:txBody>
                    <a:bodyPr/>
                    <a:lstStyle/>
                    <a:p>
                      <a:pPr algn="l" indent="0" marL="0">
                        <a:buNone/>
                      </a:pPr>
                      <a:r>
                        <a:rPr lang="en-US" sz="1300" dirty="0">
                          <a:solidFill>
                            <a:srgbClr val="26282F"/>
                          </a:solidFill>
                          <a:latin typeface="Calibri" pitchFamily="34" charset="0"/>
                          <a:ea typeface="Calibri" pitchFamily="34" charset="-122"/>
                          <a:cs typeface="Calibri" pitchFamily="34" charset="-120"/>
                        </a:rPr>
                        <a:t>Brut</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6282F"/>
                          </a:solidFill>
                          <a:latin typeface="Calibri" pitchFamily="34" charset="0"/>
                          <a:ea typeface="Calibri" pitchFamily="34" charset="-122"/>
                          <a:cs typeface="Calibri" pitchFamily="34" charset="-120"/>
                        </a:rPr>
                        <a:t>940,299,985</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26282F"/>
                          </a:solidFill>
                          <a:latin typeface="Calibri" pitchFamily="34" charset="0"/>
                          <a:ea typeface="Calibri" pitchFamily="34" charset="-122"/>
                          <a:cs typeface="Calibri" pitchFamily="34" charset="-120"/>
                        </a:rPr>
                        <a:t>Amortissements et provisions</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c>
                  <a:txBody>
                    <a:bodyPr/>
                    <a:lstStyle/>
                    <a:p>
                      <a:pPr algn="r" indent="0" marL="0">
                        <a:buNone/>
                      </a:pPr>
                      <a:r>
                        <a:rPr lang="en-US" sz="1300" dirty="0">
                          <a:solidFill>
                            <a:srgbClr val="26282F"/>
                          </a:solidFill>
                          <a:latin typeface="Calibri" pitchFamily="34" charset="0"/>
                          <a:ea typeface="Calibri" pitchFamily="34" charset="-122"/>
                          <a:cs typeface="Calibri" pitchFamily="34" charset="-120"/>
                        </a:rPr>
                        <a:t>59,224,561</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r>
              <a:tr h="420624">
                <a:tc>
                  <a:txBody>
                    <a:bodyPr/>
                    <a:lstStyle/>
                    <a:p>
                      <a:pPr algn="l" indent="0" marL="0">
                        <a:buNone/>
                      </a:pPr>
                      <a:r>
                        <a:rPr lang="en-US" sz="1300" b="1" dirty="0">
                          <a:solidFill>
                            <a:srgbClr val="26282F"/>
                          </a:solidFill>
                          <a:latin typeface="Calibri" pitchFamily="34" charset="0"/>
                          <a:ea typeface="Calibri" pitchFamily="34" charset="-122"/>
                          <a:cs typeface="Calibri" pitchFamily="34" charset="-120"/>
                        </a:rPr>
                        <a:t>Net</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E600"/>
                    </a:solidFill>
                  </a:tcPr>
                </a:tc>
                <a:tc>
                  <a:txBody>
                    <a:bodyPr/>
                    <a:lstStyle/>
                    <a:p>
                      <a:pPr algn="r" indent="0" marL="0">
                        <a:buNone/>
                      </a:pPr>
                      <a:r>
                        <a:rPr lang="en-US" sz="1300" b="1" dirty="0">
                          <a:solidFill>
                            <a:srgbClr val="26282F"/>
                          </a:solidFill>
                          <a:latin typeface="Calibri" pitchFamily="34" charset="0"/>
                          <a:ea typeface="Calibri" pitchFamily="34" charset="-122"/>
                          <a:cs typeface="Calibri" pitchFamily="34" charset="-120"/>
                        </a:rPr>
                        <a:t>881,075,424</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FE600"/>
                    </a:solidFill>
                  </a:tcPr>
                </a:tc>
              </a:tr>
              <a:tr h="420624">
                <a:tc>
                  <a:txBody>
                    <a:bodyPr/>
                    <a:lstStyle/>
                    <a:p>
                      <a:pPr algn="l" indent="0" marL="0">
                        <a:buNone/>
                      </a:pPr>
                      <a:r>
                        <a:rPr lang="en-US" sz="1300" dirty="0">
                          <a:solidFill>
                            <a:srgbClr val="26282F"/>
                          </a:solidFill>
                          <a:latin typeface="Calibri" pitchFamily="34" charset="0"/>
                          <a:ea typeface="Calibri" pitchFamily="34" charset="-122"/>
                          <a:cs typeface="Calibri" pitchFamily="34" charset="-120"/>
                        </a:rPr>
                        <a:t>Net (N-1)</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c>
                  <a:txBody>
                    <a:bodyPr/>
                    <a:lstStyle/>
                    <a:p>
                      <a:pPr algn="r" indent="0" marL="0">
                        <a:buNone/>
                      </a:pPr>
                      <a:r>
                        <a:rPr lang="en-US" sz="1300" dirty="0">
                          <a:solidFill>
                            <a:srgbClr val="26282F"/>
                          </a:solidFill>
                          <a:latin typeface="Calibri" pitchFamily="34" charset="0"/>
                          <a:ea typeface="Calibri" pitchFamily="34" charset="-122"/>
                          <a:cs typeface="Calibri" pitchFamily="34" charset="-120"/>
                        </a:rPr>
                        <a:t>817,830,616</a:t>
                      </a:r>
                      <a:endParaRPr lang="en-US" sz="1300" dirty="0">
                        <a:latin typeface="Calibri" charset="0"/>
                        <a:ea typeface="Calibri" charset="0"/>
                        <a:cs typeface="Calibri" charset="0"/>
                      </a:endParaRPr>
                    </a:p>
                  </a:txBody>
                  <a:tcPr marL="91440" marR="91440" marT="45720" marB="45720" anchor="ctr">
                    <a:lnL w="9525" cap="flat" cmpd="sng" algn="ctr">
                      <a:solidFill>
                        <a:srgbClr val="D3D5DB"/>
                      </a:solidFill>
                      <a:prstDash val="solid"/>
                      <a:round/>
                      <a:headEnd type="none" w="med" len="med"/>
                      <a:tailEnd type="none" w="med" len="med"/>
                    </a:lnL>
                    <a:lnR w="9525" cap="flat" cmpd="sng" algn="ctr">
                      <a:solidFill>
                        <a:srgbClr val="D3D5DB"/>
                      </a:solidFill>
                      <a:prstDash val="solid"/>
                      <a:round/>
                      <a:headEnd type="none" w="med" len="med"/>
                      <a:tailEnd type="none" w="med" len="med"/>
                    </a:lnR>
                    <a:lnT w="9525" cap="flat" cmpd="sng" algn="ctr">
                      <a:solidFill>
                        <a:srgbClr val="D3D5DB"/>
                      </a:solidFill>
                      <a:prstDash val="solid"/>
                      <a:round/>
                      <a:headEnd type="none" w="med" len="med"/>
                      <a:tailEnd type="none" w="med" len="med"/>
                    </a:lnT>
                    <a:lnB w="9525" cap="flat" cmpd="sng" algn="ctr">
                      <a:solidFill>
                        <a:srgbClr val="D3D5DB"/>
                      </a:solidFill>
                      <a:prstDash val="solid"/>
                      <a:round/>
                      <a:headEnd type="none" w="med" len="med"/>
                      <a:tailEnd type="none" w="med" len="med"/>
                    </a:lnB>
                    <a:solidFill>
                      <a:srgbClr val="F5F5F6"/>
                    </a:solidFill>
                  </a:tcPr>
                </a:tc>
              </a:tr>
            </a:tbl>
          </a:graphicData>
        </a:graphic>
      </p:graphicFrame>
      <p:sp>
        <p:nvSpPr>
          <p:cNvPr id="13" name="Shape 8"/>
          <p:cNvSpPr/>
          <p:nvPr/>
        </p:nvSpPr>
        <p:spPr>
          <a:xfrm>
            <a:off x="7086600" y="4736592"/>
            <a:ext cx="146304" cy="146304"/>
          </a:xfrm>
          <a:prstGeom prst="ellipse">
            <a:avLst/>
          </a:prstGeom>
          <a:solidFill>
            <a:srgbClr val="FFE600"/>
          </a:solidFill>
          <a:ln/>
        </p:spPr>
      </p:sp>
      <p:sp>
        <p:nvSpPr>
          <p:cNvPr id="14" name="Text 9"/>
          <p:cNvSpPr/>
          <p:nvPr/>
        </p:nvSpPr>
        <p:spPr>
          <a:xfrm>
            <a:off x="7360920" y="4681728"/>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pdfplumber reads the words</a:t>
            </a:r>
            <a:endParaRPr lang="en-US" sz="1300" dirty="0"/>
          </a:p>
        </p:txBody>
      </p:sp>
      <p:sp>
        <p:nvSpPr>
          <p:cNvPr id="15" name="Shape 10"/>
          <p:cNvSpPr/>
          <p:nvPr/>
        </p:nvSpPr>
        <p:spPr>
          <a:xfrm>
            <a:off x="7086600" y="5065776"/>
            <a:ext cx="146304" cy="146304"/>
          </a:xfrm>
          <a:prstGeom prst="ellipse">
            <a:avLst/>
          </a:prstGeom>
          <a:solidFill>
            <a:srgbClr val="FFE600"/>
          </a:solidFill>
          <a:ln/>
        </p:spPr>
      </p:sp>
      <p:sp>
        <p:nvSpPr>
          <p:cNvPr id="16" name="Text 11"/>
          <p:cNvSpPr/>
          <p:nvPr/>
        </p:nvSpPr>
        <p:spPr>
          <a:xfrm>
            <a:off x="7360920" y="5010912"/>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columns found by x-position</a:t>
            </a:r>
            <a:endParaRPr lang="en-US" sz="1300" dirty="0"/>
          </a:p>
        </p:txBody>
      </p:sp>
      <p:sp>
        <p:nvSpPr>
          <p:cNvPr id="17" name="Shape 12"/>
          <p:cNvSpPr/>
          <p:nvPr/>
        </p:nvSpPr>
        <p:spPr>
          <a:xfrm>
            <a:off x="7086600" y="5394960"/>
            <a:ext cx="146304" cy="146304"/>
          </a:xfrm>
          <a:prstGeom prst="ellipse">
            <a:avLst/>
          </a:prstGeom>
          <a:solidFill>
            <a:srgbClr val="FFE600"/>
          </a:solidFill>
          <a:ln/>
        </p:spPr>
      </p:sp>
      <p:sp>
        <p:nvSpPr>
          <p:cNvPr id="18" name="Text 13"/>
          <p:cNvSpPr/>
          <p:nvPr/>
        </p:nvSpPr>
        <p:spPr>
          <a:xfrm>
            <a:off x="7360920" y="5340096"/>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rows renamed to a canonical label</a:t>
            </a:r>
            <a:endParaRPr lang="en-US" sz="1300" dirty="0"/>
          </a:p>
        </p:txBody>
      </p:sp>
      <p:sp>
        <p:nvSpPr>
          <p:cNvPr id="19" name="Shape 14"/>
          <p:cNvSpPr/>
          <p:nvPr/>
        </p:nvSpPr>
        <p:spPr>
          <a:xfrm>
            <a:off x="7086600" y="5724144"/>
            <a:ext cx="146304" cy="146304"/>
          </a:xfrm>
          <a:prstGeom prst="ellipse">
            <a:avLst/>
          </a:prstGeom>
          <a:solidFill>
            <a:srgbClr val="FFE600"/>
          </a:solidFill>
          <a:ln/>
        </p:spPr>
      </p:sp>
      <p:sp>
        <p:nvSpPr>
          <p:cNvPr id="20" name="Text 15"/>
          <p:cNvSpPr/>
          <p:nvPr/>
        </p:nvSpPr>
        <p:spPr>
          <a:xfrm>
            <a:off x="7360920" y="5669280"/>
            <a:ext cx="4206240" cy="274320"/>
          </a:xfrm>
          <a:prstGeom prst="rect">
            <a:avLst/>
          </a:prstGeom>
          <a:noFill/>
          <a:ln/>
        </p:spPr>
        <p:txBody>
          <a:bodyPr wrap="square" lIns="0" tIns="0" rIns="0" bIns="0" rtlCol="0" anchor="ctr"/>
          <a:lstStyle/>
          <a:p>
            <a:pPr indent="0" marL="0">
              <a:buNone/>
            </a:pPr>
            <a:r>
              <a:rPr lang="en-US" sz="1300" dirty="0">
                <a:solidFill>
                  <a:srgbClr val="26282F"/>
                </a:solidFill>
                <a:latin typeface="Calibri" pitchFamily="34" charset="0"/>
                <a:ea typeface="Calibri" pitchFamily="34" charset="-122"/>
                <a:cs typeface="Calibri" pitchFamily="34" charset="-120"/>
              </a:rPr>
              <a:t>Tesseract OCR for scanned / Arabic pages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3 · Model — KPIs from Stored Cells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548640" y="1600200"/>
            <a:ext cx="5440680" cy="1554480"/>
          </a:xfrm>
          <a:prstGeom prst="roundRect">
            <a:avLst>
              <a:gd name="adj" fmla="val 4706"/>
            </a:avLst>
          </a:prstGeom>
          <a:solidFill>
            <a:srgbClr val="33363F"/>
          </a:solidFill>
          <a:ln/>
        </p:spPr>
      </p:sp>
      <p:sp>
        <p:nvSpPr>
          <p:cNvPr id="7" name="Shape 4"/>
          <p:cNvSpPr/>
          <p:nvPr/>
        </p:nvSpPr>
        <p:spPr>
          <a:xfrm>
            <a:off x="822960" y="1901952"/>
            <a:ext cx="146304" cy="146304"/>
          </a:xfrm>
          <a:prstGeom prst="ellipse">
            <a:avLst/>
          </a:prstGeom>
          <a:solidFill>
            <a:srgbClr val="FFE600"/>
          </a:solidFill>
          <a:ln/>
        </p:spPr>
      </p:sp>
      <p:sp>
        <p:nvSpPr>
          <p:cNvPr id="8" name="Text 5"/>
          <p:cNvSpPr/>
          <p:nvPr/>
        </p:nvSpPr>
        <p:spPr>
          <a:xfrm>
            <a:off x="1097280" y="178308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Premiums written</a:t>
            </a:r>
            <a:endParaRPr lang="en-US" sz="1600" dirty="0"/>
          </a:p>
        </p:txBody>
      </p:sp>
      <p:sp>
        <p:nvSpPr>
          <p:cNvPr id="9" name="Text 6"/>
          <p:cNvSpPr/>
          <p:nvPr/>
        </p:nvSpPr>
        <p:spPr>
          <a:xfrm>
            <a:off x="822960" y="2286000"/>
            <a:ext cx="4937760" cy="365760"/>
          </a:xfrm>
          <a:prstGeom prst="rect">
            <a:avLst/>
          </a:prstGeom>
          <a:noFill/>
          <a:ln/>
        </p:spPr>
        <p:txBody>
          <a:bodyPr wrap="square" lIns="0" tIns="0" rIns="0" bIns="0" rtlCol="0" anchor="ctr"/>
          <a:lstStyle/>
          <a:p>
            <a:pPr indent="0" marL="0">
              <a:buNone/>
            </a:pPr>
            <a:r>
              <a:rPr lang="en-US" sz="1300" dirty="0">
                <a:solidFill>
                  <a:srgbClr val="C7CBD0"/>
                </a:solidFill>
                <a:latin typeface="Calibri" pitchFamily="34" charset="0"/>
                <a:ea typeface="Calibri" pitchFamily="34" charset="-122"/>
                <a:cs typeface="Calibri" pitchFamily="34" charset="-120"/>
              </a:rPr>
              <a:t>86,356,595 Life + 190,937,720 Non-Life</a:t>
            </a:r>
            <a:endParaRPr lang="en-US" sz="1300" dirty="0"/>
          </a:p>
        </p:txBody>
      </p:sp>
      <p:sp>
        <p:nvSpPr>
          <p:cNvPr id="10" name="Text 7"/>
          <p:cNvSpPr/>
          <p:nvPr/>
        </p:nvSpPr>
        <p:spPr>
          <a:xfrm>
            <a:off x="822960" y="2651760"/>
            <a:ext cx="4937760" cy="411480"/>
          </a:xfrm>
          <a:prstGeom prst="rect">
            <a:avLst/>
          </a:prstGeom>
          <a:noFill/>
          <a:ln/>
        </p:spPr>
        <p:txBody>
          <a:bodyPr wrap="square" lIns="0" tIns="0" rIns="0" bIns="0" rtlCol="0" anchor="ctr"/>
          <a:lstStyle/>
          <a:p>
            <a:pPr indent="0" marL="0">
              <a:buNone/>
            </a:pPr>
            <a:r>
              <a:rPr lang="en-US" sz="1800" b="1" dirty="0">
                <a:solidFill>
                  <a:srgbClr val="FFE600"/>
                </a:solidFill>
                <a:latin typeface="Calibri" pitchFamily="34" charset="0"/>
                <a:ea typeface="Calibri" pitchFamily="34" charset="-122"/>
                <a:cs typeface="Calibri" pitchFamily="34" charset="-120"/>
              </a:rPr>
              <a:t>= 277,294,315 TND</a:t>
            </a:r>
            <a:endParaRPr lang="en-US" sz="1800" dirty="0"/>
          </a:p>
        </p:txBody>
      </p:sp>
      <p:sp>
        <p:nvSpPr>
          <p:cNvPr id="11" name="Shape 8"/>
          <p:cNvSpPr/>
          <p:nvPr/>
        </p:nvSpPr>
        <p:spPr>
          <a:xfrm>
            <a:off x="6172200" y="1600200"/>
            <a:ext cx="5440680" cy="1554480"/>
          </a:xfrm>
          <a:prstGeom prst="roundRect">
            <a:avLst>
              <a:gd name="adj" fmla="val 4706"/>
            </a:avLst>
          </a:prstGeom>
          <a:solidFill>
            <a:srgbClr val="33363F"/>
          </a:solidFill>
          <a:ln/>
        </p:spPr>
      </p:sp>
      <p:sp>
        <p:nvSpPr>
          <p:cNvPr id="12" name="Shape 9"/>
          <p:cNvSpPr/>
          <p:nvPr/>
        </p:nvSpPr>
        <p:spPr>
          <a:xfrm>
            <a:off x="6446520" y="1901952"/>
            <a:ext cx="146304" cy="146304"/>
          </a:xfrm>
          <a:prstGeom prst="ellipse">
            <a:avLst/>
          </a:prstGeom>
          <a:solidFill>
            <a:srgbClr val="FFE600"/>
          </a:solidFill>
          <a:ln/>
        </p:spPr>
      </p:sp>
      <p:sp>
        <p:nvSpPr>
          <p:cNvPr id="13" name="Text 10"/>
          <p:cNvSpPr/>
          <p:nvPr/>
        </p:nvSpPr>
        <p:spPr>
          <a:xfrm>
            <a:off x="6720840" y="178308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Combined ratio</a:t>
            </a:r>
            <a:endParaRPr lang="en-US" sz="1600" dirty="0"/>
          </a:p>
        </p:txBody>
      </p:sp>
      <p:sp>
        <p:nvSpPr>
          <p:cNvPr id="14" name="Text 11"/>
          <p:cNvSpPr/>
          <p:nvPr/>
        </p:nvSpPr>
        <p:spPr>
          <a:xfrm>
            <a:off x="6446520" y="2286000"/>
            <a:ext cx="4937760" cy="365760"/>
          </a:xfrm>
          <a:prstGeom prst="rect">
            <a:avLst/>
          </a:prstGeom>
          <a:noFill/>
          <a:ln/>
        </p:spPr>
        <p:txBody>
          <a:bodyPr wrap="square" lIns="0" tIns="0" rIns="0" bIns="0" rtlCol="0" anchor="ctr"/>
          <a:lstStyle/>
          <a:p>
            <a:pPr indent="0" marL="0">
              <a:buNone/>
            </a:pPr>
            <a:r>
              <a:rPr lang="en-US" sz="1300" dirty="0">
                <a:solidFill>
                  <a:srgbClr val="C7CBD0"/>
                </a:solidFill>
                <a:latin typeface="Calibri" pitchFamily="34" charset="0"/>
                <a:ea typeface="Calibri" pitchFamily="34" charset="-122"/>
                <a:cs typeface="Calibri" pitchFamily="34" charset="-120"/>
              </a:rPr>
              <a:t>61.67 % loss ratio + 16.26 % expense ratio</a:t>
            </a:r>
            <a:endParaRPr lang="en-US" sz="1300" dirty="0"/>
          </a:p>
        </p:txBody>
      </p:sp>
      <p:sp>
        <p:nvSpPr>
          <p:cNvPr id="15" name="Text 12"/>
          <p:cNvSpPr/>
          <p:nvPr/>
        </p:nvSpPr>
        <p:spPr>
          <a:xfrm>
            <a:off x="6446520" y="2651760"/>
            <a:ext cx="4937760" cy="411480"/>
          </a:xfrm>
          <a:prstGeom prst="rect">
            <a:avLst/>
          </a:prstGeom>
          <a:noFill/>
          <a:ln/>
        </p:spPr>
        <p:txBody>
          <a:bodyPr wrap="square" lIns="0" tIns="0" rIns="0" bIns="0" rtlCol="0" anchor="ctr"/>
          <a:lstStyle/>
          <a:p>
            <a:pPr indent="0" marL="0">
              <a:buNone/>
            </a:pPr>
            <a:r>
              <a:rPr lang="en-US" sz="1800" b="1" dirty="0">
                <a:solidFill>
                  <a:srgbClr val="FFE600"/>
                </a:solidFill>
                <a:latin typeface="Calibri" pitchFamily="34" charset="0"/>
                <a:ea typeface="Calibri" pitchFamily="34" charset="-122"/>
                <a:cs typeface="Calibri" pitchFamily="34" charset="-120"/>
              </a:rPr>
              <a:t>= 77.93 %</a:t>
            </a:r>
            <a:endParaRPr lang="en-US" sz="1800" dirty="0"/>
          </a:p>
        </p:txBody>
      </p:sp>
      <p:sp>
        <p:nvSpPr>
          <p:cNvPr id="16" name="Shape 13"/>
          <p:cNvSpPr/>
          <p:nvPr/>
        </p:nvSpPr>
        <p:spPr>
          <a:xfrm>
            <a:off x="548640" y="3520440"/>
            <a:ext cx="11064240" cy="1448323"/>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17" name="Image 0" descr="C:/Users/HP/Desktop/SCRAPING/docs/scratch/pipeline_shots/crops/qualite_row1.png">    </p:cNvPr>
          <p:cNvPicPr>
            <a:picLocks noChangeAspect="1"/>
          </p:cNvPicPr>
          <p:nvPr/>
        </p:nvPicPr>
        <p:blipFill>
          <a:blip r:embed="rId1"/>
          <a:stretch>
            <a:fillRect/>
          </a:stretch>
        </p:blipFill>
        <p:spPr>
          <a:xfrm>
            <a:off x="548640" y="3520440"/>
            <a:ext cx="11064240" cy="1448323"/>
          </a:xfrm>
          <a:prstGeom prst="rect">
            <a:avLst/>
          </a:prstGeom>
        </p:spPr>
      </p:pic>
      <p:sp>
        <p:nvSpPr>
          <p:cNvPr id="18" name="Text 14"/>
          <p:cNvSpPr/>
          <p:nvPr/>
        </p:nvSpPr>
        <p:spPr>
          <a:xfrm>
            <a:off x="548640" y="5023627"/>
            <a:ext cx="1106424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Data Quality · ASTREE 2025 (first row)</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4 · Verify — Accounting Identities as Checks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6</a:t>
            </a:r>
            <a:endParaRPr lang="en-US" sz="1000" dirty="0"/>
          </a:p>
        </p:txBody>
      </p:sp>
      <p:graphicFrame>
        <p:nvGraphicFramePr>
          <p:cNvPr id="6" name="Chart 0" descr=""/>
          <p:cNvGraphicFramePr/>
          <p:nvPr/>
        </p:nvGraphicFramePr>
        <p:xfrm>
          <a:off x="548640" y="1554480"/>
          <a:ext cx="5120640" cy="448056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035040" y="1691640"/>
            <a:ext cx="5577840" cy="2011680"/>
          </a:xfrm>
          <a:prstGeom prst="roundRect">
            <a:avLst>
              <a:gd name="adj" fmla="val 3636"/>
            </a:avLst>
          </a:prstGeom>
          <a:solidFill>
            <a:srgbClr val="33363F"/>
          </a:solidFill>
          <a:ln/>
        </p:spPr>
      </p:sp>
      <p:sp>
        <p:nvSpPr>
          <p:cNvPr id="8" name="Text 4"/>
          <p:cNvSpPr/>
          <p:nvPr/>
        </p:nvSpPr>
        <p:spPr>
          <a:xfrm>
            <a:off x="6309360" y="1856232"/>
            <a:ext cx="50292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Passes within tolerance</a:t>
            </a:r>
            <a:endParaRPr lang="en-US" sz="1600" dirty="0"/>
          </a:p>
        </p:txBody>
      </p:sp>
      <p:sp>
        <p:nvSpPr>
          <p:cNvPr id="9" name="Text 5"/>
          <p:cNvSpPr/>
          <p:nvPr/>
        </p:nvSpPr>
        <p:spPr>
          <a:xfrm>
            <a:off x="6309360" y="2331720"/>
            <a:ext cx="5029200" cy="68580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Net acquisition &amp; management charges = acquisition costs + other management charges</a:t>
            </a:r>
            <a:endParaRPr lang="en-US" sz="1250" dirty="0"/>
          </a:p>
        </p:txBody>
      </p:sp>
      <p:sp>
        <p:nvSpPr>
          <p:cNvPr id="10" name="Text 6"/>
          <p:cNvSpPr/>
          <p:nvPr/>
        </p:nvSpPr>
        <p:spPr>
          <a:xfrm>
            <a:off x="6309360" y="3063240"/>
            <a:ext cx="50292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expected −8,187,565 · found −8,187,566 · gap −1 → OK</a:t>
            </a:r>
            <a:endParaRPr lang="en-US" sz="1300" dirty="0"/>
          </a:p>
        </p:txBody>
      </p:sp>
      <p:sp>
        <p:nvSpPr>
          <p:cNvPr id="11" name="Shape 7"/>
          <p:cNvSpPr/>
          <p:nvPr/>
        </p:nvSpPr>
        <p:spPr>
          <a:xfrm>
            <a:off x="6035040" y="3886200"/>
            <a:ext cx="5577840" cy="2011680"/>
          </a:xfrm>
          <a:prstGeom prst="roundRect">
            <a:avLst>
              <a:gd name="adj" fmla="val 3636"/>
            </a:avLst>
          </a:prstGeom>
          <a:solidFill>
            <a:srgbClr val="FFE600"/>
          </a:solidFill>
          <a:ln/>
        </p:spPr>
      </p:sp>
      <p:sp>
        <p:nvSpPr>
          <p:cNvPr id="12" name="Text 8"/>
          <p:cNvSpPr/>
          <p:nvPr/>
        </p:nvSpPr>
        <p:spPr>
          <a:xfrm>
            <a:off x="6309360" y="4050792"/>
            <a:ext cx="5029200" cy="365760"/>
          </a:xfrm>
          <a:prstGeom prst="rect">
            <a:avLst/>
          </a:prstGeom>
          <a:noFill/>
          <a:ln/>
        </p:spPr>
        <p:txBody>
          <a:bodyPr wrap="square" lIns="0" tIns="0" rIns="0" bIns="0" rtlCol="0" anchor="ctr"/>
          <a:lstStyle/>
          <a:p>
            <a:pPr indent="0" marL="0">
              <a:buNone/>
            </a:pPr>
            <a:r>
              <a:rPr lang="en-US" sz="1600" b="1" dirty="0">
                <a:solidFill>
                  <a:srgbClr val="33363F"/>
                </a:solidFill>
                <a:latin typeface="Cambria" pitchFamily="34" charset="0"/>
                <a:ea typeface="Cambria" pitchFamily="34" charset="-122"/>
                <a:cs typeface="Cambria" pitchFamily="34" charset="-120"/>
              </a:rPr>
              <a:t>Catches an error</a:t>
            </a:r>
            <a:endParaRPr lang="en-US" sz="1600" dirty="0"/>
          </a:p>
        </p:txBody>
      </p:sp>
      <p:sp>
        <p:nvSpPr>
          <p:cNvPr id="13" name="Text 9"/>
          <p:cNvSpPr/>
          <p:nvPr/>
        </p:nvSpPr>
        <p:spPr>
          <a:xfrm>
            <a:off x="6309360" y="4526280"/>
            <a:ext cx="5029200" cy="685800"/>
          </a:xfrm>
          <a:prstGeom prst="rect">
            <a:avLst/>
          </a:prstGeom>
          <a:noFill/>
          <a:ln/>
        </p:spPr>
        <p:txBody>
          <a:bodyPr wrap="square" lIns="0" tIns="0" rIns="0" bIns="0" rtlCol="0" anchor="t"/>
          <a:lstStyle/>
          <a:p>
            <a:pPr indent="0" marL="0">
              <a:buNone/>
            </a:pPr>
            <a:r>
              <a:rPr lang="en-US" sz="1250" dirty="0">
                <a:solidFill>
                  <a:srgbClr val="33363F"/>
                </a:solidFill>
                <a:latin typeface="Calibri" pitchFamily="34" charset="0"/>
                <a:ea typeface="Calibri" pitchFamily="34" charset="-122"/>
                <a:cs typeface="Calibri" pitchFamily="34" charset="-120"/>
              </a:rPr>
              <a:t>STAR · 2025 · Total assets ≠ Equity + Liabilities</a:t>
            </a:r>
            <a:endParaRPr lang="en-US" sz="1250" dirty="0"/>
          </a:p>
        </p:txBody>
      </p:sp>
      <p:sp>
        <p:nvSpPr>
          <p:cNvPr id="14" name="Text 10"/>
          <p:cNvSpPr/>
          <p:nvPr/>
        </p:nvSpPr>
        <p:spPr>
          <a:xfrm>
            <a:off x="6309360" y="5257800"/>
            <a:ext cx="5029200" cy="457200"/>
          </a:xfrm>
          <a:prstGeom prst="rect">
            <a:avLst/>
          </a:prstGeom>
          <a:noFill/>
          <a:ln/>
        </p:spPr>
        <p:txBody>
          <a:bodyPr wrap="square" lIns="0" tIns="0" rIns="0" bIns="0" rtlCol="0" anchor="ctr"/>
          <a:lstStyle/>
          <a:p>
            <a:pPr indent="0" marL="0">
              <a:buNone/>
            </a:pPr>
            <a:r>
              <a:rPr lang="en-US" sz="1300" b="1" dirty="0">
                <a:solidFill>
                  <a:srgbClr val="33363F"/>
                </a:solidFill>
                <a:latin typeface="Calibri" pitchFamily="34" charset="0"/>
                <a:ea typeface="Calibri" pitchFamily="34" charset="-122"/>
                <a:cs typeface="Calibri" pitchFamily="34" charset="-120"/>
              </a:rPr>
              <a:t>gap of 89,777,403 TND → flagged for review</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4 · Verify — Flag Anomalies, Trace to the Source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548640" y="1600200"/>
            <a:ext cx="5760720" cy="1162251"/>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scratch/pipeline_shots/crops/rapport_tiles.png">    </p:cNvPr>
          <p:cNvPicPr>
            <a:picLocks noChangeAspect="1"/>
          </p:cNvPicPr>
          <p:nvPr/>
        </p:nvPicPr>
        <p:blipFill>
          <a:blip r:embed="rId1"/>
          <a:stretch>
            <a:fillRect/>
          </a:stretch>
        </p:blipFill>
        <p:spPr>
          <a:xfrm>
            <a:off x="548640" y="1600200"/>
            <a:ext cx="5760720" cy="1162251"/>
          </a:xfrm>
          <a:prstGeom prst="rect">
            <a:avLst/>
          </a:prstGeom>
        </p:spPr>
      </p:pic>
      <p:sp>
        <p:nvSpPr>
          <p:cNvPr id="8" name="Text 4"/>
          <p:cNvSpPr/>
          <p:nvPr/>
        </p:nvSpPr>
        <p:spPr>
          <a:xfrm>
            <a:off x="548640" y="2817315"/>
            <a:ext cx="576072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Pipeline Report · 2024</a:t>
            </a:r>
            <a:endParaRPr lang="en-US" sz="1050" dirty="0"/>
          </a:p>
        </p:txBody>
      </p:sp>
      <p:sp>
        <p:nvSpPr>
          <p:cNvPr id="9" name="Shape 5"/>
          <p:cNvSpPr/>
          <p:nvPr/>
        </p:nvSpPr>
        <p:spPr>
          <a:xfrm>
            <a:off x="548640" y="3291840"/>
            <a:ext cx="5760720" cy="902819"/>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10" name="Image 1" descr="C:/Users/HP/Desktop/SCRAPING/docs/scratch/pipeline_shots/crops/anomalies_rows2.png">    </p:cNvPr>
          <p:cNvPicPr>
            <a:picLocks noChangeAspect="1"/>
          </p:cNvPicPr>
          <p:nvPr/>
        </p:nvPicPr>
        <p:blipFill>
          <a:blip r:embed="rId2"/>
          <a:stretch>
            <a:fillRect/>
          </a:stretch>
        </p:blipFill>
        <p:spPr>
          <a:xfrm>
            <a:off x="548640" y="3291840"/>
            <a:ext cx="5760720" cy="902819"/>
          </a:xfrm>
          <a:prstGeom prst="rect">
            <a:avLst/>
          </a:prstGeom>
        </p:spPr>
      </p:pic>
      <p:sp>
        <p:nvSpPr>
          <p:cNvPr id="11" name="Text 6"/>
          <p:cNvSpPr/>
          <p:nvPr/>
        </p:nvSpPr>
        <p:spPr>
          <a:xfrm>
            <a:off x="548640" y="4249523"/>
            <a:ext cx="576072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System Anomalies · 2025</a:t>
            </a:r>
            <a:endParaRPr lang="en-US" sz="1050" dirty="0"/>
          </a:p>
        </p:txBody>
      </p:sp>
      <p:sp>
        <p:nvSpPr>
          <p:cNvPr id="12" name="Shape 7"/>
          <p:cNvSpPr/>
          <p:nvPr/>
        </p:nvSpPr>
        <p:spPr>
          <a:xfrm>
            <a:off x="6583680" y="1600200"/>
            <a:ext cx="5029200" cy="3643482"/>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13" name="Image 2" descr="C:/Users/HP/Desktop/SCRAPING/docs/scratch/pipeline_shots/crops/hl_pdf.png">    </p:cNvPr>
          <p:cNvPicPr>
            <a:picLocks noChangeAspect="1"/>
          </p:cNvPicPr>
          <p:nvPr/>
        </p:nvPicPr>
        <p:blipFill>
          <a:blip r:embed="rId3"/>
          <a:stretch>
            <a:fillRect/>
          </a:stretch>
        </p:blipFill>
        <p:spPr>
          <a:xfrm>
            <a:off x="6583680" y="1600200"/>
            <a:ext cx="5029200" cy="3643482"/>
          </a:xfrm>
          <a:prstGeom prst="rect">
            <a:avLst/>
          </a:prstGeom>
        </p:spPr>
      </p:pic>
      <p:sp>
        <p:nvSpPr>
          <p:cNvPr id="14" name="Text 8"/>
          <p:cNvSpPr/>
          <p:nvPr/>
        </p:nvSpPr>
        <p:spPr>
          <a:xfrm>
            <a:off x="6583680" y="5298546"/>
            <a:ext cx="502920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one click: source PDF, cell highlighted</a:t>
            </a:r>
            <a:endParaRPr lang="en-US" sz="1050" dirty="0"/>
          </a:p>
        </p:txBody>
      </p:sp>
      <p:sp>
        <p:nvSpPr>
          <p:cNvPr id="15" name="Shape 9"/>
          <p:cNvSpPr/>
          <p:nvPr/>
        </p:nvSpPr>
        <p:spPr>
          <a:xfrm>
            <a:off x="548640" y="5760720"/>
            <a:ext cx="11064240" cy="566928"/>
          </a:xfrm>
          <a:prstGeom prst="roundRect">
            <a:avLst>
              <a:gd name="adj" fmla="val 12903"/>
            </a:avLst>
          </a:prstGeom>
          <a:solidFill>
            <a:srgbClr val="F5F5F6"/>
          </a:solidFill>
          <a:ln/>
        </p:spPr>
      </p:sp>
      <p:sp>
        <p:nvSpPr>
          <p:cNvPr id="16" name="Shape 10"/>
          <p:cNvSpPr/>
          <p:nvPr/>
        </p:nvSpPr>
        <p:spPr>
          <a:xfrm>
            <a:off x="822960" y="5971032"/>
            <a:ext cx="146304" cy="146304"/>
          </a:xfrm>
          <a:prstGeom prst="ellipse">
            <a:avLst/>
          </a:prstGeom>
          <a:solidFill>
            <a:srgbClr val="FFE600"/>
          </a:solidFill>
          <a:ln/>
        </p:spPr>
      </p:sp>
      <p:sp>
        <p:nvSpPr>
          <p:cNvPr id="17" name="Text 11"/>
          <p:cNvSpPr/>
          <p:nvPr/>
        </p:nvSpPr>
        <p:spPr>
          <a:xfrm>
            <a:off x="1143000" y="5760720"/>
            <a:ext cx="10332720" cy="566928"/>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Real example — </a:t>
            </a:r>
            <a:pPr indent="0" marL="0">
              <a:buNone/>
            </a:pPr>
            <a:r>
              <a:rPr lang="en-US" sz="1300" dirty="0">
                <a:solidFill>
                  <a:srgbClr val="5A5D66"/>
                </a:solidFill>
                <a:latin typeface="Calibri" pitchFamily="34" charset="0"/>
                <a:ea typeface="Calibri" pitchFamily="34" charset="-122"/>
                <a:cs typeface="Calibri" pitchFamily="34" charset="-120"/>
              </a:rPr>
              <a:t>ASTREE · Total assets 2025 → Balance sheet, row “Total de l'actif”, column “Net”, page 2.</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Conventional vs Takaful — One Pipeline, Two Models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548640" y="1600200"/>
            <a:ext cx="5486400" cy="1508760"/>
          </a:xfrm>
          <a:prstGeom prst="roundRect">
            <a:avLst>
              <a:gd name="adj" fmla="val 4848"/>
            </a:avLst>
          </a:prstGeom>
          <a:solidFill>
            <a:srgbClr val="33363F"/>
          </a:solidFill>
          <a:ln/>
        </p:spPr>
      </p:sp>
      <p:sp>
        <p:nvSpPr>
          <p:cNvPr id="7" name="Text 4"/>
          <p:cNvSpPr/>
          <p:nvPr/>
        </p:nvSpPr>
        <p:spPr>
          <a:xfrm>
            <a:off x="822960" y="1783080"/>
            <a:ext cx="49377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Conventional · 21 insurers</a:t>
            </a:r>
            <a:endParaRPr lang="en-US" sz="1700" dirty="0"/>
          </a:p>
        </p:txBody>
      </p:sp>
      <p:sp>
        <p:nvSpPr>
          <p:cNvPr id="8" name="Text 5"/>
          <p:cNvSpPr/>
          <p:nvPr/>
        </p:nvSpPr>
        <p:spPr>
          <a:xfrm>
            <a:off x="822960" y="2240280"/>
            <a:ext cx="4937760" cy="731520"/>
          </a:xfrm>
          <a:prstGeom prst="rect">
            <a:avLst/>
          </a:prstGeom>
          <a:noFill/>
          <a:ln/>
        </p:spPr>
        <p:txBody>
          <a:bodyPr wrap="square" lIns="0" tIns="0" rIns="0" bIns="0" rtlCol="0" anchor="t"/>
          <a:lstStyle/>
          <a:p>
            <a:pPr indent="0" marL="0">
              <a:buNone/>
            </a:pPr>
            <a:r>
              <a:rPr lang="en-US" sz="1300" dirty="0">
                <a:solidFill>
                  <a:srgbClr val="C7CBD0"/>
                </a:solidFill>
                <a:latin typeface="Calibri" pitchFamily="34" charset="0"/>
                <a:ea typeface="Calibri" pitchFamily="34" charset="-122"/>
                <a:cs typeface="Calibri" pitchFamily="34" charset="-120"/>
              </a:rPr>
              <a:t>one statement · standard ratios and formulas</a:t>
            </a:r>
            <a:endParaRPr lang="en-US" sz="1300" dirty="0"/>
          </a:p>
        </p:txBody>
      </p:sp>
      <p:sp>
        <p:nvSpPr>
          <p:cNvPr id="9" name="Shape 6"/>
          <p:cNvSpPr/>
          <p:nvPr/>
        </p:nvSpPr>
        <p:spPr>
          <a:xfrm>
            <a:off x="548640" y="3291840"/>
            <a:ext cx="5486400" cy="1508760"/>
          </a:xfrm>
          <a:prstGeom prst="roundRect">
            <a:avLst>
              <a:gd name="adj" fmla="val 4848"/>
            </a:avLst>
          </a:prstGeom>
          <a:solidFill>
            <a:srgbClr val="FFE600"/>
          </a:solidFill>
          <a:ln/>
        </p:spPr>
      </p:sp>
      <p:sp>
        <p:nvSpPr>
          <p:cNvPr id="10" name="Text 7"/>
          <p:cNvSpPr/>
          <p:nvPr/>
        </p:nvSpPr>
        <p:spPr>
          <a:xfrm>
            <a:off x="822960" y="3474720"/>
            <a:ext cx="4937760" cy="365760"/>
          </a:xfrm>
          <a:prstGeom prst="rect">
            <a:avLst/>
          </a:prstGeom>
          <a:noFill/>
          <a:ln/>
        </p:spPr>
        <p:txBody>
          <a:bodyPr wrap="square" lIns="0" tIns="0" rIns="0" bIns="0" rtlCol="0" anchor="ctr"/>
          <a:lstStyle/>
          <a:p>
            <a:pPr indent="0" marL="0">
              <a:buNone/>
            </a:pPr>
            <a:r>
              <a:rPr lang="en-US" sz="1700" b="1" dirty="0">
                <a:solidFill>
                  <a:srgbClr val="33363F"/>
                </a:solidFill>
                <a:latin typeface="Cambria" pitchFamily="34" charset="0"/>
                <a:ea typeface="Cambria" pitchFamily="34" charset="-122"/>
                <a:cs typeface="Cambria" pitchFamily="34" charset="-120"/>
              </a:rPr>
              <a:t>Takaful · 3 insurers</a:t>
            </a:r>
            <a:endParaRPr lang="en-US" sz="1700" dirty="0"/>
          </a:p>
        </p:txBody>
      </p:sp>
      <p:sp>
        <p:nvSpPr>
          <p:cNvPr id="11" name="Text 8"/>
          <p:cNvSpPr/>
          <p:nvPr/>
        </p:nvSpPr>
        <p:spPr>
          <a:xfrm>
            <a:off x="822960" y="3931920"/>
            <a:ext cx="4937760" cy="731520"/>
          </a:xfrm>
          <a:prstGeom prst="rect">
            <a:avLst/>
          </a:prstGeom>
          <a:noFill/>
          <a:ln/>
        </p:spPr>
        <p:txBody>
          <a:bodyPr wrap="square" lIns="0" tIns="0" rIns="0" bIns="0" rtlCol="0" anchor="t"/>
          <a:lstStyle/>
          <a:p>
            <a:pPr indent="0" marL="0">
              <a:buNone/>
            </a:pPr>
            <a:r>
              <a:rPr lang="en-US" sz="1300" dirty="0">
                <a:solidFill>
                  <a:srgbClr val="33363F"/>
                </a:solidFill>
                <a:latin typeface="Calibri" pitchFamily="34" charset="0"/>
                <a:ea typeface="Calibri" pitchFamily="34" charset="-122"/>
                <a:cs typeface="Calibri" pitchFamily="34" charset="-120"/>
              </a:rPr>
              <a:t>two funds · combined 3-column balance sheet (NCT 43) · Wakala / Moudharaba fees</a:t>
            </a:r>
            <a:endParaRPr lang="en-US" sz="1300" dirty="0"/>
          </a:p>
        </p:txBody>
      </p:sp>
      <p:sp>
        <p:nvSpPr>
          <p:cNvPr id="12" name="Shape 9"/>
          <p:cNvSpPr/>
          <p:nvPr/>
        </p:nvSpPr>
        <p:spPr>
          <a:xfrm>
            <a:off x="6355080" y="1600200"/>
            <a:ext cx="2560320" cy="1508760"/>
          </a:xfrm>
          <a:prstGeom prst="roundRect">
            <a:avLst>
              <a:gd name="adj" fmla="val 4848"/>
            </a:avLst>
          </a:prstGeom>
          <a:solidFill>
            <a:srgbClr val="F5F5F6"/>
          </a:solidFill>
          <a:ln/>
        </p:spPr>
      </p:sp>
      <p:sp>
        <p:nvSpPr>
          <p:cNvPr id="13" name="Text 10"/>
          <p:cNvSpPr/>
          <p:nvPr/>
        </p:nvSpPr>
        <p:spPr>
          <a:xfrm>
            <a:off x="6355080" y="1709928"/>
            <a:ext cx="256032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33</a:t>
            </a:r>
            <a:endParaRPr lang="en-US" sz="3000" dirty="0"/>
          </a:p>
        </p:txBody>
      </p:sp>
      <p:sp>
        <p:nvSpPr>
          <p:cNvPr id="14" name="Text 11"/>
          <p:cNvSpPr/>
          <p:nvPr/>
        </p:nvSpPr>
        <p:spPr>
          <a:xfrm>
            <a:off x="6446520" y="2404872"/>
            <a:ext cx="2377440" cy="64008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Takaful ratios sourced</a:t>
            </a:r>
            <a:endParaRPr lang="en-US" sz="1150" dirty="0"/>
          </a:p>
          <a:p>
            <a:pPr algn="ctr" indent="0" marL="0">
              <a:buNone/>
            </a:pPr>
            <a:r>
              <a:rPr lang="en-US" sz="1150" dirty="0">
                <a:solidFill>
                  <a:srgbClr val="5A5D66"/>
                </a:solidFill>
                <a:latin typeface="Calibri" pitchFamily="34" charset="0"/>
                <a:ea typeface="Calibri" pitchFamily="34" charset="-122"/>
                <a:cs typeface="Calibri" pitchFamily="34" charset="-120"/>
              </a:rPr>
              <a:t>from IFSB references</a:t>
            </a:r>
            <a:endParaRPr lang="en-US" sz="1150" dirty="0"/>
          </a:p>
        </p:txBody>
      </p:sp>
      <p:sp>
        <p:nvSpPr>
          <p:cNvPr id="15" name="Shape 12"/>
          <p:cNvSpPr/>
          <p:nvPr/>
        </p:nvSpPr>
        <p:spPr>
          <a:xfrm>
            <a:off x="9052560" y="1600200"/>
            <a:ext cx="2560320" cy="1508760"/>
          </a:xfrm>
          <a:prstGeom prst="roundRect">
            <a:avLst>
              <a:gd name="adj" fmla="val 4848"/>
            </a:avLst>
          </a:prstGeom>
          <a:solidFill>
            <a:srgbClr val="F5F5F6"/>
          </a:solidFill>
          <a:ln/>
        </p:spPr>
      </p:sp>
      <p:sp>
        <p:nvSpPr>
          <p:cNvPr id="16" name="Text 13"/>
          <p:cNvSpPr/>
          <p:nvPr/>
        </p:nvSpPr>
        <p:spPr>
          <a:xfrm>
            <a:off x="9052560" y="1709928"/>
            <a:ext cx="256032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6</a:t>
            </a:r>
            <a:endParaRPr lang="en-US" sz="3000" dirty="0"/>
          </a:p>
        </p:txBody>
      </p:sp>
      <p:sp>
        <p:nvSpPr>
          <p:cNvPr id="17" name="Text 14"/>
          <p:cNvSpPr/>
          <p:nvPr/>
        </p:nvSpPr>
        <p:spPr>
          <a:xfrm>
            <a:off x="9144000" y="2404872"/>
            <a:ext cx="2377440" cy="64008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new “Participants' Fund”</a:t>
            </a:r>
            <a:endParaRPr lang="en-US" sz="1150" dirty="0"/>
          </a:p>
          <a:p>
            <a:pPr algn="ctr" indent="0" marL="0">
              <a:buNone/>
            </a:pPr>
            <a:r>
              <a:rPr lang="en-US" sz="1150" dirty="0">
                <a:solidFill>
                  <a:srgbClr val="5A5D66"/>
                </a:solidFill>
                <a:latin typeface="Calibri" pitchFamily="34" charset="0"/>
                <a:ea typeface="Calibri" pitchFamily="34" charset="-122"/>
                <a:cs typeface="Calibri" pitchFamily="34" charset="-120"/>
              </a:rPr>
              <a:t>indicators</a:t>
            </a:r>
            <a:endParaRPr lang="en-US" sz="1150" dirty="0"/>
          </a:p>
        </p:txBody>
      </p:sp>
      <p:sp>
        <p:nvSpPr>
          <p:cNvPr id="18" name="Shape 15"/>
          <p:cNvSpPr/>
          <p:nvPr/>
        </p:nvSpPr>
        <p:spPr>
          <a:xfrm>
            <a:off x="6355080" y="3291840"/>
            <a:ext cx="2560320" cy="1508760"/>
          </a:xfrm>
          <a:prstGeom prst="roundRect">
            <a:avLst>
              <a:gd name="adj" fmla="val 4848"/>
            </a:avLst>
          </a:prstGeom>
          <a:solidFill>
            <a:srgbClr val="F5F5F6"/>
          </a:solidFill>
          <a:ln/>
        </p:spPr>
      </p:sp>
      <p:sp>
        <p:nvSpPr>
          <p:cNvPr id="19" name="Text 16"/>
          <p:cNvSpPr/>
          <p:nvPr/>
        </p:nvSpPr>
        <p:spPr>
          <a:xfrm>
            <a:off x="6355080" y="3401568"/>
            <a:ext cx="256032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100%</a:t>
            </a:r>
            <a:endParaRPr lang="en-US" sz="3000" dirty="0"/>
          </a:p>
        </p:txBody>
      </p:sp>
      <p:sp>
        <p:nvSpPr>
          <p:cNvPr id="20" name="Text 17"/>
          <p:cNvSpPr/>
          <p:nvPr/>
        </p:nvSpPr>
        <p:spPr>
          <a:xfrm>
            <a:off x="6446520" y="4096512"/>
            <a:ext cx="2377440" cy="64008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coverage on AT-Takafulia</a:t>
            </a:r>
            <a:endParaRPr lang="en-US" sz="1150" dirty="0"/>
          </a:p>
          <a:p>
            <a:pPr algn="ctr" indent="0" marL="0">
              <a:buNone/>
            </a:pPr>
            <a:r>
              <a:rPr lang="en-US" sz="1150" dirty="0">
                <a:solidFill>
                  <a:srgbClr val="5A5D66"/>
                </a:solidFill>
                <a:latin typeface="Calibri" pitchFamily="34" charset="0"/>
                <a:ea typeface="Calibri" pitchFamily="34" charset="-122"/>
                <a:cs typeface="Calibri" pitchFamily="34" charset="-120"/>
              </a:rPr>
              <a:t>(7 of 7 years)</a:t>
            </a:r>
            <a:endParaRPr lang="en-US" sz="1150" dirty="0"/>
          </a:p>
        </p:txBody>
      </p:sp>
      <p:sp>
        <p:nvSpPr>
          <p:cNvPr id="21" name="Shape 18"/>
          <p:cNvSpPr/>
          <p:nvPr/>
        </p:nvSpPr>
        <p:spPr>
          <a:xfrm>
            <a:off x="9052560" y="3291840"/>
            <a:ext cx="2560320" cy="1508760"/>
          </a:xfrm>
          <a:prstGeom prst="roundRect">
            <a:avLst>
              <a:gd name="adj" fmla="val 4848"/>
            </a:avLst>
          </a:prstGeom>
          <a:solidFill>
            <a:srgbClr val="F5F5F6"/>
          </a:solidFill>
          <a:ln/>
        </p:spPr>
      </p:sp>
      <p:sp>
        <p:nvSpPr>
          <p:cNvPr id="22" name="Text 19"/>
          <p:cNvSpPr/>
          <p:nvPr/>
        </p:nvSpPr>
        <p:spPr>
          <a:xfrm>
            <a:off x="9052560" y="3401568"/>
            <a:ext cx="2560320" cy="685800"/>
          </a:xfrm>
          <a:prstGeom prst="rect">
            <a:avLst/>
          </a:prstGeom>
          <a:noFill/>
          <a:ln/>
        </p:spPr>
        <p:txBody>
          <a:bodyPr wrap="square" lIns="0" tIns="0" rIns="0" bIns="0" rtlCol="0" anchor="ctr"/>
          <a:lstStyle/>
          <a:p>
            <a:pPr algn="ctr" indent="0" marL="0">
              <a:buNone/>
            </a:pPr>
            <a:r>
              <a:rPr lang="en-US" sz="3000" b="1" dirty="0">
                <a:solidFill>
                  <a:srgbClr val="33363F"/>
                </a:solidFill>
                <a:latin typeface="Cambria" pitchFamily="34" charset="0"/>
                <a:ea typeface="Cambria" pitchFamily="34" charset="-122"/>
                <a:cs typeface="Cambria" pitchFamily="34" charset="-120"/>
              </a:rPr>
              <a:t>90/90</a:t>
            </a:r>
            <a:endParaRPr lang="en-US" sz="3000" dirty="0"/>
          </a:p>
        </p:txBody>
      </p:sp>
      <p:sp>
        <p:nvSpPr>
          <p:cNvPr id="23" name="Text 20"/>
          <p:cNvSpPr/>
          <p:nvPr/>
        </p:nvSpPr>
        <p:spPr>
          <a:xfrm>
            <a:off x="9144000" y="4096512"/>
            <a:ext cx="2377440" cy="640080"/>
          </a:xfrm>
          <a:prstGeom prst="rect">
            <a:avLst/>
          </a:prstGeom>
          <a:noFill/>
          <a:ln/>
        </p:spPr>
        <p:txBody>
          <a:bodyPr wrap="square" lIns="0" tIns="0" rIns="0" bIns="0" rtlCol="0" anchor="t"/>
          <a:lstStyle/>
          <a:p>
            <a:pPr algn="ctr" indent="0" marL="0">
              <a:buNone/>
            </a:pPr>
            <a:r>
              <a:rPr lang="en-US" sz="1150" dirty="0">
                <a:solidFill>
                  <a:srgbClr val="5A5D66"/>
                </a:solidFill>
                <a:latin typeface="Calibri" pitchFamily="34" charset="0"/>
                <a:ea typeface="Calibri" pitchFamily="34" charset="-122"/>
                <a:cs typeface="Calibri" pitchFamily="34" charset="-120"/>
              </a:rPr>
              <a:t>existing tests still green</a:t>
            </a:r>
            <a:endParaRPr lang="en-US" sz="1150" dirty="0"/>
          </a:p>
        </p:txBody>
      </p:sp>
      <p:sp>
        <p:nvSpPr>
          <p:cNvPr id="24" name="Shape 21"/>
          <p:cNvSpPr/>
          <p:nvPr/>
        </p:nvSpPr>
        <p:spPr>
          <a:xfrm>
            <a:off x="548640" y="5120640"/>
            <a:ext cx="11064240" cy="566928"/>
          </a:xfrm>
          <a:prstGeom prst="roundRect">
            <a:avLst>
              <a:gd name="adj" fmla="val 12903"/>
            </a:avLst>
          </a:prstGeom>
          <a:solidFill>
            <a:srgbClr val="F5F5F6"/>
          </a:solidFill>
          <a:ln/>
        </p:spPr>
      </p:sp>
      <p:sp>
        <p:nvSpPr>
          <p:cNvPr id="25" name="Shape 22"/>
          <p:cNvSpPr/>
          <p:nvPr/>
        </p:nvSpPr>
        <p:spPr>
          <a:xfrm>
            <a:off x="822960" y="5330952"/>
            <a:ext cx="146304" cy="146304"/>
          </a:xfrm>
          <a:prstGeom prst="ellipse">
            <a:avLst/>
          </a:prstGeom>
          <a:solidFill>
            <a:srgbClr val="FFE600"/>
          </a:solidFill>
          <a:ln/>
        </p:spPr>
      </p:sp>
      <p:sp>
        <p:nvSpPr>
          <p:cNvPr id="26" name="Text 23"/>
          <p:cNvSpPr/>
          <p:nvPr/>
        </p:nvSpPr>
        <p:spPr>
          <a:xfrm>
            <a:off x="1143000" y="5120640"/>
            <a:ext cx="10332720" cy="566928"/>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Real example — </a:t>
            </a:r>
            <a:pPr indent="0" marL="0">
              <a:buNone/>
            </a:pPr>
            <a:r>
              <a:rPr lang="en-US" sz="1300" dirty="0">
                <a:solidFill>
                  <a:srgbClr val="5A5D66"/>
                </a:solidFill>
                <a:latin typeface="Calibri" pitchFamily="34" charset="0"/>
                <a:ea typeface="Calibri" pitchFamily="34" charset="-122"/>
                <a:cs typeface="Calibri" pitchFamily="34" charset="-120"/>
              </a:rPr>
              <a:t>Zitouna Takaful 2024: premiums 34.9 M TND (family) and 91.2 M TND (general); Participants' Fund surplus 0.61 M and 1.11 M TND.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AI — Three Capabilities on Trusted Data</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4480560" y="1554480"/>
            <a:ext cx="3200400" cy="731520"/>
          </a:xfrm>
          <a:prstGeom prst="roundRect">
            <a:avLst>
              <a:gd name="adj" fmla="val 10000"/>
            </a:avLst>
          </a:prstGeom>
          <a:solidFill>
            <a:srgbClr val="FFE600"/>
          </a:solidFill>
          <a:ln/>
        </p:spPr>
      </p:sp>
      <p:sp>
        <p:nvSpPr>
          <p:cNvPr id="7" name="Text 4"/>
          <p:cNvSpPr/>
          <p:nvPr/>
        </p:nvSpPr>
        <p:spPr>
          <a:xfrm>
            <a:off x="4480560" y="1554480"/>
            <a:ext cx="3200400" cy="731520"/>
          </a:xfrm>
          <a:prstGeom prst="rect">
            <a:avLst/>
          </a:prstGeom>
          <a:noFill/>
          <a:ln/>
        </p:spPr>
        <p:txBody>
          <a:bodyPr wrap="square" lIns="0" tIns="0" rIns="0" bIns="0" rtlCol="0" anchor="ctr"/>
          <a:lstStyle/>
          <a:p>
            <a:pPr algn="ctr" indent="0" marL="0">
              <a:buNone/>
            </a:pPr>
            <a:r>
              <a:rPr lang="en-US" sz="1600" b="1" dirty="0">
                <a:solidFill>
                  <a:srgbClr val="33363F"/>
                </a:solidFill>
                <a:latin typeface="Cambria" pitchFamily="34" charset="0"/>
                <a:ea typeface="Cambria" pitchFamily="34" charset="-122"/>
                <a:cs typeface="Cambria" pitchFamily="34" charset="-120"/>
              </a:rPr>
              <a:t>Groq LLM · cloud API</a:t>
            </a:r>
            <a:endParaRPr lang="en-US" sz="1600" dirty="0"/>
          </a:p>
        </p:txBody>
      </p:sp>
      <p:sp>
        <p:nvSpPr>
          <p:cNvPr id="8" name="Shape 5"/>
          <p:cNvSpPr/>
          <p:nvPr/>
        </p:nvSpPr>
        <p:spPr>
          <a:xfrm flipH="1">
            <a:off x="2313432" y="2286000"/>
            <a:ext cx="3767328" cy="457200"/>
          </a:xfrm>
          <a:prstGeom prst="line">
            <a:avLst/>
          </a:prstGeom>
          <a:noFill/>
          <a:ln w="22225">
            <a:solidFill>
              <a:srgbClr val="D3D5DB"/>
            </a:solidFill>
            <a:prstDash val="solid"/>
            <a:tailEnd type="triangle"/>
          </a:ln>
        </p:spPr>
      </p:sp>
      <p:sp>
        <p:nvSpPr>
          <p:cNvPr id="9" name="Shape 6"/>
          <p:cNvSpPr/>
          <p:nvPr/>
        </p:nvSpPr>
        <p:spPr>
          <a:xfrm>
            <a:off x="548640" y="2788920"/>
            <a:ext cx="3520440" cy="2103120"/>
          </a:xfrm>
          <a:prstGeom prst="roundRect">
            <a:avLst>
              <a:gd name="adj" fmla="val 3478"/>
            </a:avLst>
          </a:prstGeom>
          <a:solidFill>
            <a:srgbClr val="33363F"/>
          </a:solidFill>
          <a:ln/>
        </p:spPr>
      </p:sp>
      <p:sp>
        <p:nvSpPr>
          <p:cNvPr id="10" name="Text 7"/>
          <p:cNvSpPr/>
          <p:nvPr/>
        </p:nvSpPr>
        <p:spPr>
          <a:xfrm>
            <a:off x="822960" y="2926080"/>
            <a:ext cx="301752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Generate reports</a:t>
            </a:r>
            <a:endParaRPr lang="en-US" sz="1600" dirty="0"/>
          </a:p>
        </p:txBody>
      </p:sp>
      <p:sp>
        <p:nvSpPr>
          <p:cNvPr id="11" name="Text 8"/>
          <p:cNvSpPr/>
          <p:nvPr/>
        </p:nvSpPr>
        <p:spPr>
          <a:xfrm>
            <a:off x="822960" y="3337560"/>
            <a:ext cx="3017520" cy="320040"/>
          </a:xfrm>
          <a:prstGeom prst="rect">
            <a:avLst/>
          </a:prstGeom>
          <a:noFill/>
          <a:ln/>
        </p:spPr>
        <p:txBody>
          <a:bodyPr wrap="square" lIns="0" tIns="0" rIns="0" bIns="0" rtlCol="0" anchor="ctr"/>
          <a:lstStyle/>
          <a:p>
            <a:pPr indent="0" marL="0">
              <a:buNone/>
            </a:pPr>
            <a:r>
              <a:rPr lang="en-US" sz="1150" dirty="0">
                <a:solidFill>
                  <a:srgbClr val="FFE600"/>
                </a:solidFill>
                <a:latin typeface="Calibri" pitchFamily="34" charset="0"/>
                <a:ea typeface="Calibri" pitchFamily="34" charset="-122"/>
                <a:cs typeface="Calibri" pitchFamily="34" charset="-120"/>
              </a:rPr>
              <a:t>summarises the anomaly audit</a:t>
            </a:r>
            <a:endParaRPr lang="en-US" sz="1150" dirty="0"/>
          </a:p>
        </p:txBody>
      </p:sp>
      <p:sp>
        <p:nvSpPr>
          <p:cNvPr id="12" name="Text 9"/>
          <p:cNvSpPr/>
          <p:nvPr/>
        </p:nvSpPr>
        <p:spPr>
          <a:xfrm>
            <a:off x="822960" y="3794760"/>
            <a:ext cx="3017520" cy="146304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2024 audit: 42 anomalies across 11 companies, with causes and recommended checks.</a:t>
            </a:r>
            <a:endParaRPr lang="en-US" sz="1250" dirty="0"/>
          </a:p>
        </p:txBody>
      </p:sp>
      <p:sp>
        <p:nvSpPr>
          <p:cNvPr id="13" name="Shape 10"/>
          <p:cNvSpPr/>
          <p:nvPr/>
        </p:nvSpPr>
        <p:spPr>
          <a:xfrm>
            <a:off x="6080760" y="2286000"/>
            <a:ext cx="27432" cy="457200"/>
          </a:xfrm>
          <a:prstGeom prst="line">
            <a:avLst/>
          </a:prstGeom>
          <a:noFill/>
          <a:ln w="22225">
            <a:solidFill>
              <a:srgbClr val="D3D5DB"/>
            </a:solidFill>
            <a:prstDash val="solid"/>
            <a:tailEnd type="triangle"/>
          </a:ln>
        </p:spPr>
      </p:sp>
      <p:sp>
        <p:nvSpPr>
          <p:cNvPr id="14" name="Shape 11"/>
          <p:cNvSpPr/>
          <p:nvPr/>
        </p:nvSpPr>
        <p:spPr>
          <a:xfrm>
            <a:off x="4343400" y="2788920"/>
            <a:ext cx="3520440" cy="2103120"/>
          </a:xfrm>
          <a:prstGeom prst="roundRect">
            <a:avLst>
              <a:gd name="adj" fmla="val 3478"/>
            </a:avLst>
          </a:prstGeom>
          <a:solidFill>
            <a:srgbClr val="33363F"/>
          </a:solidFill>
          <a:ln/>
        </p:spPr>
      </p:sp>
      <p:sp>
        <p:nvSpPr>
          <p:cNvPr id="15" name="Text 12"/>
          <p:cNvSpPr/>
          <p:nvPr/>
        </p:nvSpPr>
        <p:spPr>
          <a:xfrm>
            <a:off x="4617720" y="2926080"/>
            <a:ext cx="301752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Answer questions</a:t>
            </a:r>
            <a:endParaRPr lang="en-US" sz="1600" dirty="0"/>
          </a:p>
        </p:txBody>
      </p:sp>
      <p:sp>
        <p:nvSpPr>
          <p:cNvPr id="16" name="Text 13"/>
          <p:cNvSpPr/>
          <p:nvPr/>
        </p:nvSpPr>
        <p:spPr>
          <a:xfrm>
            <a:off x="4617720" y="3337560"/>
            <a:ext cx="3017520" cy="320040"/>
          </a:xfrm>
          <a:prstGeom prst="rect">
            <a:avLst/>
          </a:prstGeom>
          <a:noFill/>
          <a:ln/>
        </p:spPr>
        <p:txBody>
          <a:bodyPr wrap="square" lIns="0" tIns="0" rIns="0" bIns="0" rtlCol="0" anchor="ctr"/>
          <a:lstStyle/>
          <a:p>
            <a:pPr indent="0" marL="0">
              <a:buNone/>
            </a:pPr>
            <a:r>
              <a:rPr lang="en-US" sz="1150" dirty="0">
                <a:solidFill>
                  <a:srgbClr val="FFE600"/>
                </a:solidFill>
                <a:latin typeface="Calibri" pitchFamily="34" charset="0"/>
                <a:ea typeface="Calibri" pitchFamily="34" charset="-122"/>
                <a:cs typeface="Calibri" pitchFamily="34" charset="-120"/>
              </a:rPr>
              <a:t>RAG on the platform data</a:t>
            </a:r>
            <a:endParaRPr lang="en-US" sz="1150" dirty="0"/>
          </a:p>
        </p:txBody>
      </p:sp>
      <p:sp>
        <p:nvSpPr>
          <p:cNvPr id="17" name="Text 14"/>
          <p:cNvSpPr/>
          <p:nvPr/>
        </p:nvSpPr>
        <p:spPr>
          <a:xfrm>
            <a:off x="4617720" y="3794760"/>
            <a:ext cx="3017520" cy="146304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“What is ASTREE's combined ratio in 2025?” → read in the database: 77.93 %. Only SELECT queries are allowed.</a:t>
            </a:r>
            <a:endParaRPr lang="en-US" sz="1250" dirty="0"/>
          </a:p>
        </p:txBody>
      </p:sp>
      <p:sp>
        <p:nvSpPr>
          <p:cNvPr id="18" name="Shape 15"/>
          <p:cNvSpPr/>
          <p:nvPr/>
        </p:nvSpPr>
        <p:spPr>
          <a:xfrm>
            <a:off x="6080760" y="2286000"/>
            <a:ext cx="3822192" cy="457200"/>
          </a:xfrm>
          <a:prstGeom prst="line">
            <a:avLst/>
          </a:prstGeom>
          <a:noFill/>
          <a:ln w="22225">
            <a:solidFill>
              <a:srgbClr val="D3D5DB"/>
            </a:solidFill>
            <a:prstDash val="solid"/>
            <a:tailEnd type="triangle"/>
          </a:ln>
        </p:spPr>
      </p:sp>
      <p:sp>
        <p:nvSpPr>
          <p:cNvPr id="19" name="Shape 16"/>
          <p:cNvSpPr/>
          <p:nvPr/>
        </p:nvSpPr>
        <p:spPr>
          <a:xfrm>
            <a:off x="8138160" y="2788920"/>
            <a:ext cx="3520440" cy="2103120"/>
          </a:xfrm>
          <a:prstGeom prst="roundRect">
            <a:avLst>
              <a:gd name="adj" fmla="val 3478"/>
            </a:avLst>
          </a:prstGeom>
          <a:solidFill>
            <a:srgbClr val="33363F"/>
          </a:solidFill>
          <a:ln/>
        </p:spPr>
      </p:sp>
      <p:sp>
        <p:nvSpPr>
          <p:cNvPr id="20" name="Text 17"/>
          <p:cNvSpPr/>
          <p:nvPr/>
        </p:nvSpPr>
        <p:spPr>
          <a:xfrm>
            <a:off x="8412480" y="2926080"/>
            <a:ext cx="301752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Anticipate trends</a:t>
            </a:r>
            <a:endParaRPr lang="en-US" sz="1600" dirty="0"/>
          </a:p>
        </p:txBody>
      </p:sp>
      <p:sp>
        <p:nvSpPr>
          <p:cNvPr id="21" name="Text 18"/>
          <p:cNvSpPr/>
          <p:nvPr/>
        </p:nvSpPr>
        <p:spPr>
          <a:xfrm>
            <a:off x="8412480" y="3337560"/>
            <a:ext cx="3017520" cy="320040"/>
          </a:xfrm>
          <a:prstGeom prst="rect">
            <a:avLst/>
          </a:prstGeom>
          <a:noFill/>
          <a:ln/>
        </p:spPr>
        <p:txBody>
          <a:bodyPr wrap="square" lIns="0" tIns="0" rIns="0" bIns="0" rtlCol="0" anchor="ctr"/>
          <a:lstStyle/>
          <a:p>
            <a:pPr indent="0" marL="0">
              <a:buNone/>
            </a:pPr>
            <a:r>
              <a:rPr lang="en-US" sz="1150" dirty="0">
                <a:solidFill>
                  <a:srgbClr val="FFE600"/>
                </a:solidFill>
                <a:latin typeface="Calibri" pitchFamily="34" charset="0"/>
                <a:ea typeface="Calibri" pitchFamily="34" charset="-122"/>
                <a:cs typeface="Calibri" pitchFamily="34" charset="-120"/>
              </a:rPr>
              <a:t>Prophet + XGBoost, SHAP</a:t>
            </a:r>
            <a:endParaRPr lang="en-US" sz="1150" dirty="0"/>
          </a:p>
        </p:txBody>
      </p:sp>
      <p:sp>
        <p:nvSpPr>
          <p:cNvPr id="22" name="Text 19"/>
          <p:cNvSpPr/>
          <p:nvPr/>
        </p:nvSpPr>
        <p:spPr>
          <a:xfrm>
            <a:off x="8412480" y="3794760"/>
            <a:ext cx="3017520" cy="146304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Forecasts a KPI with an 80 % confidence interval and explains what drives it.</a:t>
            </a:r>
            <a:endParaRPr lang="en-US" sz="1250" dirty="0"/>
          </a:p>
        </p:txBody>
      </p:sp>
      <p:sp>
        <p:nvSpPr>
          <p:cNvPr id="23" name="Shape 20"/>
          <p:cNvSpPr/>
          <p:nvPr/>
        </p:nvSpPr>
        <p:spPr>
          <a:xfrm>
            <a:off x="548640" y="5257800"/>
            <a:ext cx="11064240" cy="566928"/>
          </a:xfrm>
          <a:prstGeom prst="roundRect">
            <a:avLst>
              <a:gd name="adj" fmla="val 12903"/>
            </a:avLst>
          </a:prstGeom>
          <a:solidFill>
            <a:srgbClr val="F5F5F6"/>
          </a:solidFill>
          <a:ln/>
        </p:spPr>
      </p:sp>
      <p:sp>
        <p:nvSpPr>
          <p:cNvPr id="24" name="Shape 21"/>
          <p:cNvSpPr/>
          <p:nvPr/>
        </p:nvSpPr>
        <p:spPr>
          <a:xfrm>
            <a:off x="822960" y="5468112"/>
            <a:ext cx="146304" cy="146304"/>
          </a:xfrm>
          <a:prstGeom prst="ellipse">
            <a:avLst/>
          </a:prstGeom>
          <a:solidFill>
            <a:srgbClr val="FFE600"/>
          </a:solidFill>
          <a:ln/>
        </p:spPr>
      </p:sp>
      <p:sp>
        <p:nvSpPr>
          <p:cNvPr id="25" name="Text 22"/>
          <p:cNvSpPr/>
          <p:nvPr/>
        </p:nvSpPr>
        <p:spPr>
          <a:xfrm>
            <a:off x="1143000" y="5257800"/>
            <a:ext cx="10332720" cy="566928"/>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Design rule — </a:t>
            </a:r>
            <a:pPr indent="0" marL="0">
              <a:buNone/>
            </a:pPr>
            <a:r>
              <a:rPr lang="en-US" sz="1300" dirty="0">
                <a:solidFill>
                  <a:srgbClr val="5A5D66"/>
                </a:solidFill>
                <a:latin typeface="Calibri" pitchFamily="34" charset="0"/>
                <a:ea typeface="Calibri" pitchFamily="34" charset="-122"/>
                <a:cs typeface="Calibri" pitchFamily="34" charset="-120"/>
              </a:rPr>
              <a:t>answers come from the verified database, not from the model's memory.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5 · Deliver — Dashboards, Excel and Chatbot</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548640" y="2011680"/>
            <a:ext cx="7589520" cy="2649789"/>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scratch/pipeline_shots/crops/gestion_filters_excel.png">    </p:cNvPr>
          <p:cNvPicPr>
            <a:picLocks noChangeAspect="1"/>
          </p:cNvPicPr>
          <p:nvPr/>
        </p:nvPicPr>
        <p:blipFill>
          <a:blip r:embed="rId1"/>
          <a:stretch>
            <a:fillRect/>
          </a:stretch>
        </p:blipFill>
        <p:spPr>
          <a:xfrm>
            <a:off x="548640" y="2011680"/>
            <a:ext cx="7589520" cy="2649789"/>
          </a:xfrm>
          <a:prstGeom prst="rect">
            <a:avLst/>
          </a:prstGeom>
        </p:spPr>
      </p:pic>
      <p:sp>
        <p:nvSpPr>
          <p:cNvPr id="8" name="Text 4"/>
          <p:cNvSpPr/>
          <p:nvPr/>
        </p:nvSpPr>
        <p:spPr>
          <a:xfrm>
            <a:off x="548640" y="4716333"/>
            <a:ext cx="7589520"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screenshot — Platform · Data Management</a:t>
            </a:r>
            <a:endParaRPr lang="en-US" sz="1050" dirty="0"/>
          </a:p>
        </p:txBody>
      </p:sp>
      <p:sp>
        <p:nvSpPr>
          <p:cNvPr id="9" name="Shape 5"/>
          <p:cNvSpPr/>
          <p:nvPr/>
        </p:nvSpPr>
        <p:spPr>
          <a:xfrm>
            <a:off x="8412480" y="1600200"/>
            <a:ext cx="3200400" cy="1280160"/>
          </a:xfrm>
          <a:prstGeom prst="roundRect">
            <a:avLst>
              <a:gd name="adj" fmla="val 5714"/>
            </a:avLst>
          </a:prstGeom>
          <a:solidFill>
            <a:srgbClr val="33363F"/>
          </a:solidFill>
          <a:ln/>
        </p:spPr>
      </p:sp>
      <p:sp>
        <p:nvSpPr>
          <p:cNvPr id="10" name="Text 6"/>
          <p:cNvSpPr/>
          <p:nvPr/>
        </p:nvSpPr>
        <p:spPr>
          <a:xfrm>
            <a:off x="8641080" y="1600200"/>
            <a:ext cx="2788920" cy="12801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Dashboards</a:t>
            </a:r>
            <a:endParaRPr lang="en-US" sz="1600" dirty="0"/>
          </a:p>
          <a:p>
            <a:pPr indent="0" marL="0">
              <a:buNone/>
            </a:pPr>
            <a:r>
              <a:rPr lang="en-US" sz="1200" dirty="0">
                <a:solidFill>
                  <a:srgbClr val="C7CBD0"/>
                </a:solidFill>
                <a:latin typeface="Calibri" pitchFamily="34" charset="0"/>
                <a:ea typeface="Calibri" pitchFamily="34" charset="-122"/>
                <a:cs typeface="Calibri" pitchFamily="34" charset="-120"/>
              </a:rPr>
              <a:t>interactive pages of the web platform</a:t>
            </a:r>
            <a:endParaRPr lang="en-US" sz="1600" dirty="0"/>
          </a:p>
        </p:txBody>
      </p:sp>
      <p:sp>
        <p:nvSpPr>
          <p:cNvPr id="11" name="Shape 7"/>
          <p:cNvSpPr/>
          <p:nvPr/>
        </p:nvSpPr>
        <p:spPr>
          <a:xfrm>
            <a:off x="8412480" y="3063240"/>
            <a:ext cx="3200400" cy="1280160"/>
          </a:xfrm>
          <a:prstGeom prst="roundRect">
            <a:avLst>
              <a:gd name="adj" fmla="val 5714"/>
            </a:avLst>
          </a:prstGeom>
          <a:solidFill>
            <a:srgbClr val="FFE600"/>
          </a:solidFill>
          <a:ln/>
        </p:spPr>
      </p:sp>
      <p:sp>
        <p:nvSpPr>
          <p:cNvPr id="12" name="Text 8"/>
          <p:cNvSpPr/>
          <p:nvPr/>
        </p:nvSpPr>
        <p:spPr>
          <a:xfrm>
            <a:off x="8641080" y="3063240"/>
            <a:ext cx="2788920" cy="1280160"/>
          </a:xfrm>
          <a:prstGeom prst="rect">
            <a:avLst/>
          </a:prstGeom>
          <a:noFill/>
          <a:ln/>
        </p:spPr>
        <p:txBody>
          <a:bodyPr wrap="square" lIns="0" tIns="0" rIns="0" bIns="0" rtlCol="0" anchor="ctr"/>
          <a:lstStyle/>
          <a:p>
            <a:pPr indent="0" marL="0">
              <a:buNone/>
            </a:pPr>
            <a:r>
              <a:rPr lang="en-US" sz="1600" b="1" dirty="0">
                <a:solidFill>
                  <a:srgbClr val="33363F"/>
                </a:solidFill>
                <a:latin typeface="Calibri" pitchFamily="34" charset="0"/>
                <a:ea typeface="Calibri" pitchFamily="34" charset="-122"/>
                <a:cs typeface="Calibri" pitchFamily="34" charset="-120"/>
              </a:rPr>
              <a:t>Excel export</a:t>
            </a:r>
            <a:endParaRPr lang="en-US" sz="1600" dirty="0"/>
          </a:p>
          <a:p>
            <a:pPr indent="0" marL="0">
              <a:buNone/>
            </a:pPr>
            <a:r>
              <a:rPr lang="en-US" sz="1200" dirty="0">
                <a:solidFill>
                  <a:srgbClr val="33363F"/>
                </a:solidFill>
                <a:latin typeface="Calibri" pitchFamily="34" charset="0"/>
                <a:ea typeface="Calibri" pitchFamily="34" charset="-122"/>
                <a:cs typeface="Calibri" pitchFamily="34" charset="-120"/>
              </a:rPr>
              <a:t>one sheet per company, one table per annex</a:t>
            </a:r>
            <a:endParaRPr lang="en-US" sz="1600" dirty="0"/>
          </a:p>
        </p:txBody>
      </p:sp>
      <p:sp>
        <p:nvSpPr>
          <p:cNvPr id="13" name="Shape 9"/>
          <p:cNvSpPr/>
          <p:nvPr/>
        </p:nvSpPr>
        <p:spPr>
          <a:xfrm>
            <a:off x="8412480" y="4526280"/>
            <a:ext cx="3200400" cy="1280160"/>
          </a:xfrm>
          <a:prstGeom prst="roundRect">
            <a:avLst>
              <a:gd name="adj" fmla="val 5714"/>
            </a:avLst>
          </a:prstGeom>
          <a:solidFill>
            <a:srgbClr val="33363F"/>
          </a:solidFill>
          <a:ln/>
        </p:spPr>
      </p:sp>
      <p:sp>
        <p:nvSpPr>
          <p:cNvPr id="14" name="Text 10"/>
          <p:cNvSpPr/>
          <p:nvPr/>
        </p:nvSpPr>
        <p:spPr>
          <a:xfrm>
            <a:off x="8641080" y="4526280"/>
            <a:ext cx="2788920" cy="12801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Chatbot</a:t>
            </a:r>
            <a:endParaRPr lang="en-US" sz="1600" dirty="0"/>
          </a:p>
          <a:p>
            <a:pPr indent="0" marL="0">
              <a:buNone/>
            </a:pPr>
            <a:r>
              <a:rPr lang="en-US" sz="1200" dirty="0">
                <a:solidFill>
                  <a:srgbClr val="C7CBD0"/>
                </a:solidFill>
                <a:latin typeface="Calibri" pitchFamily="34" charset="0"/>
                <a:ea typeface="Calibri" pitchFamily="34" charset="-122"/>
                <a:cs typeface="Calibri" pitchFamily="34" charset="-120"/>
              </a:rPr>
              <a:t>answers from the database (RAG)</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BACKUP · 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Backup — Collect: Robustness in the Code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548640" y="1645920"/>
            <a:ext cx="7674088" cy="3063240"/>
          </a:xfrm>
          <a:prstGeom prst="rect">
            <a:avLst/>
          </a:prstGeom>
          <a:solidFill>
            <a:srgbClr val="FFFFFF"/>
          </a:solidFill>
          <a:ln w="12700">
            <a:solidFill>
              <a:srgbClr val="D3D5DB"/>
            </a:solidFill>
            <a:prstDash val="solid"/>
          </a:ln>
          <a:effectLst>
            <a:outerShdw sx="100000" sy="100000" kx="0" ky="0" algn="bl" rotWithShape="0" blurRad="63500" dist="25400" dir="5400000">
              <a:srgbClr val="000000">
                <a:alpha val="12000"/>
              </a:srgbClr>
            </a:outerShdw>
          </a:effectLst>
        </p:spPr>
      </p:sp>
      <p:pic>
        <p:nvPicPr>
          <p:cNvPr id="7" name="Image 0" descr="C:/Users/HP/Desktop/SCRAPING/docs/diagrams/code_scraping_retry.png">    </p:cNvPr>
          <p:cNvPicPr>
            <a:picLocks noChangeAspect="1"/>
          </p:cNvPicPr>
          <p:nvPr/>
        </p:nvPicPr>
        <p:blipFill>
          <a:blip r:embed="rId1"/>
          <a:stretch>
            <a:fillRect/>
          </a:stretch>
        </p:blipFill>
        <p:spPr>
          <a:xfrm>
            <a:off x="548640" y="1645920"/>
            <a:ext cx="7674088" cy="3063240"/>
          </a:xfrm>
          <a:prstGeom prst="rect">
            <a:avLst/>
          </a:prstGeom>
        </p:spPr>
      </p:pic>
      <p:sp>
        <p:nvSpPr>
          <p:cNvPr id="8" name="Text 4"/>
          <p:cNvSpPr/>
          <p:nvPr/>
        </p:nvSpPr>
        <p:spPr>
          <a:xfrm>
            <a:off x="548640" y="4764024"/>
            <a:ext cx="7674088" cy="237744"/>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Real code — scraping/cmf_portal_scraper.py</a:t>
            </a:r>
            <a:endParaRPr lang="en-US" sz="1050" dirty="0"/>
          </a:p>
        </p:txBody>
      </p:sp>
      <p:sp>
        <p:nvSpPr>
          <p:cNvPr id="9" name="Shape 5"/>
          <p:cNvSpPr/>
          <p:nvPr/>
        </p:nvSpPr>
        <p:spPr>
          <a:xfrm>
            <a:off x="8595360" y="1645920"/>
            <a:ext cx="3017520" cy="914400"/>
          </a:xfrm>
          <a:prstGeom prst="roundRect">
            <a:avLst>
              <a:gd name="adj" fmla="val 8000"/>
            </a:avLst>
          </a:prstGeom>
          <a:solidFill>
            <a:srgbClr val="33363F"/>
          </a:solidFill>
          <a:ln/>
        </p:spPr>
      </p:sp>
      <p:sp>
        <p:nvSpPr>
          <p:cNvPr id="10" name="Text 6"/>
          <p:cNvSpPr/>
          <p:nvPr/>
        </p:nvSpPr>
        <p:spPr>
          <a:xfrm>
            <a:off x="8823960" y="1645920"/>
            <a:ext cx="265176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 attempts</a:t>
            </a:r>
            <a:endParaRPr lang="en-US" sz="1500" dirty="0"/>
          </a:p>
          <a:p>
            <a:pPr indent="0" marL="0">
              <a:buNone/>
            </a:pPr>
            <a:r>
              <a:rPr lang="en-US" sz="1150" dirty="0">
                <a:solidFill>
                  <a:srgbClr val="C7CBD0"/>
                </a:solidFill>
                <a:latin typeface="Calibri" pitchFamily="34" charset="0"/>
                <a:ea typeface="Calibri" pitchFamily="34" charset="-122"/>
                <a:cs typeface="Calibri" pitchFamily="34" charset="-120"/>
              </a:rPr>
              <a:t>per company on the CMF portal</a:t>
            </a:r>
            <a:endParaRPr lang="en-US" sz="1500" dirty="0"/>
          </a:p>
        </p:txBody>
      </p:sp>
      <p:sp>
        <p:nvSpPr>
          <p:cNvPr id="11" name="Shape 7"/>
          <p:cNvSpPr/>
          <p:nvPr/>
        </p:nvSpPr>
        <p:spPr>
          <a:xfrm>
            <a:off x="8595360" y="2697480"/>
            <a:ext cx="3017520" cy="914400"/>
          </a:xfrm>
          <a:prstGeom prst="roundRect">
            <a:avLst>
              <a:gd name="adj" fmla="val 8000"/>
            </a:avLst>
          </a:prstGeom>
          <a:solidFill>
            <a:srgbClr val="33363F"/>
          </a:solidFill>
          <a:ln/>
        </p:spPr>
      </p:sp>
      <p:sp>
        <p:nvSpPr>
          <p:cNvPr id="12" name="Text 8"/>
          <p:cNvSpPr/>
          <p:nvPr/>
        </p:nvSpPr>
        <p:spPr>
          <a:xfrm>
            <a:off x="8823960" y="2697480"/>
            <a:ext cx="265176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 attempts</a:t>
            </a:r>
            <a:endParaRPr lang="en-US" sz="1500" dirty="0"/>
          </a:p>
          <a:p>
            <a:pPr indent="0" marL="0">
              <a:buNone/>
            </a:pPr>
            <a:r>
              <a:rPr lang="en-US" sz="1150" dirty="0">
                <a:solidFill>
                  <a:srgbClr val="C7CBD0"/>
                </a:solidFill>
                <a:latin typeface="Calibri" pitchFamily="34" charset="0"/>
                <a:ea typeface="Calibri" pitchFamily="34" charset="-122"/>
                <a:cs typeface="Calibri" pitchFamily="34" charset="-120"/>
              </a:rPr>
              <a:t>per source, waiting 2 s, 4 s, 8 s</a:t>
            </a:r>
            <a:endParaRPr lang="en-US" sz="1500" dirty="0"/>
          </a:p>
        </p:txBody>
      </p:sp>
      <p:sp>
        <p:nvSpPr>
          <p:cNvPr id="13" name="Shape 9"/>
          <p:cNvSpPr/>
          <p:nvPr/>
        </p:nvSpPr>
        <p:spPr>
          <a:xfrm>
            <a:off x="8595360" y="3749040"/>
            <a:ext cx="3017520" cy="914400"/>
          </a:xfrm>
          <a:prstGeom prst="roundRect">
            <a:avLst>
              <a:gd name="adj" fmla="val 8000"/>
            </a:avLst>
          </a:prstGeom>
          <a:solidFill>
            <a:srgbClr val="33363F"/>
          </a:solidFill>
          <a:ln/>
        </p:spPr>
      </p:sp>
      <p:sp>
        <p:nvSpPr>
          <p:cNvPr id="14" name="Text 10"/>
          <p:cNvSpPr/>
          <p:nvPr/>
        </p:nvSpPr>
        <p:spPr>
          <a:xfrm>
            <a:off x="8823960" y="3749040"/>
            <a:ext cx="2651760" cy="9144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Isolated failures</a:t>
            </a:r>
            <a:endParaRPr lang="en-US" sz="1500" dirty="0"/>
          </a:p>
          <a:p>
            <a:pPr indent="0" marL="0">
              <a:buNone/>
            </a:pPr>
            <a:r>
              <a:rPr lang="en-US" sz="1150" dirty="0">
                <a:solidFill>
                  <a:srgbClr val="C7CBD0"/>
                </a:solidFill>
                <a:latin typeface="Calibri" pitchFamily="34" charset="0"/>
                <a:ea typeface="Calibri" pitchFamily="34" charset="-122"/>
                <a:cs typeface="Calibri" pitchFamily="34" charset="-120"/>
              </a:rPr>
              <a:t>one failing source never stops the others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BACKUP · 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Backup — Orchestration: Runs on Its Own, Leaves a Trace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48640" y="1645920"/>
            <a:ext cx="4480560" cy="621792"/>
          </a:xfrm>
          <a:prstGeom prst="roundRect">
            <a:avLst>
              <a:gd name="adj" fmla="val 11765"/>
            </a:avLst>
          </a:prstGeom>
          <a:solidFill>
            <a:srgbClr val="33363F"/>
          </a:solidFill>
          <a:ln/>
        </p:spPr>
      </p:sp>
      <p:sp>
        <p:nvSpPr>
          <p:cNvPr id="7" name="Text 4"/>
          <p:cNvSpPr/>
          <p:nvPr/>
        </p:nvSpPr>
        <p:spPr>
          <a:xfrm>
            <a:off x="777240" y="164592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Scheduler starts the run</a:t>
            </a:r>
            <a:endParaRPr lang="en-US" sz="1400" dirty="0"/>
          </a:p>
        </p:txBody>
      </p:sp>
      <p:sp>
        <p:nvSpPr>
          <p:cNvPr id="8" name="Shape 5"/>
          <p:cNvSpPr/>
          <p:nvPr/>
        </p:nvSpPr>
        <p:spPr>
          <a:xfrm>
            <a:off x="2788920" y="2267712"/>
            <a:ext cx="9144" cy="155448"/>
          </a:xfrm>
          <a:prstGeom prst="line">
            <a:avLst/>
          </a:prstGeom>
          <a:noFill/>
          <a:ln w="25400">
            <a:solidFill>
              <a:srgbClr val="FFE600"/>
            </a:solidFill>
            <a:prstDash val="solid"/>
            <a:tailEnd type="triangle"/>
          </a:ln>
        </p:spPr>
      </p:sp>
      <p:sp>
        <p:nvSpPr>
          <p:cNvPr id="9" name="Shape 6"/>
          <p:cNvSpPr/>
          <p:nvPr/>
        </p:nvSpPr>
        <p:spPr>
          <a:xfrm>
            <a:off x="548640" y="2423160"/>
            <a:ext cx="4480560" cy="621792"/>
          </a:xfrm>
          <a:prstGeom prst="roundRect">
            <a:avLst>
              <a:gd name="adj" fmla="val 11765"/>
            </a:avLst>
          </a:prstGeom>
          <a:solidFill>
            <a:srgbClr val="40434D"/>
          </a:solidFill>
          <a:ln/>
        </p:spPr>
      </p:sp>
      <p:sp>
        <p:nvSpPr>
          <p:cNvPr id="10" name="Text 7"/>
          <p:cNvSpPr/>
          <p:nvPr/>
        </p:nvSpPr>
        <p:spPr>
          <a:xfrm>
            <a:off x="777240" y="242316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Each source: up to 3 attempts</a:t>
            </a:r>
            <a:endParaRPr lang="en-US" sz="1400" dirty="0"/>
          </a:p>
        </p:txBody>
      </p:sp>
      <p:sp>
        <p:nvSpPr>
          <p:cNvPr id="11" name="Shape 8"/>
          <p:cNvSpPr/>
          <p:nvPr/>
        </p:nvSpPr>
        <p:spPr>
          <a:xfrm>
            <a:off x="2788920" y="3044952"/>
            <a:ext cx="9144" cy="155448"/>
          </a:xfrm>
          <a:prstGeom prst="line">
            <a:avLst/>
          </a:prstGeom>
          <a:noFill/>
          <a:ln w="25400">
            <a:solidFill>
              <a:srgbClr val="FFE600"/>
            </a:solidFill>
            <a:prstDash val="solid"/>
            <a:tailEnd type="triangle"/>
          </a:ln>
        </p:spPr>
      </p:sp>
      <p:sp>
        <p:nvSpPr>
          <p:cNvPr id="12" name="Shape 9"/>
          <p:cNvSpPr/>
          <p:nvPr/>
        </p:nvSpPr>
        <p:spPr>
          <a:xfrm>
            <a:off x="548640" y="3200400"/>
            <a:ext cx="4480560" cy="621792"/>
          </a:xfrm>
          <a:prstGeom prst="roundRect">
            <a:avLst>
              <a:gd name="adj" fmla="val 11765"/>
            </a:avLst>
          </a:prstGeom>
          <a:solidFill>
            <a:srgbClr val="33363F"/>
          </a:solidFill>
          <a:ln/>
        </p:spPr>
      </p:sp>
      <p:sp>
        <p:nvSpPr>
          <p:cNvPr id="13" name="Text 10"/>
          <p:cNvSpPr/>
          <p:nvPr/>
        </p:nvSpPr>
        <p:spPr>
          <a:xfrm>
            <a:off x="777240" y="320040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Quality check and anomaly audit</a:t>
            </a:r>
            <a:endParaRPr lang="en-US" sz="1400" dirty="0"/>
          </a:p>
        </p:txBody>
      </p:sp>
      <p:sp>
        <p:nvSpPr>
          <p:cNvPr id="14" name="Shape 11"/>
          <p:cNvSpPr/>
          <p:nvPr/>
        </p:nvSpPr>
        <p:spPr>
          <a:xfrm>
            <a:off x="2788920" y="3822192"/>
            <a:ext cx="9144" cy="155448"/>
          </a:xfrm>
          <a:prstGeom prst="line">
            <a:avLst/>
          </a:prstGeom>
          <a:noFill/>
          <a:ln w="25400">
            <a:solidFill>
              <a:srgbClr val="FFE600"/>
            </a:solidFill>
            <a:prstDash val="solid"/>
            <a:tailEnd type="triangle"/>
          </a:ln>
        </p:spPr>
      </p:sp>
      <p:sp>
        <p:nvSpPr>
          <p:cNvPr id="15" name="Shape 12"/>
          <p:cNvSpPr/>
          <p:nvPr/>
        </p:nvSpPr>
        <p:spPr>
          <a:xfrm>
            <a:off x="548640" y="3977640"/>
            <a:ext cx="4480560" cy="621792"/>
          </a:xfrm>
          <a:prstGeom prst="roundRect">
            <a:avLst>
              <a:gd name="adj" fmla="val 11765"/>
            </a:avLst>
          </a:prstGeom>
          <a:solidFill>
            <a:srgbClr val="40434D"/>
          </a:solidFill>
          <a:ln/>
        </p:spPr>
      </p:sp>
      <p:sp>
        <p:nvSpPr>
          <p:cNvPr id="16" name="Text 13"/>
          <p:cNvSpPr/>
          <p:nvPr/>
        </p:nvSpPr>
        <p:spPr>
          <a:xfrm>
            <a:off x="777240" y="3977640"/>
            <a:ext cx="411480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HTML run report + optional alert</a:t>
            </a:r>
            <a:endParaRPr lang="en-US" sz="1400" dirty="0"/>
          </a:p>
        </p:txBody>
      </p:sp>
      <p:sp>
        <p:nvSpPr>
          <p:cNvPr id="17" name="Shape 14"/>
          <p:cNvSpPr/>
          <p:nvPr/>
        </p:nvSpPr>
        <p:spPr>
          <a:xfrm>
            <a:off x="548640" y="4892040"/>
            <a:ext cx="4480560" cy="822960"/>
          </a:xfrm>
          <a:prstGeom prst="roundRect">
            <a:avLst>
              <a:gd name="adj" fmla="val 8889"/>
            </a:avLst>
          </a:prstGeom>
          <a:solidFill>
            <a:srgbClr val="FFE600"/>
          </a:solidFill>
          <a:ln/>
        </p:spPr>
      </p:sp>
      <p:sp>
        <p:nvSpPr>
          <p:cNvPr id="18" name="Text 15"/>
          <p:cNvSpPr/>
          <p:nvPr/>
        </p:nvSpPr>
        <p:spPr>
          <a:xfrm>
            <a:off x="777240" y="4892040"/>
            <a:ext cx="4114800" cy="822960"/>
          </a:xfrm>
          <a:prstGeom prst="rect">
            <a:avLst/>
          </a:prstGeom>
          <a:noFill/>
          <a:ln/>
        </p:spPr>
        <p:txBody>
          <a:bodyPr wrap="square" lIns="0" tIns="0" rIns="0" bIns="0" rtlCol="0" anchor="ctr"/>
          <a:lstStyle/>
          <a:p>
            <a:pPr indent="0" marL="0">
              <a:buNone/>
            </a:pPr>
            <a:r>
              <a:rPr lang="en-US" sz="1400" b="1" dirty="0">
                <a:solidFill>
                  <a:srgbClr val="33363F"/>
                </a:solidFill>
                <a:latin typeface="Calibri" pitchFamily="34" charset="0"/>
                <a:ea typeface="Calibri" pitchFamily="34" charset="-122"/>
                <a:cs typeface="Calibri" pitchFamily="34" charset="-120"/>
              </a:rPr>
              <a:t>Watcher · every 30 minutes</a:t>
            </a:r>
            <a:endParaRPr lang="en-US" sz="1400" dirty="0"/>
          </a:p>
          <a:p>
            <a:pPr indent="0" marL="0">
              <a:buNone/>
            </a:pPr>
            <a:r>
              <a:rPr lang="en-US" sz="1200" dirty="0">
                <a:solidFill>
                  <a:srgbClr val="33363F"/>
                </a:solidFill>
                <a:latin typeface="Calibri" pitchFamily="34" charset="0"/>
                <a:ea typeface="Calibri" pitchFamily="34" charset="-122"/>
                <a:cs typeface="Calibri" pitchFamily="34" charset="-120"/>
              </a:rPr>
              <a:t>news, regulatory texts, new documents</a:t>
            </a:r>
            <a:endParaRPr lang="en-US" sz="1400" dirty="0"/>
          </a:p>
        </p:txBody>
      </p:sp>
      <p:sp>
        <p:nvSpPr>
          <p:cNvPr id="19" name="Shape 16"/>
          <p:cNvSpPr/>
          <p:nvPr/>
        </p:nvSpPr>
        <p:spPr>
          <a:xfrm>
            <a:off x="5394960" y="1645920"/>
            <a:ext cx="6217920" cy="4069080"/>
          </a:xfrm>
          <a:prstGeom prst="roundRect">
            <a:avLst>
              <a:gd name="adj" fmla="val 1798"/>
            </a:avLst>
          </a:prstGeom>
          <a:solidFill>
            <a:srgbClr val="26282F"/>
          </a:solidFill>
          <a:ln/>
        </p:spPr>
      </p:sp>
      <p:sp>
        <p:nvSpPr>
          <p:cNvPr id="20" name="Shape 17"/>
          <p:cNvSpPr/>
          <p:nvPr/>
        </p:nvSpPr>
        <p:spPr>
          <a:xfrm>
            <a:off x="5623560" y="1828800"/>
            <a:ext cx="146304" cy="146304"/>
          </a:xfrm>
          <a:prstGeom prst="ellipse">
            <a:avLst/>
          </a:prstGeom>
          <a:solidFill>
            <a:srgbClr val="FF5F57"/>
          </a:solidFill>
          <a:ln/>
        </p:spPr>
      </p:sp>
      <p:sp>
        <p:nvSpPr>
          <p:cNvPr id="21" name="Shape 18"/>
          <p:cNvSpPr/>
          <p:nvPr/>
        </p:nvSpPr>
        <p:spPr>
          <a:xfrm>
            <a:off x="5879592" y="1828800"/>
            <a:ext cx="146304" cy="146304"/>
          </a:xfrm>
          <a:prstGeom prst="ellipse">
            <a:avLst/>
          </a:prstGeom>
          <a:solidFill>
            <a:srgbClr val="FEBC2E"/>
          </a:solidFill>
          <a:ln/>
        </p:spPr>
      </p:sp>
      <p:sp>
        <p:nvSpPr>
          <p:cNvPr id="22" name="Shape 19"/>
          <p:cNvSpPr/>
          <p:nvPr/>
        </p:nvSpPr>
        <p:spPr>
          <a:xfrm>
            <a:off x="6135624" y="1828800"/>
            <a:ext cx="146304" cy="146304"/>
          </a:xfrm>
          <a:prstGeom prst="ellipse">
            <a:avLst/>
          </a:prstGeom>
          <a:solidFill>
            <a:srgbClr val="28C840"/>
          </a:solidFill>
          <a:ln/>
        </p:spPr>
      </p:sp>
      <p:sp>
        <p:nvSpPr>
          <p:cNvPr id="23" name="Text 20"/>
          <p:cNvSpPr/>
          <p:nvPr/>
        </p:nvSpPr>
        <p:spPr>
          <a:xfrm>
            <a:off x="6492240" y="1764792"/>
            <a:ext cx="4572000" cy="274320"/>
          </a:xfrm>
          <a:prstGeom prst="rect">
            <a:avLst/>
          </a:prstGeom>
          <a:noFill/>
          <a:ln/>
        </p:spPr>
        <p:txBody>
          <a:bodyPr wrap="square" lIns="0" tIns="0" rIns="0" bIns="0" rtlCol="0" anchor="ctr"/>
          <a:lstStyle/>
          <a:p>
            <a:pPr indent="0" marL="0">
              <a:buNone/>
            </a:pPr>
            <a:r>
              <a:rPr lang="en-US" sz="1050" dirty="0">
                <a:solidFill>
                  <a:srgbClr val="8B8B90"/>
                </a:solidFill>
                <a:latin typeface="Consolas" pitchFamily="34" charset="0"/>
                <a:ea typeface="Consolas" pitchFamily="34" charset="-122"/>
                <a:cs typeface="Consolas" pitchFamily="34" charset="-120"/>
              </a:rPr>
              <a:t>logs/pipeline.log · 2026-09-09</a:t>
            </a:r>
            <a:endParaRPr lang="en-US" sz="1050" dirty="0"/>
          </a:p>
        </p:txBody>
      </p:sp>
      <p:sp>
        <p:nvSpPr>
          <p:cNvPr id="24" name="Text 21"/>
          <p:cNvSpPr/>
          <p:nvPr/>
        </p:nvSpPr>
        <p:spPr>
          <a:xfrm>
            <a:off x="5623560" y="2240280"/>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source_ok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CGA · attempt 1 · 2.7 s · 10 documents</a:t>
            </a:r>
            <a:endParaRPr lang="en-US" sz="1200" dirty="0"/>
          </a:p>
        </p:txBody>
      </p:sp>
      <p:sp>
        <p:nvSpPr>
          <p:cNvPr id="25" name="Text 22"/>
          <p:cNvSpPr/>
          <p:nvPr/>
        </p:nvSpPr>
        <p:spPr>
          <a:xfrm>
            <a:off x="5623560" y="2816352"/>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source_ok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INS · attempt 1 · 5.3 s · 38 documents</a:t>
            </a:r>
            <a:endParaRPr lang="en-US" sz="1200" dirty="0"/>
          </a:p>
        </p:txBody>
      </p:sp>
      <p:sp>
        <p:nvSpPr>
          <p:cNvPr id="26" name="Text 23"/>
          <p:cNvSpPr/>
          <p:nvPr/>
        </p:nvSpPr>
        <p:spPr>
          <a:xfrm>
            <a:off x="5623560" y="3392424"/>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source_ok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BVMT · attempt 1 · 71.1 s · 47 documents</a:t>
            </a:r>
            <a:endParaRPr lang="en-US" sz="1200" dirty="0"/>
          </a:p>
        </p:txBody>
      </p:sp>
      <p:sp>
        <p:nvSpPr>
          <p:cNvPr id="27" name="Text 24"/>
          <p:cNvSpPr/>
          <p:nvPr/>
        </p:nvSpPr>
        <p:spPr>
          <a:xfrm>
            <a:off x="5623560" y="3968496"/>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kpi_extraction_ok</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CMF · 4,530 KPI values · 216 documents</a:t>
            </a:r>
            <a:endParaRPr lang="en-US" sz="1200" dirty="0"/>
          </a:p>
        </p:txBody>
      </p:sp>
      <p:sp>
        <p:nvSpPr>
          <p:cNvPr id="28" name="Text 25"/>
          <p:cNvSpPr/>
          <p:nvPr/>
        </p:nvSpPr>
        <p:spPr>
          <a:xfrm>
            <a:off x="5623560" y="4544568"/>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balance_check_failed</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STAR · 2025 · gap 89,777,403</a:t>
            </a:r>
            <a:endParaRPr lang="en-US" sz="1200" dirty="0"/>
          </a:p>
        </p:txBody>
      </p:sp>
      <p:sp>
        <p:nvSpPr>
          <p:cNvPr id="29" name="Text 26"/>
          <p:cNvSpPr/>
          <p:nvPr/>
        </p:nvSpPr>
        <p:spPr>
          <a:xfrm>
            <a:off x="5623560" y="5120640"/>
            <a:ext cx="5852160" cy="548640"/>
          </a:xfrm>
          <a:prstGeom prst="rect">
            <a:avLst/>
          </a:prstGeom>
          <a:noFill/>
          <a:ln/>
        </p:spPr>
        <p:txBody>
          <a:bodyPr wrap="square" lIns="0" tIns="0" rIns="0" bIns="0" rtlCol="0" anchor="t"/>
          <a:lstStyle/>
          <a:p>
            <a:pPr indent="0" marL="0">
              <a:buNone/>
            </a:pPr>
            <a:r>
              <a:rPr lang="en-US" sz="1200" b="1" dirty="0">
                <a:solidFill>
                  <a:srgbClr val="FFE600"/>
                </a:solidFill>
                <a:latin typeface="Consolas" pitchFamily="34" charset="0"/>
                <a:ea typeface="Consolas" pitchFamily="34" charset="-122"/>
                <a:cs typeface="Consolas" pitchFamily="34" charset="-120"/>
              </a:rPr>
              <a:t>pipeline_end</a:t>
            </a:r>
            <a:endParaRPr lang="en-US" sz="1200" dirty="0"/>
          </a:p>
          <a:p>
            <a:pPr indent="0" marL="0">
              <a:buNone/>
            </a:pPr>
            <a:r>
              <a:rPr lang="en-US" sz="1200" dirty="0">
                <a:solidFill>
                  <a:srgbClr val="E6E7EA"/>
                </a:solidFill>
                <a:latin typeface="Consolas" pitchFamily="34" charset="0"/>
                <a:ea typeface="Consolas" pitchFamily="34" charset="-122"/>
                <a:cs typeface="Consolas" pitchFamily="34" charset="-120"/>
              </a:rPr>
              <a:t>  failed_sources [] · 962.6 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BACKUP · 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Backup — 10 Table Types, 49,849 Cells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13</a:t>
            </a:r>
            <a:endParaRPr lang="en-US" sz="1000" dirty="0"/>
          </a:p>
        </p:txBody>
      </p:sp>
      <p:graphicFrame>
        <p:nvGraphicFramePr>
          <p:cNvPr id="6" name="Chart 0" descr=""/>
          <p:cNvGraphicFramePr/>
          <p:nvPr/>
        </p:nvGraphicFramePr>
        <p:xfrm>
          <a:off x="548640" y="155448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7589520" y="1691640"/>
            <a:ext cx="4023360" cy="1965960"/>
          </a:xfrm>
          <a:prstGeom prst="roundRect">
            <a:avLst>
              <a:gd name="adj" fmla="val 3721"/>
            </a:avLst>
          </a:prstGeom>
          <a:solidFill>
            <a:srgbClr val="33363F"/>
          </a:solidFill>
          <a:ln/>
        </p:spPr>
      </p:sp>
      <p:sp>
        <p:nvSpPr>
          <p:cNvPr id="8" name="Shape 4"/>
          <p:cNvSpPr/>
          <p:nvPr/>
        </p:nvSpPr>
        <p:spPr>
          <a:xfrm>
            <a:off x="7863840" y="1965960"/>
            <a:ext cx="146304" cy="146304"/>
          </a:xfrm>
          <a:prstGeom prst="ellipse">
            <a:avLst/>
          </a:prstGeom>
          <a:solidFill>
            <a:srgbClr val="FFE600"/>
          </a:solidFill>
          <a:ln/>
        </p:spPr>
      </p:sp>
      <p:sp>
        <p:nvSpPr>
          <p:cNvPr id="9" name="Text 5"/>
          <p:cNvSpPr/>
          <p:nvPr/>
        </p:nvSpPr>
        <p:spPr>
          <a:xfrm>
            <a:off x="8138160" y="1856232"/>
            <a:ext cx="3291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Real case · 6 columns</a:t>
            </a:r>
            <a:endParaRPr lang="en-US" sz="1500" dirty="0"/>
          </a:p>
        </p:txBody>
      </p:sp>
      <p:sp>
        <p:nvSpPr>
          <p:cNvPr id="10" name="Text 6"/>
          <p:cNvSpPr/>
          <p:nvPr/>
        </p:nvSpPr>
        <p:spPr>
          <a:xfrm>
            <a:off x="7863840" y="2377440"/>
            <a:ext cx="3566160" cy="118872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ATTIJARI's balance sheet has 6 value columns instead of 4. Columns are now assigned by position when counts match.</a:t>
            </a:r>
            <a:endParaRPr lang="en-US" sz="1250" dirty="0"/>
          </a:p>
        </p:txBody>
      </p:sp>
      <p:sp>
        <p:nvSpPr>
          <p:cNvPr id="11" name="Shape 7"/>
          <p:cNvSpPr/>
          <p:nvPr/>
        </p:nvSpPr>
        <p:spPr>
          <a:xfrm>
            <a:off x="7589520" y="3840480"/>
            <a:ext cx="4023360" cy="1965960"/>
          </a:xfrm>
          <a:prstGeom prst="roundRect">
            <a:avLst>
              <a:gd name="adj" fmla="val 3721"/>
            </a:avLst>
          </a:prstGeom>
          <a:solidFill>
            <a:srgbClr val="33363F"/>
          </a:solidFill>
          <a:ln/>
        </p:spPr>
      </p:sp>
      <p:sp>
        <p:nvSpPr>
          <p:cNvPr id="12" name="Shape 8"/>
          <p:cNvSpPr/>
          <p:nvPr/>
        </p:nvSpPr>
        <p:spPr>
          <a:xfrm>
            <a:off x="7863840" y="4114800"/>
            <a:ext cx="146304" cy="146304"/>
          </a:xfrm>
          <a:prstGeom prst="ellipse">
            <a:avLst/>
          </a:prstGeom>
          <a:solidFill>
            <a:srgbClr val="FFE600"/>
          </a:solidFill>
          <a:ln/>
        </p:spPr>
      </p:sp>
      <p:sp>
        <p:nvSpPr>
          <p:cNvPr id="13" name="Text 9"/>
          <p:cNvSpPr/>
          <p:nvPr/>
        </p:nvSpPr>
        <p:spPr>
          <a:xfrm>
            <a:off x="8138160" y="4005072"/>
            <a:ext cx="329184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Real case · Notes column</a:t>
            </a:r>
            <a:endParaRPr lang="en-US" sz="1500" dirty="0"/>
          </a:p>
        </p:txBody>
      </p:sp>
      <p:sp>
        <p:nvSpPr>
          <p:cNvPr id="14" name="Text 10"/>
          <p:cNvSpPr/>
          <p:nvPr/>
        </p:nvSpPr>
        <p:spPr>
          <a:xfrm>
            <a:off x="7863840" y="4526280"/>
            <a:ext cx="3566160" cy="1188720"/>
          </a:xfrm>
          <a:prstGeom prst="rect">
            <a:avLst/>
          </a:prstGeom>
          <a:noFill/>
          <a:ln/>
        </p:spPr>
        <p:txBody>
          <a:bodyPr wrap="square" lIns="0" tIns="0" rIns="0" bIns="0" rtlCol="0" anchor="t"/>
          <a:lstStyle/>
          <a:p>
            <a:pPr indent="0" marL="0">
              <a:buNone/>
            </a:pPr>
            <a:r>
              <a:rPr lang="en-US" sz="1250" dirty="0">
                <a:solidFill>
                  <a:srgbClr val="C7CBD0"/>
                </a:solidFill>
                <a:latin typeface="Calibri" pitchFamily="34" charset="0"/>
                <a:ea typeface="Calibri" pitchFamily="34" charset="-122"/>
                <a:cs typeface="Calibri" pitchFamily="34" charset="-120"/>
              </a:rPr>
              <a:t>Takaful statements add a “Notes” column whose numbers polluted the values. It is now stripped before reading.</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BACKUP · DATA PIPELINE</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Backup — Store: Every Value Keeps Its Origin</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14</a:t>
            </a:r>
            <a:endParaRPr lang="en-US" sz="1000" dirty="0"/>
          </a:p>
        </p:txBody>
      </p:sp>
      <p:sp>
        <p:nvSpPr>
          <p:cNvPr id="6" name="Shape 3"/>
          <p:cNvSpPr/>
          <p:nvPr/>
        </p:nvSpPr>
        <p:spPr>
          <a:xfrm>
            <a:off x="548640" y="2194560"/>
            <a:ext cx="3017520" cy="2468880"/>
          </a:xfrm>
          <a:prstGeom prst="roundRect">
            <a:avLst>
              <a:gd name="adj" fmla="val 2963"/>
            </a:avLst>
          </a:prstGeom>
          <a:solidFill>
            <a:srgbClr val="33363F"/>
          </a:solidFill>
          <a:ln/>
        </p:spPr>
      </p:sp>
      <p:sp>
        <p:nvSpPr>
          <p:cNvPr id="7" name="Text 4"/>
          <p:cNvSpPr/>
          <p:nvPr/>
        </p:nvSpPr>
        <p:spPr>
          <a:xfrm>
            <a:off x="777240" y="2331720"/>
            <a:ext cx="2560320" cy="320040"/>
          </a:xfrm>
          <a:prstGeom prst="rect">
            <a:avLst/>
          </a:prstGeom>
          <a:noFill/>
          <a:ln/>
        </p:spPr>
        <p:txBody>
          <a:bodyPr wrap="square" lIns="0" tIns="0" rIns="0" bIns="0" rtlCol="0" anchor="ctr"/>
          <a:lstStyle/>
          <a:p>
            <a:pPr indent="0" marL="0">
              <a:buNone/>
            </a:pPr>
            <a:r>
              <a:rPr lang="en-US" sz="1400" b="1" dirty="0">
                <a:solidFill>
                  <a:srgbClr val="FFE600"/>
                </a:solidFill>
                <a:latin typeface="Consolas" pitchFamily="34" charset="0"/>
                <a:ea typeface="Consolas" pitchFamily="34" charset="-122"/>
                <a:cs typeface="Consolas" pitchFamily="34" charset="-120"/>
              </a:rPr>
              <a:t>documents</a:t>
            </a:r>
            <a:endParaRPr lang="en-US" sz="1400" dirty="0"/>
          </a:p>
        </p:txBody>
      </p:sp>
      <p:sp>
        <p:nvSpPr>
          <p:cNvPr id="8" name="Text 5"/>
          <p:cNvSpPr/>
          <p:nvPr/>
        </p:nvSpPr>
        <p:spPr>
          <a:xfrm>
            <a:off x="777240" y="2697480"/>
            <a:ext cx="25603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212</a:t>
            </a:r>
            <a:endParaRPr lang="en-US" sz="2800" dirty="0"/>
          </a:p>
        </p:txBody>
      </p:sp>
      <p:sp>
        <p:nvSpPr>
          <p:cNvPr id="9" name="Text 6"/>
          <p:cNvSpPr/>
          <p:nvPr/>
        </p:nvSpPr>
        <p:spPr>
          <a:xfrm>
            <a:off x="777240" y="3291840"/>
            <a:ext cx="2560320" cy="1280160"/>
          </a:xfrm>
          <a:prstGeom prst="rect">
            <a:avLst/>
          </a:prstGeom>
          <a:noFill/>
          <a:ln/>
        </p:spPr>
        <p:txBody>
          <a:bodyPr wrap="square" lIns="0" tIns="0" rIns="0" bIns="0" rtlCol="0" anchor="t"/>
          <a:lstStyle/>
          <a:p>
            <a:pPr indent="0" marL="0">
              <a:buNone/>
            </a:pPr>
            <a:r>
              <a:rPr lang="en-US" sz="1150" dirty="0">
                <a:solidFill>
                  <a:srgbClr val="C7CBD0"/>
                </a:solidFill>
                <a:latin typeface="Calibri" pitchFamily="34" charset="0"/>
                <a:ea typeface="Calibri" pitchFamily="34" charset="-122"/>
                <a:cs typeface="Calibri" pitchFamily="34" charset="-120"/>
              </a:rPr>
              <a:t>ASTREE_2025.pdf</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source CMF · year 2025</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document #62</a:t>
            </a:r>
            <a:endParaRPr lang="en-US" sz="1150" dirty="0"/>
          </a:p>
        </p:txBody>
      </p:sp>
      <p:sp>
        <p:nvSpPr>
          <p:cNvPr id="10" name="Shape 7"/>
          <p:cNvSpPr/>
          <p:nvPr/>
        </p:nvSpPr>
        <p:spPr>
          <a:xfrm>
            <a:off x="4206240" y="2194560"/>
            <a:ext cx="3474720" cy="2468880"/>
          </a:xfrm>
          <a:prstGeom prst="roundRect">
            <a:avLst>
              <a:gd name="adj" fmla="val 2963"/>
            </a:avLst>
          </a:prstGeom>
          <a:solidFill>
            <a:srgbClr val="33363F"/>
          </a:solidFill>
          <a:ln/>
        </p:spPr>
      </p:sp>
      <p:sp>
        <p:nvSpPr>
          <p:cNvPr id="11" name="Text 8"/>
          <p:cNvSpPr/>
          <p:nvPr/>
        </p:nvSpPr>
        <p:spPr>
          <a:xfrm>
            <a:off x="4434840" y="2331720"/>
            <a:ext cx="3017520" cy="320040"/>
          </a:xfrm>
          <a:prstGeom prst="rect">
            <a:avLst/>
          </a:prstGeom>
          <a:noFill/>
          <a:ln/>
        </p:spPr>
        <p:txBody>
          <a:bodyPr wrap="square" lIns="0" tIns="0" rIns="0" bIns="0" rtlCol="0" anchor="ctr"/>
          <a:lstStyle/>
          <a:p>
            <a:pPr indent="0" marL="0">
              <a:buNone/>
            </a:pPr>
            <a:r>
              <a:rPr lang="en-US" sz="1400" b="1" dirty="0">
                <a:solidFill>
                  <a:srgbClr val="FFE600"/>
                </a:solidFill>
                <a:latin typeface="Consolas" pitchFamily="34" charset="0"/>
                <a:ea typeface="Consolas" pitchFamily="34" charset="-122"/>
                <a:cs typeface="Consolas" pitchFamily="34" charset="-120"/>
              </a:rPr>
              <a:t>tableau_cellules</a:t>
            </a:r>
            <a:endParaRPr lang="en-US" sz="1400" dirty="0"/>
          </a:p>
        </p:txBody>
      </p:sp>
      <p:sp>
        <p:nvSpPr>
          <p:cNvPr id="12" name="Text 9"/>
          <p:cNvSpPr/>
          <p:nvPr/>
        </p:nvSpPr>
        <p:spPr>
          <a:xfrm>
            <a:off x="4434840" y="2697480"/>
            <a:ext cx="30175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49,849</a:t>
            </a:r>
            <a:endParaRPr lang="en-US" sz="2800" dirty="0"/>
          </a:p>
        </p:txBody>
      </p:sp>
      <p:sp>
        <p:nvSpPr>
          <p:cNvPr id="13" name="Text 10"/>
          <p:cNvSpPr/>
          <p:nvPr/>
        </p:nvSpPr>
        <p:spPr>
          <a:xfrm>
            <a:off x="4434840" y="3291840"/>
            <a:ext cx="3017520" cy="1280160"/>
          </a:xfrm>
          <a:prstGeom prst="rect">
            <a:avLst/>
          </a:prstGeom>
          <a:noFill/>
          <a:ln/>
        </p:spPr>
        <p:txBody>
          <a:bodyPr wrap="square" lIns="0" tIns="0" rIns="0" bIns="0" rtlCol="0" anchor="t"/>
          <a:lstStyle/>
          <a:p>
            <a:pPr indent="0" marL="0">
              <a:buNone/>
            </a:pPr>
            <a:r>
              <a:rPr lang="en-US" sz="1150" dirty="0">
                <a:solidFill>
                  <a:srgbClr val="C7CBD0"/>
                </a:solidFill>
                <a:latin typeface="Calibri" pitchFamily="34" charset="0"/>
                <a:ea typeface="Calibri" pitchFamily="34" charset="-122"/>
                <a:cs typeface="Calibri" pitchFamily="34" charset="-120"/>
              </a:rPr>
              <a:t>bilan_actif</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TOTAL — Total de l actif</a:t>
            </a:r>
            <a:endParaRPr lang="en-US" sz="1150" dirty="0"/>
          </a:p>
          <a:p>
            <a:pPr indent="0" marL="0">
              <a:buNone/>
            </a:pPr>
            <a:r>
              <a:rPr lang="en-US" sz="1150" dirty="0">
                <a:solidFill>
                  <a:srgbClr val="C7CBD0"/>
                </a:solidFill>
                <a:latin typeface="Calibri" pitchFamily="34" charset="0"/>
                <a:ea typeface="Calibri" pitchFamily="34" charset="-122"/>
                <a:cs typeface="Calibri" pitchFamily="34" charset="-120"/>
              </a:rPr>
              <a:t>column Net · 881,075,424</a:t>
            </a:r>
            <a:endParaRPr lang="en-US" sz="1150" dirty="0"/>
          </a:p>
        </p:txBody>
      </p:sp>
      <p:sp>
        <p:nvSpPr>
          <p:cNvPr id="14" name="Shape 11"/>
          <p:cNvSpPr/>
          <p:nvPr/>
        </p:nvSpPr>
        <p:spPr>
          <a:xfrm>
            <a:off x="8321040" y="1645920"/>
            <a:ext cx="3291840" cy="1920240"/>
          </a:xfrm>
          <a:prstGeom prst="roundRect">
            <a:avLst>
              <a:gd name="adj" fmla="val 3810"/>
            </a:avLst>
          </a:prstGeom>
          <a:solidFill>
            <a:srgbClr val="F5F5F6"/>
          </a:solidFill>
          <a:ln/>
        </p:spPr>
      </p:sp>
      <p:sp>
        <p:nvSpPr>
          <p:cNvPr id="15" name="Text 12"/>
          <p:cNvSpPr/>
          <p:nvPr/>
        </p:nvSpPr>
        <p:spPr>
          <a:xfrm>
            <a:off x="8549640" y="1783080"/>
            <a:ext cx="2834640" cy="320040"/>
          </a:xfrm>
          <a:prstGeom prst="rect">
            <a:avLst/>
          </a:prstGeom>
          <a:noFill/>
          <a:ln/>
        </p:spPr>
        <p:txBody>
          <a:bodyPr wrap="square" lIns="0" tIns="0" rIns="0" bIns="0" rtlCol="0" anchor="ctr"/>
          <a:lstStyle/>
          <a:p>
            <a:pPr indent="0" marL="0">
              <a:buNone/>
            </a:pPr>
            <a:r>
              <a:rPr lang="en-US" sz="1400" b="1" dirty="0">
                <a:solidFill>
                  <a:srgbClr val="33363F"/>
                </a:solidFill>
                <a:latin typeface="Consolas" pitchFamily="34" charset="0"/>
                <a:ea typeface="Consolas" pitchFamily="34" charset="-122"/>
                <a:cs typeface="Consolas" pitchFamily="34" charset="-120"/>
              </a:rPr>
              <a:t>tableau_validations</a:t>
            </a:r>
            <a:endParaRPr lang="en-US" sz="1400" dirty="0"/>
          </a:p>
        </p:txBody>
      </p:sp>
      <p:sp>
        <p:nvSpPr>
          <p:cNvPr id="16" name="Text 13"/>
          <p:cNvSpPr/>
          <p:nvPr/>
        </p:nvSpPr>
        <p:spPr>
          <a:xfrm>
            <a:off x="8549640" y="2148840"/>
            <a:ext cx="2834640" cy="548640"/>
          </a:xfrm>
          <a:prstGeom prst="rect">
            <a:avLst/>
          </a:prstGeom>
          <a:noFill/>
          <a:ln/>
        </p:spPr>
        <p:txBody>
          <a:bodyPr wrap="square" lIns="0" tIns="0" rIns="0" bIns="0" rtlCol="0" anchor="ctr"/>
          <a:lstStyle/>
          <a:p>
            <a:pPr indent="0" marL="0">
              <a:buNone/>
            </a:pPr>
            <a:r>
              <a:rPr lang="en-US" sz="2800" b="1" dirty="0">
                <a:solidFill>
                  <a:srgbClr val="33363F"/>
                </a:solidFill>
                <a:latin typeface="Cambria" pitchFamily="34" charset="0"/>
                <a:ea typeface="Cambria" pitchFamily="34" charset="-122"/>
                <a:cs typeface="Cambria" pitchFamily="34" charset="-120"/>
              </a:rPr>
              <a:t>7,674</a:t>
            </a:r>
            <a:endParaRPr lang="en-US" sz="2800" dirty="0"/>
          </a:p>
        </p:txBody>
      </p:sp>
      <p:sp>
        <p:nvSpPr>
          <p:cNvPr id="17" name="Text 14"/>
          <p:cNvSpPr/>
          <p:nvPr/>
        </p:nvSpPr>
        <p:spPr>
          <a:xfrm>
            <a:off x="8549640" y="2743200"/>
            <a:ext cx="2834640" cy="731520"/>
          </a:xfrm>
          <a:prstGeom prst="rect">
            <a:avLst/>
          </a:prstGeom>
          <a:noFill/>
          <a:ln/>
        </p:spPr>
        <p:txBody>
          <a:bodyPr wrap="square" lIns="0" tIns="0" rIns="0" bIns="0" rtlCol="0" anchor="t"/>
          <a:lstStyle/>
          <a:p>
            <a:pPr indent="0" marL="0">
              <a:buNone/>
            </a:pPr>
            <a:r>
              <a:rPr lang="en-US" sz="1150" dirty="0">
                <a:solidFill>
                  <a:srgbClr val="5A5D66"/>
                </a:solidFill>
                <a:latin typeface="Calibri" pitchFamily="34" charset="0"/>
                <a:ea typeface="Calibri" pitchFamily="34" charset="-122"/>
                <a:cs typeface="Calibri" pitchFamily="34" charset="-120"/>
              </a:rPr>
              <a:t>annexe12 · charges d'acquisition</a:t>
            </a:r>
            <a:endParaRPr lang="en-US" sz="1150" dirty="0"/>
          </a:p>
          <a:p>
            <a:pPr indent="0" marL="0">
              <a:buNone/>
            </a:pPr>
            <a:r>
              <a:rPr lang="en-US" sz="1150" dirty="0">
                <a:solidFill>
                  <a:srgbClr val="5A5D66"/>
                </a:solidFill>
                <a:latin typeface="Calibri" pitchFamily="34" charset="0"/>
                <a:ea typeface="Calibri" pitchFamily="34" charset="-122"/>
                <a:cs typeface="Calibri" pitchFamily="34" charset="-120"/>
              </a:rPr>
              <a:t>gap −1 · status ok</a:t>
            </a:r>
            <a:endParaRPr lang="en-US" sz="1150" dirty="0"/>
          </a:p>
        </p:txBody>
      </p:sp>
      <p:sp>
        <p:nvSpPr>
          <p:cNvPr id="18" name="Shape 15"/>
          <p:cNvSpPr/>
          <p:nvPr/>
        </p:nvSpPr>
        <p:spPr>
          <a:xfrm>
            <a:off x="8321040" y="3794760"/>
            <a:ext cx="3291840" cy="1920240"/>
          </a:xfrm>
          <a:prstGeom prst="roundRect">
            <a:avLst>
              <a:gd name="adj" fmla="val 3810"/>
            </a:avLst>
          </a:prstGeom>
          <a:solidFill>
            <a:srgbClr val="F5F5F6"/>
          </a:solidFill>
          <a:ln/>
        </p:spPr>
      </p:sp>
      <p:sp>
        <p:nvSpPr>
          <p:cNvPr id="19" name="Text 16"/>
          <p:cNvSpPr/>
          <p:nvPr/>
        </p:nvSpPr>
        <p:spPr>
          <a:xfrm>
            <a:off x="8549640" y="3931920"/>
            <a:ext cx="2834640" cy="320040"/>
          </a:xfrm>
          <a:prstGeom prst="rect">
            <a:avLst/>
          </a:prstGeom>
          <a:noFill/>
          <a:ln/>
        </p:spPr>
        <p:txBody>
          <a:bodyPr wrap="square" lIns="0" tIns="0" rIns="0" bIns="0" rtlCol="0" anchor="ctr"/>
          <a:lstStyle/>
          <a:p>
            <a:pPr indent="0" marL="0">
              <a:buNone/>
            </a:pPr>
            <a:r>
              <a:rPr lang="en-US" sz="1400" b="1" dirty="0">
                <a:solidFill>
                  <a:srgbClr val="33363F"/>
                </a:solidFill>
                <a:latin typeface="Consolas" pitchFamily="34" charset="0"/>
                <a:ea typeface="Consolas" pitchFamily="34" charset="-122"/>
                <a:cs typeface="Consolas" pitchFamily="34" charset="-120"/>
              </a:rPr>
              <a:t>kpi_values</a:t>
            </a:r>
            <a:endParaRPr lang="en-US" sz="1400" dirty="0"/>
          </a:p>
        </p:txBody>
      </p:sp>
      <p:sp>
        <p:nvSpPr>
          <p:cNvPr id="20" name="Text 17"/>
          <p:cNvSpPr/>
          <p:nvPr/>
        </p:nvSpPr>
        <p:spPr>
          <a:xfrm>
            <a:off x="8549640" y="4297680"/>
            <a:ext cx="2834640" cy="548640"/>
          </a:xfrm>
          <a:prstGeom prst="rect">
            <a:avLst/>
          </a:prstGeom>
          <a:noFill/>
          <a:ln/>
        </p:spPr>
        <p:txBody>
          <a:bodyPr wrap="square" lIns="0" tIns="0" rIns="0" bIns="0" rtlCol="0" anchor="ctr"/>
          <a:lstStyle/>
          <a:p>
            <a:pPr indent="0" marL="0">
              <a:buNone/>
            </a:pPr>
            <a:r>
              <a:rPr lang="en-US" sz="2800" b="1" dirty="0">
                <a:solidFill>
                  <a:srgbClr val="33363F"/>
                </a:solidFill>
                <a:latin typeface="Cambria" pitchFamily="34" charset="0"/>
                <a:ea typeface="Cambria" pitchFamily="34" charset="-122"/>
                <a:cs typeface="Cambria" pitchFamily="34" charset="-120"/>
              </a:rPr>
              <a:t>10,057</a:t>
            </a:r>
            <a:endParaRPr lang="en-US" sz="2800" dirty="0"/>
          </a:p>
        </p:txBody>
      </p:sp>
      <p:sp>
        <p:nvSpPr>
          <p:cNvPr id="21" name="Text 18"/>
          <p:cNvSpPr/>
          <p:nvPr/>
        </p:nvSpPr>
        <p:spPr>
          <a:xfrm>
            <a:off x="8549640" y="4892040"/>
            <a:ext cx="2834640" cy="731520"/>
          </a:xfrm>
          <a:prstGeom prst="rect">
            <a:avLst/>
          </a:prstGeom>
          <a:noFill/>
          <a:ln/>
        </p:spPr>
        <p:txBody>
          <a:bodyPr wrap="square" lIns="0" tIns="0" rIns="0" bIns="0" rtlCol="0" anchor="t"/>
          <a:lstStyle/>
          <a:p>
            <a:pPr indent="0" marL="0">
              <a:buNone/>
            </a:pPr>
            <a:r>
              <a:rPr lang="en-US" sz="1150" dirty="0">
                <a:solidFill>
                  <a:srgbClr val="5A5D66"/>
                </a:solidFill>
                <a:latin typeface="Calibri" pitchFamily="34" charset="0"/>
                <a:ea typeface="Calibri" pitchFamily="34" charset="-122"/>
                <a:cs typeface="Calibri" pitchFamily="34" charset="-120"/>
              </a:rPr>
              <a:t>Bilan · Total actif</a:t>
            </a:r>
            <a:endParaRPr lang="en-US" sz="1150" dirty="0"/>
          </a:p>
          <a:p>
            <a:pPr indent="0" marL="0">
              <a:buNone/>
            </a:pPr>
            <a:r>
              <a:rPr lang="en-US" sz="1150" dirty="0">
                <a:solidFill>
                  <a:srgbClr val="5A5D66"/>
                </a:solidFill>
                <a:latin typeface="Calibri" pitchFamily="34" charset="0"/>
                <a:ea typeface="Calibri" pitchFamily="34" charset="-122"/>
                <a:cs typeface="Calibri" pitchFamily="34" charset="-120"/>
              </a:rPr>
              <a:t>881,075,424</a:t>
            </a:r>
            <a:endParaRPr lang="en-US" sz="1150" dirty="0"/>
          </a:p>
        </p:txBody>
      </p:sp>
      <p:sp>
        <p:nvSpPr>
          <p:cNvPr id="22" name="Shape 19"/>
          <p:cNvSpPr/>
          <p:nvPr/>
        </p:nvSpPr>
        <p:spPr>
          <a:xfrm>
            <a:off x="3566160" y="3429000"/>
            <a:ext cx="594360" cy="9144"/>
          </a:xfrm>
          <a:prstGeom prst="line">
            <a:avLst/>
          </a:prstGeom>
          <a:noFill/>
          <a:ln w="38100">
            <a:solidFill>
              <a:srgbClr val="FFE600"/>
            </a:solidFill>
            <a:prstDash val="solid"/>
            <a:tailEnd type="triangle"/>
          </a:ln>
        </p:spPr>
      </p:sp>
      <p:sp>
        <p:nvSpPr>
          <p:cNvPr id="23" name="Shape 20"/>
          <p:cNvSpPr/>
          <p:nvPr/>
        </p:nvSpPr>
        <p:spPr>
          <a:xfrm flipV="1">
            <a:off x="7680960" y="2606040"/>
            <a:ext cx="594360" cy="411480"/>
          </a:xfrm>
          <a:prstGeom prst="line">
            <a:avLst/>
          </a:prstGeom>
          <a:noFill/>
          <a:ln w="38100">
            <a:solidFill>
              <a:srgbClr val="FFE600"/>
            </a:solidFill>
            <a:prstDash val="solid"/>
            <a:tailEnd type="triangle"/>
          </a:ln>
        </p:spPr>
      </p:sp>
      <p:sp>
        <p:nvSpPr>
          <p:cNvPr id="24" name="Shape 21"/>
          <p:cNvSpPr/>
          <p:nvPr/>
        </p:nvSpPr>
        <p:spPr>
          <a:xfrm>
            <a:off x="7680960" y="3840480"/>
            <a:ext cx="594360" cy="914400"/>
          </a:xfrm>
          <a:prstGeom prst="line">
            <a:avLst/>
          </a:prstGeom>
          <a:noFill/>
          <a:ln w="38100">
            <a:solidFill>
              <a:srgbClr val="FFE600"/>
            </a:solidFill>
            <a:prstDash val="solid"/>
            <a:tailEnd type="triangle"/>
          </a:ln>
        </p:spPr>
      </p:sp>
      <p:sp>
        <p:nvSpPr>
          <p:cNvPr id="25" name="Shape 22"/>
          <p:cNvSpPr/>
          <p:nvPr/>
        </p:nvSpPr>
        <p:spPr>
          <a:xfrm>
            <a:off x="548640" y="5897880"/>
            <a:ext cx="11064240" cy="566928"/>
          </a:xfrm>
          <a:prstGeom prst="roundRect">
            <a:avLst>
              <a:gd name="adj" fmla="val 12903"/>
            </a:avLst>
          </a:prstGeom>
          <a:solidFill>
            <a:srgbClr val="F5F5F6"/>
          </a:solidFill>
          <a:ln/>
        </p:spPr>
      </p:sp>
      <p:sp>
        <p:nvSpPr>
          <p:cNvPr id="26" name="Shape 23"/>
          <p:cNvSpPr/>
          <p:nvPr/>
        </p:nvSpPr>
        <p:spPr>
          <a:xfrm>
            <a:off x="822960" y="6108192"/>
            <a:ext cx="146304" cy="146304"/>
          </a:xfrm>
          <a:prstGeom prst="ellipse">
            <a:avLst/>
          </a:prstGeom>
          <a:solidFill>
            <a:srgbClr val="FFE600"/>
          </a:solidFill>
          <a:ln/>
        </p:spPr>
      </p:sp>
      <p:sp>
        <p:nvSpPr>
          <p:cNvPr id="27" name="Text 24"/>
          <p:cNvSpPr/>
          <p:nvPr/>
        </p:nvSpPr>
        <p:spPr>
          <a:xfrm>
            <a:off x="1143000" y="5897880"/>
            <a:ext cx="10332720" cy="566928"/>
          </a:xfrm>
          <a:prstGeom prst="rect">
            <a:avLst/>
          </a:prstGeom>
          <a:noFill/>
          <a:ln/>
        </p:spPr>
        <p:txBody>
          <a:bodyPr wrap="square" lIns="0" tIns="0" rIns="0" bIns="0" rtlCol="0" anchor="ctr"/>
          <a:lstStyle/>
          <a:p>
            <a:pPr indent="0" marL="0">
              <a:buNone/>
            </a:pPr>
            <a:r>
              <a:rPr lang="en-US" sz="1300" b="1" dirty="0">
                <a:solidFill>
                  <a:srgbClr val="26282F"/>
                </a:solidFill>
                <a:latin typeface="Calibri" pitchFamily="34" charset="0"/>
                <a:ea typeface="Calibri" pitchFamily="34" charset="-122"/>
                <a:cs typeface="Calibri" pitchFamily="34" charset="-120"/>
              </a:rPr>
              <a:t>MySQL 8 — </a:t>
            </a:r>
            <a:pPr indent="0" marL="0">
              <a:buNone/>
            </a:pPr>
            <a:r>
              <a:rPr lang="en-US" sz="1300" dirty="0">
                <a:solidFill>
                  <a:srgbClr val="5A5D66"/>
                </a:solidFill>
                <a:latin typeface="Calibri" pitchFamily="34" charset="0"/>
                <a:ea typeface="Calibri" pitchFamily="34" charset="-122"/>
                <a:cs typeface="Calibri" pitchFamily="34" charset="-120"/>
              </a:rPr>
              <a:t>one source of truth: each value keeps its document, table, row and column.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2026-09-21T12:56:17Z</dcterms:created>
  <dcterms:modified xsi:type="dcterms:W3CDTF">2026-09-21T12:56:17Z</dcterms:modified>
</cp:coreProperties>
</file>