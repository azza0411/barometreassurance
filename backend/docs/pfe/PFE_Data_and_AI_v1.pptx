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 one figure through the whole pipeline: the technical result of STAR for 2024, in dinars. It is a calculated KPI, not a number we can read directly: it is the life technical result plus the non-life technical result. It starts at collection: a browser automation opens the CMF portal, selects STAR, keeps the annual report and registers it. On screen, the platform shows the source document with the cell highlighted: Annexe 12, page 31, technical result of the life business, 14,438,937. The non-life part is on page 32, in Annexe 13. At this point, these are still numbers inside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The table of page 31 is read row by row and column by column. Labels are matched to a canonical vocabulary, so a row is called the same way for all companies; the five columns are Vie, Décès, Mixte, Acceptation, Total. Values are cleaned: thousands separators removed, minus signs and brackets converted, isolated dashes read as zero. Each value is stored as a cell in the database. This is the real Excel export of Annexe 12: we show only the five rows that matter for our figure, and the technical result, total column, is 14,438,937, now a structured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The stored cells become KPIs, each with one definition. The technical result is the sum of two components: life, 14,438,937 from Annexe 12, and non-life, minus 133,141 from Annexe 13. The platform shows this formula and marks the KPI as calculated. The result is 14,305,796 dinars, 14.31 million. Our cell has become an ingredient of a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Before a value is used, the pipeline checks the accounting identity of the table: the technical result must equal the sum of the four balances above it. For the total column: 13,288,024, minus 8,787,121, plus 10,682,816, minus 744,782, gives exactly 14,438,937, gap zero (a one-dinar rounding on the Mixte column is tolerated). The result is visible on the platform, in the Qualité Data page: each KPI of each company has a status, extracted, calculated, not extracted, or aberrant, with an orange outline when the value is present but suspect. Our KPI, highlighted, is calculated and carries no flag, while other companies show a missing value or an aberrant ratio. So nothing is silently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The validated KPI reaches the consultant in the company profile, in the Excel exports and in the chatbot. From the menu of the KPI, the consultant can open the source document, with the highlighted cell we saw at the beginning, or ask the chatbot to explain the figure: here it gives 14.3 million dinars, an increase of 212 percent compared to 2023 because 2023 was negative, the sector average of 16.4 million, and the rank 7 out of 17. So the same figure is traceable from a PDF page to a decision-ready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normalization, on our fixed example, the Annexe 12 of STAR. Each company writes the same line in its own way. Look at three real cases from the report. The label charge de prestations is in lower case in the PDF. The line Participation aux résultats is shortened, while our canonical name is Participation aux résultats et intérêts techniques. And the line about the provisions is written on two lines in the PDF, so it is first merged. For the columns, it is the same: in the STAR 2025 report the header Acceptation is split in two lines, Acceptatio and n, and the header is recovered. The method is simple: for each table we keep a canonical list of names, and we match every extracted label to it with a fuzzy matching. The result is that all companies and all years share the same vocabulary, so the numbers are comparable and can be aggregated. What is not recognized stays visible, so that it can be corrected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names, the values. In a PDF a number is only text. Look at the real line of our example: minus 8 787 121 is written with spaces between the thousands. Before storing it, the pipeline applies a few rules. The spaces between thousands are removed, including the non-breaking spaces that some PDFs use. Brackets are read as a negative amount, which is the accounting notation. The different minus signs, the hyphen, the en dash, the em dash, are unified. A lone dash means nothing and is stored as empty, not as zero. And both number formats are understood, for example the American format with commas for thousands and a dot for decimals, that we met at COTUNACE. The result is a real number, here the net acquisition and management charges of STAR in 2024, minus 8,787,121, that can be summed, compared with other companies and validated. The first line and the last format come from real documents; the bracket and dash lines illustrate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what happens after the extraction. A number that is well read can still be wrong, for instance a misread digit or a value put in the wrong column. So the pipeline checks it in three ways. First, the accounting identity of the table. For our example, the technical result must be equal to the sum of the four balances: 13,288,024, minus 8,787,121, plus 10,682,816, minus 744,782, gives exactly 14,438,937. The gap is zero, so it is validated. Second, a year-over-year plausibility check: a KPI that falls by 95 percent or more, is multiplied by twenty, or changes sign compared to the previous year is flagged, because it is more often an extraction error than a real evolution. For the premiums of STAR, from 346.3 to 428.2 million, that is plus 23.6 percent, so nothing is flagged. Third, a flag never rewrites the data: it is sent to the anomaly report, and the analyst can correct the value in the manual correction page, with an audit trail. So nothing is silently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exceptional case: scanned PDFs. Most reports have a text layer, so we can read the tables directly. But some companies, like AMI or COTUNACE, publish a scan: the page is only a picture. The pipeline detects it automatically, because such a page has almost no text characters, and it switches to OCR. Step two: it locates the right pages with a fast, low-resolution OCR and a fuzzy match on the title, so it does not process the whole document. Step three: the selected pages are rendered at 340 dpi, the grid lines of the table are removed with OpenCV, otherwise the OCR reads them as text, and Tesseract returns every word with its position. Step four: rows come from the OCR lines and columns from the horizontal position of the numbers. The output has exactly the same format as a normal table, so everything after that, validation and KPIs, does not change. For example, the Annexe 13 of AMI 2023 gives 155 stored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exceptional case: Arabic PDFs, for El Amana Takaful. The reports are scanned, written right to left, and the Arabic OCR model is good at recognizing words but not reliable on digits: in our tests it read 38,089,744 as 35,089,4. So we split the job in two. First, we use the Arabic OCR only to find things: the row, by a fuzzy match on the expected Arabic label, for instance the label of the total assets, and the column, in the same way with its header. Then we crop this exact cell and read it again with the English model, restricted to digits, because Tunisian financial reports use Western digits even in Arabic. Arabic is used to find, English to read. And we cross-check the result: the total assets of 2024, 38,089,744 dinars, is also the N-1 column of the following year's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data journey we just went through, then a bridge to what comes next. A report comes in; if the text layer is usable, we read it directly; if not, it is a scan, and either Arabic OCR finds the cell for an English OCR to read, or a French OCR reads it after cleanup — the two special cases we just saw. Everything then joins: names and values are normalized, totals are checked, and either the KPI is stored and computed, or the anomaly is flagged for manual correction. This is where the data pipeline, governed by CRISP-DM, ends. What comes next is different in nature: three AI capabilities are built on top of this validated data — they consume it, they do not produce it. That is the architecture you saw earlier: the AI services call the already-validated database. Let's look at each of these three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chatbot, in its simplest form. A question in plain language goes first to a router, which recognizes the KPI, the company and the year. Then there are three paths. For figures, the chatbot queries the KPI database with read-only SQL. For the future, it calls the forecasting module, where Prophet and XGBoost compete, which I detail next. And for regulation, it uses RAG, retrieval-augmented generation, which works in three steps. One, retrieve: the three most relevant passages are selected among eleven legal texts, such as the insurance code and CGA circulars, and one hundred and six extracts of the CGA annual reports. Two, read: the language model receives only these passages. Three, answer: it answers from them and cites its sources, or says clearly that the answer is not in the documents. So the model never answers from memory on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of generative AI: the anomaly report. The pipeline detects anomalies with rules: a missing component, a suspicious variation, a gap with the sector. But a list of several dozen lines, 37 to 84 depending on the year, is not easy to use. So we first compute the facts: the number of anomalies, their severity, the most affected KPIs and a sample of the real causes. Then a language model, gpt-oss-120b served by Groq, writes a short report: an executive summary, the trends and three recommendations, in less than three hundred words, with the strict instruction to use only these facts. Then comes a check: every number in the text must exist in the facts, otherwise the text is rejected and replaced by a fixed template. Finally the tables are assembled, and they are computed directly, never rewritten by the model. The result is a readable report that cannot contain an invented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use of generative AI: explaining a figure. In the menu of a KPI, the consultant clicks Expliquer ce chiffre. The platform first computes the facts with SQL: the value, the change compared to the previous year, the sector average and the rank. The language model then writes two to four sentences using only these facts, and a check verifies that every number in the text is one of the facts, otherwise a fixed template is used. For the technical result of STAR in 2024, the answer says 14.3 million dinars, an increase of 212 percent compared to 2023, but 2023 was negative, so the percentage must be read with care; the sector average is 16.4 million and STAR ranks seventh out of seventeen. The model phrases and puts the number in context, but it does not calculate or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in the chatbot. We did not choose one model in advance: Prophet, a time-series model, and XGBoost, a gradient boosting model, compete for every question about the future. Step one, both are trained on the yearly history of the KPI. Step two, they are tested with a time-series cross-validation: always training on the past and predicting the following year, so the test is honest. Step three, the error scores, MAPE and RMSE, are compared and the best model is selected automatically — nothing is hard-coded, the winner can be either model. Step four, the forecast is produced and explained: SHAP for XGBoost, a trend and seasonality breakdown for Prophet. If there is no usable history, a simple linear regression takes over. To prove this is a real competition and not a fixed choice, here are two real cases, with opposite winners.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proof that this is a real competition, not a fixed choice. On the left, the case we already saw: the net result of STAR, where the year-to-year values swing sharply and even change sign. XGBoost wins clearly, 18 percent error against 96 percent for Prophet, and forecasts 31.59 million dinars for 2026. On the right, a different KPI and a different company: the total assets of COMAR, which grow smoothly and regularly year after year. Here Prophet wins, 1.6 percent error against 8.1 percent for XGBoost, and forecasts 1,211.63 million dinars for 2026, explained by its trend and momentum, not by SHAP, because Prophet decomposes trend and seasonality rather than feature contributions. The pattern makes sense: XGBoost, built on lagged values, adapts well to irregular, shock-driven series; Prophet, built to model trend and seasonality, fits smooth, regular growth almost perfectly. Neither model is favoured in the code — only the cross-validation score decides, and these two real, opposite outcomes are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One scraper per source; the CMF portal is automated (Selenium).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STAR 2024 annual report is kept, duplicates removed, the link registered.</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Annexe 12 (life technical account) sits on page 31, Annexe 13 (non-life) on page 32.</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Vie</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Total = 14 438 937</a:t>
            </a:r>
            <a:endParaRPr lang="en-US" sz="1600" dirty="0"/>
          </a:p>
        </p:txBody>
      </p:sp>
      <p:sp>
        <p:nvSpPr>
          <p:cNvPr id="28" name="Shape 25"/>
          <p:cNvSpPr/>
          <p:nvPr/>
        </p:nvSpPr>
        <p:spPr>
          <a:xfrm>
            <a:off x="6032937" y="3154680"/>
            <a:ext cx="4850526"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1_collect.png">    </p:cNvPr>
          <p:cNvPicPr>
            <a:picLocks noChangeAspect="1"/>
          </p:cNvPicPr>
          <p:nvPr/>
        </p:nvPicPr>
        <p:blipFill>
          <a:blip r:embed="rId2"/>
          <a:stretch>
            <a:fillRect/>
          </a:stretch>
        </p:blipFill>
        <p:spPr>
          <a:xfrm>
            <a:off x="6032937" y="3154680"/>
            <a:ext cx="4850526"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Voir le document source — STAR 2024, page 31 of the CMF report · cell highlighted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table is read from the page (OCR when scanned); rows and columns get the same names for every company.</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Values are cleaned: spaces removed, minus signs and brackets turned into negatives.</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Each value becomes a stored cell: table, row, column, value.</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 Total</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14 438 937</a:t>
            </a:r>
            <a:endParaRPr lang="en-US" sz="1600" dirty="0"/>
          </a:p>
        </p:txBody>
      </p:sp>
      <p:sp>
        <p:nvSpPr>
          <p:cNvPr id="28" name="Shape 25"/>
          <p:cNvSpPr/>
          <p:nvPr/>
        </p:nvSpPr>
        <p:spPr>
          <a:xfrm>
            <a:off x="5212080" y="3154680"/>
            <a:ext cx="6492240" cy="200048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2_extract.png">    </p:cNvPr>
          <p:cNvPicPr>
            <a:picLocks noChangeAspect="1"/>
          </p:cNvPicPr>
          <p:nvPr/>
        </p:nvPicPr>
        <p:blipFill>
          <a:blip r:embed="rId2"/>
          <a:stretch>
            <a:fillRect/>
          </a:stretch>
        </p:blipFill>
        <p:spPr>
          <a:xfrm>
            <a:off x="5212080" y="3154680"/>
            <a:ext cx="6492240" cy="2000480"/>
          </a:xfrm>
          <a:prstGeom prst="rect">
            <a:avLst/>
          </a:prstGeom>
        </p:spPr>
      </p:pic>
      <p:sp>
        <p:nvSpPr>
          <p:cNvPr id="30" name="Text 26"/>
          <p:cNvSpPr/>
          <p:nvPr/>
        </p:nvSpPr>
        <p:spPr>
          <a:xfrm>
            <a:off x="5212080" y="522831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Excel export of the extracted Annexe 12 (Gestion des données) · identity rows shown, other rows hidden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KPI is one formula over stored cells; the formula is visible on the platform.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Résultat technique = Résultat technique Vie + Résultat technique Non-Vie.</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14 438 937 (Annexe 12) + (−133 141) (Annexe 13) = 14 305 796 TND.</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(TND)</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14 305 796 = 14,31 M</a:t>
            </a:r>
            <a:endParaRPr lang="en-US" sz="1600" dirty="0"/>
          </a:p>
        </p:txBody>
      </p:sp>
      <p:sp>
        <p:nvSpPr>
          <p:cNvPr id="28" name="Shape 25"/>
          <p:cNvSpPr/>
          <p:nvPr/>
        </p:nvSpPr>
        <p:spPr>
          <a:xfrm>
            <a:off x="5212080" y="3154680"/>
            <a:ext cx="6492240" cy="2053711"/>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5_model.png">    </p:cNvPr>
          <p:cNvPicPr>
            <a:picLocks noChangeAspect="1"/>
          </p:cNvPicPr>
          <p:nvPr/>
        </p:nvPicPr>
        <p:blipFill>
          <a:blip r:embed="rId2"/>
          <a:stretch>
            <a:fillRect/>
          </a:stretch>
        </p:blipFill>
        <p:spPr>
          <a:xfrm>
            <a:off x="5212080" y="3154680"/>
            <a:ext cx="6492240" cy="2053711"/>
          </a:xfrm>
          <a:prstGeom prst="rect">
            <a:avLst/>
          </a:prstGeom>
        </p:spPr>
      </p:pic>
      <p:sp>
        <p:nvSpPr>
          <p:cNvPr id="30" name="Text 26"/>
          <p:cNvSpPr/>
          <p:nvPr/>
        </p:nvSpPr>
        <p:spPr>
          <a:xfrm>
            <a:off x="5212080" y="5281543"/>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Formule de calcul — Résultat technique, STAR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 Résultat technique = Souscription + Charges + Financier + Réassurance.</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Check (Total): 13 288 024 − 8 787 121 + 10 682 816 − 744 782 = 14 438 937.</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Platform: every KPI gets a status; anything suspect is flagged (Aberrant, Non extrait).</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Checked by an accounting identity</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Gap 0 → no flag</a:t>
            </a:r>
            <a:endParaRPr lang="en-US" sz="1600" dirty="0"/>
          </a:p>
        </p:txBody>
      </p:sp>
      <p:sp>
        <p:nvSpPr>
          <p:cNvPr id="28" name="Shape 25"/>
          <p:cNvSpPr/>
          <p:nvPr/>
        </p:nvSpPr>
        <p:spPr>
          <a:xfrm>
            <a:off x="5212080" y="3154680"/>
            <a:ext cx="6492240" cy="1522192"/>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6_validate_real.png">    </p:cNvPr>
          <p:cNvPicPr>
            <a:picLocks noChangeAspect="1"/>
          </p:cNvPicPr>
          <p:nvPr/>
        </p:nvPicPr>
        <p:blipFill>
          <a:blip r:embed="rId2"/>
          <a:stretch>
            <a:fillRect/>
          </a:stretch>
        </p:blipFill>
        <p:spPr>
          <a:xfrm>
            <a:off x="5212080" y="3154680"/>
            <a:ext cx="6492240" cy="1522192"/>
          </a:xfrm>
          <a:prstGeom prst="rect">
            <a:avLst/>
          </a:prstGeom>
        </p:spPr>
      </p:pic>
      <p:sp>
        <p:nvSpPr>
          <p:cNvPr id="30" name="Text 26"/>
          <p:cNvSpPr/>
          <p:nvPr/>
        </p:nvSpPr>
        <p:spPr>
          <a:xfrm>
            <a:off x="5212080" y="4750024"/>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Qualité Data 2024 — status of each KPI · columns and rows filtered · highlight added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Validated KPIs feed the company profiles, Excel exports and the chatbot.</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From the KPI menu a consultant can open the source document or ask for an explanation.</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Chatbot: 14.3 M TND, +212.4 % vs 2023, sector average 16.4 M, rank 7/17.</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STAR 2024</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14,3 M TND · rank 7/17</a:t>
            </a:r>
            <a:endParaRPr lang="en-US" sz="1600" dirty="0"/>
          </a:p>
        </p:txBody>
      </p:sp>
      <p:sp>
        <p:nvSpPr>
          <p:cNvPr id="28" name="Shape 25"/>
          <p:cNvSpPr/>
          <p:nvPr/>
        </p:nvSpPr>
        <p:spPr>
          <a:xfrm>
            <a:off x="6572873" y="3154680"/>
            <a:ext cx="3770653"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f8_chat_c.png">    </p:cNvPr>
          <p:cNvPicPr>
            <a:picLocks noChangeAspect="1"/>
          </p:cNvPicPr>
          <p:nvPr/>
        </p:nvPicPr>
        <p:blipFill>
          <a:blip r:embed="rId2"/>
          <a:stretch>
            <a:fillRect/>
          </a:stretch>
        </p:blipFill>
        <p:spPr>
          <a:xfrm>
            <a:off x="6572873" y="3154680"/>
            <a:ext cx="3770653"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KPI menu → Expliquer ce chiffre, answered by the chatbot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Normalisation · Names  -</a:t>
            </a:r>
            <a:endParaRPr lang="en-US" sz="2200" dirty="0"/>
          </a:p>
        </p:txBody>
      </p:sp>
      <p:sp>
        <p:nvSpPr>
          <p:cNvPr id="7" name="Text 4"/>
          <p:cNvSpPr/>
          <p:nvPr/>
        </p:nvSpPr>
        <p:spPr>
          <a:xfrm>
            <a:off x="548640" y="2121408"/>
            <a:ext cx="493776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PDF (STAR · ANNEXE 12)</a:t>
            </a:r>
            <a:endParaRPr lang="en-US" sz="1100" dirty="0"/>
          </a:p>
        </p:txBody>
      </p:sp>
      <p:sp>
        <p:nvSpPr>
          <p:cNvPr id="8" name="Text 5"/>
          <p:cNvSpPr/>
          <p:nvPr/>
        </p:nvSpPr>
        <p:spPr>
          <a:xfrm>
            <a:off x="6217920" y="2121408"/>
            <a:ext cx="539496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PLATFORM</a:t>
            </a:r>
            <a:endParaRPr lang="en-US" sz="1100" dirty="0"/>
          </a:p>
        </p:txBody>
      </p:sp>
      <p:sp>
        <p:nvSpPr>
          <p:cNvPr id="9" name="Text 6"/>
          <p:cNvSpPr/>
          <p:nvPr/>
        </p:nvSpPr>
        <p:spPr>
          <a:xfrm>
            <a:off x="548640" y="2450592"/>
            <a:ext cx="2743200" cy="237744"/>
          </a:xfrm>
          <a:prstGeom prst="rect">
            <a:avLst/>
          </a:prstGeom>
          <a:noFill/>
          <a:ln/>
        </p:spPr>
        <p:txBody>
          <a:bodyPr wrap="square" lIns="0" tIns="0" rIns="0" bIns="0" rtlCol="0" anchor="ctr"/>
          <a:lstStyle/>
          <a:p>
            <a:pPr indent="0" marL="0">
              <a:buNone/>
            </a:pPr>
            <a:r>
              <a:rPr lang="en-US" sz="1100" b="1" spc="200" kern="0" dirty="0">
                <a:solidFill>
                  <a:srgbClr val="484B54"/>
                </a:solidFill>
                <a:latin typeface="Calibri" pitchFamily="34" charset="0"/>
                <a:ea typeface="Calibri" pitchFamily="34" charset="-122"/>
                <a:cs typeface="Calibri" pitchFamily="34" charset="-120"/>
              </a:rPr>
              <a:t>ROW NAMES</a:t>
            </a:r>
            <a:endParaRPr lang="en-US" sz="1100" dirty="0"/>
          </a:p>
        </p:txBody>
      </p:sp>
      <p:sp>
        <p:nvSpPr>
          <p:cNvPr id="10" name="Shape 7"/>
          <p:cNvSpPr/>
          <p:nvPr/>
        </p:nvSpPr>
        <p:spPr>
          <a:xfrm>
            <a:off x="548640" y="2743200"/>
            <a:ext cx="4937760" cy="457200"/>
          </a:xfrm>
          <a:prstGeom prst="roundRect">
            <a:avLst>
              <a:gd name="adj" fmla="val 12000"/>
            </a:avLst>
          </a:prstGeom>
          <a:solidFill>
            <a:srgbClr val="F2F2F2"/>
          </a:solidFill>
          <a:ln w="12700">
            <a:solidFill>
              <a:srgbClr val="D3D5DB"/>
            </a:solidFill>
            <a:prstDash val="solid"/>
          </a:ln>
        </p:spPr>
      </p:sp>
      <p:sp>
        <p:nvSpPr>
          <p:cNvPr id="11" name="Text 8"/>
          <p:cNvSpPr/>
          <p:nvPr/>
        </p:nvSpPr>
        <p:spPr>
          <a:xfrm>
            <a:off x="685800" y="2743200"/>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“charges de prestations”  (lower case)</a:t>
            </a:r>
            <a:endParaRPr lang="en-US" sz="1250" dirty="0"/>
          </a:p>
        </p:txBody>
      </p:sp>
      <p:sp>
        <p:nvSpPr>
          <p:cNvPr id="12" name="Shape 9"/>
          <p:cNvSpPr/>
          <p:nvPr/>
        </p:nvSpPr>
        <p:spPr>
          <a:xfrm>
            <a:off x="5532120" y="2971800"/>
            <a:ext cx="640080" cy="0"/>
          </a:xfrm>
          <a:prstGeom prst="line">
            <a:avLst/>
          </a:prstGeom>
          <a:noFill/>
          <a:ln w="22225">
            <a:solidFill>
              <a:srgbClr val="9A9CA5"/>
            </a:solidFill>
            <a:prstDash val="solid"/>
            <a:tailEnd type="triangle"/>
          </a:ln>
        </p:spPr>
      </p:sp>
      <p:sp>
        <p:nvSpPr>
          <p:cNvPr id="13" name="Shape 10"/>
          <p:cNvSpPr/>
          <p:nvPr/>
        </p:nvSpPr>
        <p:spPr>
          <a:xfrm>
            <a:off x="6217920" y="2743200"/>
            <a:ext cx="5422392" cy="457200"/>
          </a:xfrm>
          <a:prstGeom prst="roundRect">
            <a:avLst>
              <a:gd name="adj" fmla="val 12000"/>
            </a:avLst>
          </a:prstGeom>
          <a:solidFill>
            <a:srgbClr val="FFE600"/>
          </a:solidFill>
          <a:ln/>
        </p:spPr>
      </p:sp>
      <p:sp>
        <p:nvSpPr>
          <p:cNvPr id="14" name="Text 11"/>
          <p:cNvSpPr/>
          <p:nvPr/>
        </p:nvSpPr>
        <p:spPr>
          <a:xfrm>
            <a:off x="6355080" y="2743200"/>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Charges de prestations</a:t>
            </a:r>
            <a:endParaRPr lang="en-US" sz="1250" dirty="0"/>
          </a:p>
        </p:txBody>
      </p:sp>
      <p:sp>
        <p:nvSpPr>
          <p:cNvPr id="15" name="Shape 12"/>
          <p:cNvSpPr/>
          <p:nvPr/>
        </p:nvSpPr>
        <p:spPr>
          <a:xfrm>
            <a:off x="548640" y="3291840"/>
            <a:ext cx="4937760" cy="457200"/>
          </a:xfrm>
          <a:prstGeom prst="roundRect">
            <a:avLst>
              <a:gd name="adj" fmla="val 12000"/>
            </a:avLst>
          </a:prstGeom>
          <a:solidFill>
            <a:srgbClr val="F2F2F2"/>
          </a:solidFill>
          <a:ln w="12700">
            <a:solidFill>
              <a:srgbClr val="D3D5DB"/>
            </a:solidFill>
            <a:prstDash val="solid"/>
          </a:ln>
        </p:spPr>
      </p:sp>
      <p:sp>
        <p:nvSpPr>
          <p:cNvPr id="16" name="Text 13"/>
          <p:cNvSpPr/>
          <p:nvPr/>
        </p:nvSpPr>
        <p:spPr>
          <a:xfrm>
            <a:off x="685800" y="3291840"/>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“Participation aux résultats”  (short name)</a:t>
            </a:r>
            <a:endParaRPr lang="en-US" sz="1250" dirty="0"/>
          </a:p>
        </p:txBody>
      </p:sp>
      <p:sp>
        <p:nvSpPr>
          <p:cNvPr id="17" name="Shape 14"/>
          <p:cNvSpPr/>
          <p:nvPr/>
        </p:nvSpPr>
        <p:spPr>
          <a:xfrm>
            <a:off x="5532120" y="3520440"/>
            <a:ext cx="640080" cy="0"/>
          </a:xfrm>
          <a:prstGeom prst="line">
            <a:avLst/>
          </a:prstGeom>
          <a:noFill/>
          <a:ln w="22225">
            <a:solidFill>
              <a:srgbClr val="9A9CA5"/>
            </a:solidFill>
            <a:prstDash val="solid"/>
            <a:tailEnd type="triangle"/>
          </a:ln>
        </p:spPr>
      </p:sp>
      <p:sp>
        <p:nvSpPr>
          <p:cNvPr id="18" name="Shape 15"/>
          <p:cNvSpPr/>
          <p:nvPr/>
        </p:nvSpPr>
        <p:spPr>
          <a:xfrm>
            <a:off x="6217920" y="3291840"/>
            <a:ext cx="5422392" cy="457200"/>
          </a:xfrm>
          <a:prstGeom prst="roundRect">
            <a:avLst>
              <a:gd name="adj" fmla="val 12000"/>
            </a:avLst>
          </a:prstGeom>
          <a:solidFill>
            <a:srgbClr val="FFE600"/>
          </a:solidFill>
          <a:ln/>
        </p:spPr>
      </p:sp>
      <p:sp>
        <p:nvSpPr>
          <p:cNvPr id="19" name="Text 16"/>
          <p:cNvSpPr/>
          <p:nvPr/>
        </p:nvSpPr>
        <p:spPr>
          <a:xfrm>
            <a:off x="6355080" y="3291840"/>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Participation aux résultats et intérêts techniques</a:t>
            </a:r>
            <a:endParaRPr lang="en-US" sz="1250" dirty="0"/>
          </a:p>
        </p:txBody>
      </p:sp>
      <p:sp>
        <p:nvSpPr>
          <p:cNvPr id="20" name="Shape 17"/>
          <p:cNvSpPr/>
          <p:nvPr/>
        </p:nvSpPr>
        <p:spPr>
          <a:xfrm>
            <a:off x="548640" y="3840480"/>
            <a:ext cx="4937760" cy="603504"/>
          </a:xfrm>
          <a:prstGeom prst="roundRect">
            <a:avLst>
              <a:gd name="adj" fmla="val 9091"/>
            </a:avLst>
          </a:prstGeom>
          <a:solidFill>
            <a:srgbClr val="F2F2F2"/>
          </a:solidFill>
          <a:ln w="12700">
            <a:solidFill>
              <a:srgbClr val="D3D5DB"/>
            </a:solidFill>
            <a:prstDash val="solid"/>
          </a:ln>
        </p:spPr>
      </p:sp>
      <p:sp>
        <p:nvSpPr>
          <p:cNvPr id="21" name="Text 18"/>
          <p:cNvSpPr/>
          <p:nvPr/>
        </p:nvSpPr>
        <p:spPr>
          <a:xfrm>
            <a:off x="685800" y="3840480"/>
            <a:ext cx="4663440" cy="603504"/>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“charges des provisions d'assurance vie et des autres”  +  “provisions techniques”  (label on 2 lines)</a:t>
            </a:r>
            <a:endParaRPr lang="en-US" sz="1250" dirty="0"/>
          </a:p>
        </p:txBody>
      </p:sp>
      <p:sp>
        <p:nvSpPr>
          <p:cNvPr id="22" name="Shape 19"/>
          <p:cNvSpPr/>
          <p:nvPr/>
        </p:nvSpPr>
        <p:spPr>
          <a:xfrm>
            <a:off x="5532120" y="4142232"/>
            <a:ext cx="640080" cy="0"/>
          </a:xfrm>
          <a:prstGeom prst="line">
            <a:avLst/>
          </a:prstGeom>
          <a:noFill/>
          <a:ln w="22225">
            <a:solidFill>
              <a:srgbClr val="9A9CA5"/>
            </a:solidFill>
            <a:prstDash val="solid"/>
            <a:tailEnd type="triangle"/>
          </a:ln>
        </p:spPr>
      </p:sp>
      <p:sp>
        <p:nvSpPr>
          <p:cNvPr id="23" name="Shape 20"/>
          <p:cNvSpPr/>
          <p:nvPr/>
        </p:nvSpPr>
        <p:spPr>
          <a:xfrm>
            <a:off x="6217920" y="3840480"/>
            <a:ext cx="5422392" cy="603504"/>
          </a:xfrm>
          <a:prstGeom prst="roundRect">
            <a:avLst>
              <a:gd name="adj" fmla="val 9091"/>
            </a:avLst>
          </a:prstGeom>
          <a:solidFill>
            <a:srgbClr val="FFE600"/>
          </a:solidFill>
          <a:ln/>
        </p:spPr>
      </p:sp>
      <p:sp>
        <p:nvSpPr>
          <p:cNvPr id="24" name="Text 21"/>
          <p:cNvSpPr/>
          <p:nvPr/>
        </p:nvSpPr>
        <p:spPr>
          <a:xfrm>
            <a:off x="6355080" y="3840480"/>
            <a:ext cx="5166360" cy="60350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Charges des provisions d'assurance vie et des autres provisions techniques</a:t>
            </a:r>
            <a:endParaRPr lang="en-US" sz="1250" dirty="0"/>
          </a:p>
        </p:txBody>
      </p:sp>
      <p:sp>
        <p:nvSpPr>
          <p:cNvPr id="25" name="Text 22"/>
          <p:cNvSpPr/>
          <p:nvPr/>
        </p:nvSpPr>
        <p:spPr>
          <a:xfrm>
            <a:off x="548640" y="4572000"/>
            <a:ext cx="2743200" cy="237744"/>
          </a:xfrm>
          <a:prstGeom prst="rect">
            <a:avLst/>
          </a:prstGeom>
          <a:noFill/>
          <a:ln/>
        </p:spPr>
        <p:txBody>
          <a:bodyPr wrap="square" lIns="0" tIns="0" rIns="0" bIns="0" rtlCol="0" anchor="ctr"/>
          <a:lstStyle/>
          <a:p>
            <a:pPr indent="0" marL="0">
              <a:buNone/>
            </a:pPr>
            <a:r>
              <a:rPr lang="en-US" sz="1100" b="1" spc="200" kern="0" dirty="0">
                <a:solidFill>
                  <a:srgbClr val="484B54"/>
                </a:solidFill>
                <a:latin typeface="Calibri" pitchFamily="34" charset="0"/>
                <a:ea typeface="Calibri" pitchFamily="34" charset="-122"/>
                <a:cs typeface="Calibri" pitchFamily="34" charset="-120"/>
              </a:rPr>
              <a:t>COLUMN NAMES</a:t>
            </a:r>
            <a:endParaRPr lang="en-US" sz="1100" dirty="0"/>
          </a:p>
        </p:txBody>
      </p:sp>
      <p:sp>
        <p:nvSpPr>
          <p:cNvPr id="26" name="Shape 23"/>
          <p:cNvSpPr/>
          <p:nvPr/>
        </p:nvSpPr>
        <p:spPr>
          <a:xfrm>
            <a:off x="548640" y="4864608"/>
            <a:ext cx="4937760" cy="457200"/>
          </a:xfrm>
          <a:prstGeom prst="roundRect">
            <a:avLst>
              <a:gd name="adj" fmla="val 12000"/>
            </a:avLst>
          </a:prstGeom>
          <a:solidFill>
            <a:srgbClr val="F2F2F2"/>
          </a:solidFill>
          <a:ln w="12700">
            <a:solidFill>
              <a:srgbClr val="D3D5DB"/>
            </a:solidFill>
            <a:prstDash val="solid"/>
          </a:ln>
        </p:spPr>
      </p:sp>
      <p:sp>
        <p:nvSpPr>
          <p:cNvPr id="27" name="Text 24"/>
          <p:cNvSpPr/>
          <p:nvPr/>
        </p:nvSpPr>
        <p:spPr>
          <a:xfrm>
            <a:off x="685800" y="4864608"/>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“Acceptatio” + “n”  (header split on 2 lines, STAR 2025)</a:t>
            </a:r>
            <a:endParaRPr lang="en-US" sz="1250" dirty="0"/>
          </a:p>
        </p:txBody>
      </p:sp>
      <p:sp>
        <p:nvSpPr>
          <p:cNvPr id="28" name="Shape 25"/>
          <p:cNvSpPr/>
          <p:nvPr/>
        </p:nvSpPr>
        <p:spPr>
          <a:xfrm>
            <a:off x="5532120" y="5093208"/>
            <a:ext cx="640080" cy="0"/>
          </a:xfrm>
          <a:prstGeom prst="line">
            <a:avLst/>
          </a:prstGeom>
          <a:noFill/>
          <a:ln w="22225">
            <a:solidFill>
              <a:srgbClr val="9A9CA5"/>
            </a:solidFill>
            <a:prstDash val="solid"/>
            <a:tailEnd type="triangle"/>
          </a:ln>
        </p:spPr>
      </p:sp>
      <p:sp>
        <p:nvSpPr>
          <p:cNvPr id="29" name="Shape 26"/>
          <p:cNvSpPr/>
          <p:nvPr/>
        </p:nvSpPr>
        <p:spPr>
          <a:xfrm>
            <a:off x="6217920" y="4864608"/>
            <a:ext cx="5422392" cy="457200"/>
          </a:xfrm>
          <a:prstGeom prst="roundRect">
            <a:avLst>
              <a:gd name="adj" fmla="val 12000"/>
            </a:avLst>
          </a:prstGeom>
          <a:solidFill>
            <a:srgbClr val="FFE600"/>
          </a:solidFill>
          <a:ln/>
        </p:spPr>
      </p:sp>
      <p:sp>
        <p:nvSpPr>
          <p:cNvPr id="30" name="Text 27"/>
          <p:cNvSpPr/>
          <p:nvPr/>
        </p:nvSpPr>
        <p:spPr>
          <a:xfrm>
            <a:off x="6355080" y="4864608"/>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Acceptation   ·   columns: Vie · Décès · Mixte · Acceptation · Total</a:t>
            </a:r>
            <a:endParaRPr lang="en-US" sz="1250" dirty="0"/>
          </a:p>
        </p:txBody>
      </p:sp>
      <p:sp>
        <p:nvSpPr>
          <p:cNvPr id="31" name="Shape 28"/>
          <p:cNvSpPr/>
          <p:nvPr/>
        </p:nvSpPr>
        <p:spPr>
          <a:xfrm>
            <a:off x="548640" y="5577840"/>
            <a:ext cx="11091672" cy="868680"/>
          </a:xfrm>
          <a:prstGeom prst="roundRect">
            <a:avLst>
              <a:gd name="adj" fmla="val 8421"/>
            </a:avLst>
          </a:prstGeom>
          <a:solidFill>
            <a:srgbClr val="484B54"/>
          </a:solidFill>
          <a:ln/>
        </p:spPr>
      </p:sp>
      <p:sp>
        <p:nvSpPr>
          <p:cNvPr id="32" name="Text 29"/>
          <p:cNvSpPr/>
          <p:nvPr/>
        </p:nvSpPr>
        <p:spPr>
          <a:xfrm>
            <a:off x="777240" y="5632704"/>
            <a:ext cx="18288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METHOD</a:t>
            </a:r>
            <a:endParaRPr lang="en-US" sz="1100" dirty="0"/>
          </a:p>
        </p:txBody>
      </p:sp>
      <p:sp>
        <p:nvSpPr>
          <p:cNvPr id="33" name="Text 30"/>
          <p:cNvSpPr/>
          <p:nvPr/>
        </p:nvSpPr>
        <p:spPr>
          <a:xfrm>
            <a:off x="777240" y="5888736"/>
            <a:ext cx="10607040" cy="512064"/>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canonical list of names per table + fuzzy matching (Python difflib). Every company and every year ends up with the same names, so figures can be compared.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Normalisation · Values  -</a:t>
            </a:r>
            <a:endParaRPr lang="en-US" sz="2200" dirty="0"/>
          </a:p>
        </p:txBody>
      </p:sp>
      <p:sp>
        <p:nvSpPr>
          <p:cNvPr id="7" name="Text 4"/>
          <p:cNvSpPr/>
          <p:nvPr/>
        </p:nvSpPr>
        <p:spPr>
          <a:xfrm>
            <a:off x="548640" y="2121408"/>
            <a:ext cx="329184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PDF (TEXT)</a:t>
            </a:r>
            <a:endParaRPr lang="en-US" sz="1100" dirty="0"/>
          </a:p>
        </p:txBody>
      </p:sp>
      <p:sp>
        <p:nvSpPr>
          <p:cNvPr id="8" name="Text 5"/>
          <p:cNvSpPr/>
          <p:nvPr/>
        </p:nvSpPr>
        <p:spPr>
          <a:xfrm>
            <a:off x="4114800" y="2121408"/>
            <a:ext cx="329184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PLATFORM (NUMBER)</a:t>
            </a:r>
            <a:endParaRPr lang="en-US" sz="1100" dirty="0"/>
          </a:p>
        </p:txBody>
      </p:sp>
      <p:sp>
        <p:nvSpPr>
          <p:cNvPr id="9" name="Text 6"/>
          <p:cNvSpPr/>
          <p:nvPr/>
        </p:nvSpPr>
        <p:spPr>
          <a:xfrm>
            <a:off x="7863840" y="2121408"/>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RULE</a:t>
            </a:r>
            <a:endParaRPr lang="en-US" sz="1100" dirty="0"/>
          </a:p>
        </p:txBody>
      </p:sp>
      <p:sp>
        <p:nvSpPr>
          <p:cNvPr id="10" name="Shape 7"/>
          <p:cNvSpPr/>
          <p:nvPr/>
        </p:nvSpPr>
        <p:spPr>
          <a:xfrm>
            <a:off x="548640" y="2450592"/>
            <a:ext cx="3291840" cy="530352"/>
          </a:xfrm>
          <a:prstGeom prst="roundRect">
            <a:avLst>
              <a:gd name="adj" fmla="val 10345"/>
            </a:avLst>
          </a:prstGeom>
          <a:solidFill>
            <a:srgbClr val="F2F2F2"/>
          </a:solidFill>
          <a:ln w="12700">
            <a:solidFill>
              <a:srgbClr val="D3D5DB"/>
            </a:solidFill>
            <a:prstDash val="solid"/>
          </a:ln>
        </p:spPr>
      </p:sp>
      <p:sp>
        <p:nvSpPr>
          <p:cNvPr id="11" name="Text 8"/>
          <p:cNvSpPr/>
          <p:nvPr/>
        </p:nvSpPr>
        <p:spPr>
          <a:xfrm>
            <a:off x="685800" y="245059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-8 787 121</a:t>
            </a:r>
            <a:endParaRPr lang="en-US" sz="1350" dirty="0"/>
          </a:p>
        </p:txBody>
      </p:sp>
      <p:sp>
        <p:nvSpPr>
          <p:cNvPr id="12" name="Shape 9"/>
          <p:cNvSpPr/>
          <p:nvPr/>
        </p:nvSpPr>
        <p:spPr>
          <a:xfrm>
            <a:off x="3886200" y="2715768"/>
            <a:ext cx="182880" cy="0"/>
          </a:xfrm>
          <a:prstGeom prst="line">
            <a:avLst/>
          </a:prstGeom>
          <a:noFill/>
          <a:ln w="22225">
            <a:solidFill>
              <a:srgbClr val="9A9CA5"/>
            </a:solidFill>
            <a:prstDash val="solid"/>
            <a:tailEnd type="triangle"/>
          </a:ln>
        </p:spPr>
      </p:sp>
      <p:sp>
        <p:nvSpPr>
          <p:cNvPr id="13" name="Shape 10"/>
          <p:cNvSpPr/>
          <p:nvPr/>
        </p:nvSpPr>
        <p:spPr>
          <a:xfrm>
            <a:off x="4114800" y="2450592"/>
            <a:ext cx="3291840" cy="530352"/>
          </a:xfrm>
          <a:prstGeom prst="roundRect">
            <a:avLst>
              <a:gd name="adj" fmla="val 10345"/>
            </a:avLst>
          </a:prstGeom>
          <a:solidFill>
            <a:srgbClr val="FFE600"/>
          </a:solidFill>
          <a:ln/>
        </p:spPr>
      </p:sp>
      <p:sp>
        <p:nvSpPr>
          <p:cNvPr id="14" name="Text 11"/>
          <p:cNvSpPr/>
          <p:nvPr/>
        </p:nvSpPr>
        <p:spPr>
          <a:xfrm>
            <a:off x="4251960" y="245059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-8 787 121</a:t>
            </a:r>
            <a:endParaRPr lang="en-US" sz="1350" dirty="0"/>
          </a:p>
        </p:txBody>
      </p:sp>
      <p:sp>
        <p:nvSpPr>
          <p:cNvPr id="15" name="Text 12"/>
          <p:cNvSpPr/>
          <p:nvPr/>
        </p:nvSpPr>
        <p:spPr>
          <a:xfrm>
            <a:off x="7863840" y="245059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Spaces between thousands are removed (including non-breaking spaces)</a:t>
            </a:r>
            <a:endParaRPr lang="en-US" sz="1200" dirty="0"/>
          </a:p>
        </p:txBody>
      </p:sp>
      <p:sp>
        <p:nvSpPr>
          <p:cNvPr id="16" name="Shape 13"/>
          <p:cNvSpPr/>
          <p:nvPr/>
        </p:nvSpPr>
        <p:spPr>
          <a:xfrm>
            <a:off x="548640" y="3090672"/>
            <a:ext cx="3291840" cy="530352"/>
          </a:xfrm>
          <a:prstGeom prst="roundRect">
            <a:avLst>
              <a:gd name="adj" fmla="val 10345"/>
            </a:avLst>
          </a:prstGeom>
          <a:solidFill>
            <a:srgbClr val="F2F2F2"/>
          </a:solidFill>
          <a:ln w="12700">
            <a:solidFill>
              <a:srgbClr val="D3D5DB"/>
            </a:solidFill>
            <a:prstDash val="solid"/>
          </a:ln>
        </p:spPr>
      </p:sp>
      <p:sp>
        <p:nvSpPr>
          <p:cNvPr id="17" name="Text 14"/>
          <p:cNvSpPr/>
          <p:nvPr/>
        </p:nvSpPr>
        <p:spPr>
          <a:xfrm>
            <a:off x="685800" y="309067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(12 345)</a:t>
            </a:r>
            <a:endParaRPr lang="en-US" sz="1350" dirty="0"/>
          </a:p>
        </p:txBody>
      </p:sp>
      <p:sp>
        <p:nvSpPr>
          <p:cNvPr id="18" name="Shape 15"/>
          <p:cNvSpPr/>
          <p:nvPr/>
        </p:nvSpPr>
        <p:spPr>
          <a:xfrm>
            <a:off x="3886200" y="3355848"/>
            <a:ext cx="182880" cy="0"/>
          </a:xfrm>
          <a:prstGeom prst="line">
            <a:avLst/>
          </a:prstGeom>
          <a:noFill/>
          <a:ln w="22225">
            <a:solidFill>
              <a:srgbClr val="9A9CA5"/>
            </a:solidFill>
            <a:prstDash val="solid"/>
            <a:tailEnd type="triangle"/>
          </a:ln>
        </p:spPr>
      </p:sp>
      <p:sp>
        <p:nvSpPr>
          <p:cNvPr id="19" name="Shape 16"/>
          <p:cNvSpPr/>
          <p:nvPr/>
        </p:nvSpPr>
        <p:spPr>
          <a:xfrm>
            <a:off x="4114800" y="3090672"/>
            <a:ext cx="3291840" cy="530352"/>
          </a:xfrm>
          <a:prstGeom prst="roundRect">
            <a:avLst>
              <a:gd name="adj" fmla="val 10345"/>
            </a:avLst>
          </a:prstGeom>
          <a:solidFill>
            <a:srgbClr val="FFE600"/>
          </a:solidFill>
          <a:ln/>
        </p:spPr>
      </p:sp>
      <p:sp>
        <p:nvSpPr>
          <p:cNvPr id="20" name="Text 17"/>
          <p:cNvSpPr/>
          <p:nvPr/>
        </p:nvSpPr>
        <p:spPr>
          <a:xfrm>
            <a:off x="4251960" y="309067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-12 345</a:t>
            </a:r>
            <a:endParaRPr lang="en-US" sz="1350" dirty="0"/>
          </a:p>
        </p:txBody>
      </p:sp>
      <p:sp>
        <p:nvSpPr>
          <p:cNvPr id="21" name="Text 18"/>
          <p:cNvSpPr/>
          <p:nvPr/>
        </p:nvSpPr>
        <p:spPr>
          <a:xfrm>
            <a:off x="7863840" y="309067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Brackets mean a negative amount (accounting notation)</a:t>
            </a:r>
            <a:endParaRPr lang="en-US" sz="1200" dirty="0"/>
          </a:p>
        </p:txBody>
      </p:sp>
      <p:sp>
        <p:nvSpPr>
          <p:cNvPr id="22" name="Shape 19"/>
          <p:cNvSpPr/>
          <p:nvPr/>
        </p:nvSpPr>
        <p:spPr>
          <a:xfrm>
            <a:off x="548640" y="3730752"/>
            <a:ext cx="3291840" cy="530352"/>
          </a:xfrm>
          <a:prstGeom prst="roundRect">
            <a:avLst>
              <a:gd name="adj" fmla="val 10345"/>
            </a:avLst>
          </a:prstGeom>
          <a:solidFill>
            <a:srgbClr val="F2F2F2"/>
          </a:solidFill>
          <a:ln w="12700">
            <a:solidFill>
              <a:srgbClr val="D3D5DB"/>
            </a:solidFill>
            <a:prstDash val="solid"/>
          </a:ln>
        </p:spPr>
      </p:sp>
      <p:sp>
        <p:nvSpPr>
          <p:cNvPr id="23" name="Text 20"/>
          <p:cNvSpPr/>
          <p:nvPr/>
        </p:nvSpPr>
        <p:spPr>
          <a:xfrm>
            <a:off x="685800" y="373075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   –   —</a:t>
            </a:r>
            <a:endParaRPr lang="en-US" sz="1350" dirty="0"/>
          </a:p>
        </p:txBody>
      </p:sp>
      <p:sp>
        <p:nvSpPr>
          <p:cNvPr id="24" name="Shape 21"/>
          <p:cNvSpPr/>
          <p:nvPr/>
        </p:nvSpPr>
        <p:spPr>
          <a:xfrm>
            <a:off x="3886200" y="3995928"/>
            <a:ext cx="182880" cy="0"/>
          </a:xfrm>
          <a:prstGeom prst="line">
            <a:avLst/>
          </a:prstGeom>
          <a:noFill/>
          <a:ln w="22225">
            <a:solidFill>
              <a:srgbClr val="9A9CA5"/>
            </a:solidFill>
            <a:prstDash val="solid"/>
            <a:tailEnd type="triangle"/>
          </a:ln>
        </p:spPr>
      </p:sp>
      <p:sp>
        <p:nvSpPr>
          <p:cNvPr id="25" name="Shape 22"/>
          <p:cNvSpPr/>
          <p:nvPr/>
        </p:nvSpPr>
        <p:spPr>
          <a:xfrm>
            <a:off x="4114800" y="3730752"/>
            <a:ext cx="3291840" cy="530352"/>
          </a:xfrm>
          <a:prstGeom prst="roundRect">
            <a:avLst>
              <a:gd name="adj" fmla="val 10345"/>
            </a:avLst>
          </a:prstGeom>
          <a:solidFill>
            <a:srgbClr val="FFE600"/>
          </a:solidFill>
          <a:ln/>
        </p:spPr>
      </p:sp>
      <p:sp>
        <p:nvSpPr>
          <p:cNvPr id="26" name="Text 23"/>
          <p:cNvSpPr/>
          <p:nvPr/>
        </p:nvSpPr>
        <p:spPr>
          <a:xfrm>
            <a:off x="4251960" y="373075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a:t>
            </a:r>
            <a:endParaRPr lang="en-US" sz="1350" dirty="0"/>
          </a:p>
        </p:txBody>
      </p:sp>
      <p:sp>
        <p:nvSpPr>
          <p:cNvPr id="27" name="Text 24"/>
          <p:cNvSpPr/>
          <p:nvPr/>
        </p:nvSpPr>
        <p:spPr>
          <a:xfrm>
            <a:off x="7863840" y="373075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All minus-sign variants become the same sign</a:t>
            </a:r>
            <a:endParaRPr lang="en-US" sz="1200" dirty="0"/>
          </a:p>
        </p:txBody>
      </p:sp>
      <p:sp>
        <p:nvSpPr>
          <p:cNvPr id="28" name="Shape 25"/>
          <p:cNvSpPr/>
          <p:nvPr/>
        </p:nvSpPr>
        <p:spPr>
          <a:xfrm>
            <a:off x="548640" y="4370832"/>
            <a:ext cx="3291840" cy="530352"/>
          </a:xfrm>
          <a:prstGeom prst="roundRect">
            <a:avLst>
              <a:gd name="adj" fmla="val 10345"/>
            </a:avLst>
          </a:prstGeom>
          <a:solidFill>
            <a:srgbClr val="F2F2F2"/>
          </a:solidFill>
          <a:ln w="12700">
            <a:solidFill>
              <a:srgbClr val="D3D5DB"/>
            </a:solidFill>
            <a:prstDash val="solid"/>
          </a:ln>
        </p:spPr>
      </p:sp>
      <p:sp>
        <p:nvSpPr>
          <p:cNvPr id="29" name="Text 26"/>
          <p:cNvSpPr/>
          <p:nvPr/>
        </p:nvSpPr>
        <p:spPr>
          <a:xfrm>
            <a:off x="685800" y="437083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  (alone)</a:t>
            </a:r>
            <a:endParaRPr lang="en-US" sz="1350" dirty="0"/>
          </a:p>
        </p:txBody>
      </p:sp>
      <p:sp>
        <p:nvSpPr>
          <p:cNvPr id="30" name="Shape 27"/>
          <p:cNvSpPr/>
          <p:nvPr/>
        </p:nvSpPr>
        <p:spPr>
          <a:xfrm>
            <a:off x="3886200" y="4636008"/>
            <a:ext cx="182880" cy="0"/>
          </a:xfrm>
          <a:prstGeom prst="line">
            <a:avLst/>
          </a:prstGeom>
          <a:noFill/>
          <a:ln w="22225">
            <a:solidFill>
              <a:srgbClr val="9A9CA5"/>
            </a:solidFill>
            <a:prstDash val="solid"/>
            <a:tailEnd type="triangle"/>
          </a:ln>
        </p:spPr>
      </p:sp>
      <p:sp>
        <p:nvSpPr>
          <p:cNvPr id="31" name="Shape 28"/>
          <p:cNvSpPr/>
          <p:nvPr/>
        </p:nvSpPr>
        <p:spPr>
          <a:xfrm>
            <a:off x="4114800" y="4370832"/>
            <a:ext cx="3291840" cy="530352"/>
          </a:xfrm>
          <a:prstGeom prst="roundRect">
            <a:avLst>
              <a:gd name="adj" fmla="val 10345"/>
            </a:avLst>
          </a:prstGeom>
          <a:solidFill>
            <a:srgbClr val="FFE600"/>
          </a:solidFill>
          <a:ln/>
        </p:spPr>
      </p:sp>
      <p:sp>
        <p:nvSpPr>
          <p:cNvPr id="32" name="Text 29"/>
          <p:cNvSpPr/>
          <p:nvPr/>
        </p:nvSpPr>
        <p:spPr>
          <a:xfrm>
            <a:off x="4251960" y="437083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empty</a:t>
            </a:r>
            <a:endParaRPr lang="en-US" sz="1350" dirty="0"/>
          </a:p>
        </p:txBody>
      </p:sp>
      <p:sp>
        <p:nvSpPr>
          <p:cNvPr id="33" name="Text 30"/>
          <p:cNvSpPr/>
          <p:nvPr/>
        </p:nvSpPr>
        <p:spPr>
          <a:xfrm>
            <a:off x="7863840" y="437083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A lone dash means “nothing”, not a value</a:t>
            </a:r>
            <a:endParaRPr lang="en-US" sz="1200" dirty="0"/>
          </a:p>
        </p:txBody>
      </p:sp>
      <p:sp>
        <p:nvSpPr>
          <p:cNvPr id="34" name="Shape 31"/>
          <p:cNvSpPr/>
          <p:nvPr/>
        </p:nvSpPr>
        <p:spPr>
          <a:xfrm>
            <a:off x="548640" y="5010912"/>
            <a:ext cx="3291840" cy="530352"/>
          </a:xfrm>
          <a:prstGeom prst="roundRect">
            <a:avLst>
              <a:gd name="adj" fmla="val 10345"/>
            </a:avLst>
          </a:prstGeom>
          <a:solidFill>
            <a:srgbClr val="F2F2F2"/>
          </a:solidFill>
          <a:ln w="12700">
            <a:solidFill>
              <a:srgbClr val="D3D5DB"/>
            </a:solidFill>
            <a:prstDash val="solid"/>
          </a:ln>
        </p:spPr>
      </p:sp>
      <p:sp>
        <p:nvSpPr>
          <p:cNvPr id="35" name="Text 32"/>
          <p:cNvSpPr/>
          <p:nvPr/>
        </p:nvSpPr>
        <p:spPr>
          <a:xfrm>
            <a:off x="685800" y="501091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13,531,056.575</a:t>
            </a:r>
            <a:endParaRPr lang="en-US" sz="1350" dirty="0"/>
          </a:p>
        </p:txBody>
      </p:sp>
      <p:sp>
        <p:nvSpPr>
          <p:cNvPr id="36" name="Shape 33"/>
          <p:cNvSpPr/>
          <p:nvPr/>
        </p:nvSpPr>
        <p:spPr>
          <a:xfrm>
            <a:off x="3886200" y="5276088"/>
            <a:ext cx="182880" cy="0"/>
          </a:xfrm>
          <a:prstGeom prst="line">
            <a:avLst/>
          </a:prstGeom>
          <a:noFill/>
          <a:ln w="22225">
            <a:solidFill>
              <a:srgbClr val="9A9CA5"/>
            </a:solidFill>
            <a:prstDash val="solid"/>
            <a:tailEnd type="triangle"/>
          </a:ln>
        </p:spPr>
      </p:sp>
      <p:sp>
        <p:nvSpPr>
          <p:cNvPr id="37" name="Shape 34"/>
          <p:cNvSpPr/>
          <p:nvPr/>
        </p:nvSpPr>
        <p:spPr>
          <a:xfrm>
            <a:off x="4114800" y="5010912"/>
            <a:ext cx="3291840" cy="530352"/>
          </a:xfrm>
          <a:prstGeom prst="roundRect">
            <a:avLst>
              <a:gd name="adj" fmla="val 10345"/>
            </a:avLst>
          </a:prstGeom>
          <a:solidFill>
            <a:srgbClr val="FFE600"/>
          </a:solidFill>
          <a:ln/>
        </p:spPr>
      </p:sp>
      <p:sp>
        <p:nvSpPr>
          <p:cNvPr id="38" name="Text 35"/>
          <p:cNvSpPr/>
          <p:nvPr/>
        </p:nvSpPr>
        <p:spPr>
          <a:xfrm>
            <a:off x="4251960" y="501091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13 531 056,575</a:t>
            </a:r>
            <a:endParaRPr lang="en-US" sz="1350" dirty="0"/>
          </a:p>
        </p:txBody>
      </p:sp>
      <p:sp>
        <p:nvSpPr>
          <p:cNvPr id="39" name="Text 36"/>
          <p:cNvSpPr/>
          <p:nvPr/>
        </p:nvSpPr>
        <p:spPr>
          <a:xfrm>
            <a:off x="7863840" y="501091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Both number formats are understood (comma or dot)</a:t>
            </a:r>
            <a:endParaRPr lang="en-US" sz="1200" dirty="0"/>
          </a:p>
        </p:txBody>
      </p:sp>
      <p:sp>
        <p:nvSpPr>
          <p:cNvPr id="40" name="Shape 37"/>
          <p:cNvSpPr/>
          <p:nvPr/>
        </p:nvSpPr>
        <p:spPr>
          <a:xfrm>
            <a:off x="548640" y="5715000"/>
            <a:ext cx="11091672" cy="731520"/>
          </a:xfrm>
          <a:prstGeom prst="roundRect">
            <a:avLst>
              <a:gd name="adj" fmla="val 10000"/>
            </a:avLst>
          </a:prstGeom>
          <a:solidFill>
            <a:srgbClr val="484B54"/>
          </a:solidFill>
          <a:ln/>
        </p:spPr>
      </p:sp>
      <p:sp>
        <p:nvSpPr>
          <p:cNvPr id="41" name="Text 38"/>
          <p:cNvSpPr/>
          <p:nvPr/>
        </p:nvSpPr>
        <p:spPr>
          <a:xfrm>
            <a:off x="777240" y="5760720"/>
            <a:ext cx="18288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777240" y="5998464"/>
            <a:ext cx="10607040" cy="402336"/>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Charges d'acquisition et de gestion nettes, STAR 2024, Total = -8 787 121: a real number that can be summed, compared and validated.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Cleaning · Checks after extraction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well-read number can still be wrong (misread digit, wrong column). The pipeline checks it before it is used.</a:t>
            </a:r>
            <a:endParaRPr lang="en-US" sz="1400" dirty="0"/>
          </a:p>
        </p:txBody>
      </p:sp>
      <p:sp>
        <p:nvSpPr>
          <p:cNvPr id="10" name="Shape 7"/>
          <p:cNvSpPr/>
          <p:nvPr/>
        </p:nvSpPr>
        <p:spPr>
          <a:xfrm>
            <a:off x="54864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Accounting identity</a:t>
            </a:r>
            <a:endParaRPr lang="en-US" sz="1500" dirty="0"/>
          </a:p>
        </p:txBody>
      </p:sp>
      <p:sp>
        <p:nvSpPr>
          <p:cNvPr id="14" name="Text 11"/>
          <p:cNvSpPr/>
          <p:nvPr/>
        </p:nvSpPr>
        <p:spPr>
          <a:xfrm>
            <a:off x="71323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Résultat technique = the 4 balances: 13 288 024 − 8 787 121 + 10 682 816 − 744 782 = 14 438 937. Gap 0: OK.</a:t>
            </a:r>
            <a:endParaRPr lang="en-US" sz="1250" dirty="0"/>
          </a:p>
        </p:txBody>
      </p:sp>
      <p:sp>
        <p:nvSpPr>
          <p:cNvPr id="15" name="Shape 12"/>
          <p:cNvSpPr/>
          <p:nvPr/>
        </p:nvSpPr>
        <p:spPr>
          <a:xfrm>
            <a:off x="4026408" y="4018788"/>
            <a:ext cx="310896" cy="0"/>
          </a:xfrm>
          <a:prstGeom prst="line">
            <a:avLst/>
          </a:prstGeom>
          <a:noFill/>
          <a:ln w="22225">
            <a:solidFill>
              <a:srgbClr val="9A9CA5"/>
            </a:solidFill>
            <a:prstDash val="solid"/>
            <a:tailEnd type="triangle"/>
          </a:ln>
        </p:spPr>
      </p:sp>
      <p:sp>
        <p:nvSpPr>
          <p:cNvPr id="16" name="Shape 13"/>
          <p:cNvSpPr/>
          <p:nvPr/>
        </p:nvSpPr>
        <p:spPr>
          <a:xfrm>
            <a:off x="437388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4511040" y="3264408"/>
            <a:ext cx="365760" cy="365760"/>
          </a:xfrm>
          <a:prstGeom prst="ellipse">
            <a:avLst/>
          </a:prstGeom>
          <a:solidFill>
            <a:srgbClr val="FFE600"/>
          </a:solidFill>
          <a:ln/>
        </p:spPr>
      </p:sp>
      <p:sp>
        <p:nvSpPr>
          <p:cNvPr id="18" name="Text 15"/>
          <p:cNvSpPr/>
          <p:nvPr/>
        </p:nvSpPr>
        <p:spPr>
          <a:xfrm>
            <a:off x="451104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96824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Year-over-year</a:t>
            </a:r>
            <a:endParaRPr lang="en-US" sz="1500" dirty="0"/>
          </a:p>
        </p:txBody>
      </p:sp>
      <p:sp>
        <p:nvSpPr>
          <p:cNvPr id="20" name="Text 17"/>
          <p:cNvSpPr/>
          <p:nvPr/>
        </p:nvSpPr>
        <p:spPr>
          <a:xfrm>
            <a:off x="453847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Flag a fall of 95 % or more, a ×20 jump or a sign change vs last year. STAR premiums: 346,3 M → 428,2 M (+23,6 %): OK.</a:t>
            </a:r>
            <a:endParaRPr lang="en-US" sz="1250" dirty="0"/>
          </a:p>
        </p:txBody>
      </p:sp>
      <p:sp>
        <p:nvSpPr>
          <p:cNvPr id="21" name="Shape 18"/>
          <p:cNvSpPr/>
          <p:nvPr/>
        </p:nvSpPr>
        <p:spPr>
          <a:xfrm>
            <a:off x="7851648" y="4018788"/>
            <a:ext cx="310896" cy="0"/>
          </a:xfrm>
          <a:prstGeom prst="line">
            <a:avLst/>
          </a:prstGeom>
          <a:noFill/>
          <a:ln w="22225">
            <a:solidFill>
              <a:srgbClr val="9A9CA5"/>
            </a:solidFill>
            <a:prstDash val="solid"/>
            <a:tailEnd type="triangle"/>
          </a:ln>
        </p:spPr>
      </p:sp>
      <p:sp>
        <p:nvSpPr>
          <p:cNvPr id="22" name="Shape 19"/>
          <p:cNvSpPr/>
          <p:nvPr/>
        </p:nvSpPr>
        <p:spPr>
          <a:xfrm>
            <a:off x="819912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8336280" y="3264408"/>
            <a:ext cx="365760" cy="365760"/>
          </a:xfrm>
          <a:prstGeom prst="ellipse">
            <a:avLst/>
          </a:prstGeom>
          <a:solidFill>
            <a:srgbClr val="FFE600"/>
          </a:solidFill>
          <a:ln/>
        </p:spPr>
      </p:sp>
      <p:sp>
        <p:nvSpPr>
          <p:cNvPr id="24" name="Text 21"/>
          <p:cNvSpPr/>
          <p:nvPr/>
        </p:nvSpPr>
        <p:spPr>
          <a:xfrm>
            <a:off x="833628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879348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Report, then correct</a:t>
            </a:r>
            <a:endParaRPr lang="en-US" sz="1500" dirty="0"/>
          </a:p>
        </p:txBody>
      </p:sp>
      <p:sp>
        <p:nvSpPr>
          <p:cNvPr id="26" name="Text 23"/>
          <p:cNvSpPr/>
          <p:nvPr/>
        </p:nvSpPr>
        <p:spPr>
          <a:xfrm>
            <a:off x="836371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flag never rewrites data: it goes to the anomaly report, and the analyst corrects manually (audited).</a:t>
            </a:r>
            <a:endParaRPr lang="en-US" sz="1250" dirty="0"/>
          </a:p>
        </p:txBody>
      </p:sp>
      <p:sp>
        <p:nvSpPr>
          <p:cNvPr id="27" name="Text 24"/>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28" name="Shape 25"/>
          <p:cNvSpPr/>
          <p:nvPr/>
        </p:nvSpPr>
        <p:spPr>
          <a:xfrm>
            <a:off x="548640" y="5431536"/>
            <a:ext cx="1265530" cy="365760"/>
          </a:xfrm>
          <a:prstGeom prst="roundRect">
            <a:avLst>
              <a:gd name="adj" fmla="val 50000"/>
            </a:avLst>
          </a:prstGeom>
          <a:solidFill>
            <a:srgbClr val="FFE600"/>
          </a:solidFill>
          <a:ln/>
        </p:spPr>
      </p:sp>
      <p:sp>
        <p:nvSpPr>
          <p:cNvPr id="29" name="Text 26"/>
          <p:cNvSpPr/>
          <p:nvPr/>
        </p:nvSpPr>
        <p:spPr>
          <a:xfrm>
            <a:off x="548640"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30" name="Shape 27"/>
          <p:cNvSpPr/>
          <p:nvPr/>
        </p:nvSpPr>
        <p:spPr>
          <a:xfrm>
            <a:off x="1942186" y="5431536"/>
            <a:ext cx="676656" cy="365760"/>
          </a:xfrm>
          <a:prstGeom prst="roundRect">
            <a:avLst>
              <a:gd name="adj" fmla="val 50000"/>
            </a:avLst>
          </a:prstGeom>
          <a:solidFill>
            <a:srgbClr val="FFE600"/>
          </a:solidFill>
          <a:ln/>
        </p:spPr>
      </p:sp>
      <p:sp>
        <p:nvSpPr>
          <p:cNvPr id="31" name="Text 28"/>
          <p:cNvSpPr/>
          <p:nvPr/>
        </p:nvSpPr>
        <p:spPr>
          <a:xfrm>
            <a:off x="1942186" y="5431536"/>
            <a:ext cx="67665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MySQL</a:t>
            </a:r>
            <a:endParaRPr lang="en-US" sz="1150" dirty="0"/>
          </a:p>
        </p:txBody>
      </p:sp>
      <p:sp>
        <p:nvSpPr>
          <p:cNvPr id="32" name="Shape 29"/>
          <p:cNvSpPr/>
          <p:nvPr/>
        </p:nvSpPr>
        <p:spPr>
          <a:xfrm>
            <a:off x="2746858" y="5431536"/>
            <a:ext cx="1686154" cy="365760"/>
          </a:xfrm>
          <a:prstGeom prst="roundRect">
            <a:avLst>
              <a:gd name="adj" fmla="val 50000"/>
            </a:avLst>
          </a:prstGeom>
          <a:solidFill>
            <a:srgbClr val="FFE600"/>
          </a:solidFill>
          <a:ln/>
        </p:spPr>
      </p:sp>
      <p:sp>
        <p:nvSpPr>
          <p:cNvPr id="33" name="Text 30"/>
          <p:cNvSpPr/>
          <p:nvPr/>
        </p:nvSpPr>
        <p:spPr>
          <a:xfrm>
            <a:off x="2746858" y="5431536"/>
            <a:ext cx="168615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Manual correction</a:t>
            </a:r>
            <a:endParaRPr lang="en-US" sz="1150" dirty="0"/>
          </a:p>
        </p:txBody>
      </p:sp>
      <p:sp>
        <p:nvSpPr>
          <p:cNvPr id="34" name="Shape 31"/>
          <p:cNvSpPr/>
          <p:nvPr/>
        </p:nvSpPr>
        <p:spPr>
          <a:xfrm>
            <a:off x="6400800" y="5074920"/>
            <a:ext cx="5239512" cy="1188720"/>
          </a:xfrm>
          <a:prstGeom prst="roundRect">
            <a:avLst>
              <a:gd name="adj" fmla="val 6154"/>
            </a:avLst>
          </a:prstGeom>
          <a:solidFill>
            <a:srgbClr val="484B54"/>
          </a:solidFill>
          <a:ln/>
        </p:spPr>
      </p:sp>
      <p:sp>
        <p:nvSpPr>
          <p:cNvPr id="35" name="Text 32"/>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36" name="Text 33"/>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Nothing is silently changed: errors are flagged, and every correction is traced.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Scanned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Some reports are pictures: the PDF has no text layer, so nothing can be read directly (e.g. AMI, COTUNACE).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page with almost no text characters switches to OCR mode.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Locate</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Fast low-resolution OCR + fuzzy title match keep only the best pages.</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340 dpi render, grid lines removed, Tesseract returns each word with its position.</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Rebuild</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Rows = OCR lines; columns from the x-position of the numbers.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844906" cy="365760"/>
          </a:xfrm>
          <a:prstGeom prst="roundRect">
            <a:avLst>
              <a:gd name="adj" fmla="val 50000"/>
            </a:avLst>
          </a:prstGeom>
          <a:solidFill>
            <a:srgbClr val="FFE600"/>
          </a:solidFill>
          <a:ln/>
        </p:spPr>
      </p:sp>
      <p:sp>
        <p:nvSpPr>
          <p:cNvPr id="35" name="Text 32"/>
          <p:cNvSpPr/>
          <p:nvPr/>
        </p:nvSpPr>
        <p:spPr>
          <a:xfrm>
            <a:off x="548640" y="5385816"/>
            <a:ext cx="8449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PyMuPDF</a:t>
            </a:r>
            <a:endParaRPr lang="en-US" sz="1150" dirty="0"/>
          </a:p>
        </p:txBody>
      </p:sp>
      <p:sp>
        <p:nvSpPr>
          <p:cNvPr id="36" name="Shape 33"/>
          <p:cNvSpPr/>
          <p:nvPr/>
        </p:nvSpPr>
        <p:spPr>
          <a:xfrm>
            <a:off x="1521562" y="5385816"/>
            <a:ext cx="760781" cy="365760"/>
          </a:xfrm>
          <a:prstGeom prst="roundRect">
            <a:avLst>
              <a:gd name="adj" fmla="val 50000"/>
            </a:avLst>
          </a:prstGeom>
          <a:solidFill>
            <a:srgbClr val="FFE600"/>
          </a:solidFill>
          <a:ln/>
        </p:spPr>
      </p:sp>
      <p:sp>
        <p:nvSpPr>
          <p:cNvPr id="37" name="Text 34"/>
          <p:cNvSpPr/>
          <p:nvPr/>
        </p:nvSpPr>
        <p:spPr>
          <a:xfrm>
            <a:off x="1521562"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OpenCV</a:t>
            </a:r>
            <a:endParaRPr lang="en-US" sz="1150" dirty="0"/>
          </a:p>
        </p:txBody>
      </p:sp>
      <p:sp>
        <p:nvSpPr>
          <p:cNvPr id="38" name="Shape 35"/>
          <p:cNvSpPr/>
          <p:nvPr/>
        </p:nvSpPr>
        <p:spPr>
          <a:xfrm>
            <a:off x="2410358" y="5385816"/>
            <a:ext cx="1517904" cy="365760"/>
          </a:xfrm>
          <a:prstGeom prst="roundRect">
            <a:avLst>
              <a:gd name="adj" fmla="val 50000"/>
            </a:avLst>
          </a:prstGeom>
          <a:solidFill>
            <a:srgbClr val="FFE600"/>
          </a:solidFill>
          <a:ln/>
        </p:spPr>
      </p:sp>
      <p:sp>
        <p:nvSpPr>
          <p:cNvPr id="39" name="Text 36"/>
          <p:cNvSpPr/>
          <p:nvPr/>
        </p:nvSpPr>
        <p:spPr>
          <a:xfrm>
            <a:off x="2410358" y="5385816"/>
            <a:ext cx="151790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(fra)</a:t>
            </a:r>
            <a:endParaRPr lang="en-US" sz="1150" dirty="0"/>
          </a:p>
        </p:txBody>
      </p:sp>
      <p:sp>
        <p:nvSpPr>
          <p:cNvPr id="40" name="Shape 37"/>
          <p:cNvSpPr/>
          <p:nvPr/>
        </p:nvSpPr>
        <p:spPr>
          <a:xfrm>
            <a:off x="4056278" y="5385816"/>
            <a:ext cx="1433779" cy="365760"/>
          </a:xfrm>
          <a:prstGeom prst="roundRect">
            <a:avLst>
              <a:gd name="adj" fmla="val 50000"/>
            </a:avLst>
          </a:prstGeom>
          <a:solidFill>
            <a:srgbClr val="FFE600"/>
          </a:solidFill>
          <a:ln/>
        </p:spPr>
      </p:sp>
      <p:sp>
        <p:nvSpPr>
          <p:cNvPr id="41" name="Text 38"/>
          <p:cNvSpPr/>
          <p:nvPr/>
        </p:nvSpPr>
        <p:spPr>
          <a:xfrm>
            <a:off x="4056278" y="5385816"/>
            <a:ext cx="1433779"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Fuzzy matching</a:t>
            </a:r>
            <a:endParaRPr lang="en-US" sz="1150" dirty="0"/>
          </a:p>
        </p:txBody>
      </p:sp>
      <p:sp>
        <p:nvSpPr>
          <p:cNvPr id="42" name="Shape 39"/>
          <p:cNvSpPr/>
          <p:nvPr/>
        </p:nvSpPr>
        <p:spPr>
          <a:xfrm>
            <a:off x="6400800" y="5074920"/>
            <a:ext cx="5239512" cy="1051560"/>
          </a:xfrm>
          <a:prstGeom prst="roundRect">
            <a:avLst>
              <a:gd name="adj" fmla="val 6957"/>
            </a:avLst>
          </a:prstGeom>
          <a:solidFill>
            <a:srgbClr val="484B54"/>
          </a:solidFill>
          <a:ln/>
        </p:spPr>
      </p:sp>
      <p:sp>
        <p:nvSpPr>
          <p:cNvPr id="43" name="Text 40"/>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4" name="Text 41"/>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Same table format as a normal PDF, so validation and KPIs run unchanged.</a:t>
            </a:r>
            <a:endParaRPr lang="en-US" sz="1300" dirty="0"/>
          </a:p>
        </p:txBody>
      </p:sp>
      <p:sp>
        <p:nvSpPr>
          <p:cNvPr id="45" name="Text 42"/>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AMI 2023 · Annexe 13 → 155 cells stored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Arabic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El Amana Takaful publishes scanned reports in Arabic (right to left), and Arabic OCR misreads digits.</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row</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Arabic OCR + fuzzy match on the expected Arabic label.</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column</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Same method on the column header.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Crop the cell</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Cut the exact cell out of the page image.</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 the digits</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English OCR, digits only: Tunisian reports use Western digits.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2022653" cy="365760"/>
          </a:xfrm>
          <a:prstGeom prst="roundRect">
            <a:avLst>
              <a:gd name="adj" fmla="val 50000"/>
            </a:avLst>
          </a:prstGeom>
          <a:solidFill>
            <a:srgbClr val="FFE600"/>
          </a:solidFill>
          <a:ln/>
        </p:spPr>
      </p:sp>
      <p:sp>
        <p:nvSpPr>
          <p:cNvPr id="35" name="Text 32"/>
          <p:cNvSpPr/>
          <p:nvPr/>
        </p:nvSpPr>
        <p:spPr>
          <a:xfrm>
            <a:off x="548640" y="5385816"/>
            <a:ext cx="202265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(ara + eng)</a:t>
            </a:r>
            <a:endParaRPr lang="en-US" sz="1150" dirty="0"/>
          </a:p>
        </p:txBody>
      </p:sp>
      <p:sp>
        <p:nvSpPr>
          <p:cNvPr id="36" name="Shape 33"/>
          <p:cNvSpPr/>
          <p:nvPr/>
        </p:nvSpPr>
        <p:spPr>
          <a:xfrm>
            <a:off x="2699309" y="5385816"/>
            <a:ext cx="1013155" cy="365760"/>
          </a:xfrm>
          <a:prstGeom prst="roundRect">
            <a:avLst>
              <a:gd name="adj" fmla="val 50000"/>
            </a:avLst>
          </a:prstGeom>
          <a:solidFill>
            <a:srgbClr val="FFE600"/>
          </a:solidFill>
          <a:ln/>
        </p:spPr>
      </p:sp>
      <p:sp>
        <p:nvSpPr>
          <p:cNvPr id="37" name="Text 34"/>
          <p:cNvSpPr/>
          <p:nvPr/>
        </p:nvSpPr>
        <p:spPr>
          <a:xfrm>
            <a:off x="2699309" y="5385816"/>
            <a:ext cx="1013155"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RapidFuzz</a:t>
            </a:r>
            <a:endParaRPr lang="en-US" sz="1150" dirty="0"/>
          </a:p>
        </p:txBody>
      </p:sp>
      <p:sp>
        <p:nvSpPr>
          <p:cNvPr id="38" name="Shape 35"/>
          <p:cNvSpPr/>
          <p:nvPr/>
        </p:nvSpPr>
        <p:spPr>
          <a:xfrm>
            <a:off x="3840480" y="5385816"/>
            <a:ext cx="760781" cy="365760"/>
          </a:xfrm>
          <a:prstGeom prst="roundRect">
            <a:avLst>
              <a:gd name="adj" fmla="val 50000"/>
            </a:avLst>
          </a:prstGeom>
          <a:solidFill>
            <a:srgbClr val="FFE600"/>
          </a:solidFill>
          <a:ln/>
        </p:spPr>
      </p:sp>
      <p:sp>
        <p:nvSpPr>
          <p:cNvPr id="39" name="Text 36"/>
          <p:cNvSpPr/>
          <p:nvPr/>
        </p:nvSpPr>
        <p:spPr>
          <a:xfrm>
            <a:off x="3840480"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Pillow</a:t>
            </a:r>
            <a:endParaRPr lang="en-US" sz="1150" dirty="0"/>
          </a:p>
        </p:txBody>
      </p:sp>
      <p:sp>
        <p:nvSpPr>
          <p:cNvPr id="40" name="Shape 37"/>
          <p:cNvSpPr/>
          <p:nvPr/>
        </p:nvSpPr>
        <p:spPr>
          <a:xfrm>
            <a:off x="6400800" y="5074920"/>
            <a:ext cx="5239512" cy="1051560"/>
          </a:xfrm>
          <a:prstGeom prst="roundRect">
            <a:avLst>
              <a:gd name="adj" fmla="val 6957"/>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Arabic is used to find, English to read, and figures are cross-checked.</a:t>
            </a:r>
            <a:endParaRPr lang="en-US" sz="1300" dirty="0"/>
          </a:p>
        </p:txBody>
      </p:sp>
      <p:sp>
        <p:nvSpPr>
          <p:cNvPr id="43" name="Text 40"/>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Total actif 2024 = 38 089 744 TND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Data → AI</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From validated data to AI capabilities  -</a:t>
            </a:r>
            <a:endParaRPr lang="en-US" sz="2200" dirty="0"/>
          </a:p>
        </p:txBody>
      </p:sp>
      <p:sp>
        <p:nvSpPr>
          <p:cNvPr id="7" name="Text 4"/>
          <p:cNvSpPr/>
          <p:nvPr/>
        </p:nvSpPr>
        <p:spPr>
          <a:xfrm>
            <a:off x="548640" y="1810512"/>
            <a:ext cx="7315200" cy="237744"/>
          </a:xfrm>
          <a:prstGeom prst="rect">
            <a:avLst/>
          </a:prstGeom>
          <a:noFill/>
          <a:ln/>
        </p:spPr>
        <p:txBody>
          <a:bodyPr wrap="square" lIns="0" tIns="0" rIns="0" bIns="0" rtlCol="0" anchor="ctr"/>
          <a:lstStyle/>
          <a:p>
            <a:pPr indent="0" marL="0">
              <a:buNone/>
            </a:pPr>
            <a:r>
              <a:rPr lang="en-US" sz="1100" b="1" spc="180" kern="0" dirty="0">
                <a:solidFill>
                  <a:srgbClr val="8B8B90"/>
                </a:solidFill>
                <a:latin typeface="Calibri" pitchFamily="34" charset="0"/>
                <a:ea typeface="Calibri" pitchFamily="34" charset="-122"/>
                <a:cs typeface="Calibri" pitchFamily="34" charset="-120"/>
              </a:rPr>
              <a:t>RECAP · HOW THE DATA GETS VALIDATED</a:t>
            </a:r>
            <a:endParaRPr lang="en-US" sz="1100" dirty="0"/>
          </a:p>
        </p:txBody>
      </p:sp>
      <p:sp>
        <p:nvSpPr>
          <p:cNvPr id="8" name="Shape 5"/>
          <p:cNvSpPr/>
          <p:nvPr/>
        </p:nvSpPr>
        <p:spPr>
          <a:xfrm>
            <a:off x="457200" y="2624328"/>
            <a:ext cx="1051560" cy="457200"/>
          </a:xfrm>
          <a:prstGeom prst="roundRect">
            <a:avLst>
              <a:gd name="adj" fmla="val 14000"/>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9" name="Text 6"/>
          <p:cNvSpPr/>
          <p:nvPr/>
        </p:nvSpPr>
        <p:spPr>
          <a:xfrm>
            <a:off x="530352" y="2624328"/>
            <a:ext cx="905256" cy="45720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PDF report</a:t>
            </a:r>
            <a:endParaRPr lang="en-US" sz="1200" dirty="0"/>
          </a:p>
        </p:txBody>
      </p:sp>
      <p:sp>
        <p:nvSpPr>
          <p:cNvPr id="10" name="Shape 7"/>
          <p:cNvSpPr/>
          <p:nvPr/>
        </p:nvSpPr>
        <p:spPr>
          <a:xfrm>
            <a:off x="1508760" y="2852928"/>
            <a:ext cx="182880" cy="0"/>
          </a:xfrm>
          <a:prstGeom prst="line">
            <a:avLst/>
          </a:prstGeom>
          <a:noFill/>
          <a:ln w="22225">
            <a:solidFill>
              <a:srgbClr val="9A9CA5"/>
            </a:solidFill>
            <a:prstDash val="solid"/>
            <a:tailEnd type="triangle"/>
          </a:ln>
        </p:spPr>
      </p:sp>
      <p:sp>
        <p:nvSpPr>
          <p:cNvPr id="11" name="Shape 8"/>
          <p:cNvSpPr/>
          <p:nvPr/>
        </p:nvSpPr>
        <p:spPr>
          <a:xfrm>
            <a:off x="1691640" y="2350008"/>
            <a:ext cx="1737360" cy="1005840"/>
          </a:xfrm>
          <a:prstGeom prst="diamond">
            <a:avLst/>
          </a:prstGeom>
          <a:solidFill>
            <a:srgbClr val="FFFFFF"/>
          </a:solidFill>
          <a:ln w="22225">
            <a:solidFill>
              <a:srgbClr val="484B54"/>
            </a:solidFill>
            <a:prstDash val="solid"/>
          </a:ln>
        </p:spPr>
      </p:sp>
      <p:sp>
        <p:nvSpPr>
          <p:cNvPr id="12" name="Text 9"/>
          <p:cNvSpPr/>
          <p:nvPr/>
        </p:nvSpPr>
        <p:spPr>
          <a:xfrm>
            <a:off x="1965960" y="2350008"/>
            <a:ext cx="1188720" cy="100584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Text layer usable?</a:t>
            </a:r>
            <a:endParaRPr lang="en-US" sz="1050" dirty="0"/>
          </a:p>
        </p:txBody>
      </p:sp>
      <p:sp>
        <p:nvSpPr>
          <p:cNvPr id="13" name="Shape 10"/>
          <p:cNvSpPr/>
          <p:nvPr/>
        </p:nvSpPr>
        <p:spPr>
          <a:xfrm>
            <a:off x="3429000" y="2852928"/>
            <a:ext cx="502920" cy="0"/>
          </a:xfrm>
          <a:prstGeom prst="line">
            <a:avLst/>
          </a:prstGeom>
          <a:noFill/>
          <a:ln w="22225">
            <a:solidFill>
              <a:srgbClr val="9A9CA5"/>
            </a:solidFill>
            <a:prstDash val="solid"/>
            <a:tailEnd type="triangle"/>
          </a:ln>
        </p:spPr>
      </p:sp>
      <p:sp>
        <p:nvSpPr>
          <p:cNvPr id="14" name="Text 11"/>
          <p:cNvSpPr/>
          <p:nvPr/>
        </p:nvSpPr>
        <p:spPr>
          <a:xfrm>
            <a:off x="3493008" y="2596896"/>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15" name="Shape 12"/>
          <p:cNvSpPr/>
          <p:nvPr/>
        </p:nvSpPr>
        <p:spPr>
          <a:xfrm>
            <a:off x="3931920" y="2505456"/>
            <a:ext cx="2194560" cy="694944"/>
          </a:xfrm>
          <a:prstGeom prst="roundRect">
            <a:avLst>
              <a:gd name="adj" fmla="val 9211"/>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6" name="Text 13"/>
          <p:cNvSpPr/>
          <p:nvPr/>
        </p:nvSpPr>
        <p:spPr>
          <a:xfrm>
            <a:off x="4005072" y="2505456"/>
            <a:ext cx="2048256" cy="694944"/>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Native extraction</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text + table reading</a:t>
            </a:r>
            <a:endParaRPr lang="en-US" sz="1200" dirty="0"/>
          </a:p>
        </p:txBody>
      </p:sp>
      <p:sp>
        <p:nvSpPr>
          <p:cNvPr id="17" name="Shape 14"/>
          <p:cNvSpPr/>
          <p:nvPr/>
        </p:nvSpPr>
        <p:spPr>
          <a:xfrm>
            <a:off x="2560320" y="3355848"/>
            <a:ext cx="0" cy="182880"/>
          </a:xfrm>
          <a:prstGeom prst="line">
            <a:avLst/>
          </a:prstGeom>
          <a:noFill/>
          <a:ln w="22225">
            <a:solidFill>
              <a:srgbClr val="9A9CA5"/>
            </a:solidFill>
            <a:prstDash val="solid"/>
            <a:tailEnd type="triangle"/>
          </a:ln>
        </p:spPr>
      </p:sp>
      <p:sp>
        <p:nvSpPr>
          <p:cNvPr id="18" name="Text 15"/>
          <p:cNvSpPr/>
          <p:nvPr/>
        </p:nvSpPr>
        <p:spPr>
          <a:xfrm>
            <a:off x="2633472" y="3310128"/>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19" name="Shape 16"/>
          <p:cNvSpPr/>
          <p:nvPr/>
        </p:nvSpPr>
        <p:spPr>
          <a:xfrm>
            <a:off x="1691640" y="3538728"/>
            <a:ext cx="1737360" cy="1005840"/>
          </a:xfrm>
          <a:prstGeom prst="diamond">
            <a:avLst/>
          </a:prstGeom>
          <a:solidFill>
            <a:srgbClr val="FFFFFF"/>
          </a:solidFill>
          <a:ln w="22225">
            <a:solidFill>
              <a:srgbClr val="484B54"/>
            </a:solidFill>
            <a:prstDash val="solid"/>
          </a:ln>
        </p:spPr>
      </p:sp>
      <p:sp>
        <p:nvSpPr>
          <p:cNvPr id="20" name="Text 17"/>
          <p:cNvSpPr/>
          <p:nvPr/>
        </p:nvSpPr>
        <p:spPr>
          <a:xfrm>
            <a:off x="1965960" y="3538728"/>
            <a:ext cx="1188720" cy="100584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Arabic scan?</a:t>
            </a:r>
            <a:endParaRPr lang="en-US" sz="1050" dirty="0"/>
          </a:p>
        </p:txBody>
      </p:sp>
      <p:sp>
        <p:nvSpPr>
          <p:cNvPr id="21" name="Shape 18"/>
          <p:cNvSpPr/>
          <p:nvPr/>
        </p:nvSpPr>
        <p:spPr>
          <a:xfrm>
            <a:off x="3429000" y="4041648"/>
            <a:ext cx="502920" cy="0"/>
          </a:xfrm>
          <a:prstGeom prst="line">
            <a:avLst/>
          </a:prstGeom>
          <a:noFill/>
          <a:ln w="22225">
            <a:solidFill>
              <a:srgbClr val="9A9CA5"/>
            </a:solidFill>
            <a:prstDash val="solid"/>
            <a:tailEnd type="triangle"/>
          </a:ln>
        </p:spPr>
      </p:sp>
      <p:sp>
        <p:nvSpPr>
          <p:cNvPr id="22" name="Text 19"/>
          <p:cNvSpPr/>
          <p:nvPr/>
        </p:nvSpPr>
        <p:spPr>
          <a:xfrm>
            <a:off x="3493008" y="3785616"/>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23" name="Shape 20"/>
          <p:cNvSpPr/>
          <p:nvPr/>
        </p:nvSpPr>
        <p:spPr>
          <a:xfrm>
            <a:off x="3931920" y="3694176"/>
            <a:ext cx="2194560" cy="694944"/>
          </a:xfrm>
          <a:prstGeom prst="roundRect">
            <a:avLst>
              <a:gd name="adj" fmla="val 9211"/>
            </a:avLst>
          </a:prstGeom>
          <a:solidFill>
            <a:srgbClr val="FFE600"/>
          </a:solidFill>
          <a:ln/>
          <a:effectLst>
            <a:outerShdw sx="100000" sy="100000" kx="0" ky="0" algn="bl" rotWithShape="0" blurRad="76200" dist="25400" dir="5400000">
              <a:srgbClr val="000000">
                <a:alpha val="14000"/>
              </a:srgbClr>
            </a:outerShdw>
          </a:effectLst>
        </p:spPr>
      </p:sp>
      <p:sp>
        <p:nvSpPr>
          <p:cNvPr id="24" name="Text 21"/>
          <p:cNvSpPr/>
          <p:nvPr/>
        </p:nvSpPr>
        <p:spPr>
          <a:xfrm>
            <a:off x="4005072" y="3694176"/>
            <a:ext cx="2048256" cy="694944"/>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Arabic: find, then read</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Arabic OCR finds the cell, English OCR reads digits</a:t>
            </a:r>
            <a:endParaRPr lang="en-US" sz="1200" dirty="0"/>
          </a:p>
        </p:txBody>
      </p:sp>
      <p:sp>
        <p:nvSpPr>
          <p:cNvPr id="25" name="Shape 22"/>
          <p:cNvSpPr/>
          <p:nvPr/>
        </p:nvSpPr>
        <p:spPr>
          <a:xfrm>
            <a:off x="2560320" y="4544568"/>
            <a:ext cx="0" cy="411480"/>
          </a:xfrm>
          <a:prstGeom prst="line">
            <a:avLst/>
          </a:prstGeom>
          <a:noFill/>
          <a:ln w="22225">
            <a:solidFill>
              <a:srgbClr val="9A9CA5"/>
            </a:solidFill>
            <a:prstDash val="solid"/>
          </a:ln>
        </p:spPr>
      </p:sp>
      <p:sp>
        <p:nvSpPr>
          <p:cNvPr id="26" name="Shape 23"/>
          <p:cNvSpPr/>
          <p:nvPr/>
        </p:nvSpPr>
        <p:spPr>
          <a:xfrm>
            <a:off x="2560320" y="4956048"/>
            <a:ext cx="1371600" cy="0"/>
          </a:xfrm>
          <a:prstGeom prst="line">
            <a:avLst/>
          </a:prstGeom>
          <a:noFill/>
          <a:ln w="22225">
            <a:solidFill>
              <a:srgbClr val="9A9CA5"/>
            </a:solidFill>
            <a:prstDash val="solid"/>
            <a:tailEnd type="triangle"/>
          </a:ln>
        </p:spPr>
      </p:sp>
      <p:sp>
        <p:nvSpPr>
          <p:cNvPr id="27" name="Text 24"/>
          <p:cNvSpPr/>
          <p:nvPr/>
        </p:nvSpPr>
        <p:spPr>
          <a:xfrm>
            <a:off x="2633472" y="4590288"/>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28" name="Shape 25"/>
          <p:cNvSpPr/>
          <p:nvPr/>
        </p:nvSpPr>
        <p:spPr>
          <a:xfrm>
            <a:off x="3931920" y="4681728"/>
            <a:ext cx="2194560" cy="548640"/>
          </a:xfrm>
          <a:prstGeom prst="roundRect">
            <a:avLst>
              <a:gd name="adj" fmla="val 11667"/>
            </a:avLst>
          </a:prstGeom>
          <a:solidFill>
            <a:srgbClr val="FFE600"/>
          </a:solidFill>
          <a:ln/>
          <a:effectLst>
            <a:outerShdw sx="100000" sy="100000" kx="0" ky="0" algn="bl" rotWithShape="0" blurRad="76200" dist="25400" dir="5400000">
              <a:srgbClr val="000000">
                <a:alpha val="14000"/>
              </a:srgbClr>
            </a:outerShdw>
          </a:effectLst>
        </p:spPr>
      </p:sp>
      <p:sp>
        <p:nvSpPr>
          <p:cNvPr id="29" name="Text 26"/>
          <p:cNvSpPr/>
          <p:nvPr/>
        </p:nvSpPr>
        <p:spPr>
          <a:xfrm>
            <a:off x="4005072" y="4681728"/>
            <a:ext cx="2048256" cy="54864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French OCR</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340 dpi, grid lines removed</a:t>
            </a:r>
            <a:endParaRPr lang="en-US" sz="1200" dirty="0"/>
          </a:p>
        </p:txBody>
      </p:sp>
      <p:sp>
        <p:nvSpPr>
          <p:cNvPr id="30" name="Shape 27"/>
          <p:cNvSpPr/>
          <p:nvPr/>
        </p:nvSpPr>
        <p:spPr>
          <a:xfrm>
            <a:off x="6126480" y="2852928"/>
            <a:ext cx="457200" cy="0"/>
          </a:xfrm>
          <a:prstGeom prst="line">
            <a:avLst/>
          </a:prstGeom>
          <a:noFill/>
          <a:ln w="22225">
            <a:solidFill>
              <a:srgbClr val="9A9CA5"/>
            </a:solidFill>
            <a:prstDash val="solid"/>
          </a:ln>
        </p:spPr>
      </p:sp>
      <p:sp>
        <p:nvSpPr>
          <p:cNvPr id="31" name="Shape 28"/>
          <p:cNvSpPr/>
          <p:nvPr/>
        </p:nvSpPr>
        <p:spPr>
          <a:xfrm>
            <a:off x="6126480" y="4041648"/>
            <a:ext cx="457200" cy="0"/>
          </a:xfrm>
          <a:prstGeom prst="line">
            <a:avLst/>
          </a:prstGeom>
          <a:noFill/>
          <a:ln w="22225">
            <a:solidFill>
              <a:srgbClr val="9A9CA5"/>
            </a:solidFill>
            <a:prstDash val="solid"/>
          </a:ln>
        </p:spPr>
      </p:sp>
      <p:sp>
        <p:nvSpPr>
          <p:cNvPr id="32" name="Shape 29"/>
          <p:cNvSpPr/>
          <p:nvPr/>
        </p:nvSpPr>
        <p:spPr>
          <a:xfrm>
            <a:off x="6126480" y="4956048"/>
            <a:ext cx="457200" cy="0"/>
          </a:xfrm>
          <a:prstGeom prst="line">
            <a:avLst/>
          </a:prstGeom>
          <a:noFill/>
          <a:ln w="22225">
            <a:solidFill>
              <a:srgbClr val="9A9CA5"/>
            </a:solidFill>
            <a:prstDash val="solid"/>
          </a:ln>
        </p:spPr>
      </p:sp>
      <p:sp>
        <p:nvSpPr>
          <p:cNvPr id="33" name="Shape 30"/>
          <p:cNvSpPr/>
          <p:nvPr/>
        </p:nvSpPr>
        <p:spPr>
          <a:xfrm>
            <a:off x="6583680" y="2852928"/>
            <a:ext cx="0" cy="2103120"/>
          </a:xfrm>
          <a:prstGeom prst="line">
            <a:avLst/>
          </a:prstGeom>
          <a:noFill/>
          <a:ln w="22225">
            <a:solidFill>
              <a:srgbClr val="9A9CA5"/>
            </a:solidFill>
            <a:prstDash val="solid"/>
          </a:ln>
        </p:spPr>
      </p:sp>
      <p:sp>
        <p:nvSpPr>
          <p:cNvPr id="34" name="Shape 31"/>
          <p:cNvSpPr/>
          <p:nvPr/>
        </p:nvSpPr>
        <p:spPr>
          <a:xfrm>
            <a:off x="6583680" y="4041648"/>
            <a:ext cx="365760" cy="0"/>
          </a:xfrm>
          <a:prstGeom prst="line">
            <a:avLst/>
          </a:prstGeom>
          <a:noFill/>
          <a:ln w="22225">
            <a:solidFill>
              <a:srgbClr val="9A9CA5"/>
            </a:solidFill>
            <a:prstDash val="solid"/>
            <a:tailEnd type="triangle"/>
          </a:ln>
        </p:spPr>
      </p:sp>
      <p:sp>
        <p:nvSpPr>
          <p:cNvPr id="35" name="Shape 32"/>
          <p:cNvSpPr/>
          <p:nvPr/>
        </p:nvSpPr>
        <p:spPr>
          <a:xfrm>
            <a:off x="6949440" y="3675888"/>
            <a:ext cx="1417320" cy="731520"/>
          </a:xfrm>
          <a:prstGeom prst="roundRect">
            <a:avLst>
              <a:gd name="adj" fmla="val 8750"/>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36" name="Text 33"/>
          <p:cNvSpPr/>
          <p:nvPr/>
        </p:nvSpPr>
        <p:spPr>
          <a:xfrm>
            <a:off x="7022592" y="3675888"/>
            <a:ext cx="1271016" cy="73152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Normalise</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names and values</a:t>
            </a:r>
            <a:endParaRPr lang="en-US" sz="1200" dirty="0"/>
          </a:p>
        </p:txBody>
      </p:sp>
      <p:sp>
        <p:nvSpPr>
          <p:cNvPr id="37" name="Shape 34"/>
          <p:cNvSpPr/>
          <p:nvPr/>
        </p:nvSpPr>
        <p:spPr>
          <a:xfrm>
            <a:off x="8366760" y="4041648"/>
            <a:ext cx="182880" cy="0"/>
          </a:xfrm>
          <a:prstGeom prst="line">
            <a:avLst/>
          </a:prstGeom>
          <a:noFill/>
          <a:ln w="22225">
            <a:solidFill>
              <a:srgbClr val="9A9CA5"/>
            </a:solidFill>
            <a:prstDash val="solid"/>
            <a:tailEnd type="triangle"/>
          </a:ln>
        </p:spPr>
      </p:sp>
      <p:sp>
        <p:nvSpPr>
          <p:cNvPr id="38" name="Shape 35"/>
          <p:cNvSpPr/>
          <p:nvPr/>
        </p:nvSpPr>
        <p:spPr>
          <a:xfrm>
            <a:off x="8549640" y="3493008"/>
            <a:ext cx="1554480" cy="1097280"/>
          </a:xfrm>
          <a:prstGeom prst="diamond">
            <a:avLst/>
          </a:prstGeom>
          <a:solidFill>
            <a:srgbClr val="FFFFFF"/>
          </a:solidFill>
          <a:ln w="22225">
            <a:solidFill>
              <a:srgbClr val="484B54"/>
            </a:solidFill>
            <a:prstDash val="solid"/>
          </a:ln>
        </p:spPr>
      </p:sp>
      <p:sp>
        <p:nvSpPr>
          <p:cNvPr id="39" name="Text 36"/>
          <p:cNvSpPr/>
          <p:nvPr/>
        </p:nvSpPr>
        <p:spPr>
          <a:xfrm>
            <a:off x="8823960" y="3493008"/>
            <a:ext cx="1005840" cy="109728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Totals consistent?</a:t>
            </a:r>
            <a:endParaRPr lang="en-US" sz="1050" dirty="0"/>
          </a:p>
        </p:txBody>
      </p:sp>
      <p:sp>
        <p:nvSpPr>
          <p:cNvPr id="40" name="Shape 37"/>
          <p:cNvSpPr/>
          <p:nvPr/>
        </p:nvSpPr>
        <p:spPr>
          <a:xfrm>
            <a:off x="10104120" y="4041648"/>
            <a:ext cx="274320" cy="0"/>
          </a:xfrm>
          <a:prstGeom prst="line">
            <a:avLst/>
          </a:prstGeom>
          <a:noFill/>
          <a:ln w="22225">
            <a:solidFill>
              <a:srgbClr val="9A9CA5"/>
            </a:solidFill>
            <a:prstDash val="solid"/>
            <a:tailEnd type="triangle"/>
          </a:ln>
        </p:spPr>
      </p:sp>
      <p:sp>
        <p:nvSpPr>
          <p:cNvPr id="41" name="Text 38"/>
          <p:cNvSpPr/>
          <p:nvPr/>
        </p:nvSpPr>
        <p:spPr>
          <a:xfrm>
            <a:off x="10131552" y="3785616"/>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42" name="Shape 39"/>
          <p:cNvSpPr/>
          <p:nvPr/>
        </p:nvSpPr>
        <p:spPr>
          <a:xfrm>
            <a:off x="10378440" y="3675888"/>
            <a:ext cx="1280160" cy="731520"/>
          </a:xfrm>
          <a:prstGeom prst="roundRect">
            <a:avLst>
              <a:gd name="adj" fmla="val 8750"/>
            </a:avLst>
          </a:prstGeom>
          <a:solidFill>
            <a:srgbClr val="484B54"/>
          </a:solidFill>
          <a:ln/>
          <a:effectLst>
            <a:outerShdw sx="100000" sy="100000" kx="0" ky="0" algn="bl" rotWithShape="0" blurRad="76200" dist="25400" dir="5400000">
              <a:srgbClr val="000000">
                <a:alpha val="14000"/>
              </a:srgbClr>
            </a:outerShdw>
          </a:effectLst>
        </p:spPr>
      </p:sp>
      <p:sp>
        <p:nvSpPr>
          <p:cNvPr id="43" name="Text 40"/>
          <p:cNvSpPr/>
          <p:nvPr/>
        </p:nvSpPr>
        <p:spPr>
          <a:xfrm>
            <a:off x="10451592" y="3675888"/>
            <a:ext cx="1133856"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Store + compute KPIs</a:t>
            </a:r>
            <a:endParaRPr lang="en-US" sz="1200" dirty="0"/>
          </a:p>
        </p:txBody>
      </p:sp>
      <p:sp>
        <p:nvSpPr>
          <p:cNvPr id="44" name="Shape 41"/>
          <p:cNvSpPr/>
          <p:nvPr/>
        </p:nvSpPr>
        <p:spPr>
          <a:xfrm>
            <a:off x="9326880" y="4590288"/>
            <a:ext cx="0" cy="91440"/>
          </a:xfrm>
          <a:prstGeom prst="line">
            <a:avLst/>
          </a:prstGeom>
          <a:noFill/>
          <a:ln w="22225">
            <a:solidFill>
              <a:srgbClr val="9A9CA5"/>
            </a:solidFill>
            <a:prstDash val="solid"/>
            <a:tailEnd type="triangle"/>
          </a:ln>
        </p:spPr>
      </p:sp>
      <p:sp>
        <p:nvSpPr>
          <p:cNvPr id="45" name="Text 42"/>
          <p:cNvSpPr/>
          <p:nvPr/>
        </p:nvSpPr>
        <p:spPr>
          <a:xfrm>
            <a:off x="9491472" y="4389120"/>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46" name="Shape 43"/>
          <p:cNvSpPr/>
          <p:nvPr/>
        </p:nvSpPr>
        <p:spPr>
          <a:xfrm>
            <a:off x="8321040" y="4681728"/>
            <a:ext cx="2011680" cy="548640"/>
          </a:xfrm>
          <a:prstGeom prst="roundRect">
            <a:avLst>
              <a:gd name="adj" fmla="val 11667"/>
            </a:avLst>
          </a:prstGeom>
          <a:solidFill>
            <a:srgbClr val="FFE600"/>
          </a:solidFill>
          <a:ln/>
          <a:effectLst>
            <a:outerShdw sx="100000" sy="100000" kx="0" ky="0" algn="bl" rotWithShape="0" blurRad="76200" dist="25400" dir="5400000">
              <a:srgbClr val="000000">
                <a:alpha val="14000"/>
              </a:srgbClr>
            </a:outerShdw>
          </a:effectLst>
        </p:spPr>
      </p:sp>
      <p:sp>
        <p:nvSpPr>
          <p:cNvPr id="47" name="Text 44"/>
          <p:cNvSpPr/>
          <p:nvPr/>
        </p:nvSpPr>
        <p:spPr>
          <a:xfrm>
            <a:off x="8394192" y="4681728"/>
            <a:ext cx="1865376" cy="54864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Flag anomaly</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manual correction, audited</a:t>
            </a:r>
            <a:endParaRPr lang="en-US" sz="1200" dirty="0"/>
          </a:p>
        </p:txBody>
      </p:sp>
      <p:sp>
        <p:nvSpPr>
          <p:cNvPr id="48" name="Shape 45"/>
          <p:cNvSpPr/>
          <p:nvPr/>
        </p:nvSpPr>
        <p:spPr>
          <a:xfrm>
            <a:off x="10332720" y="4956048"/>
            <a:ext cx="685800" cy="0"/>
          </a:xfrm>
          <a:prstGeom prst="line">
            <a:avLst/>
          </a:prstGeom>
          <a:noFill/>
          <a:ln w="22225">
            <a:solidFill>
              <a:srgbClr val="9A9CA5"/>
            </a:solidFill>
            <a:prstDash val="solid"/>
          </a:ln>
        </p:spPr>
      </p:sp>
      <p:sp>
        <p:nvSpPr>
          <p:cNvPr id="49" name="Shape 46"/>
          <p:cNvSpPr/>
          <p:nvPr/>
        </p:nvSpPr>
        <p:spPr>
          <a:xfrm flipV="1">
            <a:off x="11018520" y="4407408"/>
            <a:ext cx="0" cy="548640"/>
          </a:xfrm>
          <a:prstGeom prst="line">
            <a:avLst/>
          </a:prstGeom>
          <a:noFill/>
          <a:ln w="22225">
            <a:solidFill>
              <a:srgbClr val="9A9CA5"/>
            </a:solidFill>
            <a:prstDash val="solid"/>
            <a:tailEnd type="triangle"/>
          </a:ln>
        </p:spPr>
      </p:sp>
      <p:sp>
        <p:nvSpPr>
          <p:cNvPr id="50" name="Shape 47"/>
          <p:cNvSpPr/>
          <p:nvPr/>
        </p:nvSpPr>
        <p:spPr>
          <a:xfrm>
            <a:off x="548640" y="5349240"/>
            <a:ext cx="11091672" cy="0"/>
          </a:xfrm>
          <a:prstGeom prst="line">
            <a:avLst/>
          </a:prstGeom>
          <a:noFill/>
          <a:ln w="12700">
            <a:solidFill>
              <a:srgbClr val="D3D5DB"/>
            </a:solidFill>
            <a:prstDash val="dash"/>
          </a:ln>
        </p:spPr>
      </p:sp>
      <p:sp>
        <p:nvSpPr>
          <p:cNvPr id="51" name="Shape 48"/>
          <p:cNvSpPr/>
          <p:nvPr/>
        </p:nvSpPr>
        <p:spPr>
          <a:xfrm>
            <a:off x="548640" y="5577840"/>
            <a:ext cx="11091672" cy="1234440"/>
          </a:xfrm>
          <a:prstGeom prst="roundRect">
            <a:avLst>
              <a:gd name="adj" fmla="val 5926"/>
            </a:avLst>
          </a:prstGeom>
          <a:solidFill>
            <a:srgbClr val="484B54"/>
          </a:solidFill>
          <a:ln/>
        </p:spPr>
      </p:sp>
      <p:sp>
        <p:nvSpPr>
          <p:cNvPr id="52" name="Text 49"/>
          <p:cNvSpPr/>
          <p:nvPr/>
        </p:nvSpPr>
        <p:spPr>
          <a:xfrm>
            <a:off x="777240" y="564184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WHAT'S NEXT</a:t>
            </a:r>
            <a:endParaRPr lang="en-US" sz="1100" dirty="0"/>
          </a:p>
        </p:txBody>
      </p:sp>
      <p:sp>
        <p:nvSpPr>
          <p:cNvPr id="53" name="Text 50"/>
          <p:cNvSpPr/>
          <p:nvPr/>
        </p:nvSpPr>
        <p:spPr>
          <a:xfrm>
            <a:off x="777240" y="5897880"/>
            <a:ext cx="10607040" cy="8229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Once a KPI is stored and validated, it becomes trustworthy enough to build on. From here, three AI capabilities consume this data — never the other way around: explaining a figure, forecasting it, and answering regulatory questions.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The chatbot and RAG  -</a:t>
            </a:r>
            <a:endParaRPr lang="en-US" sz="2200" dirty="0"/>
          </a:p>
        </p:txBody>
      </p:sp>
      <p:sp>
        <p:nvSpPr>
          <p:cNvPr id="7" name="Shape 4"/>
          <p:cNvSpPr/>
          <p:nvPr/>
        </p:nvSpPr>
        <p:spPr>
          <a:xfrm>
            <a:off x="548640" y="2788920"/>
            <a:ext cx="1737360" cy="1005840"/>
          </a:xfrm>
          <a:prstGeom prst="roundRect">
            <a:avLst>
              <a:gd name="adj" fmla="val 7273"/>
            </a:avLst>
          </a:prstGeom>
          <a:solidFill>
            <a:srgbClr val="F2F2F2"/>
          </a:solidFill>
          <a:ln/>
          <a:effectLst>
            <a:outerShdw sx="100000" sy="100000" kx="0" ky="0" algn="bl" rotWithShape="0" blurRad="76200" dist="25400" dir="5400000">
              <a:srgbClr val="000000">
                <a:alpha val="14000"/>
              </a:srgbClr>
            </a:outerShdw>
          </a:effectLst>
        </p:spPr>
      </p:sp>
      <p:sp>
        <p:nvSpPr>
          <p:cNvPr id="8" name="Text 5"/>
          <p:cNvSpPr/>
          <p:nvPr/>
        </p:nvSpPr>
        <p:spPr>
          <a:xfrm>
            <a:off x="676656" y="2862072"/>
            <a:ext cx="148132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9" name="Text 6"/>
          <p:cNvSpPr/>
          <p:nvPr/>
        </p:nvSpPr>
        <p:spPr>
          <a:xfrm>
            <a:off x="676656" y="3191256"/>
            <a:ext cx="1481328" cy="54864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plain language</a:t>
            </a:r>
            <a:endParaRPr lang="en-US" sz="1150" dirty="0"/>
          </a:p>
        </p:txBody>
      </p:sp>
      <p:sp>
        <p:nvSpPr>
          <p:cNvPr id="10" name="Shape 7"/>
          <p:cNvSpPr/>
          <p:nvPr/>
        </p:nvSpPr>
        <p:spPr>
          <a:xfrm>
            <a:off x="2743200" y="2788920"/>
            <a:ext cx="1737360"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11" name="Text 8"/>
          <p:cNvSpPr/>
          <p:nvPr/>
        </p:nvSpPr>
        <p:spPr>
          <a:xfrm>
            <a:off x="2871216" y="2862072"/>
            <a:ext cx="1481328"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2" name="Text 9"/>
          <p:cNvSpPr/>
          <p:nvPr/>
        </p:nvSpPr>
        <p:spPr>
          <a:xfrm>
            <a:off x="2871216" y="3191256"/>
            <a:ext cx="1481328"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reads KPI, company, year</a:t>
            </a:r>
            <a:endParaRPr lang="en-US" sz="1150" dirty="0"/>
          </a:p>
        </p:txBody>
      </p:sp>
      <p:sp>
        <p:nvSpPr>
          <p:cNvPr id="13" name="Shape 10"/>
          <p:cNvSpPr/>
          <p:nvPr/>
        </p:nvSpPr>
        <p:spPr>
          <a:xfrm>
            <a:off x="5029200" y="219456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4" name="Text 11"/>
          <p:cNvSpPr/>
          <p:nvPr/>
        </p:nvSpPr>
        <p:spPr>
          <a:xfrm>
            <a:off x="5157216" y="226771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Figures</a:t>
            </a:r>
            <a:endParaRPr lang="en-US" sz="1400" dirty="0"/>
          </a:p>
        </p:txBody>
      </p:sp>
      <p:sp>
        <p:nvSpPr>
          <p:cNvPr id="15" name="Text 12"/>
          <p:cNvSpPr/>
          <p:nvPr/>
        </p:nvSpPr>
        <p:spPr>
          <a:xfrm>
            <a:off x="5157216" y="259689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database query (SQL, read-only)</a:t>
            </a:r>
            <a:endParaRPr lang="en-US" sz="1150" dirty="0"/>
          </a:p>
        </p:txBody>
      </p:sp>
      <p:sp>
        <p:nvSpPr>
          <p:cNvPr id="16" name="Shape 13"/>
          <p:cNvSpPr/>
          <p:nvPr/>
        </p:nvSpPr>
        <p:spPr>
          <a:xfrm>
            <a:off x="5029200" y="324612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7" name="Text 14"/>
          <p:cNvSpPr/>
          <p:nvPr/>
        </p:nvSpPr>
        <p:spPr>
          <a:xfrm>
            <a:off x="5157216" y="331927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Future</a:t>
            </a:r>
            <a:endParaRPr lang="en-US" sz="1400" dirty="0"/>
          </a:p>
        </p:txBody>
      </p:sp>
      <p:sp>
        <p:nvSpPr>
          <p:cNvPr id="18" name="Text 15"/>
          <p:cNvSpPr/>
          <p:nvPr/>
        </p:nvSpPr>
        <p:spPr>
          <a:xfrm>
            <a:off x="5157216" y="364845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forecast: Prophet vs XGBoost</a:t>
            </a:r>
            <a:endParaRPr lang="en-US" sz="1150" dirty="0"/>
          </a:p>
        </p:txBody>
      </p:sp>
      <p:sp>
        <p:nvSpPr>
          <p:cNvPr id="19" name="Shape 16"/>
          <p:cNvSpPr/>
          <p:nvPr/>
        </p:nvSpPr>
        <p:spPr>
          <a:xfrm>
            <a:off x="5029200" y="4297680"/>
            <a:ext cx="3931920" cy="868680"/>
          </a:xfrm>
          <a:prstGeom prst="roundRect">
            <a:avLst>
              <a:gd name="adj" fmla="val 8421"/>
            </a:avLst>
          </a:prstGeom>
          <a:solidFill>
            <a:srgbClr val="FFE600"/>
          </a:solidFill>
          <a:ln/>
          <a:effectLst>
            <a:outerShdw sx="100000" sy="100000" kx="0" ky="0" algn="bl" rotWithShape="0" blurRad="76200" dist="25400" dir="5400000">
              <a:srgbClr val="000000">
                <a:alpha val="14000"/>
              </a:srgbClr>
            </a:outerShdw>
          </a:effectLst>
        </p:spPr>
      </p:sp>
      <p:sp>
        <p:nvSpPr>
          <p:cNvPr id="20" name="Text 17"/>
          <p:cNvSpPr/>
          <p:nvPr/>
        </p:nvSpPr>
        <p:spPr>
          <a:xfrm>
            <a:off x="5157216" y="437083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Regulation</a:t>
            </a:r>
            <a:endParaRPr lang="en-US" sz="1400" dirty="0"/>
          </a:p>
        </p:txBody>
      </p:sp>
      <p:sp>
        <p:nvSpPr>
          <p:cNvPr id="21" name="Text 18"/>
          <p:cNvSpPr/>
          <p:nvPr/>
        </p:nvSpPr>
        <p:spPr>
          <a:xfrm>
            <a:off x="5157216" y="470001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RAG on legal documents</a:t>
            </a:r>
            <a:endParaRPr lang="en-US" sz="1150" dirty="0"/>
          </a:p>
        </p:txBody>
      </p:sp>
      <p:sp>
        <p:nvSpPr>
          <p:cNvPr id="22" name="Shape 19"/>
          <p:cNvSpPr/>
          <p:nvPr/>
        </p:nvSpPr>
        <p:spPr>
          <a:xfrm>
            <a:off x="9509760" y="2788920"/>
            <a:ext cx="2130552"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23" name="Text 20"/>
          <p:cNvSpPr/>
          <p:nvPr/>
        </p:nvSpPr>
        <p:spPr>
          <a:xfrm>
            <a:off x="9637776" y="2862072"/>
            <a:ext cx="18745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4" name="Text 21"/>
          <p:cNvSpPr/>
          <p:nvPr/>
        </p:nvSpPr>
        <p:spPr>
          <a:xfrm>
            <a:off x="9637776" y="3191256"/>
            <a:ext cx="1874520"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and sources</a:t>
            </a:r>
            <a:endParaRPr lang="en-US" sz="1150" dirty="0"/>
          </a:p>
        </p:txBody>
      </p:sp>
      <p:sp>
        <p:nvSpPr>
          <p:cNvPr id="25" name="Shape 22"/>
          <p:cNvSpPr/>
          <p:nvPr/>
        </p:nvSpPr>
        <p:spPr>
          <a:xfrm>
            <a:off x="2286000" y="3291840"/>
            <a:ext cx="457200" cy="0"/>
          </a:xfrm>
          <a:prstGeom prst="line">
            <a:avLst/>
          </a:prstGeom>
          <a:noFill/>
          <a:ln w="22225">
            <a:solidFill>
              <a:srgbClr val="9A9CA5"/>
            </a:solidFill>
            <a:prstDash val="solid"/>
            <a:tailEnd type="triangle"/>
          </a:ln>
        </p:spPr>
      </p:sp>
      <p:sp>
        <p:nvSpPr>
          <p:cNvPr id="26" name="Shape 23"/>
          <p:cNvSpPr/>
          <p:nvPr/>
        </p:nvSpPr>
        <p:spPr>
          <a:xfrm flipV="1">
            <a:off x="4480560" y="2633472"/>
            <a:ext cx="548640" cy="658368"/>
          </a:xfrm>
          <a:prstGeom prst="line">
            <a:avLst/>
          </a:prstGeom>
          <a:noFill/>
          <a:ln w="22225">
            <a:solidFill>
              <a:srgbClr val="9A9CA5"/>
            </a:solidFill>
            <a:prstDash val="solid"/>
            <a:tailEnd type="triangle"/>
          </a:ln>
        </p:spPr>
      </p:sp>
      <p:sp>
        <p:nvSpPr>
          <p:cNvPr id="27" name="Shape 24"/>
          <p:cNvSpPr/>
          <p:nvPr/>
        </p:nvSpPr>
        <p:spPr>
          <a:xfrm>
            <a:off x="4480560" y="3291840"/>
            <a:ext cx="548640" cy="384048"/>
          </a:xfrm>
          <a:prstGeom prst="line">
            <a:avLst/>
          </a:prstGeom>
          <a:noFill/>
          <a:ln w="22225">
            <a:solidFill>
              <a:srgbClr val="9A9CA5"/>
            </a:solidFill>
            <a:prstDash val="solid"/>
            <a:tailEnd type="triangle"/>
          </a:ln>
        </p:spPr>
      </p:sp>
      <p:sp>
        <p:nvSpPr>
          <p:cNvPr id="28" name="Shape 25"/>
          <p:cNvSpPr/>
          <p:nvPr/>
        </p:nvSpPr>
        <p:spPr>
          <a:xfrm>
            <a:off x="4480560" y="3291840"/>
            <a:ext cx="548640" cy="1435608"/>
          </a:xfrm>
          <a:prstGeom prst="line">
            <a:avLst/>
          </a:prstGeom>
          <a:noFill/>
          <a:ln w="22225">
            <a:solidFill>
              <a:srgbClr val="9A9CA5"/>
            </a:solidFill>
            <a:prstDash val="solid"/>
            <a:tailEnd type="triangle"/>
          </a:ln>
        </p:spPr>
      </p:sp>
      <p:sp>
        <p:nvSpPr>
          <p:cNvPr id="29" name="Shape 26"/>
          <p:cNvSpPr/>
          <p:nvPr/>
        </p:nvSpPr>
        <p:spPr>
          <a:xfrm>
            <a:off x="8961120" y="2633472"/>
            <a:ext cx="548640" cy="475488"/>
          </a:xfrm>
          <a:prstGeom prst="line">
            <a:avLst/>
          </a:prstGeom>
          <a:noFill/>
          <a:ln w="22225">
            <a:solidFill>
              <a:srgbClr val="9A9CA5"/>
            </a:solidFill>
            <a:prstDash val="solid"/>
            <a:tailEnd type="triangle"/>
          </a:ln>
        </p:spPr>
      </p:sp>
      <p:sp>
        <p:nvSpPr>
          <p:cNvPr id="30" name="Shape 27"/>
          <p:cNvSpPr/>
          <p:nvPr/>
        </p:nvSpPr>
        <p:spPr>
          <a:xfrm flipV="1">
            <a:off x="8961120" y="3291840"/>
            <a:ext cx="548640" cy="384048"/>
          </a:xfrm>
          <a:prstGeom prst="line">
            <a:avLst/>
          </a:prstGeom>
          <a:noFill/>
          <a:ln w="22225">
            <a:solidFill>
              <a:srgbClr val="9A9CA5"/>
            </a:solidFill>
            <a:prstDash val="solid"/>
            <a:tailEnd type="triangle"/>
          </a:ln>
        </p:spPr>
      </p:sp>
      <p:sp>
        <p:nvSpPr>
          <p:cNvPr id="31" name="Shape 28"/>
          <p:cNvSpPr/>
          <p:nvPr/>
        </p:nvSpPr>
        <p:spPr>
          <a:xfrm flipV="1">
            <a:off x="8961120" y="3474720"/>
            <a:ext cx="548640" cy="1252728"/>
          </a:xfrm>
          <a:prstGeom prst="line">
            <a:avLst/>
          </a:prstGeom>
          <a:noFill/>
          <a:ln w="22225">
            <a:solidFill>
              <a:srgbClr val="9A9CA5"/>
            </a:solidFill>
            <a:prstDash val="solid"/>
            <a:tailEnd type="triangle"/>
          </a:ln>
        </p:spPr>
      </p:sp>
      <p:sp>
        <p:nvSpPr>
          <p:cNvPr id="32" name="Text 29"/>
          <p:cNvSpPr/>
          <p:nvPr/>
        </p:nvSpPr>
        <p:spPr>
          <a:xfrm>
            <a:off x="548640" y="5303520"/>
            <a:ext cx="36576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RAG IN 3 STEPS</a:t>
            </a:r>
            <a:endParaRPr lang="en-US" sz="1100" dirty="0"/>
          </a:p>
        </p:txBody>
      </p:sp>
      <p:sp>
        <p:nvSpPr>
          <p:cNvPr id="33" name="Shape 30"/>
          <p:cNvSpPr/>
          <p:nvPr/>
        </p:nvSpPr>
        <p:spPr>
          <a:xfrm>
            <a:off x="548640" y="5577840"/>
            <a:ext cx="3520440" cy="914400"/>
          </a:xfrm>
          <a:prstGeom prst="roundRect">
            <a:avLst>
              <a:gd name="adj" fmla="val 8000"/>
            </a:avLst>
          </a:prstGeom>
          <a:solidFill>
            <a:srgbClr val="FFFFFF"/>
          </a:solidFill>
          <a:ln w="19050">
            <a:solidFill>
              <a:srgbClr val="484B54"/>
            </a:solidFill>
            <a:prstDash val="solid"/>
          </a:ln>
        </p:spPr>
      </p:sp>
      <p:sp>
        <p:nvSpPr>
          <p:cNvPr id="34" name="Text 31"/>
          <p:cNvSpPr/>
          <p:nvPr/>
        </p:nvSpPr>
        <p:spPr>
          <a:xfrm>
            <a:off x="685800"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1  Retrieve</a:t>
            </a:r>
            <a:endParaRPr lang="en-US" sz="1350" dirty="0"/>
          </a:p>
        </p:txBody>
      </p:sp>
      <p:sp>
        <p:nvSpPr>
          <p:cNvPr id="35" name="Text 32"/>
          <p:cNvSpPr/>
          <p:nvPr/>
        </p:nvSpPr>
        <p:spPr>
          <a:xfrm>
            <a:off x="685800"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best passages among 11 legal texts and 106 CGA report extracts</a:t>
            </a:r>
            <a:endParaRPr lang="en-US" sz="1200" dirty="0"/>
          </a:p>
        </p:txBody>
      </p:sp>
      <p:sp>
        <p:nvSpPr>
          <p:cNvPr id="36" name="Shape 33"/>
          <p:cNvSpPr/>
          <p:nvPr/>
        </p:nvSpPr>
        <p:spPr>
          <a:xfrm>
            <a:off x="4096512" y="6035040"/>
            <a:ext cx="210312" cy="0"/>
          </a:xfrm>
          <a:prstGeom prst="line">
            <a:avLst/>
          </a:prstGeom>
          <a:noFill/>
          <a:ln w="22225">
            <a:solidFill>
              <a:srgbClr val="9A9CA5"/>
            </a:solidFill>
            <a:prstDash val="solid"/>
            <a:tailEnd type="triangle"/>
          </a:ln>
        </p:spPr>
      </p:sp>
      <p:sp>
        <p:nvSpPr>
          <p:cNvPr id="37" name="Shape 34"/>
          <p:cNvSpPr/>
          <p:nvPr/>
        </p:nvSpPr>
        <p:spPr>
          <a:xfrm>
            <a:off x="4334256" y="5577840"/>
            <a:ext cx="3520440" cy="914400"/>
          </a:xfrm>
          <a:prstGeom prst="roundRect">
            <a:avLst>
              <a:gd name="adj" fmla="val 8000"/>
            </a:avLst>
          </a:prstGeom>
          <a:solidFill>
            <a:srgbClr val="FFFFFF"/>
          </a:solidFill>
          <a:ln w="19050">
            <a:solidFill>
              <a:srgbClr val="484B54"/>
            </a:solidFill>
            <a:prstDash val="solid"/>
          </a:ln>
        </p:spPr>
      </p:sp>
      <p:sp>
        <p:nvSpPr>
          <p:cNvPr id="38" name="Text 35"/>
          <p:cNvSpPr/>
          <p:nvPr/>
        </p:nvSpPr>
        <p:spPr>
          <a:xfrm>
            <a:off x="4471416"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2  Read</a:t>
            </a:r>
            <a:endParaRPr lang="en-US" sz="1350" dirty="0"/>
          </a:p>
        </p:txBody>
      </p:sp>
      <p:sp>
        <p:nvSpPr>
          <p:cNvPr id="39" name="Text 36"/>
          <p:cNvSpPr/>
          <p:nvPr/>
        </p:nvSpPr>
        <p:spPr>
          <a:xfrm>
            <a:off x="4471416"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only these passages</a:t>
            </a:r>
            <a:endParaRPr lang="en-US" sz="1200" dirty="0"/>
          </a:p>
        </p:txBody>
      </p:sp>
      <p:sp>
        <p:nvSpPr>
          <p:cNvPr id="40" name="Shape 37"/>
          <p:cNvSpPr/>
          <p:nvPr/>
        </p:nvSpPr>
        <p:spPr>
          <a:xfrm>
            <a:off x="7882128" y="6035040"/>
            <a:ext cx="210312" cy="0"/>
          </a:xfrm>
          <a:prstGeom prst="line">
            <a:avLst/>
          </a:prstGeom>
          <a:noFill/>
          <a:ln w="22225">
            <a:solidFill>
              <a:srgbClr val="9A9CA5"/>
            </a:solidFill>
            <a:prstDash val="solid"/>
            <a:tailEnd type="triangle"/>
          </a:ln>
        </p:spPr>
      </p:sp>
      <p:sp>
        <p:nvSpPr>
          <p:cNvPr id="41" name="Shape 38"/>
          <p:cNvSpPr/>
          <p:nvPr/>
        </p:nvSpPr>
        <p:spPr>
          <a:xfrm>
            <a:off x="8119872" y="5577840"/>
            <a:ext cx="3520440" cy="914400"/>
          </a:xfrm>
          <a:prstGeom prst="roundRect">
            <a:avLst>
              <a:gd name="adj" fmla="val 8000"/>
            </a:avLst>
          </a:prstGeom>
          <a:solidFill>
            <a:srgbClr val="FFFFFF"/>
          </a:solidFill>
          <a:ln w="19050">
            <a:solidFill>
              <a:srgbClr val="484B54"/>
            </a:solidFill>
            <a:prstDash val="solid"/>
          </a:ln>
        </p:spPr>
      </p:sp>
      <p:sp>
        <p:nvSpPr>
          <p:cNvPr id="42" name="Text 39"/>
          <p:cNvSpPr/>
          <p:nvPr/>
        </p:nvSpPr>
        <p:spPr>
          <a:xfrm>
            <a:off x="8257032"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3  Answer</a:t>
            </a:r>
            <a:endParaRPr lang="en-US" sz="1350" dirty="0"/>
          </a:p>
        </p:txBody>
      </p:sp>
      <p:sp>
        <p:nvSpPr>
          <p:cNvPr id="43" name="Text 40"/>
          <p:cNvSpPr/>
          <p:nvPr/>
        </p:nvSpPr>
        <p:spPr>
          <a:xfrm>
            <a:off x="8257032"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with cited sources, or says the answer is not in the documents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Anomaly report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Dozens of anomalies are detected each year (37 to 84); a consultant needs a short, reliable report, not a list.</a:t>
            </a:r>
            <a:endParaRPr lang="en-US" sz="1400" dirty="0"/>
          </a:p>
        </p:txBody>
      </p:sp>
      <p:sp>
        <p:nvSpPr>
          <p:cNvPr id="10" name="Shape 7"/>
          <p:cNvSpPr/>
          <p:nvPr/>
        </p:nvSpPr>
        <p:spPr>
          <a:xfrm>
            <a:off x="548640"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Rules audit the extracted data and list the anomalies.</a:t>
            </a:r>
            <a:endParaRPr lang="en-US" sz="1250" dirty="0"/>
          </a:p>
        </p:txBody>
      </p:sp>
      <p:sp>
        <p:nvSpPr>
          <p:cNvPr id="15" name="Shape 12"/>
          <p:cNvSpPr/>
          <p:nvPr/>
        </p:nvSpPr>
        <p:spPr>
          <a:xfrm>
            <a:off x="2496312" y="4018788"/>
            <a:ext cx="310896" cy="0"/>
          </a:xfrm>
          <a:prstGeom prst="line">
            <a:avLst/>
          </a:prstGeom>
          <a:noFill/>
          <a:ln w="22225">
            <a:solidFill>
              <a:srgbClr val="9A9CA5"/>
            </a:solidFill>
            <a:prstDash val="solid"/>
            <a:tailEnd type="triangle"/>
          </a:ln>
        </p:spPr>
      </p:sp>
      <p:sp>
        <p:nvSpPr>
          <p:cNvPr id="16" name="Shape 13"/>
          <p:cNvSpPr/>
          <p:nvPr/>
        </p:nvSpPr>
        <p:spPr>
          <a:xfrm>
            <a:off x="2843784"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2980944" y="3264408"/>
            <a:ext cx="365760" cy="365760"/>
          </a:xfrm>
          <a:prstGeom prst="ellipse">
            <a:avLst/>
          </a:prstGeom>
          <a:solidFill>
            <a:srgbClr val="FFE600"/>
          </a:solidFill>
          <a:ln/>
        </p:spPr>
      </p:sp>
      <p:sp>
        <p:nvSpPr>
          <p:cNvPr id="18" name="Text 15"/>
          <p:cNvSpPr/>
          <p:nvPr/>
        </p:nvSpPr>
        <p:spPr>
          <a:xfrm>
            <a:off x="2980944"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3438144"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Summarise</a:t>
            </a:r>
            <a:endParaRPr lang="en-US" sz="1500" dirty="0"/>
          </a:p>
        </p:txBody>
      </p:sp>
      <p:sp>
        <p:nvSpPr>
          <p:cNvPr id="20" name="Text 17"/>
          <p:cNvSpPr/>
          <p:nvPr/>
        </p:nvSpPr>
        <p:spPr>
          <a:xfrm>
            <a:off x="3008376"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Counts, severity, most affected KPIs and a sample of real causes.</a:t>
            </a:r>
            <a:endParaRPr lang="en-US" sz="1250" dirty="0"/>
          </a:p>
        </p:txBody>
      </p:sp>
      <p:sp>
        <p:nvSpPr>
          <p:cNvPr id="21" name="Shape 18"/>
          <p:cNvSpPr/>
          <p:nvPr/>
        </p:nvSpPr>
        <p:spPr>
          <a:xfrm>
            <a:off x="4791456" y="4018788"/>
            <a:ext cx="310896" cy="0"/>
          </a:xfrm>
          <a:prstGeom prst="line">
            <a:avLst/>
          </a:prstGeom>
          <a:noFill/>
          <a:ln w="22225">
            <a:solidFill>
              <a:srgbClr val="9A9CA5"/>
            </a:solidFill>
            <a:prstDash val="solid"/>
            <a:tailEnd type="triangle"/>
          </a:ln>
        </p:spPr>
      </p:sp>
      <p:sp>
        <p:nvSpPr>
          <p:cNvPr id="22" name="Shape 19"/>
          <p:cNvSpPr/>
          <p:nvPr/>
        </p:nvSpPr>
        <p:spPr>
          <a:xfrm>
            <a:off x="5138928"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5276088" y="3264408"/>
            <a:ext cx="365760" cy="365760"/>
          </a:xfrm>
          <a:prstGeom prst="ellipse">
            <a:avLst/>
          </a:prstGeom>
          <a:solidFill>
            <a:srgbClr val="FFE600"/>
          </a:solidFill>
          <a:ln/>
        </p:spPr>
      </p:sp>
      <p:sp>
        <p:nvSpPr>
          <p:cNvPr id="24" name="Text 21"/>
          <p:cNvSpPr/>
          <p:nvPr/>
        </p:nvSpPr>
        <p:spPr>
          <a:xfrm>
            <a:off x="5276088"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5733288"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5303520"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drafts summary, trends and 3 recommendations (300 words max).</a:t>
            </a:r>
            <a:endParaRPr lang="en-US" sz="1250" dirty="0"/>
          </a:p>
        </p:txBody>
      </p:sp>
      <p:sp>
        <p:nvSpPr>
          <p:cNvPr id="27" name="Shape 24"/>
          <p:cNvSpPr/>
          <p:nvPr/>
        </p:nvSpPr>
        <p:spPr>
          <a:xfrm>
            <a:off x="7086600" y="4018788"/>
            <a:ext cx="310896" cy="0"/>
          </a:xfrm>
          <a:prstGeom prst="line">
            <a:avLst/>
          </a:prstGeom>
          <a:noFill/>
          <a:ln w="22225">
            <a:solidFill>
              <a:srgbClr val="9A9CA5"/>
            </a:solidFill>
            <a:prstDash val="solid"/>
            <a:tailEnd type="triangle"/>
          </a:ln>
        </p:spPr>
      </p:sp>
      <p:sp>
        <p:nvSpPr>
          <p:cNvPr id="28" name="Shape 25"/>
          <p:cNvSpPr/>
          <p:nvPr/>
        </p:nvSpPr>
        <p:spPr>
          <a:xfrm>
            <a:off x="7434072"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7571232" y="3264408"/>
            <a:ext cx="365760" cy="365760"/>
          </a:xfrm>
          <a:prstGeom prst="ellipse">
            <a:avLst/>
          </a:prstGeom>
          <a:solidFill>
            <a:srgbClr val="FFE600"/>
          </a:solidFill>
          <a:ln/>
        </p:spPr>
      </p:sp>
      <p:sp>
        <p:nvSpPr>
          <p:cNvPr id="30" name="Text 27"/>
          <p:cNvSpPr/>
          <p:nvPr/>
        </p:nvSpPr>
        <p:spPr>
          <a:xfrm>
            <a:off x="7571232"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8028432"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7598664"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Any number that is not in the facts: the text is rejected.</a:t>
            </a:r>
            <a:endParaRPr lang="en-US" sz="1250" dirty="0"/>
          </a:p>
        </p:txBody>
      </p:sp>
      <p:sp>
        <p:nvSpPr>
          <p:cNvPr id="33" name="Shape 30"/>
          <p:cNvSpPr/>
          <p:nvPr/>
        </p:nvSpPr>
        <p:spPr>
          <a:xfrm>
            <a:off x="9381744" y="4018788"/>
            <a:ext cx="310896" cy="0"/>
          </a:xfrm>
          <a:prstGeom prst="line">
            <a:avLst/>
          </a:prstGeom>
          <a:noFill/>
          <a:ln w="22225">
            <a:solidFill>
              <a:srgbClr val="9A9CA5"/>
            </a:solidFill>
            <a:prstDash val="solid"/>
            <a:tailEnd type="triangle"/>
          </a:ln>
        </p:spPr>
      </p:sp>
      <p:sp>
        <p:nvSpPr>
          <p:cNvPr id="34" name="Shape 31"/>
          <p:cNvSpPr/>
          <p:nvPr/>
        </p:nvSpPr>
        <p:spPr>
          <a:xfrm>
            <a:off x="9729216"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35" name="Shape 32"/>
          <p:cNvSpPr/>
          <p:nvPr/>
        </p:nvSpPr>
        <p:spPr>
          <a:xfrm>
            <a:off x="9866376" y="3264408"/>
            <a:ext cx="365760" cy="365760"/>
          </a:xfrm>
          <a:prstGeom prst="ellipse">
            <a:avLst/>
          </a:prstGeom>
          <a:solidFill>
            <a:srgbClr val="FFE600"/>
          </a:solidFill>
          <a:ln/>
        </p:spPr>
      </p:sp>
      <p:sp>
        <p:nvSpPr>
          <p:cNvPr id="36" name="Text 33"/>
          <p:cNvSpPr/>
          <p:nvPr/>
        </p:nvSpPr>
        <p:spPr>
          <a:xfrm>
            <a:off x="9866376"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5</a:t>
            </a:r>
            <a:endParaRPr lang="en-US" sz="1300" dirty="0"/>
          </a:p>
        </p:txBody>
      </p:sp>
      <p:sp>
        <p:nvSpPr>
          <p:cNvPr id="37" name="Text 34"/>
          <p:cNvSpPr/>
          <p:nvPr/>
        </p:nvSpPr>
        <p:spPr>
          <a:xfrm>
            <a:off x="10323576"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Assemble</a:t>
            </a:r>
            <a:endParaRPr lang="en-US" sz="1500" dirty="0"/>
          </a:p>
        </p:txBody>
      </p:sp>
      <p:sp>
        <p:nvSpPr>
          <p:cNvPr id="38" name="Text 35"/>
          <p:cNvSpPr/>
          <p:nvPr/>
        </p:nvSpPr>
        <p:spPr>
          <a:xfrm>
            <a:off x="9893808"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Narrative + computed tables; a fixed template if rejected.</a:t>
            </a:r>
            <a:endParaRPr lang="en-US" sz="1250" dirty="0"/>
          </a:p>
        </p:txBody>
      </p:sp>
      <p:sp>
        <p:nvSpPr>
          <p:cNvPr id="39" name="Text 36"/>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40" name="Shape 37"/>
          <p:cNvSpPr/>
          <p:nvPr/>
        </p:nvSpPr>
        <p:spPr>
          <a:xfrm>
            <a:off x="548640" y="5431536"/>
            <a:ext cx="1854403" cy="365760"/>
          </a:xfrm>
          <a:prstGeom prst="roundRect">
            <a:avLst>
              <a:gd name="adj" fmla="val 50000"/>
            </a:avLst>
          </a:prstGeom>
          <a:solidFill>
            <a:srgbClr val="FFE600"/>
          </a:solidFill>
          <a:ln/>
        </p:spPr>
      </p:sp>
      <p:sp>
        <p:nvSpPr>
          <p:cNvPr id="41" name="Text 38"/>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42" name="Shape 39"/>
          <p:cNvSpPr/>
          <p:nvPr/>
        </p:nvSpPr>
        <p:spPr>
          <a:xfrm>
            <a:off x="2531059" y="5431536"/>
            <a:ext cx="1265530" cy="365760"/>
          </a:xfrm>
          <a:prstGeom prst="roundRect">
            <a:avLst>
              <a:gd name="adj" fmla="val 50000"/>
            </a:avLst>
          </a:prstGeom>
          <a:solidFill>
            <a:srgbClr val="FFE600"/>
          </a:solidFill>
          <a:ln/>
        </p:spPr>
      </p:sp>
      <p:sp>
        <p:nvSpPr>
          <p:cNvPr id="43" name="Text 40"/>
          <p:cNvSpPr/>
          <p:nvPr/>
        </p:nvSpPr>
        <p:spPr>
          <a:xfrm>
            <a:off x="2531059"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44" name="Shape 41"/>
          <p:cNvSpPr/>
          <p:nvPr/>
        </p:nvSpPr>
        <p:spPr>
          <a:xfrm>
            <a:off x="3924605" y="5431536"/>
            <a:ext cx="1265530" cy="365760"/>
          </a:xfrm>
          <a:prstGeom prst="roundRect">
            <a:avLst>
              <a:gd name="adj" fmla="val 50000"/>
            </a:avLst>
          </a:prstGeom>
          <a:solidFill>
            <a:srgbClr val="FFE600"/>
          </a:solidFill>
          <a:ln/>
        </p:spPr>
      </p:sp>
      <p:sp>
        <p:nvSpPr>
          <p:cNvPr id="45" name="Text 42"/>
          <p:cNvSpPr/>
          <p:nvPr/>
        </p:nvSpPr>
        <p:spPr>
          <a:xfrm>
            <a:off x="3924605"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6" name="Shape 43"/>
          <p:cNvSpPr/>
          <p:nvPr/>
        </p:nvSpPr>
        <p:spPr>
          <a:xfrm>
            <a:off x="6400800" y="5074920"/>
            <a:ext cx="5239512" cy="1188720"/>
          </a:xfrm>
          <a:prstGeom prst="roundRect">
            <a:avLst>
              <a:gd name="adj" fmla="val 6154"/>
            </a:avLst>
          </a:prstGeom>
          <a:solidFill>
            <a:srgbClr val="484B54"/>
          </a:solidFill>
          <a:ln/>
        </p:spPr>
      </p:sp>
      <p:sp>
        <p:nvSpPr>
          <p:cNvPr id="47" name="Text 44"/>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8" name="Text 45"/>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story is written by the LLM, but the tables are computed and every figure is verified: the report cannot invent numbers.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Explain a figure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consultant sees a number and asks: is it good? compared to what? An answer must be explained and never invented.</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Ask</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In the KPI menu: “Expliquer ce chiffre”.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Compute the facts</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SQL gives value, change vs last year, sector average, rank.</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writes 2 to 4 sentences from these facts only.</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 unknown number: a fixed template replaces the text.</a:t>
            </a:r>
            <a:endParaRPr lang="en-US" sz="1250" dirty="0"/>
          </a:p>
        </p:txBody>
      </p:sp>
      <p:sp>
        <p:nvSpPr>
          <p:cNvPr id="33" name="Text 30"/>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431536"/>
            <a:ext cx="1854403" cy="365760"/>
          </a:xfrm>
          <a:prstGeom prst="roundRect">
            <a:avLst>
              <a:gd name="adj" fmla="val 50000"/>
            </a:avLst>
          </a:prstGeom>
          <a:solidFill>
            <a:srgbClr val="FFE600"/>
          </a:solidFill>
          <a:ln/>
        </p:spPr>
      </p:sp>
      <p:sp>
        <p:nvSpPr>
          <p:cNvPr id="35" name="Text 32"/>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36" name="Shape 33"/>
          <p:cNvSpPr/>
          <p:nvPr/>
        </p:nvSpPr>
        <p:spPr>
          <a:xfrm>
            <a:off x="2531059" y="5431536"/>
            <a:ext cx="508406" cy="365760"/>
          </a:xfrm>
          <a:prstGeom prst="roundRect">
            <a:avLst>
              <a:gd name="adj" fmla="val 50000"/>
            </a:avLst>
          </a:prstGeom>
          <a:solidFill>
            <a:srgbClr val="FFE600"/>
          </a:solidFill>
          <a:ln/>
        </p:spPr>
      </p:sp>
      <p:sp>
        <p:nvSpPr>
          <p:cNvPr id="37" name="Text 34"/>
          <p:cNvSpPr/>
          <p:nvPr/>
        </p:nvSpPr>
        <p:spPr>
          <a:xfrm>
            <a:off x="2531059" y="5431536"/>
            <a:ext cx="5084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SQL</a:t>
            </a:r>
            <a:endParaRPr lang="en-US" sz="1150" dirty="0"/>
          </a:p>
        </p:txBody>
      </p:sp>
      <p:sp>
        <p:nvSpPr>
          <p:cNvPr id="38" name="Shape 35"/>
          <p:cNvSpPr/>
          <p:nvPr/>
        </p:nvSpPr>
        <p:spPr>
          <a:xfrm>
            <a:off x="3167482" y="5431536"/>
            <a:ext cx="1265530" cy="365760"/>
          </a:xfrm>
          <a:prstGeom prst="roundRect">
            <a:avLst>
              <a:gd name="adj" fmla="val 50000"/>
            </a:avLst>
          </a:prstGeom>
          <a:solidFill>
            <a:srgbClr val="FFE600"/>
          </a:solidFill>
          <a:ln/>
        </p:spPr>
      </p:sp>
      <p:sp>
        <p:nvSpPr>
          <p:cNvPr id="39" name="Text 36"/>
          <p:cNvSpPr/>
          <p:nvPr/>
        </p:nvSpPr>
        <p:spPr>
          <a:xfrm>
            <a:off x="3167482"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EXAMPLE</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Résultat technique · STAR 2024: 14,3 M TND, +212 % vs 2023 (from a negative base), sector average 16,4 M, rank 7 of 17.</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Predictive AI · Prophet vs XGBoost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Which model forecasts a KPI best? It depends on the KPI and the company, so the platform lets the models compete, every time.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Train</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Prophet and XGBoost learn from the yearly history of the KPI.</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Test</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Time-series cross-validation: train on the past, predict the next year.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Select</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Lowest error score (MAPE, RMSE) wins — no model is favoured in advance.</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Explain</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Forecast + explanation (SHAP or trend decomposition). If no history, linear regression.</a:t>
            </a:r>
            <a:endParaRPr lang="en-US" sz="1250" dirty="0"/>
          </a:p>
        </p:txBody>
      </p:sp>
      <p:sp>
        <p:nvSpPr>
          <p:cNvPr id="33" name="Shape 30"/>
          <p:cNvSpPr/>
          <p:nvPr/>
        </p:nvSpPr>
        <p:spPr>
          <a:xfrm>
            <a:off x="548640" y="5257800"/>
            <a:ext cx="11091672" cy="1005840"/>
          </a:xfrm>
          <a:prstGeom prst="roundRect">
            <a:avLst>
              <a:gd name="adj" fmla="val 7273"/>
            </a:avLst>
          </a:prstGeom>
          <a:solidFill>
            <a:srgbClr val="484B54"/>
          </a:solidFill>
          <a:ln/>
        </p:spPr>
      </p:sp>
      <p:sp>
        <p:nvSpPr>
          <p:cNvPr id="34" name="Text 31"/>
          <p:cNvSpPr/>
          <p:nvPr/>
        </p:nvSpPr>
        <p:spPr>
          <a:xfrm>
            <a:off x="777240" y="532180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35" name="Text 32"/>
          <p:cNvSpPr/>
          <p:nvPr/>
        </p:nvSpPr>
        <p:spPr>
          <a:xfrm>
            <a:off x="777240" y="5577840"/>
            <a:ext cx="10607040" cy="5943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The winner is never fixed in the code: it is decided fresh for each KPI and each company, from real cross-validation scores. Next: two real, opposite outcomes.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Predictive AI · Real evidence, both ways  -</a:t>
            </a:r>
            <a:endParaRPr lang="en-US" sz="2200" dirty="0"/>
          </a:p>
        </p:txBody>
      </p:sp>
      <p:sp>
        <p:nvSpPr>
          <p:cNvPr id="7" name="Shape 4"/>
          <p:cNvSpPr/>
          <p:nvPr/>
        </p:nvSpPr>
        <p:spPr>
          <a:xfrm>
            <a:off x="548640" y="2148840"/>
            <a:ext cx="5394960" cy="135953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8" name="Image 1" descr="C:/Users/HP/Desktop/SCRAPING/docs/scratch/star/crops/pred_xgb.png">    </p:cNvPr>
          <p:cNvPicPr>
            <a:picLocks noChangeAspect="1"/>
          </p:cNvPicPr>
          <p:nvPr/>
        </p:nvPicPr>
        <p:blipFill>
          <a:blip r:embed="rId2"/>
          <a:stretch>
            <a:fillRect/>
          </a:stretch>
        </p:blipFill>
        <p:spPr>
          <a:xfrm>
            <a:off x="548640" y="2148840"/>
            <a:ext cx="5394960" cy="1359530"/>
          </a:xfrm>
          <a:prstGeom prst="rect">
            <a:avLst/>
          </a:prstGeom>
        </p:spPr>
      </p:pic>
      <p:sp>
        <p:nvSpPr>
          <p:cNvPr id="9" name="Text 5"/>
          <p:cNvSpPr/>
          <p:nvPr/>
        </p:nvSpPr>
        <p:spPr>
          <a:xfrm>
            <a:off x="548640" y="3599810"/>
            <a:ext cx="5394960" cy="502920"/>
          </a:xfrm>
          <a:prstGeom prst="rect">
            <a:avLst/>
          </a:prstGeom>
          <a:noFill/>
          <a:ln/>
        </p:spPr>
        <p:txBody>
          <a:bodyPr wrap="square" lIns="0" tIns="0" rIns="0" bIns="0" rtlCol="0" anchor="t"/>
          <a:lstStyle/>
          <a:p>
            <a:pPr indent="0" marL="0">
              <a:buNone/>
            </a:pPr>
            <a:r>
              <a:rPr lang="en-US" sz="1150" i="1" dirty="0">
                <a:solidFill>
                  <a:srgbClr val="8B8B90"/>
                </a:solidFill>
                <a:latin typeface="Calibri" pitchFamily="34" charset="0"/>
                <a:ea typeface="Calibri" pitchFamily="34" charset="-122"/>
                <a:cs typeface="Calibri" pitchFamily="34" charset="-120"/>
              </a:rPr>
              <a:t>XGBoost wins · Résultat Net, STAR — sharp year-to-year swings, sign changes</a:t>
            </a:r>
            <a:endParaRPr lang="en-US" sz="1150" dirty="0"/>
          </a:p>
        </p:txBody>
      </p:sp>
      <p:sp>
        <p:nvSpPr>
          <p:cNvPr id="10" name="Shape 6"/>
          <p:cNvSpPr/>
          <p:nvPr/>
        </p:nvSpPr>
        <p:spPr>
          <a:xfrm>
            <a:off x="6245352" y="2148840"/>
            <a:ext cx="5394960" cy="135953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11" name="Image 2" descr="C:/Users/HP/Desktop/SCRAPING/docs/scratch/star/crops/pred_pro.png">    </p:cNvPr>
          <p:cNvPicPr>
            <a:picLocks noChangeAspect="1"/>
          </p:cNvPicPr>
          <p:nvPr/>
        </p:nvPicPr>
        <p:blipFill>
          <a:blip r:embed="rId3"/>
          <a:stretch>
            <a:fillRect/>
          </a:stretch>
        </p:blipFill>
        <p:spPr>
          <a:xfrm>
            <a:off x="6245352" y="2148840"/>
            <a:ext cx="5394960" cy="1359530"/>
          </a:xfrm>
          <a:prstGeom prst="rect">
            <a:avLst/>
          </a:prstGeom>
        </p:spPr>
      </p:pic>
      <p:sp>
        <p:nvSpPr>
          <p:cNvPr id="12" name="Text 7"/>
          <p:cNvSpPr/>
          <p:nvPr/>
        </p:nvSpPr>
        <p:spPr>
          <a:xfrm>
            <a:off x="6245352" y="3599810"/>
            <a:ext cx="5394960" cy="502920"/>
          </a:xfrm>
          <a:prstGeom prst="rect">
            <a:avLst/>
          </a:prstGeom>
          <a:noFill/>
          <a:ln/>
        </p:spPr>
        <p:txBody>
          <a:bodyPr wrap="square" lIns="0" tIns="0" rIns="0" bIns="0" rtlCol="0" anchor="t"/>
          <a:lstStyle/>
          <a:p>
            <a:pPr indent="0" marL="0">
              <a:buNone/>
            </a:pPr>
            <a:r>
              <a:rPr lang="en-US" sz="1150" i="1" dirty="0">
                <a:solidFill>
                  <a:srgbClr val="8B8B90"/>
                </a:solidFill>
                <a:latin typeface="Calibri" pitchFamily="34" charset="0"/>
                <a:ea typeface="Calibri" pitchFamily="34" charset="-122"/>
                <a:cs typeface="Calibri" pitchFamily="34" charset="-120"/>
              </a:rPr>
              <a:t>Prophet wins · Total actif, COMAR — smooth, regular year-over-year growth</a:t>
            </a:r>
            <a:endParaRPr lang="en-US" sz="1150" dirty="0"/>
          </a:p>
        </p:txBody>
      </p:sp>
      <p:sp>
        <p:nvSpPr>
          <p:cNvPr id="13" name="Text 8"/>
          <p:cNvSpPr/>
          <p:nvPr/>
        </p:nvSpPr>
        <p:spPr>
          <a:xfrm>
            <a:off x="548640" y="4130162"/>
            <a:ext cx="11091672" cy="256032"/>
          </a:xfrm>
          <a:prstGeom prst="rect">
            <a:avLst/>
          </a:prstGeom>
          <a:noFill/>
          <a:ln/>
        </p:spPr>
        <p:txBody>
          <a:bodyPr wrap="square" lIns="0" tIns="0" rIns="0" bIns="0" rtlCol="0" anchor="ctr"/>
          <a:lstStyle/>
          <a:p>
            <a:pPr indent="0" marL="0">
              <a:buNone/>
            </a:pPr>
            <a:r>
              <a:rPr lang="en-US" sz="1000" i="1" dirty="0">
                <a:solidFill>
                  <a:srgbClr val="8B8B90"/>
                </a:solidFill>
                <a:latin typeface="Calibri" pitchFamily="34" charset="0"/>
                <a:ea typeface="Calibri" pitchFamily="34" charset="-122"/>
                <a:cs typeface="Calibri" pitchFamily="34" charset="-120"/>
              </a:rPr>
              <a:t>Both cards: rendered from the real ForecastService output (cross-validation scores), not a platform screenshot.</a:t>
            </a:r>
            <a:endParaRPr lang="en-US" sz="1000" dirty="0"/>
          </a:p>
        </p:txBody>
      </p:sp>
      <p:sp>
        <p:nvSpPr>
          <p:cNvPr id="14" name="Shape 9"/>
          <p:cNvSpPr/>
          <p:nvPr/>
        </p:nvSpPr>
        <p:spPr>
          <a:xfrm>
            <a:off x="548640" y="4441058"/>
            <a:ext cx="11091672" cy="1051560"/>
          </a:xfrm>
          <a:prstGeom prst="roundRect">
            <a:avLst>
              <a:gd name="adj" fmla="val 6957"/>
            </a:avLst>
          </a:prstGeom>
          <a:solidFill>
            <a:srgbClr val="484B54"/>
          </a:solidFill>
          <a:ln/>
        </p:spPr>
      </p:sp>
      <p:sp>
        <p:nvSpPr>
          <p:cNvPr id="15" name="Text 10"/>
          <p:cNvSpPr/>
          <p:nvPr/>
        </p:nvSpPr>
        <p:spPr>
          <a:xfrm>
            <a:off x="777240" y="4514210"/>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WHY IT FLIPS</a:t>
            </a:r>
            <a:endParaRPr lang="en-US" sz="1100" dirty="0"/>
          </a:p>
        </p:txBody>
      </p:sp>
      <p:sp>
        <p:nvSpPr>
          <p:cNvPr id="16" name="Text 11"/>
          <p:cNvSpPr/>
          <p:nvPr/>
        </p:nvSpPr>
        <p:spPr>
          <a:xfrm>
            <a:off x="777240" y="4770242"/>
            <a:ext cx="10607040" cy="6400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XGBoost wins on volatile, irregular series (it learns from recent shocks). Prophet wins on smooth, trending series (it models the trend directly). Neither model is preferred by the code — the scores decide.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2026-09-23T18:34:17Z</dcterms:created>
  <dcterms:modified xsi:type="dcterms:W3CDTF">2026-09-23T18:34:17Z</dcterms:modified>
</cp:coreProperties>
</file>