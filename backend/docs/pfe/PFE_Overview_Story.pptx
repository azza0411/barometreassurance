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pipeline has five steps, and each one is mapped to a phase of the CRISP-DM methodology. To make it concrete, I follow one real figure through the five steps: the total assets, Total actif, of STAR for 2025, 1,661,612,773 dinars. One: Collect. We get the reports from seven public sources and one internal source; here is the STAR financial statements as published on the CMF website. Two: Extract. We read the tables of the report. The balance sheet on page 2 is a scanned page, so it is read with OCR, and the Net cell of the Total de l'actif row gives our figure; the column on its right, 1,571 million, is the previous year. Three: Model. The stored cells become KPIs, each with one single definition: here, the Data Quality page shows the premiums and the ratios of STAR for 2025, and the total assets as an extracted value. Four: Verify. The numbers are checked with accounting identities; here the platform flagged an anomaly on this very figure, because the total assets do not equal the equity plus the liabilities, with the probable cause and a recommendation to check the source PDF. That is exactly the role of this step. Five: Deliver. The verified KPIs are available in dashboards, an Excel export and a chatbot; the company profile of STAR is the dashboard view. The next slides detail each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8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Pipeline in Five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36192"/>
            <a:ext cx="384048" cy="384048"/>
          </a:xfrm>
          <a:prstGeom prst="ellipse">
            <a:avLst/>
          </a:prstGeom>
          <a:solidFill>
            <a:srgbClr val="484B5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4904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7739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149047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reports</a:t>
            </a:r>
            <a:endParaRPr lang="en-US" sz="125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public sources + 1 internal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3566160" cy="18288"/>
          </a:xfrm>
          <a:prstGeom prst="rect">
            <a:avLst/>
          </a:prstGeom>
          <a:solidFill>
            <a:srgbClr val="D3D5DB"/>
          </a:solidFill>
          <a:ln/>
        </p:spPr>
      </p:sp>
      <p:sp>
        <p:nvSpPr>
          <p:cNvPr id="11" name="Shape 9"/>
          <p:cNvSpPr/>
          <p:nvPr/>
        </p:nvSpPr>
        <p:spPr>
          <a:xfrm>
            <a:off x="1069340" y="2167128"/>
            <a:ext cx="2524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C:/Users/HP/Desktop/SCRAPING/docs/scratch/star/crops/s1_coll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340" y="2167128"/>
            <a:ext cx="2524760" cy="12984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34930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 report, as collected from the CMF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1536192"/>
            <a:ext cx="384048" cy="384048"/>
          </a:xfrm>
          <a:prstGeom prst="ellipse">
            <a:avLst/>
          </a:prstGeom>
          <a:solidFill>
            <a:srgbClr val="484B54"/>
          </a:solidFill>
          <a:ln/>
        </p:spPr>
      </p:sp>
      <p:sp>
        <p:nvSpPr>
          <p:cNvPr id="15" name="Text 12"/>
          <p:cNvSpPr/>
          <p:nvPr/>
        </p:nvSpPr>
        <p:spPr>
          <a:xfrm>
            <a:off x="429768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800600" y="14904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800600" y="17739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26480" y="149047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tables</a:t>
            </a:r>
            <a:endParaRPr lang="en-US" sz="125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pages: OCR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297680" y="2057400"/>
            <a:ext cx="3566160" cy="18288"/>
          </a:xfrm>
          <a:prstGeom prst="rect">
            <a:avLst/>
          </a:prstGeom>
          <a:solidFill>
            <a:srgbClr val="D3D5DB"/>
          </a:solidFill>
          <a:ln/>
        </p:spPr>
      </p:sp>
      <p:sp>
        <p:nvSpPr>
          <p:cNvPr id="20" name="Shape 17"/>
          <p:cNvSpPr/>
          <p:nvPr/>
        </p:nvSpPr>
        <p:spPr>
          <a:xfrm>
            <a:off x="4297680" y="2314527"/>
            <a:ext cx="3566160" cy="100365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1" descr="C:/Users/HP/Desktop/SCRAPING/docs/scratch/star/crops/s2_extr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314527"/>
            <a:ext cx="3566160" cy="100365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297680" y="34930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the report · the “Net” cell is read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046720" y="1536192"/>
            <a:ext cx="384048" cy="384048"/>
          </a:xfrm>
          <a:prstGeom prst="ellipse">
            <a:avLst/>
          </a:prstGeom>
          <a:solidFill>
            <a:srgbClr val="484B54"/>
          </a:solidFill>
          <a:ln/>
        </p:spPr>
      </p:sp>
      <p:sp>
        <p:nvSpPr>
          <p:cNvPr id="24" name="Text 20"/>
          <p:cNvSpPr/>
          <p:nvPr/>
        </p:nvSpPr>
        <p:spPr>
          <a:xfrm>
            <a:off x="804672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8549640" y="14904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8549640" y="17739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9875520" y="149047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KPIs</a:t>
            </a:r>
            <a:endParaRPr lang="en-US" sz="125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definition per KPI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8046720" y="2057400"/>
            <a:ext cx="3566160" cy="18288"/>
          </a:xfrm>
          <a:prstGeom prst="rect">
            <a:avLst/>
          </a:prstGeom>
          <a:solidFill>
            <a:srgbClr val="D3D5DB"/>
          </a:solidFill>
          <a:ln/>
        </p:spPr>
      </p:sp>
      <p:sp>
        <p:nvSpPr>
          <p:cNvPr id="29" name="Shape 25"/>
          <p:cNvSpPr/>
          <p:nvPr/>
        </p:nvSpPr>
        <p:spPr>
          <a:xfrm>
            <a:off x="8046720" y="2564623"/>
            <a:ext cx="3566160" cy="50345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30" name="Image 2" descr="C:/Users/HP/Desktop/SCRAPING/docs/scratch/star/crops/s3_mod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564623"/>
            <a:ext cx="3566160" cy="50345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046720" y="34930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Qualité Data — STAR 2025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548640" y="3959352"/>
            <a:ext cx="384048" cy="384048"/>
          </a:xfrm>
          <a:prstGeom prst="ellipse">
            <a:avLst/>
          </a:prstGeom>
          <a:solidFill>
            <a:srgbClr val="484B54"/>
          </a:solidFill>
          <a:ln/>
        </p:spPr>
      </p:sp>
      <p:sp>
        <p:nvSpPr>
          <p:cNvPr id="33" name="Text 28"/>
          <p:cNvSpPr/>
          <p:nvPr/>
        </p:nvSpPr>
        <p:spPr>
          <a:xfrm>
            <a:off x="54864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1051560" y="39136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800" dirty="0"/>
          </a:p>
        </p:txBody>
      </p:sp>
      <p:sp>
        <p:nvSpPr>
          <p:cNvPr id="35" name="Text 30"/>
          <p:cNvSpPr/>
          <p:nvPr/>
        </p:nvSpPr>
        <p:spPr>
          <a:xfrm>
            <a:off x="1051560" y="41970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2377440" y="391363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numbers</a:t>
            </a:r>
            <a:endParaRPr lang="en-US" sz="125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are flagged</a:t>
            </a:r>
            <a:endParaRPr lang="en-US" sz="1250" dirty="0"/>
          </a:p>
        </p:txBody>
      </p:sp>
      <p:sp>
        <p:nvSpPr>
          <p:cNvPr id="37" name="Shape 32"/>
          <p:cNvSpPr/>
          <p:nvPr/>
        </p:nvSpPr>
        <p:spPr>
          <a:xfrm>
            <a:off x="548640" y="4480560"/>
            <a:ext cx="3566160" cy="18288"/>
          </a:xfrm>
          <a:prstGeom prst="rect">
            <a:avLst/>
          </a:prstGeom>
          <a:solidFill>
            <a:srgbClr val="D3D5DB"/>
          </a:solidFill>
          <a:ln/>
        </p:spPr>
      </p:sp>
      <p:sp>
        <p:nvSpPr>
          <p:cNvPr id="38" name="Shape 33"/>
          <p:cNvSpPr/>
          <p:nvPr/>
        </p:nvSpPr>
        <p:spPr>
          <a:xfrm>
            <a:off x="548640" y="4597189"/>
            <a:ext cx="3566160" cy="128464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39" name="Image 3" descr="C:/Users/HP/Desktop/SCRAPING/docs/scratch/star/crops/s4_verif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597189"/>
            <a:ext cx="3566160" cy="1284646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48640" y="59161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anomaly detected on Total actif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4297680" y="3959352"/>
            <a:ext cx="384048" cy="384048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42" name="Text 36"/>
          <p:cNvSpPr/>
          <p:nvPr/>
        </p:nvSpPr>
        <p:spPr>
          <a:xfrm>
            <a:off x="429768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8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43" name="Text 37"/>
          <p:cNvSpPr/>
          <p:nvPr/>
        </p:nvSpPr>
        <p:spPr>
          <a:xfrm>
            <a:off x="4800600" y="39136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1800" dirty="0"/>
          </a:p>
        </p:txBody>
      </p:sp>
      <p:sp>
        <p:nvSpPr>
          <p:cNvPr id="44" name="Text 38"/>
          <p:cNvSpPr/>
          <p:nvPr/>
        </p:nvSpPr>
        <p:spPr>
          <a:xfrm>
            <a:off x="4800600" y="41970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6126480" y="391363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access</a:t>
            </a:r>
            <a:endParaRPr lang="en-US" sz="125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· Excel · chatbot</a:t>
            </a:r>
            <a:endParaRPr lang="en-US" sz="1250" dirty="0"/>
          </a:p>
        </p:txBody>
      </p:sp>
      <p:sp>
        <p:nvSpPr>
          <p:cNvPr id="46" name="Shape 40"/>
          <p:cNvSpPr/>
          <p:nvPr/>
        </p:nvSpPr>
        <p:spPr>
          <a:xfrm>
            <a:off x="4297680" y="4480560"/>
            <a:ext cx="3566160" cy="18288"/>
          </a:xfrm>
          <a:prstGeom prst="rect">
            <a:avLst/>
          </a:prstGeom>
          <a:solidFill>
            <a:srgbClr val="D3D5DB"/>
          </a:solidFill>
          <a:ln/>
        </p:spPr>
      </p:sp>
      <p:sp>
        <p:nvSpPr>
          <p:cNvPr id="47" name="Shape 41"/>
          <p:cNvSpPr/>
          <p:nvPr/>
        </p:nvSpPr>
        <p:spPr>
          <a:xfrm>
            <a:off x="4297680" y="4819066"/>
            <a:ext cx="3566160" cy="8408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48" name="Image 4" descr="C:/Users/HP/Desktop/SCRAPING/docs/scratch/star/crops/s5_deli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4819066"/>
            <a:ext cx="3566160" cy="840892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4297680" y="59161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Vue par assurance — STAR (2024)</a:t>
            </a:r>
            <a:endParaRPr lang="en-US" sz="1050" dirty="0"/>
          </a:p>
        </p:txBody>
      </p:sp>
      <p:sp>
        <p:nvSpPr>
          <p:cNvPr id="50" name="Shape 43"/>
          <p:cNvSpPr/>
          <p:nvPr/>
        </p:nvSpPr>
        <p:spPr>
          <a:xfrm>
            <a:off x="8046720" y="393192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484B54"/>
          </a:solidFill>
          <a:ln/>
        </p:spPr>
      </p:sp>
      <p:sp>
        <p:nvSpPr>
          <p:cNvPr id="51" name="Shape 44"/>
          <p:cNvSpPr/>
          <p:nvPr/>
        </p:nvSpPr>
        <p:spPr>
          <a:xfrm>
            <a:off x="8366760" y="4315968"/>
            <a:ext cx="457200" cy="4572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52" name="Text 45"/>
          <p:cNvSpPr/>
          <p:nvPr/>
        </p:nvSpPr>
        <p:spPr>
          <a:xfrm>
            <a:off x="8366760" y="40416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FOLLOWED END TO END</a:t>
            </a:r>
            <a:endParaRPr lang="en-US" sz="1100" dirty="0"/>
          </a:p>
        </p:txBody>
      </p:sp>
      <p:sp>
        <p:nvSpPr>
          <p:cNvPr id="53" name="Text 46"/>
          <p:cNvSpPr/>
          <p:nvPr/>
        </p:nvSpPr>
        <p:spPr>
          <a:xfrm>
            <a:off x="8366760" y="4480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</a:t>
            </a:r>
            <a:endParaRPr lang="en-US" sz="2600" dirty="0"/>
          </a:p>
        </p:txBody>
      </p:sp>
      <p:sp>
        <p:nvSpPr>
          <p:cNvPr id="54" name="Text 47"/>
          <p:cNvSpPr/>
          <p:nvPr/>
        </p:nvSpPr>
        <p:spPr>
          <a:xfrm>
            <a:off x="8366760" y="49194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actif · 2025</a:t>
            </a:r>
            <a:endParaRPr lang="en-US" sz="1600" dirty="0"/>
          </a:p>
        </p:txBody>
      </p:sp>
      <p:sp>
        <p:nvSpPr>
          <p:cNvPr id="55" name="Text 48"/>
          <p:cNvSpPr/>
          <p:nvPr/>
        </p:nvSpPr>
        <p:spPr>
          <a:xfrm>
            <a:off x="8366760" y="52852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1 661 612 773 TND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2026-09-21T15:11:57Z</dcterms:created>
  <dcterms:modified xsi:type="dcterms:W3CDTF">2026-09-21T15:11:57Z</dcterms:modified>
</cp:coreProperties>
</file>