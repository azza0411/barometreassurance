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layer of the platform, presented through the chatbot. A question in natural language first goes through a router that understands it. It is then sent to one of three engines: generative AI, which translates language into SQL and writes explanations; predictive AI, which forecasts KPIs by making XGBoost and Prophet compete; and RAG, which answers regulatory questions from documents. Every answer comes back with its figures, its method and its sources. Below, the common principle: everything rests on the validated database from the data pipeline, the SQL is read-only, the numbers of the explanations are checked, and the sources are cited. In the following slides, I go through each block with one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AI model speaks, the chatbot has to understand the question. First, it extracts three things: the KPI, the company and the year, with fuzzy matching, so a typo or a variant of a name is still recognized. Then simple, transparent rules turn them into an intent. Here, the KPI is net result, the company is STAR, and the year, 2026, is after the last known year, so the intent is forecast. This is deliberate: routing is rule-based and predictable, and each intent goes to the engine that suits it. What matters for a BI audience is that the figures always come from the validated database, not from the memory of a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generative use: text to SQL. For a question that is not covered by a predefined query, the language model, a large open model served by Groq, receives the schema of the database with a few business rules, for instance the units and the valid ranges, and it writes a SQL query. On the right you can see the real query for the question: how many companies have a combined ratio below 100 percent in 2024. The platform only executes SELECT statements, so the model can never modify data. The result, 19, is computed by the database, and the model only formulates the sentence. The generative model is used as a translator from language to query, not as a source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generative use is the explanation of a figure. From the menu of a KPI, the consultant clicks Expliquer ce chiffre. The platform first computes the facts with SQL: the value, the change compared with last year, the sector average and the rank. The language model then writes two to four sentences using only these facts. And this is the important part: every number in the generated text is checked against the facts. If the model quotes a number that is not in the facts, the answer is rejected and replaced by a deterministic template. So the generative layer can phrase and contextualize, but it cannot invent. For the technical result of STAR, we get 14.3 million, up 212 percent versus 2023, but this increase starts from a negative base, so it should be read with care; the sector average is 16.4 million and STAR ranks 7 out of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is not one model but a competition. For every question about the future, the platform trains two candidates on the history of the KPI: XGBoost, a gradient boosting model, and Prophet, a time-series model. It evaluates them on past years with a time-series cross-validation, always training on the past and testing on the following year, and computes the MAPE and the RMSE. The best score wins and is used for the forecast. For the net result of STAR, XGBoost has a MAPE of 18 percent against 96 percent for Prophet, so XGBoost is selected. The choice is data-driven and can differ from one KPI or one company to another. A limit to state honestly: we have about ten annual points per series, so the forecasts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winner is chosen, the platform produces the forecast and explains it. For STAR, the net result for 2026 is 31.59 million dinars. The explanation comes from SHAP, a method that measures the contribution of each input: the value of last year adds 6.7, the time trend adds 4.1, the value three years ago adds 1.6. The language model then rewrites this in a readable way, but the numbers come from the model. When a series does not exist or is too short, the module falls back to a simple linear regression, as for the market share of STAR in 2026, 8.5 percent, with a clear statement of the method and its limits. So an answer is always given, and its method is always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pillar is RAG, retrieval-augmented generation, for regulatory questions. The corpus contains eleven regulatory texts, such as the insurance code, CGA circulars or the Takaful law, and one hundred and six extracts automatically ingested from the annual reports of the CGA. When a question is regulatory, the three most relevant passages are retrieved with a TF-IDF similarity, and only these passages are given to the language model with the instruction to answer from them and to say so if the answer is not there. The answer cites its sources: here, the CGA grants the licence, according to the Décret-loi 92-24 of 1992. We chose TF-IDF because it is transparent and needs no additional service; embeddings are a natural evolution if the corpus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guardrails, which are what makes these AI components usable in a consulting context. First, the assistant does not invent: asked for the average Takaful premium in 2022, which is not in the regulatory documents, it says so, explains what the documents contain and cites them. Second, the SQL generated by the model is read-only, and the numbers of an explanation are verified against the computed facts. Third, if the language model is not available, the platform still answers with deterministic templates and database figures. In short: the generative model formulates, the database and the predictive models compute, and the documents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Text 4"/>
          <p:cNvSpPr/>
          <p:nvPr/>
        </p:nvSpPr>
        <p:spPr>
          <a:xfrm>
            <a:off x="0" y="2103120"/>
            <a:ext cx="12191695" cy="365760"/>
          </a:xfrm>
          <a:prstGeom prst="rect">
            <a:avLst/>
          </a:prstGeom>
          <a:noFill/>
          <a:ln/>
        </p:spPr>
        <p:txBody>
          <a:bodyPr wrap="square" lIns="0" tIns="0" rIns="0" bIns="0" rtlCol="0" anchor="ctr"/>
          <a:lstStyle/>
          <a:p>
            <a:pPr algn="ctr" indent="0" marL="0">
              <a:buNone/>
            </a:pPr>
            <a:r>
              <a:rPr lang="en-US" sz="1400" i="1" dirty="0">
                <a:solidFill>
                  <a:srgbClr val="8B8B90"/>
                </a:solidFill>
                <a:latin typeface="Calibri" pitchFamily="34" charset="0"/>
                <a:ea typeface="Calibri" pitchFamily="34" charset="-122"/>
                <a:cs typeface="Calibri" pitchFamily="34" charset="-120"/>
              </a:rPr>
              <a:t>One question, three kinds of AI, one validated database</a:t>
            </a:r>
            <a:endParaRPr lang="en-US" sz="1400" dirty="0"/>
          </a:p>
        </p:txBody>
      </p:sp>
      <p:sp>
        <p:nvSpPr>
          <p:cNvPr id="8" name="Shape 5"/>
          <p:cNvSpPr/>
          <p:nvPr/>
        </p:nvSpPr>
        <p:spPr>
          <a:xfrm>
            <a:off x="502920" y="3429000"/>
            <a:ext cx="2011680" cy="914400"/>
          </a:xfrm>
          <a:prstGeom prst="roundRect">
            <a:avLst>
              <a:gd name="adj" fmla="val 8000"/>
            </a:avLst>
          </a:prstGeom>
          <a:solidFill>
            <a:srgbClr val="F2F2F2"/>
          </a:solidFill>
          <a:ln/>
          <a:effectLst>
            <a:outerShdw sx="100000" sy="100000" kx="0" ky="0" algn="bl" rotWithShape="0" blurRad="76200" dist="25400" dir="5400000">
              <a:srgbClr val="000000">
                <a:alpha val="16000"/>
              </a:srgbClr>
            </a:outerShdw>
          </a:effectLst>
        </p:spPr>
      </p:sp>
      <p:sp>
        <p:nvSpPr>
          <p:cNvPr id="9" name="Text 6"/>
          <p:cNvSpPr/>
          <p:nvPr/>
        </p:nvSpPr>
        <p:spPr>
          <a:xfrm>
            <a:off x="640080" y="3520440"/>
            <a:ext cx="173736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10" name="Text 7"/>
          <p:cNvSpPr/>
          <p:nvPr/>
        </p:nvSpPr>
        <p:spPr>
          <a:xfrm>
            <a:off x="640080" y="3867912"/>
            <a:ext cx="1737360"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natural language</a:t>
            </a:r>
            <a:endParaRPr lang="en-US" sz="1150" dirty="0"/>
          </a:p>
        </p:txBody>
      </p:sp>
      <p:sp>
        <p:nvSpPr>
          <p:cNvPr id="11" name="Shape 8"/>
          <p:cNvSpPr/>
          <p:nvPr/>
        </p:nvSpPr>
        <p:spPr>
          <a:xfrm>
            <a:off x="2926080" y="3429000"/>
            <a:ext cx="2011680" cy="914400"/>
          </a:xfrm>
          <a:prstGeom prst="roundRect">
            <a:avLst>
              <a:gd name="adj" fmla="val 8000"/>
            </a:avLst>
          </a:prstGeom>
          <a:solidFill>
            <a:srgbClr val="484B54"/>
          </a:solidFill>
          <a:ln/>
          <a:effectLst>
            <a:outerShdw sx="100000" sy="100000" kx="0" ky="0" algn="bl" rotWithShape="0" blurRad="76200" dist="25400" dir="5400000">
              <a:srgbClr val="000000">
                <a:alpha val="16000"/>
              </a:srgbClr>
            </a:outerShdw>
          </a:effectLst>
        </p:spPr>
      </p:sp>
      <p:sp>
        <p:nvSpPr>
          <p:cNvPr id="12" name="Text 9"/>
          <p:cNvSpPr/>
          <p:nvPr/>
        </p:nvSpPr>
        <p:spPr>
          <a:xfrm>
            <a:off x="3063240" y="3520440"/>
            <a:ext cx="17373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3" name="Text 10"/>
          <p:cNvSpPr/>
          <p:nvPr/>
        </p:nvSpPr>
        <p:spPr>
          <a:xfrm>
            <a:off x="3063240" y="3867912"/>
            <a:ext cx="1737360" cy="41148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KPI · company · year → intent</a:t>
            </a:r>
            <a:endParaRPr lang="en-US" sz="1150" dirty="0"/>
          </a:p>
        </p:txBody>
      </p:sp>
      <p:sp>
        <p:nvSpPr>
          <p:cNvPr id="14" name="Shape 11"/>
          <p:cNvSpPr/>
          <p:nvPr/>
        </p:nvSpPr>
        <p:spPr>
          <a:xfrm>
            <a:off x="5486400" y="2606040"/>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15" name="Text 12"/>
          <p:cNvSpPr/>
          <p:nvPr/>
        </p:nvSpPr>
        <p:spPr>
          <a:xfrm>
            <a:off x="5623560" y="2697480"/>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Generative AI</a:t>
            </a:r>
            <a:endParaRPr lang="en-US" sz="1400" dirty="0"/>
          </a:p>
        </p:txBody>
      </p:sp>
      <p:sp>
        <p:nvSpPr>
          <p:cNvPr id="16" name="Text 13"/>
          <p:cNvSpPr/>
          <p:nvPr/>
        </p:nvSpPr>
        <p:spPr>
          <a:xfrm>
            <a:off x="5623560" y="3044952"/>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text-to-SQL · grounded explanations (LLM)</a:t>
            </a:r>
            <a:endParaRPr lang="en-US" sz="1150" dirty="0"/>
          </a:p>
        </p:txBody>
      </p:sp>
      <p:sp>
        <p:nvSpPr>
          <p:cNvPr id="17" name="Shape 14"/>
          <p:cNvSpPr/>
          <p:nvPr/>
        </p:nvSpPr>
        <p:spPr>
          <a:xfrm>
            <a:off x="5486400" y="3639312"/>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18" name="Text 15"/>
          <p:cNvSpPr/>
          <p:nvPr/>
        </p:nvSpPr>
        <p:spPr>
          <a:xfrm>
            <a:off x="5623560" y="3730752"/>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Predictive AI</a:t>
            </a:r>
            <a:endParaRPr lang="en-US" sz="1400" dirty="0"/>
          </a:p>
        </p:txBody>
      </p:sp>
      <p:sp>
        <p:nvSpPr>
          <p:cNvPr id="19" name="Text 16"/>
          <p:cNvSpPr/>
          <p:nvPr/>
        </p:nvSpPr>
        <p:spPr>
          <a:xfrm>
            <a:off x="5623560" y="4078224"/>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XGBoost vs Prophet · SHAP · OLS fallback</a:t>
            </a:r>
            <a:endParaRPr lang="en-US" sz="1150" dirty="0"/>
          </a:p>
        </p:txBody>
      </p:sp>
      <p:sp>
        <p:nvSpPr>
          <p:cNvPr id="20" name="Shape 17"/>
          <p:cNvSpPr/>
          <p:nvPr/>
        </p:nvSpPr>
        <p:spPr>
          <a:xfrm>
            <a:off x="5486400" y="4672584"/>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21" name="Text 18"/>
          <p:cNvSpPr/>
          <p:nvPr/>
        </p:nvSpPr>
        <p:spPr>
          <a:xfrm>
            <a:off x="5623560" y="4764024"/>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RAG</a:t>
            </a:r>
            <a:endParaRPr lang="en-US" sz="1400" dirty="0"/>
          </a:p>
        </p:txBody>
      </p:sp>
      <p:sp>
        <p:nvSpPr>
          <p:cNvPr id="22" name="Text 19"/>
          <p:cNvSpPr/>
          <p:nvPr/>
        </p:nvSpPr>
        <p:spPr>
          <a:xfrm>
            <a:off x="5623560" y="5111496"/>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regulatory texts + CGA reports · sources cited</a:t>
            </a:r>
            <a:endParaRPr lang="en-US" sz="1150" dirty="0"/>
          </a:p>
        </p:txBody>
      </p:sp>
      <p:sp>
        <p:nvSpPr>
          <p:cNvPr id="23" name="Shape 20"/>
          <p:cNvSpPr/>
          <p:nvPr/>
        </p:nvSpPr>
        <p:spPr>
          <a:xfrm>
            <a:off x="9326880" y="3429000"/>
            <a:ext cx="2377440" cy="914400"/>
          </a:xfrm>
          <a:prstGeom prst="roundRect">
            <a:avLst>
              <a:gd name="adj" fmla="val 8000"/>
            </a:avLst>
          </a:prstGeom>
          <a:solidFill>
            <a:srgbClr val="484B54"/>
          </a:solidFill>
          <a:ln/>
          <a:effectLst>
            <a:outerShdw sx="100000" sy="100000" kx="0" ky="0" algn="bl" rotWithShape="0" blurRad="76200" dist="25400" dir="5400000">
              <a:srgbClr val="000000">
                <a:alpha val="16000"/>
              </a:srgbClr>
            </a:outerShdw>
          </a:effectLst>
        </p:spPr>
      </p:sp>
      <p:sp>
        <p:nvSpPr>
          <p:cNvPr id="24" name="Text 21"/>
          <p:cNvSpPr/>
          <p:nvPr/>
        </p:nvSpPr>
        <p:spPr>
          <a:xfrm>
            <a:off x="9464040" y="3520440"/>
            <a:ext cx="21031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5" name="Text 22"/>
          <p:cNvSpPr/>
          <p:nvPr/>
        </p:nvSpPr>
        <p:spPr>
          <a:xfrm>
            <a:off x="9464040" y="3867912"/>
            <a:ext cx="2103120" cy="41148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method and sources</a:t>
            </a:r>
            <a:endParaRPr lang="en-US" sz="1150" dirty="0"/>
          </a:p>
        </p:txBody>
      </p:sp>
      <p:sp>
        <p:nvSpPr>
          <p:cNvPr id="26" name="Shape 23"/>
          <p:cNvSpPr/>
          <p:nvPr/>
        </p:nvSpPr>
        <p:spPr>
          <a:xfrm>
            <a:off x="2514600" y="3886200"/>
            <a:ext cx="411480" cy="0"/>
          </a:xfrm>
          <a:prstGeom prst="line">
            <a:avLst/>
          </a:prstGeom>
          <a:noFill/>
          <a:ln w="19050">
            <a:solidFill>
              <a:srgbClr val="9A9CA5"/>
            </a:solidFill>
            <a:prstDash val="solid"/>
            <a:tailEnd type="triangle"/>
          </a:ln>
        </p:spPr>
      </p:sp>
      <p:sp>
        <p:nvSpPr>
          <p:cNvPr id="27" name="Shape 24"/>
          <p:cNvSpPr/>
          <p:nvPr/>
        </p:nvSpPr>
        <p:spPr>
          <a:xfrm flipV="1">
            <a:off x="4937760" y="3035808"/>
            <a:ext cx="548640" cy="850392"/>
          </a:xfrm>
          <a:prstGeom prst="line">
            <a:avLst/>
          </a:prstGeom>
          <a:noFill/>
          <a:ln w="19050">
            <a:solidFill>
              <a:srgbClr val="9A9CA5"/>
            </a:solidFill>
            <a:prstDash val="solid"/>
            <a:tailEnd type="triangle"/>
          </a:ln>
        </p:spPr>
      </p:sp>
      <p:sp>
        <p:nvSpPr>
          <p:cNvPr id="28" name="Shape 25"/>
          <p:cNvSpPr/>
          <p:nvPr/>
        </p:nvSpPr>
        <p:spPr>
          <a:xfrm>
            <a:off x="4937760" y="3886200"/>
            <a:ext cx="548640" cy="182880"/>
          </a:xfrm>
          <a:prstGeom prst="line">
            <a:avLst/>
          </a:prstGeom>
          <a:noFill/>
          <a:ln w="19050">
            <a:solidFill>
              <a:srgbClr val="9A9CA5"/>
            </a:solidFill>
            <a:prstDash val="solid"/>
            <a:tailEnd type="triangle"/>
          </a:ln>
        </p:spPr>
      </p:sp>
      <p:sp>
        <p:nvSpPr>
          <p:cNvPr id="29" name="Shape 26"/>
          <p:cNvSpPr/>
          <p:nvPr/>
        </p:nvSpPr>
        <p:spPr>
          <a:xfrm>
            <a:off x="4937760" y="3886200"/>
            <a:ext cx="548640" cy="1216152"/>
          </a:xfrm>
          <a:prstGeom prst="line">
            <a:avLst/>
          </a:prstGeom>
          <a:noFill/>
          <a:ln w="19050">
            <a:solidFill>
              <a:srgbClr val="9A9CA5"/>
            </a:solidFill>
            <a:prstDash val="solid"/>
            <a:tailEnd type="triangle"/>
          </a:ln>
        </p:spPr>
      </p:sp>
      <p:sp>
        <p:nvSpPr>
          <p:cNvPr id="30" name="Shape 27"/>
          <p:cNvSpPr/>
          <p:nvPr/>
        </p:nvSpPr>
        <p:spPr>
          <a:xfrm>
            <a:off x="8686800" y="3035808"/>
            <a:ext cx="640080" cy="667512"/>
          </a:xfrm>
          <a:prstGeom prst="line">
            <a:avLst/>
          </a:prstGeom>
          <a:noFill/>
          <a:ln w="19050">
            <a:solidFill>
              <a:srgbClr val="9A9CA5"/>
            </a:solidFill>
            <a:prstDash val="solid"/>
            <a:tailEnd type="triangle"/>
          </a:ln>
        </p:spPr>
      </p:sp>
      <p:sp>
        <p:nvSpPr>
          <p:cNvPr id="31" name="Shape 28"/>
          <p:cNvSpPr/>
          <p:nvPr/>
        </p:nvSpPr>
        <p:spPr>
          <a:xfrm flipV="1">
            <a:off x="8686800" y="3886200"/>
            <a:ext cx="640080" cy="182880"/>
          </a:xfrm>
          <a:prstGeom prst="line">
            <a:avLst/>
          </a:prstGeom>
          <a:noFill/>
          <a:ln w="19050">
            <a:solidFill>
              <a:srgbClr val="9A9CA5"/>
            </a:solidFill>
            <a:prstDash val="solid"/>
            <a:tailEnd type="triangle"/>
          </a:ln>
        </p:spPr>
      </p:sp>
      <p:sp>
        <p:nvSpPr>
          <p:cNvPr id="32" name="Shape 29"/>
          <p:cNvSpPr/>
          <p:nvPr/>
        </p:nvSpPr>
        <p:spPr>
          <a:xfrm flipV="1">
            <a:off x="8686800" y="4114800"/>
            <a:ext cx="640080" cy="987552"/>
          </a:xfrm>
          <a:prstGeom prst="line">
            <a:avLst/>
          </a:prstGeom>
          <a:noFill/>
          <a:ln w="19050">
            <a:solidFill>
              <a:srgbClr val="9A9CA5"/>
            </a:solidFill>
            <a:prstDash val="solid"/>
            <a:tailEnd type="triangle"/>
          </a:ln>
        </p:spPr>
      </p:sp>
      <p:sp>
        <p:nvSpPr>
          <p:cNvPr id="33" name="Shape 30"/>
          <p:cNvSpPr/>
          <p:nvPr/>
        </p:nvSpPr>
        <p:spPr>
          <a:xfrm>
            <a:off x="502920" y="5852160"/>
            <a:ext cx="11201400" cy="548640"/>
          </a:xfrm>
          <a:prstGeom prst="roundRect">
            <a:avLst>
              <a:gd name="adj" fmla="val 10000"/>
            </a:avLst>
          </a:prstGeom>
          <a:solidFill>
            <a:srgbClr val="F2F2F2"/>
          </a:solidFill>
          <a:ln w="12700">
            <a:solidFill>
              <a:srgbClr val="D3D5DB"/>
            </a:solidFill>
            <a:prstDash val="solid"/>
          </a:ln>
        </p:spPr>
      </p:sp>
      <p:sp>
        <p:nvSpPr>
          <p:cNvPr id="34" name="Text 31"/>
          <p:cNvSpPr/>
          <p:nvPr/>
        </p:nvSpPr>
        <p:spPr>
          <a:xfrm>
            <a:off x="640080" y="5852160"/>
            <a:ext cx="10927080" cy="548640"/>
          </a:xfrm>
          <a:prstGeom prst="rect">
            <a:avLst/>
          </a:prstGeom>
          <a:noFill/>
          <a:ln/>
        </p:spPr>
        <p:txBody>
          <a:bodyPr wrap="square" lIns="0" tIns="0" rIns="0" bIns="0" rtlCol="0" anchor="ctr"/>
          <a:lstStyle/>
          <a:p>
            <a:pPr algn="ctr" indent="0" marL="0">
              <a:buNone/>
            </a:pPr>
            <a:r>
              <a:rPr lang="en-US" sz="1300" b="1" dirty="0">
                <a:solidFill>
                  <a:srgbClr val="3A3A3A"/>
                </a:solidFill>
                <a:latin typeface="Calibri" pitchFamily="34" charset="0"/>
                <a:ea typeface="Calibri" pitchFamily="34" charset="-122"/>
                <a:cs typeface="Calibri" pitchFamily="34" charset="-120"/>
              </a:rPr>
              <a:t>Validated KPI database  ·  read-only SQL  ·  numbers checked against facts  ·  sources cited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question is read: KPI, company and year are found by fuzzy matching, so typos are tolerated.</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Rules turn these entities into an intent: forecast, ranking, evolution, regulatory, explanation…</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intent selects the engine; figures always come from the database, never from the model's memory.</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STAR · 2026</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Net · STAR · 2026</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 intent: forecast</a:t>
            </a:r>
            <a:endParaRPr lang="en-US" sz="1600" dirty="0"/>
          </a:p>
        </p:txBody>
      </p:sp>
      <p:sp>
        <p:nvSpPr>
          <p:cNvPr id="28" name="Shape 25"/>
          <p:cNvSpPr/>
          <p:nvPr/>
        </p:nvSpPr>
        <p:spPr>
          <a:xfrm>
            <a:off x="5212080" y="3127248"/>
            <a:ext cx="6492240" cy="1993118"/>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router.png">    </p:cNvPr>
          <p:cNvPicPr>
            <a:picLocks noChangeAspect="1"/>
          </p:cNvPicPr>
          <p:nvPr/>
        </p:nvPicPr>
        <p:blipFill>
          <a:blip r:embed="rId2"/>
          <a:stretch>
            <a:fillRect/>
          </a:stretch>
        </p:blipFill>
        <p:spPr>
          <a:xfrm>
            <a:off x="5212080" y="3127248"/>
            <a:ext cx="6492240" cy="1993118"/>
          </a:xfrm>
          <a:prstGeom prst="rect">
            <a:avLst/>
          </a:prstGeom>
        </p:spPr>
      </p:pic>
      <p:sp>
        <p:nvSpPr>
          <p:cNvPr id="30" name="Text 26"/>
          <p:cNvSpPr/>
          <p:nvPr/>
        </p:nvSpPr>
        <p:spPr>
          <a:xfrm>
            <a:off x="5212080" y="5193518"/>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Question analysis performed by the chatbot · real output for this question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the database schema and business rules, and returns a SQL query, not an answer.</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Only SELECT statements are executed; anything else is rejected.</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figure comes from the database (19 companies); the LLM only writes the sentence.</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COMBINED RATIO ·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Combined ratio below 100 %</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SQL executed → 19</a:t>
            </a:r>
            <a:endParaRPr lang="en-US" sz="1600" dirty="0"/>
          </a:p>
        </p:txBody>
      </p:sp>
      <p:sp>
        <p:nvSpPr>
          <p:cNvPr id="28" name="Shape 25"/>
          <p:cNvSpPr/>
          <p:nvPr/>
        </p:nvSpPr>
        <p:spPr>
          <a:xfrm>
            <a:off x="5212080" y="3127248"/>
            <a:ext cx="6492240" cy="1858563"/>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sql_c.png">    </p:cNvPr>
          <p:cNvPicPr>
            <a:picLocks noChangeAspect="1"/>
          </p:cNvPicPr>
          <p:nvPr/>
        </p:nvPicPr>
        <p:blipFill>
          <a:blip r:embed="rId2"/>
          <a:stretch>
            <a:fillRect/>
          </a:stretch>
        </p:blipFill>
        <p:spPr>
          <a:xfrm>
            <a:off x="5212080" y="3127248"/>
            <a:ext cx="6492240" cy="1858563"/>
          </a:xfrm>
          <a:prstGeom prst="rect">
            <a:avLst/>
          </a:prstGeom>
        </p:spPr>
      </p:pic>
      <p:sp>
        <p:nvSpPr>
          <p:cNvPr id="30" name="Text 26"/>
          <p:cNvSpPr/>
          <p:nvPr/>
        </p:nvSpPr>
        <p:spPr>
          <a:xfrm>
            <a:off x="5212080" y="505896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answer (left) and the SQL query generated by the LLM (right)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Facts are computed first: value, change vs the previous year, sector average, rank.</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writes 2 to 4 sentences from these facts only.</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Each number in the text is checked against the facts; if one is unknown, a fixed template replaces the text.</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Explained from four facts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28" name="Shape 25"/>
          <p:cNvSpPr/>
          <p:nvPr/>
        </p:nvSpPr>
        <p:spPr>
          <a:xfrm>
            <a:off x="6363393" y="3127248"/>
            <a:ext cx="4189615"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8_chat_c.png">    </p:cNvPr>
          <p:cNvPicPr>
            <a:picLocks noChangeAspect="1"/>
          </p:cNvPicPr>
          <p:nvPr/>
        </p:nvPicPr>
        <p:blipFill>
          <a:blip r:embed="rId2"/>
          <a:stretch>
            <a:fillRect/>
          </a:stretch>
        </p:blipFill>
        <p:spPr>
          <a:xfrm>
            <a:off x="6363393" y="3127248"/>
            <a:ext cx="4189615"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Two models are trained on the KPI history: XGBoost and Prophet.</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Each is tested on past years (time-series cross-validation, 8 folds) and scored on MAPE and RMSE.</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lowest score wins and produces the forecast.</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FORECAST · RÉSULTAT NET · STAR</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Best model selected automatically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XGBoost · MAPE 18,1 % vs 96,5 %</a:t>
            </a:r>
            <a:endParaRPr lang="en-US" sz="1600" dirty="0"/>
          </a:p>
        </p:txBody>
      </p:sp>
      <p:sp>
        <p:nvSpPr>
          <p:cNvPr id="28" name="Shape 25"/>
          <p:cNvSpPr/>
          <p:nvPr/>
        </p:nvSpPr>
        <p:spPr>
          <a:xfrm>
            <a:off x="5212080" y="3127248"/>
            <a:ext cx="6492240" cy="168149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comp.png">    </p:cNvPr>
          <p:cNvPicPr>
            <a:picLocks noChangeAspect="1"/>
          </p:cNvPicPr>
          <p:nvPr/>
        </p:nvPicPr>
        <p:blipFill>
          <a:blip r:embed="rId2"/>
          <a:stretch>
            <a:fillRect/>
          </a:stretch>
        </p:blipFill>
        <p:spPr>
          <a:xfrm>
            <a:off x="5212080" y="3127248"/>
            <a:ext cx="6492240" cy="1681490"/>
          </a:xfrm>
          <a:prstGeom prst="rect">
            <a:avLst/>
          </a:prstGeom>
        </p:spPr>
      </p:pic>
      <p:sp>
        <p:nvSpPr>
          <p:cNvPr id="30" name="Text 26"/>
          <p:cNvSpPr/>
          <p:nvPr/>
        </p:nvSpPr>
        <p:spPr>
          <a:xfrm>
            <a:off x="5212080" y="488189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 comparison returned by the forecasting module · Résultat Net, STAR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Forecast for the net result of STAR in 2026: 31,59 MDT.</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SHAP shows what pushed it up: last year's value (+6,761), time trend (+4,062), value 3 years ago (+1,619).</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If the history is missing or too short, a linear regression (OLS) takes over.</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FORECAST · STAR · 2026</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Net · 2026</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31,59 MDT</a:t>
            </a:r>
            <a:endParaRPr lang="en-US" sz="1600" dirty="0"/>
          </a:p>
        </p:txBody>
      </p:sp>
      <p:sp>
        <p:nvSpPr>
          <p:cNvPr id="28" name="Shape 25"/>
          <p:cNvSpPr/>
          <p:nvPr/>
        </p:nvSpPr>
        <p:spPr>
          <a:xfrm>
            <a:off x="6598640" y="3127248"/>
            <a:ext cx="3719119"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fc_c.png">    </p:cNvPr>
          <p:cNvPicPr>
            <a:picLocks noChangeAspect="1"/>
          </p:cNvPicPr>
          <p:nvPr/>
        </p:nvPicPr>
        <p:blipFill>
          <a:blip r:embed="rId2"/>
          <a:stretch>
            <a:fillRect/>
          </a:stretch>
        </p:blipFill>
        <p:spPr>
          <a:xfrm>
            <a:off x="6598640" y="3127248"/>
            <a:ext cx="3719119"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forecast with its explanation (SHAP)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Documents are split into passages: 11 regulatory texts and 106 extracts of CGA annual reports.</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most relevant passages are retrieved (TF-IDF similarity).</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answers only from them and cites its sources.</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REGULATION</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 grants the licence?</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CGA · Décret-loi 92-24</a:t>
            </a:r>
            <a:endParaRPr lang="en-US" sz="1600" dirty="0"/>
          </a:p>
        </p:txBody>
      </p:sp>
      <p:sp>
        <p:nvSpPr>
          <p:cNvPr id="28" name="Shape 25"/>
          <p:cNvSpPr/>
          <p:nvPr/>
        </p:nvSpPr>
        <p:spPr>
          <a:xfrm>
            <a:off x="6769100" y="3127248"/>
            <a:ext cx="3378200"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agrement_c.png">    </p:cNvPr>
          <p:cNvPicPr>
            <a:picLocks noChangeAspect="1"/>
          </p:cNvPicPr>
          <p:nvPr/>
        </p:nvPicPr>
        <p:blipFill>
          <a:blip r:embed="rId2"/>
          <a:stretch>
            <a:fillRect/>
          </a:stretch>
        </p:blipFill>
        <p:spPr>
          <a:xfrm>
            <a:off x="6769100" y="3127248"/>
            <a:ext cx="3378200"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regulatory answer with its sources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Not in the documents? The assistant says so instead of inventing an answer.</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SQL is read-only and numbers in explanations are verified against facts.</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If the LLM is unavailable, database answers and fixed templates still work.</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TAKAFUL · 2022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Answer not in the documents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Says so · cites its sources</a:t>
            </a:r>
            <a:endParaRPr lang="en-US" sz="1600" dirty="0"/>
          </a:p>
        </p:txBody>
      </p:sp>
      <p:sp>
        <p:nvSpPr>
          <p:cNvPr id="28" name="Shape 25"/>
          <p:cNvSpPr/>
          <p:nvPr/>
        </p:nvSpPr>
        <p:spPr>
          <a:xfrm>
            <a:off x="6431280" y="3127248"/>
            <a:ext cx="4053840"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refuse_c.png">    </p:cNvPr>
          <p:cNvPicPr>
            <a:picLocks noChangeAspect="1"/>
          </p:cNvPicPr>
          <p:nvPr/>
        </p:nvPicPr>
        <p:blipFill>
          <a:blip r:embed="rId2"/>
          <a:stretch>
            <a:fillRect/>
          </a:stretch>
        </p:blipFill>
        <p:spPr>
          <a:xfrm>
            <a:off x="6431280" y="3127248"/>
            <a:ext cx="4053840"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answer when the documents do not contain the information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2026-09-21T21:15:38Z</dcterms:created>
  <dcterms:modified xsi:type="dcterms:W3CDTF">2026-09-21T21:15:38Z</dcterms:modified>
</cp:coreProperties>
</file>