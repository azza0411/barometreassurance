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stack follows the path of the data, in three steps. STEP ONE, get the data: Python, Selenium and Requests collect the PDFs and web pages; Tesseract OCR, pdfplumber and pandas read the tables, including Arabic and scanned pages. STEP TWO, store and serve it: MySQL keeps everything in one structured place; Flask exposes it through an API and generates the PDF and Excel exports. STEP THREE, present and enrich it: React shows interactive dashboards; the AI layer, in yellow, adds the Groq LLM to answer questions, Prophet and XGBoost to forecast, and SHAP to explain each forecast. Finally, PyInstaller packages everything into one executable, and GitHub versions the code. One tool family for each need, nothing added for its own sake.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pieces work together, three points. FIRST, the main path: the frontend calls the API, and the API reads and writes the database. For example, a click on Total assets, ATTIJARI 2024, returns 920.2 million dinars with its source page in the PDF. SECOND, the chatbot: a separate service reading a read-only copy of the data, so it never slows down the main API. THIRD, the background processes: a batch pipeline and a watcher, every 30 minutes, keep the database up to date and raise alerts. Simple path, separate chatbot, automatic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TECHNOLOGIES &amp; ARCHITECTURE</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Technology Stack — One Tool per Need</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a:t>
            </a:r>
            <a:endParaRPr lang="en-US" sz="1000" dirty="0"/>
          </a:p>
        </p:txBody>
      </p:sp>
      <p:sp>
        <p:nvSpPr>
          <p:cNvPr id="5" name="Text 3"/>
          <p:cNvSpPr/>
          <p:nvPr/>
        </p:nvSpPr>
        <p:spPr>
          <a:xfrm>
            <a:off x="777240" y="1463040"/>
            <a:ext cx="2743200" cy="228600"/>
          </a:xfrm>
          <a:prstGeom prst="rect">
            <a:avLst/>
          </a:prstGeom>
          <a:noFill/>
          <a:ln/>
        </p:spPr>
        <p:txBody>
          <a:bodyPr wrap="square" lIns="0" tIns="0" rIns="0" bIns="0" rtlCol="0" anchor="ctr"/>
          <a:lstStyle/>
          <a:p>
            <a:pPr indent="0" marL="0">
              <a:buNone/>
            </a:pPr>
            <a:r>
              <a:rPr lang="en-US" sz="1000" b="1" spc="100" kern="0" dirty="0">
                <a:solidFill>
                  <a:srgbClr val="8B8B90"/>
                </a:solidFill>
                <a:latin typeface="Calibri" pitchFamily="34" charset="0"/>
                <a:ea typeface="Calibri" pitchFamily="34" charset="-122"/>
                <a:cs typeface="Calibri" pitchFamily="34" charset="-120"/>
              </a:rPr>
              <a:t>LAYER</a:t>
            </a:r>
            <a:endParaRPr lang="en-US" sz="1000" dirty="0"/>
          </a:p>
        </p:txBody>
      </p:sp>
      <p:sp>
        <p:nvSpPr>
          <p:cNvPr id="6" name="Text 4"/>
          <p:cNvSpPr/>
          <p:nvPr/>
        </p:nvSpPr>
        <p:spPr>
          <a:xfrm>
            <a:off x="3657600" y="1463040"/>
            <a:ext cx="3657600" cy="228600"/>
          </a:xfrm>
          <a:prstGeom prst="rect">
            <a:avLst/>
          </a:prstGeom>
          <a:noFill/>
          <a:ln/>
        </p:spPr>
        <p:txBody>
          <a:bodyPr wrap="square" lIns="0" tIns="0" rIns="0" bIns="0" rtlCol="0" anchor="ctr"/>
          <a:lstStyle/>
          <a:p>
            <a:pPr indent="0" marL="0">
              <a:buNone/>
            </a:pPr>
            <a:r>
              <a:rPr lang="en-US" sz="1000" b="1" spc="100" kern="0" dirty="0">
                <a:solidFill>
                  <a:srgbClr val="8B8B90"/>
                </a:solidFill>
                <a:latin typeface="Calibri" pitchFamily="34" charset="0"/>
                <a:ea typeface="Calibri" pitchFamily="34" charset="-122"/>
                <a:cs typeface="Calibri" pitchFamily="34" charset="-120"/>
              </a:rPr>
              <a:t>TOOLS</a:t>
            </a:r>
            <a:endParaRPr lang="en-US" sz="1000" dirty="0"/>
          </a:p>
        </p:txBody>
      </p:sp>
      <p:sp>
        <p:nvSpPr>
          <p:cNvPr id="7" name="Text 5"/>
          <p:cNvSpPr/>
          <p:nvPr/>
        </p:nvSpPr>
        <p:spPr>
          <a:xfrm>
            <a:off x="8046720" y="1463040"/>
            <a:ext cx="2743200" cy="228600"/>
          </a:xfrm>
          <a:prstGeom prst="rect">
            <a:avLst/>
          </a:prstGeom>
          <a:noFill/>
          <a:ln/>
        </p:spPr>
        <p:txBody>
          <a:bodyPr wrap="square" lIns="0" tIns="0" rIns="0" bIns="0" rtlCol="0" anchor="ctr"/>
          <a:lstStyle/>
          <a:p>
            <a:pPr indent="0" marL="0">
              <a:buNone/>
            </a:pPr>
            <a:r>
              <a:rPr lang="en-US" sz="1000" b="1" spc="100" kern="0" dirty="0">
                <a:solidFill>
                  <a:srgbClr val="8B8B90"/>
                </a:solidFill>
                <a:latin typeface="Calibri" pitchFamily="34" charset="0"/>
                <a:ea typeface="Calibri" pitchFamily="34" charset="-122"/>
                <a:cs typeface="Calibri" pitchFamily="34" charset="-120"/>
              </a:rPr>
              <a:t>WHY</a:t>
            </a:r>
            <a:endParaRPr lang="en-US" sz="1000" dirty="0"/>
          </a:p>
        </p:txBody>
      </p:sp>
      <p:sp>
        <p:nvSpPr>
          <p:cNvPr id="8" name="Shape 6"/>
          <p:cNvSpPr/>
          <p:nvPr/>
        </p:nvSpPr>
        <p:spPr>
          <a:xfrm>
            <a:off x="548640" y="1737360"/>
            <a:ext cx="11064240" cy="585216"/>
          </a:xfrm>
          <a:prstGeom prst="roundRect">
            <a:avLst>
              <a:gd name="adj" fmla="val 9375"/>
            </a:avLst>
          </a:prstGeom>
          <a:solidFill>
            <a:srgbClr val="33363F"/>
          </a:solidFill>
          <a:ln/>
        </p:spPr>
      </p:sp>
      <p:sp>
        <p:nvSpPr>
          <p:cNvPr id="9" name="Text 7"/>
          <p:cNvSpPr/>
          <p:nvPr/>
        </p:nvSpPr>
        <p:spPr>
          <a:xfrm>
            <a:off x="777240" y="1737360"/>
            <a:ext cx="2743200" cy="585216"/>
          </a:xfrm>
          <a:prstGeom prst="rect">
            <a:avLst/>
          </a:prstGeom>
          <a:noFill/>
          <a:ln/>
        </p:spPr>
        <p:txBody>
          <a:bodyPr wrap="square" lIns="0" tIns="0" rIns="0" bIns="0" rtlCol="0" anchor="ctr"/>
          <a:lstStyle/>
          <a:p>
            <a:pPr indent="0" marL="0">
              <a:buNone/>
            </a:pPr>
            <a:r>
              <a:rPr lang="en-US" sz="1350" b="1" dirty="0">
                <a:solidFill>
                  <a:srgbClr val="FFE600"/>
                </a:solidFill>
                <a:latin typeface="Calibri" pitchFamily="34" charset="0"/>
                <a:ea typeface="Calibri" pitchFamily="34" charset="-122"/>
                <a:cs typeface="Calibri" pitchFamily="34" charset="-120"/>
              </a:rPr>
              <a:t>Frontend</a:t>
            </a:r>
            <a:endParaRPr lang="en-US" sz="1350" dirty="0"/>
          </a:p>
        </p:txBody>
      </p:sp>
      <p:sp>
        <p:nvSpPr>
          <p:cNvPr id="10" name="Text 8"/>
          <p:cNvSpPr/>
          <p:nvPr/>
        </p:nvSpPr>
        <p:spPr>
          <a:xfrm>
            <a:off x="3657600" y="1737360"/>
            <a:ext cx="4297680" cy="58521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React 18 · Vite · ApexCharts</a:t>
            </a:r>
            <a:endParaRPr lang="en-US" sz="1200" dirty="0"/>
          </a:p>
        </p:txBody>
      </p:sp>
      <p:sp>
        <p:nvSpPr>
          <p:cNvPr id="11" name="Text 9"/>
          <p:cNvSpPr/>
          <p:nvPr/>
        </p:nvSpPr>
        <p:spPr>
          <a:xfrm>
            <a:off x="8046720" y="1737360"/>
            <a:ext cx="3474720" cy="585216"/>
          </a:xfrm>
          <a:prstGeom prst="rect">
            <a:avLst/>
          </a:prstGeom>
          <a:noFill/>
          <a:ln/>
        </p:spPr>
        <p:txBody>
          <a:bodyPr wrap="square" lIns="0" tIns="0" rIns="0" bIns="0" rtlCol="0" anchor="ctr"/>
          <a:lstStyle/>
          <a:p>
            <a:pPr indent="0" marL="0">
              <a:buNone/>
            </a:pPr>
            <a:r>
              <a:rPr lang="en-US" sz="1150" i="1" dirty="0">
                <a:solidFill>
                  <a:srgbClr val="C7CBE0"/>
                </a:solidFill>
                <a:latin typeface="Calibri" pitchFamily="34" charset="0"/>
                <a:ea typeface="Calibri" pitchFamily="34" charset="-122"/>
                <a:cs typeface="Calibri" pitchFamily="34" charset="-120"/>
              </a:rPr>
              <a:t>interactive dashboards</a:t>
            </a:r>
            <a:endParaRPr lang="en-US" sz="1150" dirty="0"/>
          </a:p>
        </p:txBody>
      </p:sp>
      <p:sp>
        <p:nvSpPr>
          <p:cNvPr id="12" name="Shape 10"/>
          <p:cNvSpPr/>
          <p:nvPr/>
        </p:nvSpPr>
        <p:spPr>
          <a:xfrm>
            <a:off x="548640" y="2386584"/>
            <a:ext cx="11064240" cy="585216"/>
          </a:xfrm>
          <a:prstGeom prst="roundRect">
            <a:avLst>
              <a:gd name="adj" fmla="val 9375"/>
            </a:avLst>
          </a:prstGeom>
          <a:solidFill>
            <a:srgbClr val="FFE600"/>
          </a:solidFill>
          <a:ln/>
        </p:spPr>
      </p:sp>
      <p:sp>
        <p:nvSpPr>
          <p:cNvPr id="13" name="Text 11"/>
          <p:cNvSpPr/>
          <p:nvPr/>
        </p:nvSpPr>
        <p:spPr>
          <a:xfrm>
            <a:off x="777240" y="2386584"/>
            <a:ext cx="2743200" cy="585216"/>
          </a:xfrm>
          <a:prstGeom prst="rect">
            <a:avLst/>
          </a:prstGeom>
          <a:noFill/>
          <a:ln/>
        </p:spPr>
        <p:txBody>
          <a:bodyPr wrap="square" lIns="0" tIns="0" rIns="0" bIns="0" rtlCol="0" anchor="ctr"/>
          <a:lstStyle/>
          <a:p>
            <a:pPr indent="0" marL="0">
              <a:buNone/>
            </a:pPr>
            <a:r>
              <a:rPr lang="en-US" sz="1350" b="1" dirty="0">
                <a:solidFill>
                  <a:srgbClr val="33363F"/>
                </a:solidFill>
                <a:latin typeface="Calibri" pitchFamily="34" charset="0"/>
                <a:ea typeface="Calibri" pitchFamily="34" charset="-122"/>
                <a:cs typeface="Calibri" pitchFamily="34" charset="-120"/>
              </a:rPr>
              <a:t>Intelligence (AI/ML)</a:t>
            </a:r>
            <a:endParaRPr lang="en-US" sz="1350" dirty="0"/>
          </a:p>
        </p:txBody>
      </p:sp>
      <p:sp>
        <p:nvSpPr>
          <p:cNvPr id="14" name="Text 12"/>
          <p:cNvSpPr/>
          <p:nvPr/>
        </p:nvSpPr>
        <p:spPr>
          <a:xfrm>
            <a:off x="3657600" y="2386584"/>
            <a:ext cx="4297680" cy="585216"/>
          </a:xfrm>
          <a:prstGeom prst="rect">
            <a:avLst/>
          </a:prstGeom>
          <a:noFill/>
          <a:ln/>
        </p:spPr>
        <p:txBody>
          <a:bodyPr wrap="square" lIns="0" tIns="0" rIns="0" bIns="0" rtlCol="0" anchor="ctr"/>
          <a:lstStyle/>
          <a:p>
            <a:pPr indent="0" marL="0">
              <a:buNone/>
            </a:pPr>
            <a:r>
              <a:rPr lang="en-US" sz="1200" dirty="0">
                <a:solidFill>
                  <a:srgbClr val="33363F"/>
                </a:solidFill>
                <a:latin typeface="Calibri" pitchFamily="34" charset="0"/>
                <a:ea typeface="Calibri" pitchFamily="34" charset="-122"/>
                <a:cs typeface="Calibri" pitchFamily="34" charset="-120"/>
              </a:rPr>
              <a:t>Groq LLM · Prophet · XGBoost · SHAP</a:t>
            </a:r>
            <a:endParaRPr lang="en-US" sz="1200" dirty="0"/>
          </a:p>
        </p:txBody>
      </p:sp>
      <p:sp>
        <p:nvSpPr>
          <p:cNvPr id="15" name="Text 13"/>
          <p:cNvSpPr/>
          <p:nvPr/>
        </p:nvSpPr>
        <p:spPr>
          <a:xfrm>
            <a:off x="8046720" y="2386584"/>
            <a:ext cx="3474720" cy="585216"/>
          </a:xfrm>
          <a:prstGeom prst="rect">
            <a:avLst/>
          </a:prstGeom>
          <a:noFill/>
          <a:ln/>
        </p:spPr>
        <p:txBody>
          <a:bodyPr wrap="square" lIns="0" tIns="0" rIns="0" bIns="0" rtlCol="0" anchor="ctr"/>
          <a:lstStyle/>
          <a:p>
            <a:pPr indent="0" marL="0">
              <a:buNone/>
            </a:pPr>
            <a:r>
              <a:rPr lang="en-US" sz="1150" i="1" dirty="0">
                <a:solidFill>
                  <a:srgbClr val="33363F"/>
                </a:solidFill>
                <a:latin typeface="Calibri" pitchFamily="34" charset="0"/>
                <a:ea typeface="Calibri" pitchFamily="34" charset="-122"/>
                <a:cs typeface="Calibri" pitchFamily="34" charset="-120"/>
              </a:rPr>
              <a:t>answer, forecast and explain</a:t>
            </a:r>
            <a:endParaRPr lang="en-US" sz="1150" dirty="0"/>
          </a:p>
        </p:txBody>
      </p:sp>
      <p:sp>
        <p:nvSpPr>
          <p:cNvPr id="16" name="Shape 14"/>
          <p:cNvSpPr/>
          <p:nvPr/>
        </p:nvSpPr>
        <p:spPr>
          <a:xfrm>
            <a:off x="548640" y="3035808"/>
            <a:ext cx="11064240" cy="585216"/>
          </a:xfrm>
          <a:prstGeom prst="roundRect">
            <a:avLst>
              <a:gd name="adj" fmla="val 9375"/>
            </a:avLst>
          </a:prstGeom>
          <a:solidFill>
            <a:srgbClr val="33363F"/>
          </a:solidFill>
          <a:ln/>
        </p:spPr>
      </p:sp>
      <p:sp>
        <p:nvSpPr>
          <p:cNvPr id="17" name="Text 15"/>
          <p:cNvSpPr/>
          <p:nvPr/>
        </p:nvSpPr>
        <p:spPr>
          <a:xfrm>
            <a:off x="777240" y="3035808"/>
            <a:ext cx="2743200" cy="585216"/>
          </a:xfrm>
          <a:prstGeom prst="rect">
            <a:avLst/>
          </a:prstGeom>
          <a:noFill/>
          <a:ln/>
        </p:spPr>
        <p:txBody>
          <a:bodyPr wrap="square" lIns="0" tIns="0" rIns="0" bIns="0" rtlCol="0" anchor="ctr"/>
          <a:lstStyle/>
          <a:p>
            <a:pPr indent="0" marL="0">
              <a:buNone/>
            </a:pPr>
            <a:r>
              <a:rPr lang="en-US" sz="1350" b="1" dirty="0">
                <a:solidFill>
                  <a:srgbClr val="FFE600"/>
                </a:solidFill>
                <a:latin typeface="Calibri" pitchFamily="34" charset="0"/>
                <a:ea typeface="Calibri" pitchFamily="34" charset="-122"/>
                <a:cs typeface="Calibri" pitchFamily="34" charset="-120"/>
              </a:rPr>
              <a:t>Backend</a:t>
            </a:r>
            <a:endParaRPr lang="en-US" sz="1350" dirty="0"/>
          </a:p>
        </p:txBody>
      </p:sp>
      <p:sp>
        <p:nvSpPr>
          <p:cNvPr id="18" name="Text 16"/>
          <p:cNvSpPr/>
          <p:nvPr/>
        </p:nvSpPr>
        <p:spPr>
          <a:xfrm>
            <a:off x="3657600" y="3035808"/>
            <a:ext cx="4297680" cy="58521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Flask · Gunicorn · ReportLab</a:t>
            </a:r>
            <a:endParaRPr lang="en-US" sz="1200" dirty="0"/>
          </a:p>
        </p:txBody>
      </p:sp>
      <p:sp>
        <p:nvSpPr>
          <p:cNvPr id="19" name="Text 17"/>
          <p:cNvSpPr/>
          <p:nvPr/>
        </p:nvSpPr>
        <p:spPr>
          <a:xfrm>
            <a:off x="8046720" y="3035808"/>
            <a:ext cx="3474720" cy="585216"/>
          </a:xfrm>
          <a:prstGeom prst="rect">
            <a:avLst/>
          </a:prstGeom>
          <a:noFill/>
          <a:ln/>
        </p:spPr>
        <p:txBody>
          <a:bodyPr wrap="square" lIns="0" tIns="0" rIns="0" bIns="0" rtlCol="0" anchor="ctr"/>
          <a:lstStyle/>
          <a:p>
            <a:pPr indent="0" marL="0">
              <a:buNone/>
            </a:pPr>
            <a:r>
              <a:rPr lang="en-US" sz="1150" i="1" dirty="0">
                <a:solidFill>
                  <a:srgbClr val="C7CBE0"/>
                </a:solidFill>
                <a:latin typeface="Calibri" pitchFamily="34" charset="0"/>
                <a:ea typeface="Calibri" pitchFamily="34" charset="-122"/>
                <a:cs typeface="Calibri" pitchFamily="34" charset="-120"/>
              </a:rPr>
              <a:t>REST API and PDF/Excel exports</a:t>
            </a:r>
            <a:endParaRPr lang="en-US" sz="1150" dirty="0"/>
          </a:p>
        </p:txBody>
      </p:sp>
      <p:sp>
        <p:nvSpPr>
          <p:cNvPr id="20" name="Shape 18"/>
          <p:cNvSpPr/>
          <p:nvPr/>
        </p:nvSpPr>
        <p:spPr>
          <a:xfrm>
            <a:off x="548640" y="3685032"/>
            <a:ext cx="11064240" cy="585216"/>
          </a:xfrm>
          <a:prstGeom prst="roundRect">
            <a:avLst>
              <a:gd name="adj" fmla="val 9375"/>
            </a:avLst>
          </a:prstGeom>
          <a:solidFill>
            <a:srgbClr val="40434D"/>
          </a:solidFill>
          <a:ln/>
        </p:spPr>
      </p:sp>
      <p:sp>
        <p:nvSpPr>
          <p:cNvPr id="21" name="Text 19"/>
          <p:cNvSpPr/>
          <p:nvPr/>
        </p:nvSpPr>
        <p:spPr>
          <a:xfrm>
            <a:off x="777240" y="3685032"/>
            <a:ext cx="2743200" cy="585216"/>
          </a:xfrm>
          <a:prstGeom prst="rect">
            <a:avLst/>
          </a:prstGeom>
          <a:noFill/>
          <a:ln/>
        </p:spPr>
        <p:txBody>
          <a:bodyPr wrap="square" lIns="0" tIns="0" rIns="0" bIns="0" rtlCol="0" anchor="ctr"/>
          <a:lstStyle/>
          <a:p>
            <a:pPr indent="0" marL="0">
              <a:buNone/>
            </a:pPr>
            <a:r>
              <a:rPr lang="en-US" sz="1350" b="1" dirty="0">
                <a:solidFill>
                  <a:srgbClr val="FFE600"/>
                </a:solidFill>
                <a:latin typeface="Calibri" pitchFamily="34" charset="0"/>
                <a:ea typeface="Calibri" pitchFamily="34" charset="-122"/>
                <a:cs typeface="Calibri" pitchFamily="34" charset="-120"/>
              </a:rPr>
              <a:t>Persistence</a:t>
            </a:r>
            <a:endParaRPr lang="en-US" sz="1350" dirty="0"/>
          </a:p>
        </p:txBody>
      </p:sp>
      <p:sp>
        <p:nvSpPr>
          <p:cNvPr id="22" name="Text 20"/>
          <p:cNvSpPr/>
          <p:nvPr/>
        </p:nvSpPr>
        <p:spPr>
          <a:xfrm>
            <a:off x="3657600" y="3685032"/>
            <a:ext cx="4297680" cy="58521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MySQL 8 · pymysql</a:t>
            </a:r>
            <a:endParaRPr lang="en-US" sz="1200" dirty="0"/>
          </a:p>
        </p:txBody>
      </p:sp>
      <p:sp>
        <p:nvSpPr>
          <p:cNvPr id="23" name="Text 21"/>
          <p:cNvSpPr/>
          <p:nvPr/>
        </p:nvSpPr>
        <p:spPr>
          <a:xfrm>
            <a:off x="8046720" y="3685032"/>
            <a:ext cx="3474720" cy="585216"/>
          </a:xfrm>
          <a:prstGeom prst="rect">
            <a:avLst/>
          </a:prstGeom>
          <a:noFill/>
          <a:ln/>
        </p:spPr>
        <p:txBody>
          <a:bodyPr wrap="square" lIns="0" tIns="0" rIns="0" bIns="0" rtlCol="0" anchor="ctr"/>
          <a:lstStyle/>
          <a:p>
            <a:pPr indent="0" marL="0">
              <a:buNone/>
            </a:pPr>
            <a:r>
              <a:rPr lang="en-US" sz="1150" i="1" dirty="0">
                <a:solidFill>
                  <a:srgbClr val="C7CBE0"/>
                </a:solidFill>
                <a:latin typeface="Calibri" pitchFamily="34" charset="0"/>
                <a:ea typeface="Calibri" pitchFamily="34" charset="-122"/>
                <a:cs typeface="Calibri" pitchFamily="34" charset="-120"/>
              </a:rPr>
              <a:t>one structured source of truth</a:t>
            </a:r>
            <a:endParaRPr lang="en-US" sz="1150" dirty="0"/>
          </a:p>
        </p:txBody>
      </p:sp>
      <p:sp>
        <p:nvSpPr>
          <p:cNvPr id="24" name="Shape 22"/>
          <p:cNvSpPr/>
          <p:nvPr/>
        </p:nvSpPr>
        <p:spPr>
          <a:xfrm>
            <a:off x="548640" y="4334256"/>
            <a:ext cx="11064240" cy="585216"/>
          </a:xfrm>
          <a:prstGeom prst="roundRect">
            <a:avLst>
              <a:gd name="adj" fmla="val 9375"/>
            </a:avLst>
          </a:prstGeom>
          <a:solidFill>
            <a:srgbClr val="33363F"/>
          </a:solidFill>
          <a:ln/>
        </p:spPr>
      </p:sp>
      <p:sp>
        <p:nvSpPr>
          <p:cNvPr id="25" name="Text 23"/>
          <p:cNvSpPr/>
          <p:nvPr/>
        </p:nvSpPr>
        <p:spPr>
          <a:xfrm>
            <a:off x="777240" y="4334256"/>
            <a:ext cx="2743200" cy="585216"/>
          </a:xfrm>
          <a:prstGeom prst="rect">
            <a:avLst/>
          </a:prstGeom>
          <a:noFill/>
          <a:ln/>
        </p:spPr>
        <p:txBody>
          <a:bodyPr wrap="square" lIns="0" tIns="0" rIns="0" bIns="0" rtlCol="0" anchor="ctr"/>
          <a:lstStyle/>
          <a:p>
            <a:pPr indent="0" marL="0">
              <a:buNone/>
            </a:pPr>
            <a:r>
              <a:rPr lang="en-US" sz="1350" b="1" dirty="0">
                <a:solidFill>
                  <a:srgbClr val="FFE600"/>
                </a:solidFill>
                <a:latin typeface="Calibri" pitchFamily="34" charset="0"/>
                <a:ea typeface="Calibri" pitchFamily="34" charset="-122"/>
                <a:cs typeface="Calibri" pitchFamily="34" charset="-120"/>
              </a:rPr>
              <a:t>Extraction &amp; Processing</a:t>
            </a:r>
            <a:endParaRPr lang="en-US" sz="1350" dirty="0"/>
          </a:p>
        </p:txBody>
      </p:sp>
      <p:sp>
        <p:nvSpPr>
          <p:cNvPr id="26" name="Text 24"/>
          <p:cNvSpPr/>
          <p:nvPr/>
        </p:nvSpPr>
        <p:spPr>
          <a:xfrm>
            <a:off x="3657600" y="4334256"/>
            <a:ext cx="4297680" cy="58521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Tesseract OCR · pdfplumber · pandas · openpyxl</a:t>
            </a:r>
            <a:endParaRPr lang="en-US" sz="1200" dirty="0"/>
          </a:p>
        </p:txBody>
      </p:sp>
      <p:sp>
        <p:nvSpPr>
          <p:cNvPr id="27" name="Text 25"/>
          <p:cNvSpPr/>
          <p:nvPr/>
        </p:nvSpPr>
        <p:spPr>
          <a:xfrm>
            <a:off x="8046720" y="4334256"/>
            <a:ext cx="3474720" cy="585216"/>
          </a:xfrm>
          <a:prstGeom prst="rect">
            <a:avLst/>
          </a:prstGeom>
          <a:noFill/>
          <a:ln/>
        </p:spPr>
        <p:txBody>
          <a:bodyPr wrap="square" lIns="0" tIns="0" rIns="0" bIns="0" rtlCol="0" anchor="ctr"/>
          <a:lstStyle/>
          <a:p>
            <a:pPr indent="0" marL="0">
              <a:buNone/>
            </a:pPr>
            <a:r>
              <a:rPr lang="en-US" sz="1150" i="1" dirty="0">
                <a:solidFill>
                  <a:srgbClr val="C7CBE0"/>
                </a:solidFill>
                <a:latin typeface="Calibri" pitchFamily="34" charset="0"/>
                <a:ea typeface="Calibri" pitchFamily="34" charset="-122"/>
                <a:cs typeface="Calibri" pitchFamily="34" charset="-120"/>
              </a:rPr>
              <a:t>read tables, Arabic and scanned pages</a:t>
            </a:r>
            <a:endParaRPr lang="en-US" sz="1150" dirty="0"/>
          </a:p>
        </p:txBody>
      </p:sp>
      <p:sp>
        <p:nvSpPr>
          <p:cNvPr id="28" name="Shape 26"/>
          <p:cNvSpPr/>
          <p:nvPr/>
        </p:nvSpPr>
        <p:spPr>
          <a:xfrm>
            <a:off x="548640" y="4983480"/>
            <a:ext cx="11064240" cy="585216"/>
          </a:xfrm>
          <a:prstGeom prst="roundRect">
            <a:avLst>
              <a:gd name="adj" fmla="val 9375"/>
            </a:avLst>
          </a:prstGeom>
          <a:solidFill>
            <a:srgbClr val="40434D"/>
          </a:solidFill>
          <a:ln/>
        </p:spPr>
      </p:sp>
      <p:sp>
        <p:nvSpPr>
          <p:cNvPr id="29" name="Text 27"/>
          <p:cNvSpPr/>
          <p:nvPr/>
        </p:nvSpPr>
        <p:spPr>
          <a:xfrm>
            <a:off x="777240" y="4983480"/>
            <a:ext cx="2743200" cy="585216"/>
          </a:xfrm>
          <a:prstGeom prst="rect">
            <a:avLst/>
          </a:prstGeom>
          <a:noFill/>
          <a:ln/>
        </p:spPr>
        <p:txBody>
          <a:bodyPr wrap="square" lIns="0" tIns="0" rIns="0" bIns="0" rtlCol="0" anchor="ctr"/>
          <a:lstStyle/>
          <a:p>
            <a:pPr indent="0" marL="0">
              <a:buNone/>
            </a:pPr>
            <a:r>
              <a:rPr lang="en-US" sz="1350" b="1" dirty="0">
                <a:solidFill>
                  <a:srgbClr val="FFE600"/>
                </a:solidFill>
                <a:latin typeface="Calibri" pitchFamily="34" charset="0"/>
                <a:ea typeface="Calibri" pitchFamily="34" charset="-122"/>
                <a:cs typeface="Calibri" pitchFamily="34" charset="-120"/>
              </a:rPr>
              <a:t>Collection</a:t>
            </a:r>
            <a:endParaRPr lang="en-US" sz="1350" dirty="0"/>
          </a:p>
        </p:txBody>
      </p:sp>
      <p:sp>
        <p:nvSpPr>
          <p:cNvPr id="30" name="Text 28"/>
          <p:cNvSpPr/>
          <p:nvPr/>
        </p:nvSpPr>
        <p:spPr>
          <a:xfrm>
            <a:off x="3657600" y="4983480"/>
            <a:ext cx="4297680" cy="58521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Python · Selenium · Requests · BeautifulSoup4</a:t>
            </a:r>
            <a:endParaRPr lang="en-US" sz="1200" dirty="0"/>
          </a:p>
        </p:txBody>
      </p:sp>
      <p:sp>
        <p:nvSpPr>
          <p:cNvPr id="31" name="Text 29"/>
          <p:cNvSpPr/>
          <p:nvPr/>
        </p:nvSpPr>
        <p:spPr>
          <a:xfrm>
            <a:off x="8046720" y="4983480"/>
            <a:ext cx="3474720" cy="585216"/>
          </a:xfrm>
          <a:prstGeom prst="rect">
            <a:avLst/>
          </a:prstGeom>
          <a:noFill/>
          <a:ln/>
        </p:spPr>
        <p:txBody>
          <a:bodyPr wrap="square" lIns="0" tIns="0" rIns="0" bIns="0" rtlCol="0" anchor="ctr"/>
          <a:lstStyle/>
          <a:p>
            <a:pPr indent="0" marL="0">
              <a:buNone/>
            </a:pPr>
            <a:r>
              <a:rPr lang="en-US" sz="1150" i="1" dirty="0">
                <a:solidFill>
                  <a:srgbClr val="C7CBE0"/>
                </a:solidFill>
                <a:latin typeface="Calibri" pitchFamily="34" charset="0"/>
                <a:ea typeface="Calibri" pitchFamily="34" charset="-122"/>
                <a:cs typeface="Calibri" pitchFamily="34" charset="-120"/>
              </a:rPr>
              <a:t>fetch PDFs and web pages automatically</a:t>
            </a:r>
            <a:endParaRPr lang="en-US" sz="1150" dirty="0"/>
          </a:p>
        </p:txBody>
      </p:sp>
      <p:sp>
        <p:nvSpPr>
          <p:cNvPr id="32" name="Shape 30"/>
          <p:cNvSpPr/>
          <p:nvPr/>
        </p:nvSpPr>
        <p:spPr>
          <a:xfrm>
            <a:off x="548640" y="5632704"/>
            <a:ext cx="11064240" cy="585216"/>
          </a:xfrm>
          <a:prstGeom prst="roundRect">
            <a:avLst>
              <a:gd name="adj" fmla="val 9375"/>
            </a:avLst>
          </a:prstGeom>
          <a:solidFill>
            <a:srgbClr val="33363F"/>
          </a:solidFill>
          <a:ln/>
        </p:spPr>
      </p:sp>
      <p:sp>
        <p:nvSpPr>
          <p:cNvPr id="33" name="Text 31"/>
          <p:cNvSpPr/>
          <p:nvPr/>
        </p:nvSpPr>
        <p:spPr>
          <a:xfrm>
            <a:off x="777240" y="5632704"/>
            <a:ext cx="2743200" cy="585216"/>
          </a:xfrm>
          <a:prstGeom prst="rect">
            <a:avLst/>
          </a:prstGeom>
          <a:noFill/>
          <a:ln/>
        </p:spPr>
        <p:txBody>
          <a:bodyPr wrap="square" lIns="0" tIns="0" rIns="0" bIns="0" rtlCol="0" anchor="ctr"/>
          <a:lstStyle/>
          <a:p>
            <a:pPr indent="0" marL="0">
              <a:buNone/>
            </a:pPr>
            <a:r>
              <a:rPr lang="en-US" sz="1350" b="1" dirty="0">
                <a:solidFill>
                  <a:srgbClr val="FFE600"/>
                </a:solidFill>
                <a:latin typeface="Calibri" pitchFamily="34" charset="0"/>
                <a:ea typeface="Calibri" pitchFamily="34" charset="-122"/>
                <a:cs typeface="Calibri" pitchFamily="34" charset="-120"/>
              </a:rPr>
              <a:t>Deployment</a:t>
            </a:r>
            <a:endParaRPr lang="en-US" sz="1350" dirty="0"/>
          </a:p>
        </p:txBody>
      </p:sp>
      <p:sp>
        <p:nvSpPr>
          <p:cNvPr id="34" name="Text 32"/>
          <p:cNvSpPr/>
          <p:nvPr/>
        </p:nvSpPr>
        <p:spPr>
          <a:xfrm>
            <a:off x="3657600" y="5632704"/>
            <a:ext cx="4297680" cy="58521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PyInstaller · GitHub</a:t>
            </a:r>
            <a:endParaRPr lang="en-US" sz="1200" dirty="0"/>
          </a:p>
        </p:txBody>
      </p:sp>
      <p:sp>
        <p:nvSpPr>
          <p:cNvPr id="35" name="Text 33"/>
          <p:cNvSpPr/>
          <p:nvPr/>
        </p:nvSpPr>
        <p:spPr>
          <a:xfrm>
            <a:off x="8046720" y="5632704"/>
            <a:ext cx="3474720" cy="585216"/>
          </a:xfrm>
          <a:prstGeom prst="rect">
            <a:avLst/>
          </a:prstGeom>
          <a:noFill/>
          <a:ln/>
        </p:spPr>
        <p:txBody>
          <a:bodyPr wrap="square" lIns="0" tIns="0" rIns="0" bIns="0" rtlCol="0" anchor="ctr"/>
          <a:lstStyle/>
          <a:p>
            <a:pPr indent="0" marL="0">
              <a:buNone/>
            </a:pPr>
            <a:r>
              <a:rPr lang="en-US" sz="1150" i="1" dirty="0">
                <a:solidFill>
                  <a:srgbClr val="C7CBE0"/>
                </a:solidFill>
                <a:latin typeface="Calibri" pitchFamily="34" charset="0"/>
                <a:ea typeface="Calibri" pitchFamily="34" charset="-122"/>
                <a:cs typeface="Calibri" pitchFamily="34" charset="-120"/>
              </a:rPr>
              <a:t>standalone executable, versioned code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TECHNOLOGIES &amp; ARCHITECTURE</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System Components &amp; Data Flow</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737360"/>
            <a:ext cx="2468880" cy="1051560"/>
          </a:xfrm>
          <a:prstGeom prst="roundRect">
            <a:avLst>
              <a:gd name="adj" fmla="val 6957"/>
            </a:avLst>
          </a:prstGeom>
          <a:solidFill>
            <a:srgbClr val="33363F"/>
          </a:solidFill>
          <a:ln/>
          <a:effectLst>
            <a:outerShdw sx="100000" sy="100000" kx="0" ky="0" algn="bl" rotWithShape="0" blurRad="76200" dist="25400" dir="5400000">
              <a:srgbClr val="000000">
                <a:alpha val="18000"/>
              </a:srgbClr>
            </a:outerShdw>
          </a:effectLst>
        </p:spPr>
      </p:sp>
      <p:sp>
        <p:nvSpPr>
          <p:cNvPr id="6" name="Text 4"/>
          <p:cNvSpPr/>
          <p:nvPr/>
        </p:nvSpPr>
        <p:spPr>
          <a:xfrm>
            <a:off x="594360" y="1821485"/>
            <a:ext cx="2377440" cy="420624"/>
          </a:xfrm>
          <a:prstGeom prst="rect">
            <a:avLst/>
          </a:prstGeom>
          <a:noFill/>
          <a:ln/>
        </p:spPr>
        <p:txBody>
          <a:bodyPr wrap="square" lIns="0" tIns="0" rIns="0" bIns="0"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frontend</a:t>
            </a:r>
            <a:endParaRPr lang="en-US" sz="1500" dirty="0"/>
          </a:p>
        </p:txBody>
      </p:sp>
      <p:sp>
        <p:nvSpPr>
          <p:cNvPr id="7" name="Text 5"/>
          <p:cNvSpPr/>
          <p:nvPr/>
        </p:nvSpPr>
        <p:spPr>
          <a:xfrm>
            <a:off x="621792" y="2284171"/>
            <a:ext cx="2322576" cy="441655"/>
          </a:xfrm>
          <a:prstGeom prst="rect">
            <a:avLst/>
          </a:prstGeom>
          <a:noFill/>
          <a:ln/>
        </p:spPr>
        <p:txBody>
          <a:bodyPr wrap="square" lIns="0" tIns="0" rIns="0" bIns="0" rtlCol="0" anchor="t"/>
          <a:lstStyle/>
          <a:p>
            <a:pPr algn="ctr" indent="0" marL="0">
              <a:buNone/>
            </a:pPr>
            <a:r>
              <a:rPr lang="en-US" sz="1000" dirty="0">
                <a:solidFill>
                  <a:srgbClr val="C7CBE0"/>
                </a:solidFill>
                <a:latin typeface="Calibri" pitchFamily="34" charset="0"/>
                <a:ea typeface="Calibri" pitchFamily="34" charset="-122"/>
                <a:cs typeface="Calibri" pitchFamily="34" charset="-120"/>
              </a:rPr>
              <a:t>React · :5173→80</a:t>
            </a:r>
            <a:endParaRPr lang="en-US" sz="1000" dirty="0"/>
          </a:p>
        </p:txBody>
      </p:sp>
      <p:sp>
        <p:nvSpPr>
          <p:cNvPr id="8" name="Shape 6"/>
          <p:cNvSpPr/>
          <p:nvPr/>
        </p:nvSpPr>
        <p:spPr>
          <a:xfrm>
            <a:off x="3017520" y="2267712"/>
            <a:ext cx="1417320" cy="9144"/>
          </a:xfrm>
          <a:prstGeom prst="line">
            <a:avLst/>
          </a:prstGeom>
          <a:noFill/>
          <a:ln w="31750">
            <a:solidFill>
              <a:srgbClr val="FFE600"/>
            </a:solidFill>
            <a:prstDash val="solid"/>
            <a:tailEnd type="triangle"/>
          </a:ln>
        </p:spPr>
      </p:sp>
      <p:sp>
        <p:nvSpPr>
          <p:cNvPr id="9" name="Text 7"/>
          <p:cNvSpPr/>
          <p:nvPr/>
        </p:nvSpPr>
        <p:spPr>
          <a:xfrm>
            <a:off x="3063240" y="1874520"/>
            <a:ext cx="1280160" cy="274320"/>
          </a:xfrm>
          <a:prstGeom prst="rect">
            <a:avLst/>
          </a:prstGeom>
          <a:noFill/>
          <a:ln/>
        </p:spPr>
        <p:txBody>
          <a:bodyPr wrap="square" rtlCol="0" anchor="ctr"/>
          <a:lstStyle/>
          <a:p>
            <a:pPr indent="0" marL="0">
              <a:buNone/>
            </a:pPr>
            <a:r>
              <a:rPr lang="en-US" sz="900" i="1" dirty="0">
                <a:solidFill>
                  <a:srgbClr val="8B8B90"/>
                </a:solidFill>
                <a:latin typeface="Calibri" pitchFamily="34" charset="0"/>
                <a:ea typeface="Calibri" pitchFamily="34" charset="-122"/>
                <a:cs typeface="Calibri" pitchFamily="34" charset="-120"/>
              </a:rPr>
              <a:t>REST</a:t>
            </a:r>
            <a:endParaRPr lang="en-US" sz="900" dirty="0"/>
          </a:p>
        </p:txBody>
      </p:sp>
      <p:sp>
        <p:nvSpPr>
          <p:cNvPr id="10" name="Shape 8"/>
          <p:cNvSpPr/>
          <p:nvPr/>
        </p:nvSpPr>
        <p:spPr>
          <a:xfrm>
            <a:off x="4480560" y="1737360"/>
            <a:ext cx="2331720" cy="1051560"/>
          </a:xfrm>
          <a:prstGeom prst="roundRect">
            <a:avLst>
              <a:gd name="adj" fmla="val 6957"/>
            </a:avLst>
          </a:prstGeom>
          <a:solidFill>
            <a:srgbClr val="33363F"/>
          </a:solidFill>
          <a:ln/>
          <a:effectLst>
            <a:outerShdw sx="100000" sy="100000" kx="0" ky="0" algn="bl" rotWithShape="0" blurRad="76200" dist="25400" dir="5400000">
              <a:srgbClr val="000000">
                <a:alpha val="18000"/>
              </a:srgbClr>
            </a:outerShdw>
          </a:effectLst>
        </p:spPr>
      </p:sp>
      <p:sp>
        <p:nvSpPr>
          <p:cNvPr id="11" name="Text 9"/>
          <p:cNvSpPr/>
          <p:nvPr/>
        </p:nvSpPr>
        <p:spPr>
          <a:xfrm>
            <a:off x="4526280" y="1821485"/>
            <a:ext cx="2240280" cy="420624"/>
          </a:xfrm>
          <a:prstGeom prst="rect">
            <a:avLst/>
          </a:prstGeom>
          <a:noFill/>
          <a:ln/>
        </p:spPr>
        <p:txBody>
          <a:bodyPr wrap="square" lIns="0" tIns="0" rIns="0" bIns="0"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api</a:t>
            </a:r>
            <a:endParaRPr lang="en-US" sz="1500" dirty="0"/>
          </a:p>
        </p:txBody>
      </p:sp>
      <p:sp>
        <p:nvSpPr>
          <p:cNvPr id="12" name="Text 10"/>
          <p:cNvSpPr/>
          <p:nvPr/>
        </p:nvSpPr>
        <p:spPr>
          <a:xfrm>
            <a:off x="4553712" y="2284171"/>
            <a:ext cx="2185416" cy="441655"/>
          </a:xfrm>
          <a:prstGeom prst="rect">
            <a:avLst/>
          </a:prstGeom>
          <a:noFill/>
          <a:ln/>
        </p:spPr>
        <p:txBody>
          <a:bodyPr wrap="square" lIns="0" tIns="0" rIns="0" bIns="0" rtlCol="0" anchor="t"/>
          <a:lstStyle/>
          <a:p>
            <a:pPr algn="ctr" indent="0" marL="0">
              <a:buNone/>
            </a:pPr>
            <a:r>
              <a:rPr lang="en-US" sz="1000" dirty="0">
                <a:solidFill>
                  <a:srgbClr val="C7CBE0"/>
                </a:solidFill>
                <a:latin typeface="Calibri" pitchFamily="34" charset="0"/>
                <a:ea typeface="Calibri" pitchFamily="34" charset="-122"/>
                <a:cs typeface="Calibri" pitchFamily="34" charset="-120"/>
              </a:rPr>
              <a:t>Flask · :8002</a:t>
            </a:r>
            <a:endParaRPr lang="en-US" sz="1000" dirty="0"/>
          </a:p>
        </p:txBody>
      </p:sp>
      <p:sp>
        <p:nvSpPr>
          <p:cNvPr id="13" name="Shape 11"/>
          <p:cNvSpPr/>
          <p:nvPr/>
        </p:nvSpPr>
        <p:spPr>
          <a:xfrm>
            <a:off x="6812280" y="2267712"/>
            <a:ext cx="1417320" cy="9144"/>
          </a:xfrm>
          <a:prstGeom prst="line">
            <a:avLst/>
          </a:prstGeom>
          <a:noFill/>
          <a:ln w="31750">
            <a:solidFill>
              <a:srgbClr val="FFE600"/>
            </a:solidFill>
            <a:prstDash val="solid"/>
            <a:tailEnd type="triangle"/>
          </a:ln>
        </p:spPr>
      </p:sp>
      <p:sp>
        <p:nvSpPr>
          <p:cNvPr id="14" name="Text 12"/>
          <p:cNvSpPr/>
          <p:nvPr/>
        </p:nvSpPr>
        <p:spPr>
          <a:xfrm>
            <a:off x="6858000" y="1874520"/>
            <a:ext cx="1280160" cy="274320"/>
          </a:xfrm>
          <a:prstGeom prst="rect">
            <a:avLst/>
          </a:prstGeom>
          <a:noFill/>
          <a:ln/>
        </p:spPr>
        <p:txBody>
          <a:bodyPr wrap="square" rtlCol="0" anchor="ctr"/>
          <a:lstStyle/>
          <a:p>
            <a:pPr indent="0" marL="0">
              <a:buNone/>
            </a:pPr>
            <a:r>
              <a:rPr lang="en-US" sz="900" i="1" dirty="0">
                <a:solidFill>
                  <a:srgbClr val="8B8B90"/>
                </a:solidFill>
                <a:latin typeface="Calibri" pitchFamily="34" charset="0"/>
                <a:ea typeface="Calibri" pitchFamily="34" charset="-122"/>
                <a:cs typeface="Calibri" pitchFamily="34" charset="-120"/>
              </a:rPr>
              <a:t>SQL</a:t>
            </a:r>
            <a:endParaRPr lang="en-US" sz="900" dirty="0"/>
          </a:p>
        </p:txBody>
      </p:sp>
      <p:sp>
        <p:nvSpPr>
          <p:cNvPr id="15" name="Shape 13"/>
          <p:cNvSpPr/>
          <p:nvPr/>
        </p:nvSpPr>
        <p:spPr>
          <a:xfrm>
            <a:off x="8275320" y="1737360"/>
            <a:ext cx="2377440" cy="1051560"/>
          </a:xfrm>
          <a:prstGeom prst="roundRect">
            <a:avLst>
              <a:gd name="adj" fmla="val 6957"/>
            </a:avLst>
          </a:prstGeom>
          <a:solidFill>
            <a:srgbClr val="33363F"/>
          </a:solidFill>
          <a:ln/>
          <a:effectLst>
            <a:outerShdw sx="100000" sy="100000" kx="0" ky="0" algn="bl" rotWithShape="0" blurRad="76200" dist="25400" dir="5400000">
              <a:srgbClr val="000000">
                <a:alpha val="18000"/>
              </a:srgbClr>
            </a:outerShdw>
          </a:effectLst>
        </p:spPr>
      </p:sp>
      <p:sp>
        <p:nvSpPr>
          <p:cNvPr id="16" name="Text 14"/>
          <p:cNvSpPr/>
          <p:nvPr/>
        </p:nvSpPr>
        <p:spPr>
          <a:xfrm>
            <a:off x="8321040" y="1821485"/>
            <a:ext cx="2286000" cy="420624"/>
          </a:xfrm>
          <a:prstGeom prst="rect">
            <a:avLst/>
          </a:prstGeom>
          <a:noFill/>
          <a:ln/>
        </p:spPr>
        <p:txBody>
          <a:bodyPr wrap="square" lIns="0" tIns="0" rIns="0" bIns="0"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mysql</a:t>
            </a:r>
            <a:endParaRPr lang="en-US" sz="1500" dirty="0"/>
          </a:p>
        </p:txBody>
      </p:sp>
      <p:sp>
        <p:nvSpPr>
          <p:cNvPr id="17" name="Text 15"/>
          <p:cNvSpPr/>
          <p:nvPr/>
        </p:nvSpPr>
        <p:spPr>
          <a:xfrm>
            <a:off x="8348472" y="2284171"/>
            <a:ext cx="2231136" cy="441655"/>
          </a:xfrm>
          <a:prstGeom prst="rect">
            <a:avLst/>
          </a:prstGeom>
          <a:noFill/>
          <a:ln/>
        </p:spPr>
        <p:txBody>
          <a:bodyPr wrap="square" lIns="0" tIns="0" rIns="0" bIns="0" rtlCol="0" anchor="t"/>
          <a:lstStyle/>
          <a:p>
            <a:pPr algn="ctr" indent="0" marL="0">
              <a:buNone/>
            </a:pPr>
            <a:r>
              <a:rPr lang="en-US" sz="1000" dirty="0">
                <a:solidFill>
                  <a:srgbClr val="C7CBE0"/>
                </a:solidFill>
                <a:latin typeface="Calibri" pitchFamily="34" charset="0"/>
                <a:ea typeface="Calibri" pitchFamily="34" charset="-122"/>
                <a:cs typeface="Calibri" pitchFamily="34" charset="-120"/>
              </a:rPr>
              <a:t>MySQL 8 · :3306</a:t>
            </a:r>
            <a:endParaRPr lang="en-US" sz="1000" dirty="0"/>
          </a:p>
        </p:txBody>
      </p:sp>
      <p:sp>
        <p:nvSpPr>
          <p:cNvPr id="18" name="Shape 16"/>
          <p:cNvSpPr/>
          <p:nvPr/>
        </p:nvSpPr>
        <p:spPr>
          <a:xfrm>
            <a:off x="1828800" y="2788920"/>
            <a:ext cx="9144" cy="731520"/>
          </a:xfrm>
          <a:prstGeom prst="line">
            <a:avLst/>
          </a:prstGeom>
          <a:noFill/>
          <a:ln w="31750">
            <a:solidFill>
              <a:srgbClr val="FFE600"/>
            </a:solidFill>
            <a:prstDash val="solid"/>
            <a:tailEnd type="triangle"/>
          </a:ln>
        </p:spPr>
      </p:sp>
      <p:sp>
        <p:nvSpPr>
          <p:cNvPr id="19" name="Shape 17"/>
          <p:cNvSpPr/>
          <p:nvPr/>
        </p:nvSpPr>
        <p:spPr>
          <a:xfrm>
            <a:off x="548640" y="3566160"/>
            <a:ext cx="2468880" cy="1051560"/>
          </a:xfrm>
          <a:prstGeom prst="roundRect">
            <a:avLst>
              <a:gd name="adj" fmla="val 6957"/>
            </a:avLst>
          </a:prstGeom>
          <a:solidFill>
            <a:srgbClr val="40434D"/>
          </a:solidFill>
          <a:ln/>
          <a:effectLst>
            <a:outerShdw sx="100000" sy="100000" kx="0" ky="0" algn="bl" rotWithShape="0" blurRad="76200" dist="25400" dir="5400000">
              <a:srgbClr val="000000">
                <a:alpha val="18000"/>
              </a:srgbClr>
            </a:outerShdw>
          </a:effectLst>
        </p:spPr>
      </p:sp>
      <p:sp>
        <p:nvSpPr>
          <p:cNvPr id="20" name="Text 18"/>
          <p:cNvSpPr/>
          <p:nvPr/>
        </p:nvSpPr>
        <p:spPr>
          <a:xfrm>
            <a:off x="594360" y="3650285"/>
            <a:ext cx="2377440" cy="420624"/>
          </a:xfrm>
          <a:prstGeom prst="rect">
            <a:avLst/>
          </a:prstGeom>
          <a:noFill/>
          <a:ln/>
        </p:spPr>
        <p:txBody>
          <a:bodyPr wrap="square" lIns="0" tIns="0" rIns="0" bIns="0"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chatbot</a:t>
            </a:r>
            <a:endParaRPr lang="en-US" sz="1500" dirty="0"/>
          </a:p>
        </p:txBody>
      </p:sp>
      <p:sp>
        <p:nvSpPr>
          <p:cNvPr id="21" name="Text 19"/>
          <p:cNvSpPr/>
          <p:nvPr/>
        </p:nvSpPr>
        <p:spPr>
          <a:xfrm>
            <a:off x="621792" y="4112971"/>
            <a:ext cx="2322576" cy="441655"/>
          </a:xfrm>
          <a:prstGeom prst="rect">
            <a:avLst/>
          </a:prstGeom>
          <a:noFill/>
          <a:ln/>
        </p:spPr>
        <p:txBody>
          <a:bodyPr wrap="square" lIns="0" tIns="0" rIns="0" bIns="0" rtlCol="0" anchor="t"/>
          <a:lstStyle/>
          <a:p>
            <a:pPr algn="ctr" indent="0" marL="0">
              <a:buNone/>
            </a:pPr>
            <a:r>
              <a:rPr lang="en-US" sz="1000" dirty="0">
                <a:solidFill>
                  <a:srgbClr val="C7CBE0"/>
                </a:solidFill>
                <a:latin typeface="Calibri" pitchFamily="34" charset="0"/>
                <a:ea typeface="Calibri" pitchFamily="34" charset="-122"/>
                <a:cs typeface="Calibri" pitchFamily="34" charset="-120"/>
              </a:rPr>
              <a:t>Flask · Groq · :5001</a:t>
            </a:r>
            <a:endParaRPr lang="en-US" sz="1000" dirty="0"/>
          </a:p>
        </p:txBody>
      </p:sp>
      <p:sp>
        <p:nvSpPr>
          <p:cNvPr id="22" name="Shape 20"/>
          <p:cNvSpPr/>
          <p:nvPr/>
        </p:nvSpPr>
        <p:spPr>
          <a:xfrm>
            <a:off x="3017520" y="4096512"/>
            <a:ext cx="1417320" cy="9144"/>
          </a:xfrm>
          <a:prstGeom prst="line">
            <a:avLst/>
          </a:prstGeom>
          <a:noFill/>
          <a:ln w="25400">
            <a:solidFill>
              <a:srgbClr val="8B8F9C"/>
            </a:solidFill>
            <a:prstDash val="solid"/>
            <a:tailEnd type="triangle"/>
          </a:ln>
        </p:spPr>
      </p:sp>
      <p:sp>
        <p:nvSpPr>
          <p:cNvPr id="23" name="Shape 21"/>
          <p:cNvSpPr/>
          <p:nvPr/>
        </p:nvSpPr>
        <p:spPr>
          <a:xfrm>
            <a:off x="4480560" y="3566160"/>
            <a:ext cx="2331720" cy="1051560"/>
          </a:xfrm>
          <a:prstGeom prst="roundRect">
            <a:avLst>
              <a:gd name="adj" fmla="val 6957"/>
            </a:avLst>
          </a:prstGeom>
          <a:solidFill>
            <a:srgbClr val="40434D"/>
          </a:solidFill>
          <a:ln/>
          <a:effectLst>
            <a:outerShdw sx="100000" sy="100000" kx="0" ky="0" algn="bl" rotWithShape="0" blurRad="76200" dist="25400" dir="5400000">
              <a:srgbClr val="000000">
                <a:alpha val="18000"/>
              </a:srgbClr>
            </a:outerShdw>
          </a:effectLst>
        </p:spPr>
      </p:sp>
      <p:sp>
        <p:nvSpPr>
          <p:cNvPr id="24" name="Text 22"/>
          <p:cNvSpPr/>
          <p:nvPr/>
        </p:nvSpPr>
        <p:spPr>
          <a:xfrm>
            <a:off x="4526280" y="3650285"/>
            <a:ext cx="2240280" cy="420624"/>
          </a:xfrm>
          <a:prstGeom prst="rect">
            <a:avLst/>
          </a:prstGeom>
          <a:noFill/>
          <a:ln/>
        </p:spPr>
        <p:txBody>
          <a:bodyPr wrap="square" lIns="0" tIns="0" rIns="0" bIns="0"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SQLite copy</a:t>
            </a:r>
            <a:endParaRPr lang="en-US" sz="1500" dirty="0"/>
          </a:p>
        </p:txBody>
      </p:sp>
      <p:sp>
        <p:nvSpPr>
          <p:cNvPr id="25" name="Text 23"/>
          <p:cNvSpPr/>
          <p:nvPr/>
        </p:nvSpPr>
        <p:spPr>
          <a:xfrm>
            <a:off x="4553712" y="4112971"/>
            <a:ext cx="2185416" cy="441655"/>
          </a:xfrm>
          <a:prstGeom prst="rect">
            <a:avLst/>
          </a:prstGeom>
          <a:noFill/>
          <a:ln/>
        </p:spPr>
        <p:txBody>
          <a:bodyPr wrap="square" lIns="0" tIns="0" rIns="0" bIns="0" rtlCol="0" anchor="t"/>
          <a:lstStyle/>
          <a:p>
            <a:pPr algn="ctr" indent="0" marL="0">
              <a:buNone/>
            </a:pPr>
            <a:r>
              <a:rPr lang="en-US" sz="1000" dirty="0">
                <a:solidFill>
                  <a:srgbClr val="C7CBE0"/>
                </a:solidFill>
                <a:latin typeface="Calibri" pitchFamily="34" charset="0"/>
                <a:ea typeface="Calibri" pitchFamily="34" charset="-122"/>
                <a:cs typeface="Calibri" pitchFamily="34" charset="-120"/>
              </a:rPr>
              <a:t>read-only mirror</a:t>
            </a:r>
            <a:endParaRPr lang="en-US" sz="1000" dirty="0"/>
          </a:p>
        </p:txBody>
      </p:sp>
      <p:sp>
        <p:nvSpPr>
          <p:cNvPr id="26" name="Shape 24"/>
          <p:cNvSpPr/>
          <p:nvPr/>
        </p:nvSpPr>
        <p:spPr>
          <a:xfrm>
            <a:off x="7315200" y="3566160"/>
            <a:ext cx="1691640" cy="1051560"/>
          </a:xfrm>
          <a:prstGeom prst="roundRect">
            <a:avLst>
              <a:gd name="adj" fmla="val 6957"/>
            </a:avLst>
          </a:prstGeom>
          <a:solidFill>
            <a:srgbClr val="5A5E6B"/>
          </a:solidFill>
          <a:ln/>
          <a:effectLst>
            <a:outerShdw sx="100000" sy="100000" kx="0" ky="0" algn="bl" rotWithShape="0" blurRad="76200" dist="25400" dir="5400000">
              <a:srgbClr val="000000">
                <a:alpha val="18000"/>
              </a:srgbClr>
            </a:outerShdw>
          </a:effectLst>
        </p:spPr>
      </p:sp>
      <p:sp>
        <p:nvSpPr>
          <p:cNvPr id="27" name="Text 25"/>
          <p:cNvSpPr/>
          <p:nvPr/>
        </p:nvSpPr>
        <p:spPr>
          <a:xfrm>
            <a:off x="7360920" y="3650285"/>
            <a:ext cx="1600200" cy="420624"/>
          </a:xfrm>
          <a:prstGeom prst="rect">
            <a:avLst/>
          </a:prstGeom>
          <a:noFill/>
          <a:ln/>
        </p:spPr>
        <p:txBody>
          <a:bodyPr wrap="square" lIns="0" tIns="0" rIns="0" bIns="0"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pipeline</a:t>
            </a:r>
            <a:endParaRPr lang="en-US" sz="1500" dirty="0"/>
          </a:p>
        </p:txBody>
      </p:sp>
      <p:sp>
        <p:nvSpPr>
          <p:cNvPr id="28" name="Text 26"/>
          <p:cNvSpPr/>
          <p:nvPr/>
        </p:nvSpPr>
        <p:spPr>
          <a:xfrm>
            <a:off x="7388352" y="4112971"/>
            <a:ext cx="1545336" cy="441655"/>
          </a:xfrm>
          <a:prstGeom prst="rect">
            <a:avLst/>
          </a:prstGeom>
          <a:noFill/>
          <a:ln/>
        </p:spPr>
        <p:txBody>
          <a:bodyPr wrap="square" lIns="0" tIns="0" rIns="0" bIns="0" rtlCol="0" anchor="t"/>
          <a:lstStyle/>
          <a:p>
            <a:pPr algn="ctr" indent="0" marL="0">
              <a:buNone/>
            </a:pPr>
            <a:r>
              <a:rPr lang="en-US" sz="1000" dirty="0">
                <a:solidFill>
                  <a:srgbClr val="C7CBE0"/>
                </a:solidFill>
                <a:latin typeface="Calibri" pitchFamily="34" charset="0"/>
                <a:ea typeface="Calibri" pitchFamily="34" charset="-122"/>
                <a:cs typeface="Calibri" pitchFamily="34" charset="-120"/>
              </a:rPr>
              <a:t>batch</a:t>
            </a:r>
            <a:endParaRPr lang="en-US" sz="1000" dirty="0"/>
          </a:p>
        </p:txBody>
      </p:sp>
      <p:sp>
        <p:nvSpPr>
          <p:cNvPr id="29" name="Shape 27"/>
          <p:cNvSpPr/>
          <p:nvPr/>
        </p:nvSpPr>
        <p:spPr>
          <a:xfrm>
            <a:off x="9281160" y="3566160"/>
            <a:ext cx="1691640" cy="1051560"/>
          </a:xfrm>
          <a:prstGeom prst="roundRect">
            <a:avLst>
              <a:gd name="adj" fmla="val 6957"/>
            </a:avLst>
          </a:prstGeom>
          <a:solidFill>
            <a:srgbClr val="5A5E6B"/>
          </a:solidFill>
          <a:ln/>
          <a:effectLst>
            <a:outerShdw sx="100000" sy="100000" kx="0" ky="0" algn="bl" rotWithShape="0" blurRad="76200" dist="25400" dir="5400000">
              <a:srgbClr val="000000">
                <a:alpha val="18000"/>
              </a:srgbClr>
            </a:outerShdw>
          </a:effectLst>
        </p:spPr>
      </p:sp>
      <p:sp>
        <p:nvSpPr>
          <p:cNvPr id="30" name="Text 28"/>
          <p:cNvSpPr/>
          <p:nvPr/>
        </p:nvSpPr>
        <p:spPr>
          <a:xfrm>
            <a:off x="9326880" y="3650285"/>
            <a:ext cx="1600200" cy="420624"/>
          </a:xfrm>
          <a:prstGeom prst="rect">
            <a:avLst/>
          </a:prstGeom>
          <a:noFill/>
          <a:ln/>
        </p:spPr>
        <p:txBody>
          <a:bodyPr wrap="square" lIns="0" tIns="0" rIns="0" bIns="0"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watcher</a:t>
            </a:r>
            <a:endParaRPr lang="en-US" sz="1500" dirty="0"/>
          </a:p>
        </p:txBody>
      </p:sp>
      <p:sp>
        <p:nvSpPr>
          <p:cNvPr id="31" name="Text 29"/>
          <p:cNvSpPr/>
          <p:nvPr/>
        </p:nvSpPr>
        <p:spPr>
          <a:xfrm>
            <a:off x="9354312" y="4112971"/>
            <a:ext cx="1545336" cy="441655"/>
          </a:xfrm>
          <a:prstGeom prst="rect">
            <a:avLst/>
          </a:prstGeom>
          <a:noFill/>
          <a:ln/>
        </p:spPr>
        <p:txBody>
          <a:bodyPr wrap="square" lIns="0" tIns="0" rIns="0" bIns="0" rtlCol="0" anchor="t"/>
          <a:lstStyle/>
          <a:p>
            <a:pPr algn="ctr" indent="0" marL="0">
              <a:buNone/>
            </a:pPr>
            <a:r>
              <a:rPr lang="en-US" sz="1000" dirty="0">
                <a:solidFill>
                  <a:srgbClr val="C7CBE0"/>
                </a:solidFill>
                <a:latin typeface="Calibri" pitchFamily="34" charset="0"/>
                <a:ea typeface="Calibri" pitchFamily="34" charset="-122"/>
                <a:cs typeface="Calibri" pitchFamily="34" charset="-120"/>
              </a:rPr>
              <a:t>30 min</a:t>
            </a:r>
            <a:endParaRPr lang="en-US" sz="1000" dirty="0"/>
          </a:p>
        </p:txBody>
      </p:sp>
      <p:sp>
        <p:nvSpPr>
          <p:cNvPr id="32" name="Shape 30"/>
          <p:cNvSpPr/>
          <p:nvPr/>
        </p:nvSpPr>
        <p:spPr>
          <a:xfrm flipV="1">
            <a:off x="8138160" y="2267712"/>
            <a:ext cx="731520" cy="1298448"/>
          </a:xfrm>
          <a:prstGeom prst="line">
            <a:avLst/>
          </a:prstGeom>
          <a:noFill/>
          <a:ln w="25400">
            <a:solidFill>
              <a:srgbClr val="8B8F9C"/>
            </a:solidFill>
            <a:prstDash val="solid"/>
            <a:tailEnd type="triangle"/>
          </a:ln>
        </p:spPr>
      </p:sp>
      <p:sp>
        <p:nvSpPr>
          <p:cNvPr id="33" name="Shape 31"/>
          <p:cNvSpPr/>
          <p:nvPr/>
        </p:nvSpPr>
        <p:spPr>
          <a:xfrm flipH="1" flipV="1">
            <a:off x="9326880" y="2267712"/>
            <a:ext cx="777240" cy="1298448"/>
          </a:xfrm>
          <a:prstGeom prst="line">
            <a:avLst/>
          </a:prstGeom>
          <a:noFill/>
          <a:ln w="25400">
            <a:solidFill>
              <a:srgbClr val="8B8F9C"/>
            </a:solidFill>
            <a:prstDash val="solid"/>
            <a:tailEnd type="triangle"/>
          </a:ln>
        </p:spPr>
      </p:sp>
      <p:sp>
        <p:nvSpPr>
          <p:cNvPr id="34" name="Text 32"/>
          <p:cNvSpPr/>
          <p:nvPr/>
        </p:nvSpPr>
        <p:spPr>
          <a:xfrm>
            <a:off x="7315200" y="4709160"/>
            <a:ext cx="3657600" cy="274320"/>
          </a:xfrm>
          <a:prstGeom prst="rect">
            <a:avLst/>
          </a:prstGeom>
          <a:noFill/>
          <a:ln/>
        </p:spPr>
        <p:txBody>
          <a:bodyPr wrap="square" rtlCol="0" anchor="ctr"/>
          <a:lstStyle/>
          <a:p>
            <a:pPr indent="0" marL="0">
              <a:buNone/>
            </a:pPr>
            <a:r>
              <a:rPr lang="en-US" sz="950" i="1" dirty="0">
                <a:solidFill>
                  <a:srgbClr val="8B8B90"/>
                </a:solidFill>
                <a:latin typeface="Calibri" pitchFamily="34" charset="0"/>
                <a:ea typeface="Calibri" pitchFamily="34" charset="-122"/>
                <a:cs typeface="Calibri" pitchFamily="34" charset="-120"/>
              </a:rPr>
              <a:t>scheduled writes + alerts</a:t>
            </a:r>
            <a:endParaRPr lang="en-US" sz="950" dirty="0"/>
          </a:p>
        </p:txBody>
      </p:sp>
      <p:sp>
        <p:nvSpPr>
          <p:cNvPr id="35" name="Shape 33"/>
          <p:cNvSpPr/>
          <p:nvPr/>
        </p:nvSpPr>
        <p:spPr>
          <a:xfrm>
            <a:off x="548640" y="5349240"/>
            <a:ext cx="11064240" cy="868680"/>
          </a:xfrm>
          <a:prstGeom prst="roundRect">
            <a:avLst>
              <a:gd name="adj" fmla="val 8421"/>
            </a:avLst>
          </a:prstGeom>
          <a:solidFill>
            <a:srgbClr val="F5F5F6"/>
          </a:solidFill>
          <a:ln/>
        </p:spPr>
      </p:sp>
      <p:sp>
        <p:nvSpPr>
          <p:cNvPr id="36" name="Shape 34"/>
          <p:cNvSpPr/>
          <p:nvPr/>
        </p:nvSpPr>
        <p:spPr>
          <a:xfrm>
            <a:off x="822960" y="5705856"/>
            <a:ext cx="146304" cy="146304"/>
          </a:xfrm>
          <a:prstGeom prst="ellipse">
            <a:avLst/>
          </a:prstGeom>
          <a:solidFill>
            <a:srgbClr val="FFE600"/>
          </a:solidFill>
          <a:ln/>
        </p:spPr>
      </p:sp>
      <p:sp>
        <p:nvSpPr>
          <p:cNvPr id="37" name="Text 35"/>
          <p:cNvSpPr/>
          <p:nvPr/>
        </p:nvSpPr>
        <p:spPr>
          <a:xfrm>
            <a:off x="1188720" y="5349240"/>
            <a:ext cx="10241280" cy="868680"/>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Example — </a:t>
            </a:r>
            <a:pPr indent="0" marL="0">
              <a:buNone/>
            </a:pPr>
            <a:r>
              <a:rPr lang="en-US" sz="1300" dirty="0">
                <a:solidFill>
                  <a:srgbClr val="5A5D66"/>
                </a:solidFill>
                <a:latin typeface="Calibri" pitchFamily="34" charset="0"/>
                <a:ea typeface="Calibri" pitchFamily="34" charset="-122"/>
                <a:cs typeface="Calibri" pitchFamily="34" charset="-120"/>
              </a:rPr>
              <a:t>click “Total assets · ATTIJARI 2024” → frontend calls the API (:8002) → API queries MySQL → returns 920.2 M TND + its source page (PDF p.2).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2026-09-20T17:13:14Z</dcterms:created>
  <dcterms:modified xsi:type="dcterms:W3CDTF">2026-09-20T17:13:14Z</dcterms:modified>
</cp:coreProperties>
</file>