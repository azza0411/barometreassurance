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the consultant's own PC. The browser is the only client: it calls a Flask backend over REST. That backend lives inside the executable file, in yellow, together with the scheduler threads, the scrapers and extractors, and the AI services. The backend reads and writes MySQL, installed through XAMPP and started by the user; that is the only prerequisite. Solid arrows are synchronous calls, dotted arrows are background work: every 30 minutes the scheduler wakes the scrapers, which fetch the seven public sources and write the results to the database. The AI services call the Groq API to answer questions and write reports. Only two things leave the machine: the scraping and the Groq calls. That is why one double-click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484B54"/>
                </a:solidFill>
                <a:latin typeface="Cambria" pitchFamily="34" charset="0"/>
                <a:ea typeface="Cambria" pitchFamily="34" charset="-122"/>
                <a:cs typeface="Cambria" pitchFamily="34" charset="-120"/>
              </a:rPr>
              <a:t>Global Architecture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48640" y="2788920"/>
            <a:ext cx="1920240" cy="2286000"/>
          </a:xfrm>
          <a:prstGeom prst="roundRect">
            <a:avLst>
              <a:gd name="adj" fmla="val 3810"/>
            </a:avLst>
          </a:prstGeom>
          <a:solidFill>
            <a:srgbClr val="FFFFFF"/>
          </a:solidFill>
          <a:ln w="15875">
            <a:solidFill>
              <a:srgbClr val="B9BCC5"/>
            </a:solidFill>
            <a:prstDash val="solid"/>
          </a:ln>
        </p:spPr>
      </p:sp>
      <p:sp>
        <p:nvSpPr>
          <p:cNvPr id="6" name="Text 4"/>
          <p:cNvSpPr/>
          <p:nvPr/>
        </p:nvSpPr>
        <p:spPr>
          <a:xfrm>
            <a:off x="548640" y="2852928"/>
            <a:ext cx="1920240" cy="274320"/>
          </a:xfrm>
          <a:prstGeom prst="rect">
            <a:avLst/>
          </a:prstGeom>
          <a:noFill/>
          <a:ln/>
        </p:spPr>
        <p:txBody>
          <a:bodyPr wrap="square" lIns="0" tIns="0" rIns="0" bIns="0" rtlCol="0" anchor="ctr"/>
          <a:lstStyle/>
          <a:p>
            <a:pPr algn="ctr" indent="0" marL="0">
              <a:buNone/>
            </a:pPr>
            <a:r>
              <a:rPr lang="en-US" sz="1250" b="1" dirty="0">
                <a:solidFill>
                  <a:srgbClr val="484B54"/>
                </a:solidFill>
                <a:latin typeface="Calibri" pitchFamily="34" charset="0"/>
                <a:ea typeface="Calibri" pitchFamily="34" charset="-122"/>
                <a:cs typeface="Calibri" pitchFamily="34" charset="-120"/>
              </a:rPr>
              <a:t>Clients</a:t>
            </a:r>
            <a:endParaRPr lang="en-US" sz="1250" dirty="0"/>
          </a:p>
        </p:txBody>
      </p:sp>
      <p:sp>
        <p:nvSpPr>
          <p:cNvPr id="7" name="Shape 5"/>
          <p:cNvSpPr/>
          <p:nvPr/>
        </p:nvSpPr>
        <p:spPr>
          <a:xfrm>
            <a:off x="685800" y="3200400"/>
            <a:ext cx="1645920" cy="1463040"/>
          </a:xfrm>
          <a:prstGeom prst="roundRect">
            <a:avLst>
              <a:gd name="adj" fmla="val 5000"/>
            </a:avLst>
          </a:prstGeom>
          <a:solidFill>
            <a:srgbClr val="FFFFFF"/>
          </a:solidFill>
          <a:ln w="15875">
            <a:solidFill>
              <a:srgbClr val="484B54"/>
            </a:solidFill>
            <a:prstDash val="solid"/>
          </a:ln>
        </p:spPr>
      </p:sp>
      <p:sp>
        <p:nvSpPr>
          <p:cNvPr id="8" name="Shape 6"/>
          <p:cNvSpPr/>
          <p:nvPr/>
        </p:nvSpPr>
        <p:spPr>
          <a:xfrm>
            <a:off x="1234440" y="3429000"/>
            <a:ext cx="548640" cy="384048"/>
          </a:xfrm>
          <a:prstGeom prst="roundRect">
            <a:avLst>
              <a:gd name="adj" fmla="val 9524"/>
            </a:avLst>
          </a:prstGeom>
          <a:solidFill>
            <a:srgbClr val="FFFFFF"/>
          </a:solidFill>
          <a:ln w="25400">
            <a:solidFill>
              <a:srgbClr val="484B54"/>
            </a:solidFill>
            <a:prstDash val="solid"/>
          </a:ln>
        </p:spPr>
      </p:sp>
      <p:sp>
        <p:nvSpPr>
          <p:cNvPr id="9" name="Shape 7"/>
          <p:cNvSpPr/>
          <p:nvPr/>
        </p:nvSpPr>
        <p:spPr>
          <a:xfrm>
            <a:off x="1472184" y="3813048"/>
            <a:ext cx="73152" cy="91440"/>
          </a:xfrm>
          <a:prstGeom prst="rect">
            <a:avLst/>
          </a:prstGeom>
          <a:solidFill>
            <a:srgbClr val="484B54"/>
          </a:solidFill>
          <a:ln/>
        </p:spPr>
      </p:sp>
      <p:sp>
        <p:nvSpPr>
          <p:cNvPr id="10" name="Shape 8"/>
          <p:cNvSpPr/>
          <p:nvPr/>
        </p:nvSpPr>
        <p:spPr>
          <a:xfrm>
            <a:off x="1353312" y="3904488"/>
            <a:ext cx="310896" cy="45720"/>
          </a:xfrm>
          <a:prstGeom prst="rect">
            <a:avLst/>
          </a:prstGeom>
          <a:solidFill>
            <a:srgbClr val="484B54"/>
          </a:solidFill>
          <a:ln/>
        </p:spPr>
      </p:sp>
      <p:sp>
        <p:nvSpPr>
          <p:cNvPr id="11" name="Shape 9"/>
          <p:cNvSpPr/>
          <p:nvPr/>
        </p:nvSpPr>
        <p:spPr>
          <a:xfrm>
            <a:off x="1325880" y="3538728"/>
            <a:ext cx="365760" cy="54864"/>
          </a:xfrm>
          <a:prstGeom prst="rect">
            <a:avLst/>
          </a:prstGeom>
          <a:solidFill>
            <a:srgbClr val="FFE600"/>
          </a:solidFill>
          <a:ln/>
        </p:spPr>
      </p:sp>
      <p:sp>
        <p:nvSpPr>
          <p:cNvPr id="12" name="Text 10"/>
          <p:cNvSpPr/>
          <p:nvPr/>
        </p:nvSpPr>
        <p:spPr>
          <a:xfrm>
            <a:off x="685800" y="4114800"/>
            <a:ext cx="1645920" cy="274320"/>
          </a:xfrm>
          <a:prstGeom prst="rect">
            <a:avLst/>
          </a:prstGeom>
          <a:noFill/>
          <a:ln/>
        </p:spPr>
        <p:txBody>
          <a:bodyPr wrap="square" lIns="0" tIns="0" rIns="0" bIns="0" rtlCol="0" anchor="ctr"/>
          <a:lstStyle/>
          <a:p>
            <a:pPr algn="ctr" indent="0" marL="0">
              <a:buNone/>
            </a:pPr>
            <a:r>
              <a:rPr lang="en-US" sz="1300" b="1" dirty="0">
                <a:solidFill>
                  <a:srgbClr val="484B54"/>
                </a:solidFill>
                <a:latin typeface="Calibri" pitchFamily="34" charset="0"/>
                <a:ea typeface="Calibri" pitchFamily="34" charset="-122"/>
                <a:cs typeface="Calibri" pitchFamily="34" charset="-120"/>
              </a:rPr>
              <a:t>Web browser</a:t>
            </a:r>
            <a:endParaRPr lang="en-US" sz="1300" dirty="0"/>
          </a:p>
        </p:txBody>
      </p:sp>
      <p:sp>
        <p:nvSpPr>
          <p:cNvPr id="13" name="Shape 11"/>
          <p:cNvSpPr/>
          <p:nvPr/>
        </p:nvSpPr>
        <p:spPr>
          <a:xfrm>
            <a:off x="2743200" y="2514600"/>
            <a:ext cx="8897112" cy="3749040"/>
          </a:xfrm>
          <a:prstGeom prst="roundRect">
            <a:avLst>
              <a:gd name="adj" fmla="val 1951"/>
            </a:avLst>
          </a:prstGeom>
          <a:solidFill>
            <a:srgbClr val="FFFFFF">
              <a:alpha val="0"/>
            </a:srgbClr>
          </a:solidFill>
          <a:ln w="19050">
            <a:solidFill>
              <a:srgbClr val="B9BCC5"/>
            </a:solidFill>
            <a:prstDash val="dash"/>
          </a:ln>
        </p:spPr>
      </p:sp>
      <p:sp>
        <p:nvSpPr>
          <p:cNvPr id="14" name="Text 12"/>
          <p:cNvSpPr/>
          <p:nvPr/>
        </p:nvSpPr>
        <p:spPr>
          <a:xfrm>
            <a:off x="2926080" y="2578608"/>
            <a:ext cx="3657600" cy="237744"/>
          </a:xfrm>
          <a:prstGeom prst="rect">
            <a:avLst/>
          </a:prstGeom>
          <a:noFill/>
          <a:ln/>
        </p:spPr>
        <p:txBody>
          <a:bodyPr wrap="square" lIns="0" tIns="0" rIns="0" bIns="0" rtlCol="0" anchor="ctr"/>
          <a:lstStyle/>
          <a:p>
            <a:pPr indent="0" marL="0">
              <a:buNone/>
            </a:pPr>
            <a:r>
              <a:rPr lang="en-US" sz="1150" b="1" dirty="0">
                <a:solidFill>
                  <a:srgbClr val="5A5D66"/>
                </a:solidFill>
                <a:latin typeface="Calibri" pitchFamily="34" charset="0"/>
                <a:ea typeface="Calibri" pitchFamily="34" charset="-122"/>
                <a:cs typeface="Calibri" pitchFamily="34" charset="-120"/>
              </a:rPr>
              <a:t>Consultant's PC</a:t>
            </a:r>
            <a:endParaRPr lang="en-US" sz="1150" dirty="0"/>
          </a:p>
        </p:txBody>
      </p:sp>
      <p:sp>
        <p:nvSpPr>
          <p:cNvPr id="15" name="Shape 13"/>
          <p:cNvSpPr/>
          <p:nvPr/>
        </p:nvSpPr>
        <p:spPr>
          <a:xfrm>
            <a:off x="2880360" y="2944368"/>
            <a:ext cx="8622792" cy="1883664"/>
          </a:xfrm>
          <a:prstGeom prst="roundRect">
            <a:avLst>
              <a:gd name="adj" fmla="val 3883"/>
            </a:avLst>
          </a:prstGeom>
          <a:solidFill>
            <a:srgbClr val="FFFFFF">
              <a:alpha val="0"/>
            </a:srgbClr>
          </a:solidFill>
          <a:ln w="31750">
            <a:solidFill>
              <a:srgbClr val="FFE600"/>
            </a:solidFill>
            <a:prstDash val="solid"/>
          </a:ln>
        </p:spPr>
      </p:sp>
      <p:sp>
        <p:nvSpPr>
          <p:cNvPr id="16" name="Shape 14"/>
          <p:cNvSpPr/>
          <p:nvPr/>
        </p:nvSpPr>
        <p:spPr>
          <a:xfrm>
            <a:off x="3063240" y="2825496"/>
            <a:ext cx="2377440" cy="237744"/>
          </a:xfrm>
          <a:prstGeom prst="roundRect">
            <a:avLst>
              <a:gd name="adj" fmla="val 50000"/>
            </a:avLst>
          </a:prstGeom>
          <a:solidFill>
            <a:srgbClr val="FFE600"/>
          </a:solidFill>
          <a:ln/>
        </p:spPr>
      </p:sp>
      <p:sp>
        <p:nvSpPr>
          <p:cNvPr id="17" name="Text 15"/>
          <p:cNvSpPr/>
          <p:nvPr/>
        </p:nvSpPr>
        <p:spPr>
          <a:xfrm>
            <a:off x="3063240" y="2825496"/>
            <a:ext cx="2377440" cy="237744"/>
          </a:xfrm>
          <a:prstGeom prst="rect">
            <a:avLst/>
          </a:prstGeom>
          <a:noFill/>
          <a:ln/>
        </p:spPr>
        <p:txBody>
          <a:bodyPr wrap="square" lIns="0" tIns="0" rIns="0" bIns="0" rtlCol="0" anchor="ctr"/>
          <a:lstStyle/>
          <a:p>
            <a:pPr algn="ctr" indent="0" marL="0">
              <a:buNone/>
            </a:pPr>
            <a:r>
              <a:rPr lang="en-US" sz="1050" b="1" dirty="0">
                <a:solidFill>
                  <a:srgbClr val="484B54"/>
                </a:solidFill>
                <a:latin typeface="Calibri" pitchFamily="34" charset="0"/>
                <a:ea typeface="Calibri" pitchFamily="34" charset="-122"/>
                <a:cs typeface="Calibri" pitchFamily="34" charset="-120"/>
              </a:rPr>
              <a:t>Inside the .exe file</a:t>
            </a:r>
            <a:endParaRPr lang="en-US" sz="1050" dirty="0"/>
          </a:p>
        </p:txBody>
      </p:sp>
      <p:sp>
        <p:nvSpPr>
          <p:cNvPr id="18" name="Shape 16"/>
          <p:cNvSpPr/>
          <p:nvPr/>
        </p:nvSpPr>
        <p:spPr>
          <a:xfrm>
            <a:off x="3063240" y="3200400"/>
            <a:ext cx="1783080" cy="1463040"/>
          </a:xfrm>
          <a:prstGeom prst="roundRect">
            <a:avLst>
              <a:gd name="adj" fmla="val 5000"/>
            </a:avLst>
          </a:prstGeom>
          <a:solidFill>
            <a:srgbClr val="484B54"/>
          </a:solidFill>
          <a:ln/>
        </p:spPr>
      </p:sp>
      <p:sp>
        <p:nvSpPr>
          <p:cNvPr id="19" name="Shape 17"/>
          <p:cNvSpPr/>
          <p:nvPr/>
        </p:nvSpPr>
        <p:spPr>
          <a:xfrm>
            <a:off x="3680460" y="3429000"/>
            <a:ext cx="548640" cy="146304"/>
          </a:xfrm>
          <a:prstGeom prst="roundRect">
            <a:avLst>
              <a:gd name="adj" fmla="val 18750"/>
            </a:avLst>
          </a:prstGeom>
          <a:solidFill>
            <a:srgbClr val="FFE600"/>
          </a:solidFill>
          <a:ln/>
        </p:spPr>
      </p:sp>
      <p:sp>
        <p:nvSpPr>
          <p:cNvPr id="20" name="Shape 18"/>
          <p:cNvSpPr/>
          <p:nvPr/>
        </p:nvSpPr>
        <p:spPr>
          <a:xfrm>
            <a:off x="4119372" y="3474720"/>
            <a:ext cx="54864" cy="54864"/>
          </a:xfrm>
          <a:prstGeom prst="ellipse">
            <a:avLst/>
          </a:prstGeom>
          <a:solidFill>
            <a:srgbClr val="484B54"/>
          </a:solidFill>
          <a:ln/>
        </p:spPr>
      </p:sp>
      <p:sp>
        <p:nvSpPr>
          <p:cNvPr id="21" name="Shape 19"/>
          <p:cNvSpPr/>
          <p:nvPr/>
        </p:nvSpPr>
        <p:spPr>
          <a:xfrm>
            <a:off x="3680460" y="3611880"/>
            <a:ext cx="548640" cy="146304"/>
          </a:xfrm>
          <a:prstGeom prst="roundRect">
            <a:avLst>
              <a:gd name="adj" fmla="val 18750"/>
            </a:avLst>
          </a:prstGeom>
          <a:solidFill>
            <a:srgbClr val="FFE600"/>
          </a:solidFill>
          <a:ln/>
        </p:spPr>
      </p:sp>
      <p:sp>
        <p:nvSpPr>
          <p:cNvPr id="22" name="Shape 20"/>
          <p:cNvSpPr/>
          <p:nvPr/>
        </p:nvSpPr>
        <p:spPr>
          <a:xfrm>
            <a:off x="4119372" y="3657600"/>
            <a:ext cx="54864" cy="54864"/>
          </a:xfrm>
          <a:prstGeom prst="ellipse">
            <a:avLst/>
          </a:prstGeom>
          <a:solidFill>
            <a:srgbClr val="484B54"/>
          </a:solidFill>
          <a:ln/>
        </p:spPr>
      </p:sp>
      <p:sp>
        <p:nvSpPr>
          <p:cNvPr id="23" name="Shape 21"/>
          <p:cNvSpPr/>
          <p:nvPr/>
        </p:nvSpPr>
        <p:spPr>
          <a:xfrm>
            <a:off x="3680460" y="3794760"/>
            <a:ext cx="548640" cy="146304"/>
          </a:xfrm>
          <a:prstGeom prst="roundRect">
            <a:avLst>
              <a:gd name="adj" fmla="val 18750"/>
            </a:avLst>
          </a:prstGeom>
          <a:solidFill>
            <a:srgbClr val="FFE600"/>
          </a:solidFill>
          <a:ln/>
        </p:spPr>
      </p:sp>
      <p:sp>
        <p:nvSpPr>
          <p:cNvPr id="24" name="Shape 22"/>
          <p:cNvSpPr/>
          <p:nvPr/>
        </p:nvSpPr>
        <p:spPr>
          <a:xfrm>
            <a:off x="4119372" y="3840480"/>
            <a:ext cx="54864" cy="54864"/>
          </a:xfrm>
          <a:prstGeom prst="ellipse">
            <a:avLst/>
          </a:prstGeom>
          <a:solidFill>
            <a:srgbClr val="484B54"/>
          </a:solidFill>
          <a:ln/>
        </p:spPr>
      </p:sp>
      <p:sp>
        <p:nvSpPr>
          <p:cNvPr id="25" name="Text 23"/>
          <p:cNvSpPr/>
          <p:nvPr/>
        </p:nvSpPr>
        <p:spPr>
          <a:xfrm>
            <a:off x="3108960" y="4114800"/>
            <a:ext cx="16916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 :8002</a:t>
            </a:r>
            <a:endParaRPr lang="en-US" sz="1250" dirty="0"/>
          </a:p>
        </p:txBody>
      </p:sp>
      <p:sp>
        <p:nvSpPr>
          <p:cNvPr id="26" name="Shape 24"/>
          <p:cNvSpPr/>
          <p:nvPr/>
        </p:nvSpPr>
        <p:spPr>
          <a:xfrm>
            <a:off x="5257800" y="3200400"/>
            <a:ext cx="1783080" cy="1463040"/>
          </a:xfrm>
          <a:prstGeom prst="roundRect">
            <a:avLst>
              <a:gd name="adj" fmla="val 5000"/>
            </a:avLst>
          </a:prstGeom>
          <a:solidFill>
            <a:srgbClr val="FFFFFF"/>
          </a:solidFill>
          <a:ln w="15875">
            <a:solidFill>
              <a:srgbClr val="484B54"/>
            </a:solidFill>
            <a:prstDash val="solid"/>
          </a:ln>
        </p:spPr>
      </p:sp>
      <p:sp>
        <p:nvSpPr>
          <p:cNvPr id="27" name="Shape 25"/>
          <p:cNvSpPr/>
          <p:nvPr/>
        </p:nvSpPr>
        <p:spPr>
          <a:xfrm>
            <a:off x="5884164" y="3429000"/>
            <a:ext cx="530352" cy="530352"/>
          </a:xfrm>
          <a:prstGeom prst="ellipse">
            <a:avLst/>
          </a:prstGeom>
          <a:solidFill>
            <a:srgbClr val="FFFFFF"/>
          </a:solidFill>
          <a:ln w="28575">
            <a:solidFill>
              <a:srgbClr val="484B54"/>
            </a:solidFill>
            <a:prstDash val="solid"/>
          </a:ln>
        </p:spPr>
      </p:sp>
      <p:sp>
        <p:nvSpPr>
          <p:cNvPr id="28" name="Shape 26"/>
          <p:cNvSpPr/>
          <p:nvPr/>
        </p:nvSpPr>
        <p:spPr>
          <a:xfrm>
            <a:off x="6149340" y="3547872"/>
            <a:ext cx="9144" cy="146304"/>
          </a:xfrm>
          <a:prstGeom prst="line">
            <a:avLst/>
          </a:prstGeom>
          <a:noFill/>
          <a:ln w="25400">
            <a:solidFill>
              <a:srgbClr val="484B54"/>
            </a:solidFill>
            <a:prstDash val="solid"/>
          </a:ln>
        </p:spPr>
      </p:sp>
      <p:sp>
        <p:nvSpPr>
          <p:cNvPr id="29" name="Shape 27"/>
          <p:cNvSpPr/>
          <p:nvPr/>
        </p:nvSpPr>
        <p:spPr>
          <a:xfrm>
            <a:off x="6149340" y="3694176"/>
            <a:ext cx="118872" cy="9144"/>
          </a:xfrm>
          <a:prstGeom prst="line">
            <a:avLst/>
          </a:prstGeom>
          <a:noFill/>
          <a:ln w="25400">
            <a:solidFill>
              <a:srgbClr val="484B54"/>
            </a:solidFill>
            <a:prstDash val="solid"/>
          </a:ln>
        </p:spPr>
      </p:sp>
      <p:sp>
        <p:nvSpPr>
          <p:cNvPr id="30" name="Text 28"/>
          <p:cNvSpPr/>
          <p:nvPr/>
        </p:nvSpPr>
        <p:spPr>
          <a:xfrm>
            <a:off x="5303520" y="4114800"/>
            <a:ext cx="1691640" cy="274320"/>
          </a:xfrm>
          <a:prstGeom prst="rect">
            <a:avLst/>
          </a:prstGeom>
          <a:noFill/>
          <a:ln/>
        </p:spPr>
        <p:txBody>
          <a:bodyPr wrap="square" lIns="0" tIns="0" rIns="0" bIns="0" rtlCol="0" anchor="ctr"/>
          <a:lstStyle/>
          <a:p>
            <a:pPr algn="ctr" indent="0" marL="0">
              <a:buNone/>
            </a:pPr>
            <a:r>
              <a:rPr lang="en-US" sz="1250" b="1" dirty="0">
                <a:solidFill>
                  <a:srgbClr val="484B54"/>
                </a:solidFill>
                <a:latin typeface="Calibri" pitchFamily="34" charset="0"/>
                <a:ea typeface="Calibri" pitchFamily="34" charset="-122"/>
                <a:cs typeface="Calibri" pitchFamily="34" charset="-120"/>
              </a:rPr>
              <a:t>Scheduler threads</a:t>
            </a:r>
            <a:endParaRPr lang="en-US" sz="1250" dirty="0"/>
          </a:p>
        </p:txBody>
      </p:sp>
      <p:sp>
        <p:nvSpPr>
          <p:cNvPr id="31" name="Shape 29"/>
          <p:cNvSpPr/>
          <p:nvPr/>
        </p:nvSpPr>
        <p:spPr>
          <a:xfrm>
            <a:off x="7452360" y="3200400"/>
            <a:ext cx="1783080" cy="1463040"/>
          </a:xfrm>
          <a:prstGeom prst="roundRect">
            <a:avLst>
              <a:gd name="adj" fmla="val 5000"/>
            </a:avLst>
          </a:prstGeom>
          <a:solidFill>
            <a:srgbClr val="FFFFFF"/>
          </a:solidFill>
          <a:ln w="15875">
            <a:solidFill>
              <a:srgbClr val="484B54"/>
            </a:solidFill>
            <a:prstDash val="solid"/>
          </a:ln>
        </p:spPr>
      </p:sp>
      <p:sp>
        <p:nvSpPr>
          <p:cNvPr id="32" name="Shape 30"/>
          <p:cNvSpPr/>
          <p:nvPr/>
        </p:nvSpPr>
        <p:spPr>
          <a:xfrm>
            <a:off x="8124444" y="3429000"/>
            <a:ext cx="438912" cy="530352"/>
          </a:xfrm>
          <a:prstGeom prst="flowChartDocument">
            <a:avLst/>
          </a:prstGeom>
          <a:solidFill>
            <a:srgbClr val="FFFFFF"/>
          </a:solidFill>
          <a:ln w="25400">
            <a:solidFill>
              <a:srgbClr val="484B54"/>
            </a:solidFill>
            <a:prstDash val="solid"/>
          </a:ln>
        </p:spPr>
      </p:sp>
      <p:sp>
        <p:nvSpPr>
          <p:cNvPr id="33" name="Shape 31"/>
          <p:cNvSpPr/>
          <p:nvPr/>
        </p:nvSpPr>
        <p:spPr>
          <a:xfrm>
            <a:off x="8225028" y="3557016"/>
            <a:ext cx="237744" cy="27432"/>
          </a:xfrm>
          <a:prstGeom prst="rect">
            <a:avLst/>
          </a:prstGeom>
          <a:solidFill>
            <a:srgbClr val="484B54"/>
          </a:solidFill>
          <a:ln/>
        </p:spPr>
      </p:sp>
      <p:sp>
        <p:nvSpPr>
          <p:cNvPr id="34" name="Shape 32"/>
          <p:cNvSpPr/>
          <p:nvPr/>
        </p:nvSpPr>
        <p:spPr>
          <a:xfrm>
            <a:off x="8225028" y="3648456"/>
            <a:ext cx="237744" cy="27432"/>
          </a:xfrm>
          <a:prstGeom prst="rect">
            <a:avLst/>
          </a:prstGeom>
          <a:solidFill>
            <a:srgbClr val="484B54"/>
          </a:solidFill>
          <a:ln/>
        </p:spPr>
      </p:sp>
      <p:sp>
        <p:nvSpPr>
          <p:cNvPr id="35" name="Shape 33"/>
          <p:cNvSpPr/>
          <p:nvPr/>
        </p:nvSpPr>
        <p:spPr>
          <a:xfrm>
            <a:off x="8225028" y="3739896"/>
            <a:ext cx="237744" cy="27432"/>
          </a:xfrm>
          <a:prstGeom prst="rect">
            <a:avLst/>
          </a:prstGeom>
          <a:solidFill>
            <a:srgbClr val="484B54"/>
          </a:solidFill>
          <a:ln/>
        </p:spPr>
      </p:sp>
      <p:sp>
        <p:nvSpPr>
          <p:cNvPr id="36" name="Text 34"/>
          <p:cNvSpPr/>
          <p:nvPr/>
        </p:nvSpPr>
        <p:spPr>
          <a:xfrm>
            <a:off x="7498080" y="4114800"/>
            <a:ext cx="1691640" cy="274320"/>
          </a:xfrm>
          <a:prstGeom prst="rect">
            <a:avLst/>
          </a:prstGeom>
          <a:noFill/>
          <a:ln/>
        </p:spPr>
        <p:txBody>
          <a:bodyPr wrap="square" lIns="0" tIns="0" rIns="0" bIns="0" rtlCol="0" anchor="ctr"/>
          <a:lstStyle/>
          <a:p>
            <a:pPr algn="ctr" indent="0" marL="0">
              <a:buNone/>
            </a:pPr>
            <a:r>
              <a:rPr lang="en-US" sz="1250" b="1" dirty="0">
                <a:solidFill>
                  <a:srgbClr val="484B54"/>
                </a:solidFill>
                <a:latin typeface="Calibri" pitchFamily="34" charset="0"/>
                <a:ea typeface="Calibri" pitchFamily="34" charset="-122"/>
                <a:cs typeface="Calibri" pitchFamily="34" charset="-120"/>
              </a:rPr>
              <a:t>Scrapers &amp; extractors</a:t>
            </a:r>
            <a:endParaRPr lang="en-US" sz="1250" dirty="0"/>
          </a:p>
        </p:txBody>
      </p:sp>
      <p:sp>
        <p:nvSpPr>
          <p:cNvPr id="37" name="Shape 35"/>
          <p:cNvSpPr/>
          <p:nvPr/>
        </p:nvSpPr>
        <p:spPr>
          <a:xfrm>
            <a:off x="9646920" y="3200400"/>
            <a:ext cx="1783080" cy="1463040"/>
          </a:xfrm>
          <a:prstGeom prst="roundRect">
            <a:avLst>
              <a:gd name="adj" fmla="val 5000"/>
            </a:avLst>
          </a:prstGeom>
          <a:solidFill>
            <a:srgbClr val="FFFFFF"/>
          </a:solidFill>
          <a:ln w="15875">
            <a:solidFill>
              <a:srgbClr val="484B54"/>
            </a:solidFill>
            <a:prstDash val="solid"/>
          </a:ln>
        </p:spPr>
      </p:sp>
      <p:sp>
        <p:nvSpPr>
          <p:cNvPr id="38" name="Shape 36"/>
          <p:cNvSpPr/>
          <p:nvPr/>
        </p:nvSpPr>
        <p:spPr>
          <a:xfrm>
            <a:off x="10264140" y="3429000"/>
            <a:ext cx="548640" cy="402336"/>
          </a:xfrm>
          <a:prstGeom prst="roundRect">
            <a:avLst>
              <a:gd name="adj" fmla="val 22727"/>
            </a:avLst>
          </a:prstGeom>
          <a:solidFill>
            <a:srgbClr val="FFFFFF"/>
          </a:solidFill>
          <a:ln w="25400">
            <a:solidFill>
              <a:srgbClr val="484B54"/>
            </a:solidFill>
            <a:prstDash val="solid"/>
          </a:ln>
        </p:spPr>
      </p:sp>
      <p:sp>
        <p:nvSpPr>
          <p:cNvPr id="39" name="Shape 37"/>
          <p:cNvSpPr/>
          <p:nvPr/>
        </p:nvSpPr>
        <p:spPr>
          <a:xfrm flipV="1">
            <a:off x="10392156" y="3813048"/>
            <a:ext cx="128016" cy="109728"/>
          </a:xfrm>
          <a:prstGeom prst="triangle">
            <a:avLst/>
          </a:prstGeom>
          <a:solidFill>
            <a:srgbClr val="484B54"/>
          </a:solidFill>
          <a:ln/>
        </p:spPr>
      </p:sp>
      <p:sp>
        <p:nvSpPr>
          <p:cNvPr id="40" name="Shape 38"/>
          <p:cNvSpPr/>
          <p:nvPr/>
        </p:nvSpPr>
        <p:spPr>
          <a:xfrm>
            <a:off x="10387584" y="3602736"/>
            <a:ext cx="64008" cy="64008"/>
          </a:xfrm>
          <a:prstGeom prst="ellipse">
            <a:avLst/>
          </a:prstGeom>
          <a:solidFill>
            <a:srgbClr val="484B54"/>
          </a:solidFill>
          <a:ln/>
        </p:spPr>
      </p:sp>
      <p:sp>
        <p:nvSpPr>
          <p:cNvPr id="41" name="Shape 39"/>
          <p:cNvSpPr/>
          <p:nvPr/>
        </p:nvSpPr>
        <p:spPr>
          <a:xfrm>
            <a:off x="10506456" y="3602736"/>
            <a:ext cx="64008" cy="64008"/>
          </a:xfrm>
          <a:prstGeom prst="ellipse">
            <a:avLst/>
          </a:prstGeom>
          <a:solidFill>
            <a:srgbClr val="484B54"/>
          </a:solidFill>
          <a:ln/>
        </p:spPr>
      </p:sp>
      <p:sp>
        <p:nvSpPr>
          <p:cNvPr id="42" name="Shape 40"/>
          <p:cNvSpPr/>
          <p:nvPr/>
        </p:nvSpPr>
        <p:spPr>
          <a:xfrm>
            <a:off x="10625328" y="3602736"/>
            <a:ext cx="64008" cy="64008"/>
          </a:xfrm>
          <a:prstGeom prst="ellipse">
            <a:avLst/>
          </a:prstGeom>
          <a:solidFill>
            <a:srgbClr val="484B54"/>
          </a:solidFill>
          <a:ln/>
        </p:spPr>
      </p:sp>
      <p:sp>
        <p:nvSpPr>
          <p:cNvPr id="43" name="Text 41"/>
          <p:cNvSpPr/>
          <p:nvPr/>
        </p:nvSpPr>
        <p:spPr>
          <a:xfrm>
            <a:off x="9692640" y="4114800"/>
            <a:ext cx="1691640" cy="274320"/>
          </a:xfrm>
          <a:prstGeom prst="rect">
            <a:avLst/>
          </a:prstGeom>
          <a:noFill/>
          <a:ln/>
        </p:spPr>
        <p:txBody>
          <a:bodyPr wrap="square" lIns="0" tIns="0" rIns="0" bIns="0" rtlCol="0" anchor="ctr"/>
          <a:lstStyle/>
          <a:p>
            <a:pPr algn="ctr" indent="0" marL="0">
              <a:buNone/>
            </a:pPr>
            <a:r>
              <a:rPr lang="en-US" sz="1250" b="1" dirty="0">
                <a:solidFill>
                  <a:srgbClr val="484B54"/>
                </a:solidFill>
                <a:latin typeface="Calibri" pitchFamily="34" charset="0"/>
                <a:ea typeface="Calibri" pitchFamily="34" charset="-122"/>
                <a:cs typeface="Calibri" pitchFamily="34" charset="-120"/>
              </a:rPr>
              <a:t>AI services · :5001</a:t>
            </a:r>
            <a:endParaRPr lang="en-US" sz="1250" dirty="0"/>
          </a:p>
        </p:txBody>
      </p:sp>
      <p:sp>
        <p:nvSpPr>
          <p:cNvPr id="44" name="Shape 42"/>
          <p:cNvSpPr/>
          <p:nvPr/>
        </p:nvSpPr>
        <p:spPr>
          <a:xfrm>
            <a:off x="3063240" y="5257800"/>
            <a:ext cx="8366760" cy="777240"/>
          </a:xfrm>
          <a:prstGeom prst="roundRect">
            <a:avLst>
              <a:gd name="adj" fmla="val 9412"/>
            </a:avLst>
          </a:prstGeom>
          <a:solidFill>
            <a:srgbClr val="484B54"/>
          </a:solidFill>
          <a:ln/>
        </p:spPr>
      </p:sp>
      <p:sp>
        <p:nvSpPr>
          <p:cNvPr id="45" name="Shape 43"/>
          <p:cNvSpPr/>
          <p:nvPr/>
        </p:nvSpPr>
        <p:spPr>
          <a:xfrm>
            <a:off x="3319272" y="5413248"/>
            <a:ext cx="402336" cy="475488"/>
          </a:xfrm>
          <a:prstGeom prst="can">
            <a:avLst/>
          </a:prstGeom>
          <a:solidFill>
            <a:srgbClr val="484B54"/>
          </a:solidFill>
          <a:ln w="22225">
            <a:solidFill>
              <a:srgbClr val="FFE600"/>
            </a:solidFill>
            <a:prstDash val="solid"/>
          </a:ln>
        </p:spPr>
      </p:sp>
      <p:sp>
        <p:nvSpPr>
          <p:cNvPr id="46" name="Text 44"/>
          <p:cNvSpPr/>
          <p:nvPr/>
        </p:nvSpPr>
        <p:spPr>
          <a:xfrm>
            <a:off x="3931920" y="5257800"/>
            <a:ext cx="731520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MySQL 8 · :3306</a:t>
            </a:r>
            <a:endParaRPr lang="en-US" sz="1300" dirty="0"/>
          </a:p>
        </p:txBody>
      </p:sp>
      <p:sp>
        <p:nvSpPr>
          <p:cNvPr id="47" name="Text 45"/>
          <p:cNvSpPr/>
          <p:nvPr/>
        </p:nvSpPr>
        <p:spPr>
          <a:xfrm>
            <a:off x="5257800" y="1746504"/>
            <a:ext cx="1783080" cy="201168"/>
          </a:xfrm>
          <a:prstGeom prst="rect">
            <a:avLst/>
          </a:prstGeom>
          <a:noFill/>
          <a:ln/>
        </p:spPr>
        <p:txBody>
          <a:bodyPr wrap="square" lIns="0" tIns="0" rIns="0" bIns="0" rtlCol="0" anchor="ctr"/>
          <a:lstStyle/>
          <a:p>
            <a:pPr algn="r" indent="0" marL="0">
              <a:buNone/>
            </a:pPr>
            <a:r>
              <a:rPr lang="en-US" sz="950" b="1" spc="150" kern="0" dirty="0">
                <a:solidFill>
                  <a:srgbClr val="8B8B90"/>
                </a:solidFill>
                <a:latin typeface="Calibri" pitchFamily="34" charset="0"/>
                <a:ea typeface="Calibri" pitchFamily="34" charset="-122"/>
                <a:cs typeface="Calibri" pitchFamily="34" charset="-120"/>
              </a:rPr>
              <a:t>INTERNET</a:t>
            </a:r>
            <a:endParaRPr lang="en-US" sz="950" dirty="0"/>
          </a:p>
        </p:txBody>
      </p:sp>
      <p:sp>
        <p:nvSpPr>
          <p:cNvPr id="48" name="Shape 46"/>
          <p:cNvSpPr/>
          <p:nvPr/>
        </p:nvSpPr>
        <p:spPr>
          <a:xfrm>
            <a:off x="7452360" y="1508760"/>
            <a:ext cx="1783080" cy="685800"/>
          </a:xfrm>
          <a:prstGeom prst="roundRect">
            <a:avLst>
              <a:gd name="adj" fmla="val 10667"/>
            </a:avLst>
          </a:prstGeom>
          <a:solidFill>
            <a:srgbClr val="FFFFFF"/>
          </a:solidFill>
          <a:ln w="15875">
            <a:solidFill>
              <a:srgbClr val="484B54"/>
            </a:solidFill>
            <a:prstDash val="solid"/>
          </a:ln>
        </p:spPr>
      </p:sp>
      <p:sp>
        <p:nvSpPr>
          <p:cNvPr id="49" name="Shape 47"/>
          <p:cNvSpPr/>
          <p:nvPr/>
        </p:nvSpPr>
        <p:spPr>
          <a:xfrm>
            <a:off x="7616952" y="1691640"/>
            <a:ext cx="438912" cy="310896"/>
          </a:xfrm>
          <a:prstGeom prst="cloud">
            <a:avLst/>
          </a:prstGeom>
          <a:solidFill>
            <a:srgbClr val="FFFFFF"/>
          </a:solidFill>
          <a:ln w="22225">
            <a:solidFill>
              <a:srgbClr val="484B54"/>
            </a:solidFill>
            <a:prstDash val="solid"/>
          </a:ln>
        </p:spPr>
      </p:sp>
      <p:sp>
        <p:nvSpPr>
          <p:cNvPr id="50" name="Text 48"/>
          <p:cNvSpPr/>
          <p:nvPr/>
        </p:nvSpPr>
        <p:spPr>
          <a:xfrm>
            <a:off x="8165592" y="1508760"/>
            <a:ext cx="1005840" cy="685800"/>
          </a:xfrm>
          <a:prstGeom prst="rect">
            <a:avLst/>
          </a:prstGeom>
          <a:noFill/>
          <a:ln/>
        </p:spPr>
        <p:txBody>
          <a:bodyPr wrap="square" lIns="0" tIns="0" rIns="0" bIns="0" rtlCol="0" anchor="ctr"/>
          <a:lstStyle/>
          <a:p>
            <a:pPr indent="0" marL="0">
              <a:buNone/>
            </a:pPr>
            <a:r>
              <a:rPr lang="en-US" sz="1250" b="1" dirty="0">
                <a:solidFill>
                  <a:srgbClr val="484B54"/>
                </a:solidFill>
                <a:latin typeface="Calibri" pitchFamily="34" charset="0"/>
                <a:ea typeface="Calibri" pitchFamily="34" charset="-122"/>
                <a:cs typeface="Calibri" pitchFamily="34" charset="-120"/>
              </a:rPr>
              <a:t>8 sources</a:t>
            </a:r>
            <a:endParaRPr lang="en-US" sz="1250" dirty="0"/>
          </a:p>
        </p:txBody>
      </p:sp>
      <p:sp>
        <p:nvSpPr>
          <p:cNvPr id="51" name="Shape 49"/>
          <p:cNvSpPr/>
          <p:nvPr/>
        </p:nvSpPr>
        <p:spPr>
          <a:xfrm>
            <a:off x="9646920" y="1508760"/>
            <a:ext cx="1783080" cy="685800"/>
          </a:xfrm>
          <a:prstGeom prst="roundRect">
            <a:avLst>
              <a:gd name="adj" fmla="val 10667"/>
            </a:avLst>
          </a:prstGeom>
          <a:solidFill>
            <a:srgbClr val="FFFFFF"/>
          </a:solidFill>
          <a:ln w="15875">
            <a:solidFill>
              <a:srgbClr val="484B54"/>
            </a:solidFill>
            <a:prstDash val="solid"/>
          </a:ln>
        </p:spPr>
      </p:sp>
      <p:sp>
        <p:nvSpPr>
          <p:cNvPr id="52" name="Shape 50"/>
          <p:cNvSpPr/>
          <p:nvPr/>
        </p:nvSpPr>
        <p:spPr>
          <a:xfrm>
            <a:off x="9811512" y="1691640"/>
            <a:ext cx="438912" cy="310896"/>
          </a:xfrm>
          <a:prstGeom prst="cloud">
            <a:avLst/>
          </a:prstGeom>
          <a:solidFill>
            <a:srgbClr val="FFFFFF"/>
          </a:solidFill>
          <a:ln w="22225">
            <a:solidFill>
              <a:srgbClr val="484B54"/>
            </a:solidFill>
            <a:prstDash val="solid"/>
          </a:ln>
        </p:spPr>
      </p:sp>
      <p:sp>
        <p:nvSpPr>
          <p:cNvPr id="53" name="Text 51"/>
          <p:cNvSpPr/>
          <p:nvPr/>
        </p:nvSpPr>
        <p:spPr>
          <a:xfrm>
            <a:off x="10360152" y="1508760"/>
            <a:ext cx="1005840" cy="685800"/>
          </a:xfrm>
          <a:prstGeom prst="rect">
            <a:avLst/>
          </a:prstGeom>
          <a:noFill/>
          <a:ln/>
        </p:spPr>
        <p:txBody>
          <a:bodyPr wrap="square" lIns="0" tIns="0" rIns="0" bIns="0" rtlCol="0" anchor="ctr"/>
          <a:lstStyle/>
          <a:p>
            <a:pPr indent="0" marL="0">
              <a:buNone/>
            </a:pPr>
            <a:r>
              <a:rPr lang="en-US" sz="1250" b="1" dirty="0">
                <a:solidFill>
                  <a:srgbClr val="484B54"/>
                </a:solidFill>
                <a:latin typeface="Calibri" pitchFamily="34" charset="0"/>
                <a:ea typeface="Calibri" pitchFamily="34" charset="-122"/>
                <a:cs typeface="Calibri" pitchFamily="34" charset="-120"/>
              </a:rPr>
              <a:t>Groq API</a:t>
            </a:r>
            <a:endParaRPr lang="en-US" sz="1250" dirty="0"/>
          </a:p>
        </p:txBody>
      </p:sp>
      <p:sp>
        <p:nvSpPr>
          <p:cNvPr id="54" name="Shape 52"/>
          <p:cNvSpPr/>
          <p:nvPr/>
        </p:nvSpPr>
        <p:spPr>
          <a:xfrm>
            <a:off x="2331720" y="3931920"/>
            <a:ext cx="713232" cy="9144"/>
          </a:xfrm>
          <a:prstGeom prst="line">
            <a:avLst/>
          </a:prstGeom>
          <a:noFill/>
          <a:ln w="22225">
            <a:solidFill>
              <a:srgbClr val="484B54"/>
            </a:solidFill>
            <a:prstDash val="solid"/>
            <a:tailEnd type="triangle"/>
          </a:ln>
        </p:spPr>
      </p:sp>
      <p:sp>
        <p:nvSpPr>
          <p:cNvPr id="55" name="Shape 53"/>
          <p:cNvSpPr/>
          <p:nvPr/>
        </p:nvSpPr>
        <p:spPr>
          <a:xfrm>
            <a:off x="7059168" y="3931920"/>
            <a:ext cx="374904" cy="9144"/>
          </a:xfrm>
          <a:prstGeom prst="line">
            <a:avLst/>
          </a:prstGeom>
          <a:noFill/>
          <a:ln w="22225">
            <a:solidFill>
              <a:srgbClr val="484B54"/>
            </a:solidFill>
            <a:prstDash val="sysDot"/>
            <a:tailEnd type="triangle"/>
          </a:ln>
        </p:spPr>
      </p:sp>
      <p:sp>
        <p:nvSpPr>
          <p:cNvPr id="56" name="Shape 54"/>
          <p:cNvSpPr/>
          <p:nvPr/>
        </p:nvSpPr>
        <p:spPr>
          <a:xfrm>
            <a:off x="8339328" y="2194560"/>
            <a:ext cx="9144" cy="987552"/>
          </a:xfrm>
          <a:prstGeom prst="line">
            <a:avLst/>
          </a:prstGeom>
          <a:noFill/>
          <a:ln w="22225">
            <a:solidFill>
              <a:srgbClr val="484B54"/>
            </a:solidFill>
            <a:prstDash val="solid"/>
            <a:tailEnd type="triangle"/>
          </a:ln>
        </p:spPr>
      </p:sp>
      <p:sp>
        <p:nvSpPr>
          <p:cNvPr id="57" name="Shape 55"/>
          <p:cNvSpPr/>
          <p:nvPr/>
        </p:nvSpPr>
        <p:spPr>
          <a:xfrm>
            <a:off x="10533888" y="2194560"/>
            <a:ext cx="9144" cy="987552"/>
          </a:xfrm>
          <a:prstGeom prst="line">
            <a:avLst/>
          </a:prstGeom>
          <a:noFill/>
          <a:ln w="22225">
            <a:solidFill>
              <a:srgbClr val="484B54"/>
            </a:solidFill>
            <a:prstDash val="solid"/>
            <a:headEnd type="triangle"/>
            <a:tailEnd type="triangle"/>
          </a:ln>
        </p:spPr>
      </p:sp>
      <p:sp>
        <p:nvSpPr>
          <p:cNvPr id="58" name="Shape 56"/>
          <p:cNvSpPr/>
          <p:nvPr/>
        </p:nvSpPr>
        <p:spPr>
          <a:xfrm>
            <a:off x="3931920" y="4663440"/>
            <a:ext cx="9144" cy="576072"/>
          </a:xfrm>
          <a:prstGeom prst="line">
            <a:avLst/>
          </a:prstGeom>
          <a:noFill/>
          <a:ln w="22225">
            <a:solidFill>
              <a:srgbClr val="484B54"/>
            </a:solidFill>
            <a:prstDash val="solid"/>
            <a:headEnd type="triangle"/>
            <a:tailEnd type="triangle"/>
          </a:ln>
        </p:spPr>
      </p:sp>
      <p:sp>
        <p:nvSpPr>
          <p:cNvPr id="59" name="Shape 57"/>
          <p:cNvSpPr/>
          <p:nvPr/>
        </p:nvSpPr>
        <p:spPr>
          <a:xfrm>
            <a:off x="8339328" y="4663440"/>
            <a:ext cx="9144" cy="576072"/>
          </a:xfrm>
          <a:prstGeom prst="line">
            <a:avLst/>
          </a:prstGeom>
          <a:noFill/>
          <a:ln w="22225">
            <a:solidFill>
              <a:srgbClr val="484B54"/>
            </a:solidFill>
            <a:prstDash val="sysDot"/>
            <a:tailEnd type="triangle"/>
          </a:ln>
        </p:spPr>
      </p:sp>
      <p:sp>
        <p:nvSpPr>
          <p:cNvPr id="60" name="Shape 58"/>
          <p:cNvSpPr/>
          <p:nvPr/>
        </p:nvSpPr>
        <p:spPr>
          <a:xfrm>
            <a:off x="548640" y="5257800"/>
            <a:ext cx="1920240" cy="1005840"/>
          </a:xfrm>
          <a:prstGeom prst="roundRect">
            <a:avLst>
              <a:gd name="adj" fmla="val 7273"/>
            </a:avLst>
          </a:prstGeom>
          <a:solidFill>
            <a:srgbClr val="FFFFFF"/>
          </a:solidFill>
          <a:ln w="15875">
            <a:solidFill>
              <a:srgbClr val="B9BCC5"/>
            </a:solidFill>
            <a:prstDash val="dash"/>
          </a:ln>
        </p:spPr>
      </p:sp>
      <p:sp>
        <p:nvSpPr>
          <p:cNvPr id="61" name="Text 59"/>
          <p:cNvSpPr/>
          <p:nvPr/>
        </p:nvSpPr>
        <p:spPr>
          <a:xfrm>
            <a:off x="658368" y="5312664"/>
            <a:ext cx="1645920" cy="237744"/>
          </a:xfrm>
          <a:prstGeom prst="rect">
            <a:avLst/>
          </a:prstGeom>
          <a:noFill/>
          <a:ln/>
        </p:spPr>
        <p:txBody>
          <a:bodyPr wrap="square" lIns="0" tIns="0" rIns="0" bIns="0" rtlCol="0" anchor="ctr"/>
          <a:lstStyle/>
          <a:p>
            <a:pPr indent="0" marL="0">
              <a:buNone/>
            </a:pPr>
            <a:r>
              <a:rPr lang="en-US" sz="1100" b="1" dirty="0">
                <a:solidFill>
                  <a:srgbClr val="484B54"/>
                </a:solidFill>
                <a:latin typeface="Calibri" pitchFamily="34" charset="0"/>
                <a:ea typeface="Calibri" pitchFamily="34" charset="-122"/>
                <a:cs typeface="Calibri" pitchFamily="34" charset="-120"/>
              </a:rPr>
              <a:t>Legend</a:t>
            </a:r>
            <a:endParaRPr lang="en-US" sz="1100" dirty="0"/>
          </a:p>
        </p:txBody>
      </p:sp>
      <p:sp>
        <p:nvSpPr>
          <p:cNvPr id="62" name="Shape 60"/>
          <p:cNvSpPr/>
          <p:nvPr/>
        </p:nvSpPr>
        <p:spPr>
          <a:xfrm>
            <a:off x="685800" y="5779008"/>
            <a:ext cx="457200" cy="9144"/>
          </a:xfrm>
          <a:prstGeom prst="line">
            <a:avLst/>
          </a:prstGeom>
          <a:noFill/>
          <a:ln w="22225">
            <a:solidFill>
              <a:srgbClr val="484B54"/>
            </a:solidFill>
            <a:prstDash val="solid"/>
            <a:tailEnd type="triangle"/>
          </a:ln>
        </p:spPr>
      </p:sp>
      <p:sp>
        <p:nvSpPr>
          <p:cNvPr id="63" name="Text 61"/>
          <p:cNvSpPr/>
          <p:nvPr/>
        </p:nvSpPr>
        <p:spPr>
          <a:xfrm>
            <a:off x="1207008" y="566928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synchronous (REST, SQL)</a:t>
            </a:r>
            <a:endParaRPr lang="en-US" sz="900" dirty="0"/>
          </a:p>
        </p:txBody>
      </p:sp>
      <p:sp>
        <p:nvSpPr>
          <p:cNvPr id="64" name="Shape 62"/>
          <p:cNvSpPr/>
          <p:nvPr/>
        </p:nvSpPr>
        <p:spPr>
          <a:xfrm>
            <a:off x="685800" y="6053328"/>
            <a:ext cx="457200" cy="9144"/>
          </a:xfrm>
          <a:prstGeom prst="line">
            <a:avLst/>
          </a:prstGeom>
          <a:noFill/>
          <a:ln w="22225">
            <a:solidFill>
              <a:srgbClr val="484B54"/>
            </a:solidFill>
            <a:prstDash val="sysDot"/>
            <a:tailEnd type="triangle"/>
          </a:ln>
        </p:spPr>
      </p:sp>
      <p:sp>
        <p:nvSpPr>
          <p:cNvPr id="65" name="Text 63"/>
          <p:cNvSpPr/>
          <p:nvPr/>
        </p:nvSpPr>
        <p:spPr>
          <a:xfrm>
            <a:off x="1207008" y="594360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asynchronous (background)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2026-09-21T13:17:08Z</dcterms:created>
  <dcterms:modified xsi:type="dcterms:W3CDTF">2026-09-21T13:17:08Z</dcterms:modified>
</cp:coreProperties>
</file>